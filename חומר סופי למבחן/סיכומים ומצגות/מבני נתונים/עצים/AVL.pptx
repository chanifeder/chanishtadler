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56"/>
  </p:notesMasterIdLst>
  <p:sldIdLst>
    <p:sldId id="256" r:id="rId2"/>
    <p:sldId id="711" r:id="rId3"/>
    <p:sldId id="709" r:id="rId4"/>
    <p:sldId id="710" r:id="rId5"/>
    <p:sldId id="712" r:id="rId6"/>
    <p:sldId id="713" r:id="rId7"/>
    <p:sldId id="715" r:id="rId8"/>
    <p:sldId id="714" r:id="rId9"/>
    <p:sldId id="716" r:id="rId10"/>
    <p:sldId id="638" r:id="rId11"/>
    <p:sldId id="639" r:id="rId12"/>
    <p:sldId id="640" r:id="rId13"/>
    <p:sldId id="396" r:id="rId14"/>
    <p:sldId id="655" r:id="rId15"/>
    <p:sldId id="398" r:id="rId16"/>
    <p:sldId id="642" r:id="rId17"/>
    <p:sldId id="643" r:id="rId18"/>
    <p:sldId id="644" r:id="rId19"/>
    <p:sldId id="657" r:id="rId20"/>
    <p:sldId id="658" r:id="rId21"/>
    <p:sldId id="659" r:id="rId22"/>
    <p:sldId id="660" r:id="rId23"/>
    <p:sldId id="645" r:id="rId24"/>
    <p:sldId id="646" r:id="rId25"/>
    <p:sldId id="648" r:id="rId26"/>
    <p:sldId id="661" r:id="rId27"/>
    <p:sldId id="662" r:id="rId28"/>
    <p:sldId id="647" r:id="rId29"/>
    <p:sldId id="649" r:id="rId30"/>
    <p:sldId id="651" r:id="rId31"/>
    <p:sldId id="652" r:id="rId32"/>
    <p:sldId id="653" r:id="rId33"/>
    <p:sldId id="722" r:id="rId34"/>
    <p:sldId id="264" r:id="rId35"/>
    <p:sldId id="257" r:id="rId36"/>
    <p:sldId id="266" r:id="rId37"/>
    <p:sldId id="260" r:id="rId38"/>
    <p:sldId id="265" r:id="rId39"/>
    <p:sldId id="259" r:id="rId40"/>
    <p:sldId id="267" r:id="rId41"/>
    <p:sldId id="262" r:id="rId42"/>
    <p:sldId id="723" r:id="rId43"/>
    <p:sldId id="549" r:id="rId44"/>
    <p:sldId id="589" r:id="rId45"/>
    <p:sldId id="719" r:id="rId46"/>
    <p:sldId id="667" r:id="rId47"/>
    <p:sldId id="632" r:id="rId48"/>
    <p:sldId id="718" r:id="rId49"/>
    <p:sldId id="665" r:id="rId50"/>
    <p:sldId id="720" r:id="rId51"/>
    <p:sldId id="664" r:id="rId52"/>
    <p:sldId id="721" r:id="rId53"/>
    <p:sldId id="311" r:id="rId54"/>
    <p:sldId id="312" r:id="rId55"/>
  </p:sldIdLst>
  <p:sldSz cx="12192000" cy="6858000"/>
  <p:notesSz cx="9929813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E6"/>
    <a:srgbClr val="0000FF"/>
    <a:srgbClr val="D4E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5626100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4303712" cy="34131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ABBF0E6-1B6E-4F4D-AF85-060FECB8AF3F}" type="datetimeFigureOut">
              <a:rPr lang="he-IL" smtClean="0"/>
              <a:t>י'/אלול/תשפ"ג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993775" y="3271838"/>
            <a:ext cx="7943850" cy="2676525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5626100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6456363"/>
            <a:ext cx="4303712" cy="34131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B3F961F-18E6-4BE3-BA4E-A0142EC4C7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669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86" tIns="46844" rIns="93686" bIns="46844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8771-CEB3-45CB-AE0B-47E466B2D850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0EDE-88A8-46DA-81A0-079385A42CD1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8366731-C683-4FEB-9C03-1D96E517F856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F346-1D69-45E2-B84E-B7C0663B9FC2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071D-0D59-4015-ACC6-DE26EAFDFFC3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6FC3B-4719-4313-9147-7108BCB1FB75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E6501-8F85-4AD4-80F5-530EC6F7F403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6B63-78A0-472B-928D-C48EB77EFF14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E30-0766-4118-98E9-9C8BCFAAC1A4}" type="datetime1">
              <a:rPr lang="en-US" smtClean="0"/>
              <a:t>8/27/2023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0F-205C-4411-9371-278E6EE36AE8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5895-C316-437F-A6F0-02703289ECE3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0C39485-1C19-4AF5-8505-1E44D0D7C004}" type="datetime1">
              <a:rPr lang="en-US" smtClean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r" defTabSz="914400" rtl="1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0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30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30.png"/><Relationship Id="rId4" Type="http://schemas.openxmlformats.org/officeDocument/2006/relationships/image" Target="../media/image28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644828-B054-414C-8F86-37F11D227F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עצי חיפוש בינריים-עצי </a:t>
            </a:r>
            <a:r>
              <a:rPr lang="en-US" dirty="0"/>
              <a:t>AVL</a:t>
            </a:r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9FD77E0-706F-4899-8582-01ACB818738D}"/>
              </a:ext>
            </a:extLst>
          </p:cNvPr>
          <p:cNvSpPr txBox="1"/>
          <p:nvPr/>
        </p:nvSpPr>
        <p:spPr>
          <a:xfrm>
            <a:off x="9935925" y="4104655"/>
            <a:ext cx="1003177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600" cap="all">
                <a:blipFill dpi="0" rotWithShape="1">
                  <a:blip r:embed="rId2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7</a:t>
            </a:r>
            <a:endParaRPr lang="he-IL" sz="6600" cap="all" dirty="0">
              <a:blipFill dpi="0" rotWithShape="1">
                <a:blip r:embed="rId2"/>
                <a:srcRect/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E516D993-3F52-4155-8261-7E7CC9C3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958" y="6217920"/>
            <a:ext cx="1193868" cy="640080"/>
          </a:xfrm>
        </p:spPr>
        <p:txBody>
          <a:bodyPr/>
          <a:lstStyle/>
          <a:p>
            <a:fld id="{4FAB73BC-B049-4115-A692-8D63A059BFB8}" type="slidenum">
              <a:rPr lang="en-US" sz="2000" smtClean="0">
                <a:solidFill>
                  <a:sysClr val="windowText" lastClr="000000"/>
                </a:solidFill>
              </a:rPr>
              <a:pPr/>
              <a:t>1</a:t>
            </a:fld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2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7B07E9-0731-4343-B3EF-EAE5B6B6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תזכורת משיעור קודם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1ABEF4E-FB0C-4644-980A-AC3C44AC2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כל הפעולות שראינו על עצי חיפוש בינאריים, ירוצו במקרה הגרוע בסיבוכיות זמן ריצה של גובה העץ. 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9C17A1D-5971-410B-B650-F9FA6C4A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68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421287-00D6-4F9E-9FF4-8829FD6D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גובה העץ</a:t>
            </a:r>
          </a:p>
        </p:txBody>
      </p:sp>
      <p:pic>
        <p:nvPicPr>
          <p:cNvPr id="6" name="מציין מיקום תוכן 5">
            <a:extLst>
              <a:ext uri="{FF2B5EF4-FFF2-40B4-BE49-F238E27FC236}">
                <a16:creationId xmlns:a16="http://schemas.microsoft.com/office/drawing/2014/main" id="{8BAAF6AF-5E41-409A-BD1C-5F43C2366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1734" y="2491535"/>
            <a:ext cx="4305300" cy="4000500"/>
          </a:xfrm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80C6D9B-0B3B-4A8A-9727-F88F0129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773366BB-7D2F-4B93-AB0A-E6C9E80476AB}"/>
              </a:ext>
            </a:extLst>
          </p:cNvPr>
          <p:cNvSpPr/>
          <p:nvPr/>
        </p:nvSpPr>
        <p:spPr>
          <a:xfrm rot="2583509">
            <a:off x="9152427" y="2919797"/>
            <a:ext cx="1174942" cy="2583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F5CB1EFC-7166-4879-A7AE-AF9526A3A39A}"/>
              </a:ext>
            </a:extLst>
          </p:cNvPr>
          <p:cNvCxnSpPr>
            <a:cxnSpLocks/>
          </p:cNvCxnSpPr>
          <p:nvPr/>
        </p:nvCxnSpPr>
        <p:spPr>
          <a:xfrm flipH="1" flipV="1">
            <a:off x="9881122" y="3088436"/>
            <a:ext cx="307907" cy="34523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43915E0A-6DF3-4273-B687-2DA75774CACF}"/>
              </a:ext>
            </a:extLst>
          </p:cNvPr>
          <p:cNvCxnSpPr>
            <a:cxnSpLocks/>
          </p:cNvCxnSpPr>
          <p:nvPr/>
        </p:nvCxnSpPr>
        <p:spPr>
          <a:xfrm flipH="1" flipV="1">
            <a:off x="9259081" y="3718251"/>
            <a:ext cx="307907" cy="34523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F545EF92-D04D-4890-A29E-37D355B4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77" y="2568080"/>
            <a:ext cx="5331020" cy="2413587"/>
          </a:xfrm>
          <a:prstGeom prst="rect">
            <a:avLst/>
          </a:prstGeom>
        </p:spPr>
      </p:pic>
      <p:sp>
        <p:nvSpPr>
          <p:cNvPr id="17" name="מלבן 16">
            <a:extLst>
              <a:ext uri="{FF2B5EF4-FFF2-40B4-BE49-F238E27FC236}">
                <a16:creationId xmlns:a16="http://schemas.microsoft.com/office/drawing/2014/main" id="{43892D5D-7D71-4FB0-A856-FF6D06E202F4}"/>
              </a:ext>
            </a:extLst>
          </p:cNvPr>
          <p:cNvSpPr/>
          <p:nvPr/>
        </p:nvSpPr>
        <p:spPr>
          <a:xfrm>
            <a:off x="1224966" y="2425959"/>
            <a:ext cx="4772625" cy="26685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D23F32B4-D736-4BEC-9D7E-A07361AA072F}"/>
              </a:ext>
            </a:extLst>
          </p:cNvPr>
          <p:cNvSpPr/>
          <p:nvPr/>
        </p:nvSpPr>
        <p:spPr>
          <a:xfrm>
            <a:off x="6584480" y="2423163"/>
            <a:ext cx="3795665" cy="39502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מציין מיקום תוכן 2">
                <a:extLst>
                  <a:ext uri="{FF2B5EF4-FFF2-40B4-BE49-F238E27FC236}">
                    <a16:creationId xmlns:a16="http://schemas.microsoft.com/office/drawing/2014/main" id="{47F869CF-2A4D-44EB-BF05-2C1C7E69CC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03029" y="2033422"/>
                <a:ext cx="2286000" cy="5809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r" defTabSz="914400" rtl="1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he-IL" b="1" dirty="0"/>
                  <a:t>גובה גדול הקרוב ל-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he-IL" b="1" dirty="0"/>
              </a:p>
            </p:txBody>
          </p:sp>
        </mc:Choice>
        <mc:Fallback xmlns="">
          <p:sp>
            <p:nvSpPr>
              <p:cNvPr id="19" name="מציין מיקום תוכן 2">
                <a:extLst>
                  <a:ext uri="{FF2B5EF4-FFF2-40B4-BE49-F238E27FC236}">
                    <a16:creationId xmlns:a16="http://schemas.microsoft.com/office/drawing/2014/main" id="{47F869CF-2A4D-44EB-BF05-2C1C7E69C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029" y="2033422"/>
                <a:ext cx="2286000" cy="580910"/>
              </a:xfrm>
              <a:prstGeom prst="rect">
                <a:avLst/>
              </a:prstGeom>
              <a:blipFill>
                <a:blip r:embed="rId4"/>
                <a:stretch>
                  <a:fillRect t="-10526" r="-29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מציין מיקום תוכן 2">
            <a:extLst>
              <a:ext uri="{FF2B5EF4-FFF2-40B4-BE49-F238E27FC236}">
                <a16:creationId xmlns:a16="http://schemas.microsoft.com/office/drawing/2014/main" id="{D562F54C-02F4-44ED-8CFE-921A258C0EFD}"/>
              </a:ext>
            </a:extLst>
          </p:cNvPr>
          <p:cNvSpPr txBox="1">
            <a:spLocks/>
          </p:cNvSpPr>
          <p:nvPr/>
        </p:nvSpPr>
        <p:spPr>
          <a:xfrm>
            <a:off x="3359261" y="2033422"/>
            <a:ext cx="2286000" cy="580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r" defTabSz="914400" rtl="1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r" defTabSz="914400" rtl="1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/>
              <a:t>גובה קטן משמעותית</a:t>
            </a:r>
          </a:p>
        </p:txBody>
      </p:sp>
    </p:spTree>
    <p:extLst>
      <p:ext uri="{BB962C8B-B14F-4D97-AF65-F5344CB8AC3E}">
        <p14:creationId xmlns:p14="http://schemas.microsoft.com/office/powerpoint/2010/main" val="206250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071478-3D27-4A2E-9327-CAB27B22D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המוטיבציה- איזון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330B425-4719-45E4-85EB-7CFA4584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691" y="2093976"/>
            <a:ext cx="9692778" cy="405079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he-IL" sz="3200" dirty="0"/>
              <a:t>נשאף לקבל עצים מאוזנים עד כמה שאפשר על מנת להקטין את הגובה ובהתאם את זמן הריצה.</a:t>
            </a:r>
          </a:p>
          <a:p>
            <a:pPr algn="just">
              <a:lnSpc>
                <a:spcPct val="200000"/>
              </a:lnSpc>
            </a:pPr>
            <a:r>
              <a:rPr lang="he-IL" sz="3200" dirty="0"/>
              <a:t>בשיעור זה נלמד כיצד ניתן לעשות זאת על ידי עצים מאוזנים- עצי </a:t>
            </a:r>
            <a:r>
              <a:rPr lang="en-US" sz="3200" dirty="0"/>
              <a:t>AVL</a:t>
            </a:r>
            <a:r>
              <a:rPr lang="he-IL" sz="3200" dirty="0"/>
              <a:t>.</a:t>
            </a:r>
          </a:p>
          <a:p>
            <a:pPr algn="just">
              <a:lnSpc>
                <a:spcPct val="200000"/>
              </a:lnSpc>
            </a:pP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4A55BCC-7F79-4447-9D25-CF48B93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61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7252D2-8040-4C9E-BC62-6FC5DBDB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תזכורת- גובה של צומת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1A9A660-F77D-41DF-97E2-079E66664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982" y="1607669"/>
            <a:ext cx="10269266" cy="4050792"/>
          </a:xfrm>
        </p:spPr>
        <p:txBody>
          <a:bodyPr/>
          <a:lstStyle/>
          <a:p>
            <a:pPr marL="0" indent="0">
              <a:buNone/>
            </a:pPr>
            <a:r>
              <a:rPr lang="he-IL" sz="3600" u="sng" dirty="0"/>
              <a:t>הגדרה: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/>
              <a:t>גובה של צומת זהו אורך המסלול ממנו לעלה </a:t>
            </a:r>
            <a:r>
              <a:rPr lang="he-IL" sz="3600" b="1" dirty="0"/>
              <a:t>הכי עמוק שהוא צאצא שלו</a:t>
            </a:r>
            <a:r>
              <a:rPr lang="he-IL" sz="3600" dirty="0"/>
              <a:t>.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59EBB73-F79C-4343-B795-37496BD9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7098FAB-89B4-4B33-94A8-95D584585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27" y="3205865"/>
            <a:ext cx="6274449" cy="3430815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8080F92-A9C0-4605-9FCE-70BFA39AA749}"/>
              </a:ext>
            </a:extLst>
          </p:cNvPr>
          <p:cNvSpPr txBox="1"/>
          <p:nvPr/>
        </p:nvSpPr>
        <p:spPr>
          <a:xfrm>
            <a:off x="5475515" y="3494515"/>
            <a:ext cx="4214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he-IL" sz="2400" b="1" dirty="0"/>
              <a:t>3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945328B-5701-761D-DC5D-FAD01DCEF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27" y="3373354"/>
            <a:ext cx="6274449" cy="3430815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46F4AF3-96BA-BFAB-5659-A846C089F1D8}"/>
              </a:ext>
            </a:extLst>
          </p:cNvPr>
          <p:cNvSpPr txBox="1"/>
          <p:nvPr/>
        </p:nvSpPr>
        <p:spPr>
          <a:xfrm>
            <a:off x="5475515" y="3662004"/>
            <a:ext cx="4214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he-IL" sz="2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824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1FDF83-5CB9-401C-A2D0-015C32BB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תרגיל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716725-E656-4241-A3E3-EFB9D8614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מה הגובה של הצומת המודגש?</a:t>
            </a:r>
          </a:p>
          <a:p>
            <a:endParaRPr lang="he-IL" sz="32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56A5DE5-99FC-49ED-9985-A912718D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822FEB4C-06F5-4E4D-BC3E-B0B73FBBE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32" y="2551684"/>
            <a:ext cx="71342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6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1FDF83-5CB9-401C-A2D0-015C32BB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תרגיל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716725-E656-4241-A3E3-EFB9D8614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מה הגובה של הצומת המודגש?</a:t>
            </a:r>
          </a:p>
          <a:p>
            <a:endParaRPr lang="he-IL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56A5DE5-99FC-49ED-9985-A912718D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822FEB4C-06F5-4E4D-BC3E-B0B73FBBE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32" y="2551684"/>
            <a:ext cx="7134225" cy="408622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B7F8A01-682B-47CF-B3D9-763668B8E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166" y="2619374"/>
            <a:ext cx="6410325" cy="436245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99FF81C2-48C0-4715-A258-B0A731DAA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1156" b="77858"/>
          <a:stretch/>
        </p:blipFill>
        <p:spPr>
          <a:xfrm>
            <a:off x="1628581" y="2944608"/>
            <a:ext cx="3064718" cy="759645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AE99B9C-FD36-40EE-81AE-74B0A2A2B5C5}"/>
              </a:ext>
            </a:extLst>
          </p:cNvPr>
          <p:cNvSpPr txBox="1"/>
          <p:nvPr/>
        </p:nvSpPr>
        <p:spPr>
          <a:xfrm>
            <a:off x="4575111" y="3251919"/>
            <a:ext cx="12596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690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4EA435-E55F-43FC-A1E6-9053596B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הגדרה רקורסיבית של גובה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1BB10F1-0E2A-4E8F-996D-210DB81C13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sz="3600" dirty="0"/>
                  <a:t>גובה של צומת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he-IL" sz="3600" dirty="0"/>
                  <a:t> שווה ל:</a:t>
                </a: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he-IL" sz="3400" dirty="0"/>
                  <a:t>אם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he-IL" sz="3400" dirty="0"/>
                  <a:t> עלה: 0</a:t>
                </a:r>
              </a:p>
              <a:p>
                <a:pPr lvl="1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he-IL" sz="3400" dirty="0"/>
                  <a:t>אחרת: 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1BB10F1-0E2A-4E8F-996D-210DB81C13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ED65C44-1147-4D44-A9E7-338A10C8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77EB3D8-1AD6-47EC-9BBC-C13638CF5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220" y="4863289"/>
            <a:ext cx="91249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1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A0FFA7-B626-48C3-B70F-D25BBBF5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שדה חדש- גובה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44DA7E5-38AF-475B-8071-26853E288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sz="3000" dirty="0"/>
                  <a:t>נוסיף שדה לכל צומת בעץ- שדה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sz="3000" dirty="0"/>
                  <a:t> המכיל את הגובה של הצומת.</a:t>
                </a:r>
              </a:p>
              <a:p>
                <a:endParaRPr lang="he-IL" sz="3000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44DA7E5-38AF-475B-8071-26853E288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4" t="-2556" r="-90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CAAD902-00D0-49B7-945D-0502F70E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1C9DEB1-0C56-4DA6-803E-4C2CD39A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171" y="2861161"/>
            <a:ext cx="3874634" cy="364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3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/>
              <p:cNvSpPr txBox="1">
                <a:spLocks noChangeArrowheads="1"/>
              </p:cNvSpPr>
              <p:nvPr/>
            </p:nvSpPr>
            <p:spPr bwMode="auto">
              <a:xfrm>
                <a:off x="1487746" y="1235833"/>
                <a:ext cx="9687295" cy="43627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 rtl="1">
                  <a:lnSpc>
                    <a:spcPct val="150000"/>
                  </a:lnSpc>
                  <a:spcAft>
                    <a:spcPts val="600"/>
                  </a:spcAft>
                  <a:defRPr/>
                </a:pPr>
                <a:r>
                  <a:rPr lang="he-IL" sz="2800" u="sng" dirty="0">
                    <a:latin typeface="Times New Roman" pitchFamily="18" charset="0"/>
                  </a:rPr>
                  <a:t>הגדרה</a:t>
                </a:r>
              </a:p>
              <a:p>
                <a:pPr algn="r" rtl="1"/>
                <a:r>
                  <a:rPr lang="he-IL" sz="2400" dirty="0">
                    <a:latin typeface="Times New Roman" pitchFamily="18" charset="0"/>
                  </a:rPr>
                  <a:t>עץ </a:t>
                </a:r>
                <a:r>
                  <a:rPr lang="en-US" sz="2400" dirty="0">
                    <a:latin typeface="Times New Roman" pitchFamily="18" charset="0"/>
                  </a:rPr>
                  <a:t>AVL</a:t>
                </a:r>
                <a:r>
                  <a:rPr lang="he-IL" sz="2400" dirty="0">
                    <a:latin typeface="Times New Roman" pitchFamily="18" charset="0"/>
                  </a:rPr>
                  <a:t> הוא עץ חיפוש בינארי שבו לכל צומת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he-IL" sz="2400" dirty="0">
                    <a:latin typeface="Times New Roman" pitchFamily="18" charset="0"/>
                  </a:rPr>
                  <a:t> מתקיימת התכונה:</a:t>
                </a:r>
                <a:endParaRPr lang="en-US" sz="2400" dirty="0">
                  <a:latin typeface="Times New Roman" pitchFamily="18" charset="0"/>
                  <a:sym typeface="Wingdings" pitchFamily="2" charset="2"/>
                </a:endParaRPr>
              </a:p>
              <a:p>
                <a:pPr algn="r" rtl="1"/>
                <a:endParaRPr lang="he-IL" sz="2400" dirty="0">
                  <a:latin typeface="Times New Roman" pitchFamily="18" charset="0"/>
                  <a:sym typeface="Wingdings" pitchFamily="2" charset="2"/>
                </a:endParaRPr>
              </a:p>
              <a:p>
                <a:pPr algn="r" rtl="1"/>
                <a:r>
                  <a:rPr lang="he-IL" sz="3200" b="1" dirty="0">
                    <a:latin typeface="Times New Roman" pitchFamily="18" charset="0"/>
                    <a:sym typeface="Wingdings" pitchFamily="2" charset="2"/>
                  </a:rPr>
                  <a:t>			</a:t>
                </a:r>
                <a:endParaRPr lang="he-IL" sz="2400" u="sng" dirty="0">
                  <a:latin typeface="Times New Roman" pitchFamily="18" charset="0"/>
                </a:endParaRPr>
              </a:p>
              <a:p>
                <a:pPr algn="r" rtl="1">
                  <a:lnSpc>
                    <a:spcPct val="150000"/>
                  </a:lnSpc>
                  <a:spcAft>
                    <a:spcPts val="600"/>
                  </a:spcAft>
                  <a:defRPr/>
                </a:pPr>
                <a:endParaRPr lang="he-IL" sz="2400" u="sng" dirty="0">
                  <a:latin typeface="Times New Roman" pitchFamily="18" charset="0"/>
                </a:endParaRPr>
              </a:p>
              <a:p>
                <a:pPr algn="r" rtl="1">
                  <a:lnSpc>
                    <a:spcPct val="150000"/>
                  </a:lnSpc>
                  <a:spcAft>
                    <a:spcPts val="600"/>
                  </a:spcAft>
                  <a:defRPr/>
                </a:pPr>
                <a:endParaRPr lang="he-IL" sz="2400" u="sng" dirty="0">
                  <a:latin typeface="Times New Roman" pitchFamily="18" charset="0"/>
                </a:endParaRPr>
              </a:p>
              <a:p>
                <a:pPr algn="r" rtl="1">
                  <a:lnSpc>
                    <a:spcPct val="150000"/>
                  </a:lnSpc>
                  <a:spcAft>
                    <a:spcPts val="600"/>
                  </a:spcAft>
                  <a:defRPr/>
                </a:pPr>
                <a:endParaRPr lang="he-IL" sz="2400" u="sng" dirty="0">
                  <a:latin typeface="Times New Roman" pitchFamily="18" charset="0"/>
                </a:endParaRPr>
              </a:p>
              <a:p>
                <a:pPr algn="r" rtl="1">
                  <a:lnSpc>
                    <a:spcPct val="150000"/>
                  </a:lnSpc>
                  <a:spcAft>
                    <a:spcPts val="600"/>
                  </a:spcAft>
                  <a:defRPr/>
                </a:pPr>
                <a:r>
                  <a:rPr lang="he-IL" sz="2000" dirty="0">
                    <a:latin typeface="Times New Roman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746" y="1235833"/>
                <a:ext cx="9687295" cy="4362733"/>
              </a:xfrm>
              <a:prstGeom prst="rect">
                <a:avLst/>
              </a:prstGeom>
              <a:blipFill>
                <a:blip r:embed="rId3"/>
                <a:stretch>
                  <a:fillRect r="-1322" b="-153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84"/>
          <p:cNvGrpSpPr>
            <a:grpSpLocks/>
          </p:cNvGrpSpPr>
          <p:nvPr/>
        </p:nvGrpSpPr>
        <p:grpSpPr bwMode="auto">
          <a:xfrm>
            <a:off x="1861026" y="3387900"/>
            <a:ext cx="6840760" cy="1296144"/>
            <a:chOff x="432" y="2234"/>
            <a:chExt cx="4502" cy="859"/>
          </a:xfrm>
          <a:solidFill>
            <a:schemeClr val="accent1">
              <a:lumMod val="90000"/>
            </a:schemeClr>
          </a:solidFill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432" y="2234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904" y="2240"/>
              <a:ext cx="176" cy="1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1190" y="2575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 b="1">
                <a:latin typeface="Arial" pitchFamily="34" charset="0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027" y="2393"/>
              <a:ext cx="210" cy="204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4309" y="2240"/>
              <a:ext cx="176" cy="1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4047" y="2463"/>
              <a:ext cx="175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4582" y="2447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863" y="2702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4187" y="2702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441" y="2702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4758" y="2686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4004" y="2606"/>
              <a:ext cx="69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4187" y="2606"/>
              <a:ext cx="70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H="1">
              <a:off x="4547" y="2606"/>
              <a:ext cx="106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4723" y="2590"/>
              <a:ext cx="70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4187" y="2368"/>
              <a:ext cx="141" cy="9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4449" y="2368"/>
              <a:ext cx="141" cy="9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9" name="Oval 30"/>
            <p:cNvSpPr>
              <a:spLocks noChangeArrowheads="1"/>
            </p:cNvSpPr>
            <p:nvPr/>
          </p:nvSpPr>
          <p:spPr bwMode="auto">
            <a:xfrm>
              <a:off x="3039" y="2240"/>
              <a:ext cx="176" cy="1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" name="Oval 31"/>
            <p:cNvSpPr>
              <a:spLocks noChangeArrowheads="1"/>
            </p:cNvSpPr>
            <p:nvPr/>
          </p:nvSpPr>
          <p:spPr bwMode="auto">
            <a:xfrm>
              <a:off x="2776" y="2463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1" name="Oval 32"/>
            <p:cNvSpPr>
              <a:spLocks noChangeArrowheads="1"/>
            </p:cNvSpPr>
            <p:nvPr/>
          </p:nvSpPr>
          <p:spPr bwMode="auto">
            <a:xfrm>
              <a:off x="3312" y="2439"/>
              <a:ext cx="175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2" name="Oval 33"/>
            <p:cNvSpPr>
              <a:spLocks noChangeArrowheads="1"/>
            </p:cNvSpPr>
            <p:nvPr/>
          </p:nvSpPr>
          <p:spPr bwMode="auto">
            <a:xfrm>
              <a:off x="3356" y="2934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3" name="Oval 34"/>
            <p:cNvSpPr>
              <a:spLocks noChangeArrowheads="1"/>
            </p:cNvSpPr>
            <p:nvPr/>
          </p:nvSpPr>
          <p:spPr bwMode="auto">
            <a:xfrm>
              <a:off x="2909" y="2702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4" name="Oval 35"/>
            <p:cNvSpPr>
              <a:spLocks noChangeArrowheads="1"/>
            </p:cNvSpPr>
            <p:nvPr/>
          </p:nvSpPr>
          <p:spPr bwMode="auto">
            <a:xfrm>
              <a:off x="3171" y="2694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5" name="Oval 36"/>
            <p:cNvSpPr>
              <a:spLocks noChangeArrowheads="1"/>
            </p:cNvSpPr>
            <p:nvPr/>
          </p:nvSpPr>
          <p:spPr bwMode="auto">
            <a:xfrm>
              <a:off x="3495" y="2678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 flipH="1">
              <a:off x="3497" y="2839"/>
              <a:ext cx="69" cy="9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2909" y="2606"/>
              <a:ext cx="70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 flipH="1">
              <a:off x="3277" y="2598"/>
              <a:ext cx="106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3461" y="2582"/>
              <a:ext cx="69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H="1">
              <a:off x="2917" y="2368"/>
              <a:ext cx="141" cy="9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3179" y="2368"/>
              <a:ext cx="141" cy="9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2" name="Oval 44"/>
            <p:cNvSpPr>
              <a:spLocks noChangeArrowheads="1"/>
            </p:cNvSpPr>
            <p:nvPr/>
          </p:nvSpPr>
          <p:spPr bwMode="auto">
            <a:xfrm>
              <a:off x="1968" y="2240"/>
              <a:ext cx="176" cy="1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3" name="Oval 45"/>
            <p:cNvSpPr>
              <a:spLocks noChangeArrowheads="1"/>
            </p:cNvSpPr>
            <p:nvPr/>
          </p:nvSpPr>
          <p:spPr bwMode="auto">
            <a:xfrm>
              <a:off x="1713" y="2455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4" name="Oval 46"/>
            <p:cNvSpPr>
              <a:spLocks noChangeArrowheads="1"/>
            </p:cNvSpPr>
            <p:nvPr/>
          </p:nvSpPr>
          <p:spPr bwMode="auto">
            <a:xfrm>
              <a:off x="2241" y="2447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5" name="Oval 47"/>
            <p:cNvSpPr>
              <a:spLocks noChangeArrowheads="1"/>
            </p:cNvSpPr>
            <p:nvPr/>
          </p:nvSpPr>
          <p:spPr bwMode="auto">
            <a:xfrm>
              <a:off x="2100" y="2702"/>
              <a:ext cx="176" cy="15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 flipH="1">
              <a:off x="2206" y="2606"/>
              <a:ext cx="106" cy="9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 flipH="1">
              <a:off x="1846" y="2368"/>
              <a:ext cx="141" cy="9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2108" y="2368"/>
              <a:ext cx="141" cy="9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89" name="קבוצה 88"/>
          <p:cNvGrpSpPr/>
          <p:nvPr/>
        </p:nvGrpSpPr>
        <p:grpSpPr>
          <a:xfrm>
            <a:off x="3262117" y="4945366"/>
            <a:ext cx="5545916" cy="1261958"/>
            <a:chOff x="827584" y="5013176"/>
            <a:chExt cx="5545916" cy="1261958"/>
          </a:xfrm>
          <a:solidFill>
            <a:schemeClr val="accent1">
              <a:lumMod val="90000"/>
            </a:schemeClr>
          </a:solidFill>
        </p:grpSpPr>
        <p:sp>
          <p:nvSpPr>
            <p:cNvPr id="57" name="Oval 56"/>
            <p:cNvSpPr>
              <a:spLocks noChangeArrowheads="1"/>
            </p:cNvSpPr>
            <p:nvPr/>
          </p:nvSpPr>
          <p:spPr bwMode="auto">
            <a:xfrm>
              <a:off x="4585366" y="5709851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endParaRPr lang="he-IL" dirty="0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4829761" y="5895138"/>
              <a:ext cx="114817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1" name="Oval 58"/>
            <p:cNvSpPr>
              <a:spLocks noChangeArrowheads="1"/>
            </p:cNvSpPr>
            <p:nvPr/>
          </p:nvSpPr>
          <p:spPr bwMode="auto">
            <a:xfrm>
              <a:off x="4286989" y="6039450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2" name="Line 61"/>
            <p:cNvSpPr>
              <a:spLocks noChangeShapeType="1"/>
            </p:cNvSpPr>
            <p:nvPr/>
          </p:nvSpPr>
          <p:spPr bwMode="auto">
            <a:xfrm flipH="1">
              <a:off x="4460854" y="5897150"/>
              <a:ext cx="173865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5292308" y="5013176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endParaRPr lang="he-IL" sz="2000" dirty="0"/>
            </a:p>
          </p:txBody>
        </p:sp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4900291" y="5343726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r>
                <a:rPr lang="en-US" sz="2000" dirty="0"/>
                <a:t>*</a:t>
              </a:r>
            </a:p>
          </p:txBody>
        </p:sp>
        <p:sp>
          <p:nvSpPr>
            <p:cNvPr id="56" name="Oval 55"/>
            <p:cNvSpPr>
              <a:spLocks noChangeArrowheads="1"/>
            </p:cNvSpPr>
            <p:nvPr/>
          </p:nvSpPr>
          <p:spPr bwMode="auto">
            <a:xfrm>
              <a:off x="5647458" y="5320010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r>
                <a:rPr lang="en-US" sz="2000" dirty="0"/>
                <a:t>*</a:t>
              </a:r>
              <a:endParaRPr lang="he-IL" sz="2000" dirty="0"/>
            </a:p>
          </p:txBody>
        </p:sp>
        <p:sp>
          <p:nvSpPr>
            <p:cNvPr id="58" name="Oval 57"/>
            <p:cNvSpPr>
              <a:spLocks noChangeArrowheads="1"/>
            </p:cNvSpPr>
            <p:nvPr/>
          </p:nvSpPr>
          <p:spPr bwMode="auto">
            <a:xfrm>
              <a:off x="4829761" y="6037437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 flipH="1">
              <a:off x="4816639" y="5549764"/>
              <a:ext cx="134499" cy="18232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5147967" y="5201427"/>
              <a:ext cx="175505" cy="171945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5521941" y="5201426"/>
              <a:ext cx="202837" cy="13716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2555126" y="5013176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r>
                <a:rPr lang="en-US" sz="2000" dirty="0"/>
                <a:t>*</a:t>
              </a:r>
            </a:p>
          </p:txBody>
        </p:sp>
        <p:sp>
          <p:nvSpPr>
            <p:cNvPr id="66" name="Oval 65"/>
            <p:cNvSpPr>
              <a:spLocks noChangeArrowheads="1"/>
            </p:cNvSpPr>
            <p:nvPr/>
          </p:nvSpPr>
          <p:spPr bwMode="auto">
            <a:xfrm>
              <a:off x="2805709" y="5367443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7" name="Oval 66"/>
            <p:cNvSpPr>
              <a:spLocks noChangeArrowheads="1"/>
            </p:cNvSpPr>
            <p:nvPr/>
          </p:nvSpPr>
          <p:spPr bwMode="auto">
            <a:xfrm>
              <a:off x="3050104" y="5695029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8" name="Oval 67"/>
            <p:cNvSpPr>
              <a:spLocks noChangeArrowheads="1"/>
            </p:cNvSpPr>
            <p:nvPr/>
          </p:nvSpPr>
          <p:spPr bwMode="auto">
            <a:xfrm>
              <a:off x="2474381" y="5695029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>
              <a:off x="2771800" y="5229200"/>
              <a:ext cx="144016" cy="14401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70" name="Line 69"/>
            <p:cNvSpPr>
              <a:spLocks noChangeShapeType="1"/>
            </p:cNvSpPr>
            <p:nvPr/>
          </p:nvSpPr>
          <p:spPr bwMode="auto">
            <a:xfrm>
              <a:off x="3050104" y="5552729"/>
              <a:ext cx="114817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71" name="Line 70"/>
            <p:cNvSpPr>
              <a:spLocks noChangeShapeType="1"/>
            </p:cNvSpPr>
            <p:nvPr/>
          </p:nvSpPr>
          <p:spPr bwMode="auto">
            <a:xfrm flipH="1">
              <a:off x="2648246" y="5552729"/>
              <a:ext cx="173865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1103144" y="5023552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50000"/>
                </a:lnSpc>
              </a:pPr>
              <a:r>
                <a:rPr lang="en-US" sz="2000" dirty="0"/>
                <a:t>*</a:t>
              </a:r>
            </a:p>
          </p:txBody>
        </p:sp>
        <p:sp>
          <p:nvSpPr>
            <p:cNvPr id="73" name="Oval 72"/>
            <p:cNvSpPr>
              <a:spLocks noChangeArrowheads="1"/>
            </p:cNvSpPr>
            <p:nvPr/>
          </p:nvSpPr>
          <p:spPr bwMode="auto">
            <a:xfrm>
              <a:off x="827584" y="5379301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74" name="Oval 73"/>
            <p:cNvSpPr>
              <a:spLocks noChangeArrowheads="1"/>
            </p:cNvSpPr>
            <p:nvPr/>
          </p:nvSpPr>
          <p:spPr bwMode="auto">
            <a:xfrm>
              <a:off x="1071979" y="5706887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75" name="Line 74"/>
            <p:cNvSpPr>
              <a:spLocks noChangeShapeType="1"/>
            </p:cNvSpPr>
            <p:nvPr/>
          </p:nvSpPr>
          <p:spPr bwMode="auto">
            <a:xfrm flipH="1">
              <a:off x="1049016" y="5247378"/>
              <a:ext cx="114817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>
              <a:off x="1071979" y="5564587"/>
              <a:ext cx="114817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3" name="Oval 57"/>
            <p:cNvSpPr>
              <a:spLocks noChangeArrowheads="1"/>
            </p:cNvSpPr>
            <p:nvPr/>
          </p:nvSpPr>
          <p:spPr bwMode="auto">
            <a:xfrm>
              <a:off x="5868794" y="5661248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4" name="Line 60"/>
            <p:cNvSpPr>
              <a:spLocks noChangeShapeType="1"/>
            </p:cNvSpPr>
            <p:nvPr/>
          </p:nvSpPr>
          <p:spPr bwMode="auto">
            <a:xfrm>
              <a:off x="5868794" y="5518949"/>
              <a:ext cx="114817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5" name="Oval 57"/>
            <p:cNvSpPr>
              <a:spLocks noChangeArrowheads="1"/>
            </p:cNvSpPr>
            <p:nvPr/>
          </p:nvSpPr>
          <p:spPr bwMode="auto">
            <a:xfrm>
              <a:off x="6084818" y="6021288"/>
              <a:ext cx="288682" cy="235684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6" name="Line 60"/>
            <p:cNvSpPr>
              <a:spLocks noChangeShapeType="1"/>
            </p:cNvSpPr>
            <p:nvPr/>
          </p:nvSpPr>
          <p:spPr bwMode="auto">
            <a:xfrm>
              <a:off x="6084818" y="5878989"/>
              <a:ext cx="114817" cy="1423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4" name="כותרת 3">
            <a:extLst>
              <a:ext uri="{FF2B5EF4-FFF2-40B4-BE49-F238E27FC236}">
                <a16:creationId xmlns:a16="http://schemas.microsoft.com/office/drawing/2014/main" id="{D3475D30-12AF-4783-B3CC-FA1F0DDF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5488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עצי </a:t>
            </a:r>
            <a:r>
              <a:rPr lang="en-US" dirty="0"/>
              <a:t>AVL</a:t>
            </a:r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4E2207F5-B7C3-633E-DE82-39D602D54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320" y="2486140"/>
            <a:ext cx="6296025" cy="590550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24CE7B77-238E-EA5D-EB03-2235E23DB0F2}"/>
              </a:ext>
            </a:extLst>
          </p:cNvPr>
          <p:cNvSpPr/>
          <p:nvPr/>
        </p:nvSpPr>
        <p:spPr>
          <a:xfrm>
            <a:off x="1220891" y="3254834"/>
            <a:ext cx="10406799" cy="1526196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59F448DF-D28F-CFE9-A120-0C68F0502A02}"/>
              </a:ext>
            </a:extLst>
          </p:cNvPr>
          <p:cNvSpPr txBox="1"/>
          <p:nvPr/>
        </p:nvSpPr>
        <p:spPr>
          <a:xfrm>
            <a:off x="9571062" y="3847603"/>
            <a:ext cx="1502523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ctr" rtl="1">
              <a:spcAft>
                <a:spcPts val="600"/>
              </a:spcAft>
              <a:defRPr/>
            </a:pPr>
            <a:r>
              <a:rPr lang="he-IL" sz="2400" b="1" dirty="0">
                <a:latin typeface="Times New Roman" pitchFamily="18" charset="0"/>
              </a:rPr>
              <a:t>דוגמאות</a:t>
            </a:r>
          </a:p>
        </p:txBody>
      </p:sp>
      <p:sp>
        <p:nvSpPr>
          <p:cNvPr id="49" name="תיבת טקסט 48">
            <a:extLst>
              <a:ext uri="{FF2B5EF4-FFF2-40B4-BE49-F238E27FC236}">
                <a16:creationId xmlns:a16="http://schemas.microsoft.com/office/drawing/2014/main" id="{D0147229-AD0D-A291-E911-1ABED11CC2E0}"/>
              </a:ext>
            </a:extLst>
          </p:cNvPr>
          <p:cNvSpPr txBox="1"/>
          <p:nvPr/>
        </p:nvSpPr>
        <p:spPr>
          <a:xfrm>
            <a:off x="9312480" y="5295099"/>
            <a:ext cx="1976557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ctr" rtl="1">
              <a:spcAft>
                <a:spcPts val="600"/>
              </a:spcAft>
              <a:defRPr/>
            </a:pPr>
            <a:r>
              <a:rPr lang="he-IL" sz="2400" b="1" dirty="0">
                <a:latin typeface="Times New Roman" pitchFamily="18" charset="0"/>
              </a:rPr>
              <a:t>דוגמאות נגד</a:t>
            </a:r>
          </a:p>
        </p:txBody>
      </p:sp>
      <p:sp>
        <p:nvSpPr>
          <p:cNvPr id="50" name="מלבן 49">
            <a:extLst>
              <a:ext uri="{FF2B5EF4-FFF2-40B4-BE49-F238E27FC236}">
                <a16:creationId xmlns:a16="http://schemas.microsoft.com/office/drawing/2014/main" id="{88B577EF-AF4A-9321-5EC9-70BEB40DB9C6}"/>
              </a:ext>
            </a:extLst>
          </p:cNvPr>
          <p:cNvSpPr/>
          <p:nvPr/>
        </p:nvSpPr>
        <p:spPr>
          <a:xfrm>
            <a:off x="1219200" y="4782001"/>
            <a:ext cx="10406799" cy="1526196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1" name="הסבר: קו מכופף 50">
            <a:extLst>
              <a:ext uri="{FF2B5EF4-FFF2-40B4-BE49-F238E27FC236}">
                <a16:creationId xmlns:a16="http://schemas.microsoft.com/office/drawing/2014/main" id="{3D6939A6-E5FB-B78B-95FA-F081DB7847A0}"/>
              </a:ext>
            </a:extLst>
          </p:cNvPr>
          <p:cNvSpPr/>
          <p:nvPr/>
        </p:nvSpPr>
        <p:spPr>
          <a:xfrm>
            <a:off x="404222" y="1232941"/>
            <a:ext cx="1947362" cy="1140771"/>
          </a:xfrm>
          <a:prstGeom prst="borderCallout2">
            <a:avLst>
              <a:gd name="adj1" fmla="val 33383"/>
              <a:gd name="adj2" fmla="val 104618"/>
              <a:gd name="adj3" fmla="val 35912"/>
              <a:gd name="adj4" fmla="val 114133"/>
              <a:gd name="adj5" fmla="val 103443"/>
              <a:gd name="adj6" fmla="val 119419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just" rtl="1">
              <a:spcAft>
                <a:spcPts val="600"/>
              </a:spcAft>
              <a:defRPr/>
            </a:pPr>
            <a:r>
              <a:rPr lang="he-IL" sz="2000" dirty="0">
                <a:solidFill>
                  <a:sysClr val="windowText" lastClr="000000"/>
                </a:solidFill>
                <a:latin typeface="Times New Roman" pitchFamily="18" charset="0"/>
              </a:rPr>
              <a:t>תזכורת: גובה של עץ ריק (</a:t>
            </a:r>
            <a:r>
              <a:rPr lang="en-US" sz="2000" dirty="0">
                <a:solidFill>
                  <a:sysClr val="windowText" lastClr="000000"/>
                </a:solidFill>
                <a:latin typeface="Times New Roman" pitchFamily="18" charset="0"/>
              </a:rPr>
              <a:t>Null</a:t>
            </a:r>
            <a:r>
              <a:rPr lang="he-IL" sz="2000" dirty="0">
                <a:solidFill>
                  <a:sysClr val="windowText" lastClr="000000"/>
                </a:solidFill>
                <a:latin typeface="Times New Roman" pitchFamily="18" charset="0"/>
              </a:rPr>
              <a:t>) מוגדר להיות </a:t>
            </a:r>
            <a:r>
              <a:rPr lang="en-US" sz="2000" dirty="0">
                <a:solidFill>
                  <a:sysClr val="windowText" lastClr="000000"/>
                </a:solidFill>
                <a:latin typeface="Times New Roman" pitchFamily="18" charset="0"/>
              </a:rPr>
              <a:t>-1</a:t>
            </a:r>
            <a:r>
              <a:rPr lang="he-IL" sz="2000" dirty="0">
                <a:solidFill>
                  <a:sysClr val="windowText" lastClr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53" name="תיבת טקסט 52">
            <a:extLst>
              <a:ext uri="{FF2B5EF4-FFF2-40B4-BE49-F238E27FC236}">
                <a16:creationId xmlns:a16="http://schemas.microsoft.com/office/drawing/2014/main" id="{151F1BBD-9296-8D07-1577-5B78F4A3B44E}"/>
              </a:ext>
            </a:extLst>
          </p:cNvPr>
          <p:cNvSpPr txBox="1"/>
          <p:nvPr/>
        </p:nvSpPr>
        <p:spPr>
          <a:xfrm>
            <a:off x="1414399" y="59599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800" dirty="0">
                <a:latin typeface="Times New Roman" pitchFamily="18" charset="0"/>
              </a:rPr>
              <a:t>* צמתים בהם מופר האיזון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49" grpId="0" animBg="1"/>
      <p:bldP spid="50" grpId="0" animBg="1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667508" y="1951598"/>
            <a:ext cx="8856984" cy="4563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</a:rPr>
              <a:t>הוכחה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חסם תחתון</a:t>
            </a:r>
            <a:r>
              <a:rPr lang="he-IL" sz="2400" dirty="0">
                <a:latin typeface="Times New Roman" pitchFamily="18" charset="0"/>
              </a:rPr>
              <a:t>: מהו מספר הצמתים </a:t>
            </a:r>
            <a:r>
              <a:rPr lang="he-IL" sz="2400" dirty="0" err="1">
                <a:latin typeface="Times New Roman" pitchFamily="18" charset="0"/>
              </a:rPr>
              <a:t>המקסימלי</a:t>
            </a:r>
            <a:r>
              <a:rPr lang="he-IL" sz="2400" dirty="0">
                <a:latin typeface="Times New Roman" pitchFamily="18" charset="0"/>
              </a:rPr>
              <a:t> בעץ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 בגובה </a:t>
            </a:r>
            <a:r>
              <a:rPr lang="en-US" sz="2400" i="1" dirty="0">
                <a:latin typeface="Times New Roman" pitchFamily="18" charset="0"/>
              </a:rPr>
              <a:t>h</a:t>
            </a:r>
            <a:r>
              <a:rPr lang="he-IL" sz="2400" dirty="0">
                <a:latin typeface="Times New Roman" pitchFamily="18" charset="0"/>
              </a:rPr>
              <a:t>?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000" i="1" dirty="0">
                <a:latin typeface="Times New Roman" pitchFamily="18" charset="0"/>
              </a:rPr>
              <a:t>	n  </a:t>
            </a:r>
            <a:r>
              <a:rPr lang="en-US" sz="2000" dirty="0">
                <a:latin typeface="Times New Roman" pitchFamily="18" charset="0"/>
              </a:rPr>
              <a:t>≤  2</a:t>
            </a:r>
            <a:r>
              <a:rPr lang="en-US" sz="2000" i="1" baseline="30000" dirty="0">
                <a:latin typeface="Times New Roman" pitchFamily="18" charset="0"/>
              </a:rPr>
              <a:t>h</a:t>
            </a:r>
            <a:r>
              <a:rPr lang="en-US" sz="2000" baseline="30000" dirty="0">
                <a:latin typeface="Times New Roman" pitchFamily="18" charset="0"/>
              </a:rPr>
              <a:t>+1</a:t>
            </a:r>
            <a:r>
              <a:rPr lang="en-US" sz="2000" dirty="0">
                <a:latin typeface="Times New Roman" pitchFamily="18" charset="0"/>
              </a:rPr>
              <a:t>-1		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2000" i="1" dirty="0">
                <a:latin typeface="Times New Roman" pitchFamily="18" charset="0"/>
              </a:rPr>
              <a:t>h </a:t>
            </a:r>
            <a:r>
              <a:rPr lang="en-US" sz="2000" dirty="0">
                <a:latin typeface="Times New Roman" pitchFamily="18" charset="0"/>
              </a:rPr>
              <a:t> ≥  log(</a:t>
            </a:r>
            <a:r>
              <a:rPr lang="en-US" sz="2000" i="1" dirty="0">
                <a:latin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</a:rPr>
              <a:t>+1) -1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000" i="1" dirty="0">
                <a:latin typeface="Times New Roman" pitchFamily="18" charset="0"/>
              </a:rPr>
              <a:t>	h </a:t>
            </a:r>
            <a:r>
              <a:rPr lang="en-US" sz="2000" dirty="0">
                <a:latin typeface="Times New Roman" pitchFamily="18" charset="0"/>
              </a:rPr>
              <a:t> =  </a:t>
            </a:r>
            <a:r>
              <a:rPr lang="el-GR" sz="2000" dirty="0">
                <a:latin typeface="Times New Roman" pitchFamily="18" charset="0"/>
              </a:rPr>
              <a:t>Ω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</a:rPr>
              <a:t>log</a:t>
            </a:r>
            <a:r>
              <a:rPr lang="en-US" sz="2000" i="1" dirty="0" err="1">
                <a:latin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</a:rPr>
              <a:t>)</a:t>
            </a: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חסם עליון</a:t>
            </a:r>
            <a:r>
              <a:rPr lang="he-IL" sz="2400" dirty="0">
                <a:latin typeface="Times New Roman" pitchFamily="18" charset="0"/>
              </a:rPr>
              <a:t>: מהו מספר הצמתים </a:t>
            </a:r>
            <a:r>
              <a:rPr lang="he-IL" sz="2400" dirty="0" err="1">
                <a:latin typeface="Times New Roman" pitchFamily="18" charset="0"/>
              </a:rPr>
              <a:t>המינימלי</a:t>
            </a:r>
            <a:r>
              <a:rPr lang="he-IL" sz="2400" dirty="0">
                <a:latin typeface="Times New Roman" pitchFamily="18" charset="0"/>
              </a:rPr>
              <a:t> בעץ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 בגובה </a:t>
            </a:r>
            <a:r>
              <a:rPr lang="en-US" sz="2400" i="1" dirty="0">
                <a:latin typeface="Times New Roman" pitchFamily="18" charset="0"/>
              </a:rPr>
              <a:t>h</a:t>
            </a:r>
            <a:r>
              <a:rPr lang="he-IL" sz="2400" dirty="0">
                <a:latin typeface="Times New Roman" pitchFamily="18" charset="0"/>
              </a:rPr>
              <a:t>?</a:t>
            </a: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		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665019" y="1687832"/>
            <a:ext cx="9739046" cy="812287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</a:rPr>
              <a:t>טענה:</a:t>
            </a:r>
            <a:r>
              <a:rPr lang="he-IL" sz="2800" dirty="0">
                <a:latin typeface="Times New Roman" pitchFamily="18" charset="0"/>
              </a:rPr>
              <a:t> עבור עץ </a:t>
            </a:r>
            <a:r>
              <a:rPr lang="en-US" sz="2800" dirty="0">
                <a:latin typeface="Times New Roman" pitchFamily="18" charset="0"/>
              </a:rPr>
              <a:t>AVL</a:t>
            </a:r>
            <a:r>
              <a:rPr lang="he-IL" sz="2800" dirty="0">
                <a:latin typeface="Times New Roman" pitchFamily="18" charset="0"/>
              </a:rPr>
              <a:t> בעל </a:t>
            </a:r>
            <a:r>
              <a:rPr lang="en-US" sz="2800" i="1" dirty="0">
                <a:latin typeface="Times New Roman" pitchFamily="18" charset="0"/>
              </a:rPr>
              <a:t>n</a:t>
            </a:r>
            <a:r>
              <a:rPr lang="he-IL" sz="2800" dirty="0">
                <a:latin typeface="Times New Roman" pitchFamily="18" charset="0"/>
              </a:rPr>
              <a:t> צמתים וגובה </a:t>
            </a:r>
            <a:r>
              <a:rPr lang="en-US" sz="2800" i="1" dirty="0">
                <a:latin typeface="Times New Roman" pitchFamily="18" charset="0"/>
              </a:rPr>
              <a:t>h</a:t>
            </a:r>
            <a:r>
              <a:rPr lang="he-IL" sz="2800" dirty="0">
                <a:latin typeface="Times New Roman" pitchFamily="18" charset="0"/>
              </a:rPr>
              <a:t> מתקיים  </a:t>
            </a:r>
            <a:r>
              <a:rPr lang="en-US" sz="2800" i="1" dirty="0">
                <a:latin typeface="Times New Roman" pitchFamily="18" charset="0"/>
              </a:rPr>
              <a:t>h </a:t>
            </a:r>
            <a:r>
              <a:rPr lang="en-US" sz="2800" dirty="0">
                <a:latin typeface="Times New Roman" pitchFamily="18" charset="0"/>
              </a:rPr>
              <a:t>= </a:t>
            </a:r>
            <a:r>
              <a:rPr lang="el-GR" sz="2800" dirty="0">
                <a:latin typeface="Times New Roman" pitchFamily="18" charset="0"/>
              </a:rPr>
              <a:t>Θ</a:t>
            </a:r>
            <a:r>
              <a:rPr lang="en-US" sz="2800" dirty="0">
                <a:latin typeface="Times New Roman" pitchFamily="18" charset="0"/>
              </a:rPr>
              <a:t>(</a:t>
            </a:r>
            <a:r>
              <a:rPr lang="en-US" sz="2800" dirty="0" err="1">
                <a:latin typeface="Times New Roman" pitchFamily="18" charset="0"/>
              </a:rPr>
              <a:t>log</a:t>
            </a:r>
            <a:r>
              <a:rPr lang="en-US" sz="2800" i="1" dirty="0" err="1">
                <a:latin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</a:rPr>
              <a:t>)</a:t>
            </a:r>
            <a:r>
              <a:rPr lang="he-IL" sz="2800" dirty="0">
                <a:latin typeface="Times New Roman" pitchFamily="18" charset="0"/>
              </a:rPr>
              <a:t>.</a:t>
            </a:r>
          </a:p>
        </p:txBody>
      </p:sp>
      <p:sp>
        <p:nvSpPr>
          <p:cNvPr id="4" name="כותרת 3">
            <a:extLst>
              <a:ext uri="{FF2B5EF4-FFF2-40B4-BE49-F238E27FC236}">
                <a16:creationId xmlns:a16="http://schemas.microsoft.com/office/drawing/2014/main" id="{9A578A77-C000-B8E0-58D2-918A4F86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4632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חסם לגובה עץ </a:t>
            </a:r>
            <a:r>
              <a:rPr lang="en-US" dirty="0"/>
              <a:t>AVL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77221" y="1459972"/>
            <a:ext cx="8856984" cy="5005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חסם עליון (המשך)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כיצד נראה 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 בגובה </a:t>
            </a:r>
            <a:r>
              <a:rPr lang="en-US" sz="2400" i="1" dirty="0">
                <a:latin typeface="Times New Roman" pitchFamily="18" charset="0"/>
              </a:rPr>
              <a:t>h</a:t>
            </a:r>
            <a:r>
              <a:rPr lang="he-IL" sz="2400" i="1" dirty="0">
                <a:latin typeface="Times New Roman" pitchFamily="18" charset="0"/>
              </a:rPr>
              <a:t> </a:t>
            </a:r>
            <a:r>
              <a:rPr lang="he-IL" sz="2400" dirty="0">
                <a:latin typeface="Times New Roman" pitchFamily="18" charset="0"/>
              </a:rPr>
              <a:t>בעל מספר הצמתים </a:t>
            </a:r>
            <a:r>
              <a:rPr lang="he-IL" sz="2400" dirty="0" err="1">
                <a:latin typeface="Times New Roman" pitchFamily="18" charset="0"/>
              </a:rPr>
              <a:t>מינימלי</a:t>
            </a:r>
            <a:r>
              <a:rPr lang="he-IL" sz="2400" dirty="0">
                <a:latin typeface="Times New Roman" pitchFamily="18" charset="0"/>
              </a:rPr>
              <a:t> ?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000" u="sng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000" u="sng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000" u="sng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000" u="sng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000" u="sng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000" dirty="0">
                <a:latin typeface="Times New Roman" pitchFamily="18" charset="0"/>
                <a:sym typeface="Wingdings" pitchFamily="2" charset="2"/>
              </a:rPr>
              <a:t>עצים בעלי מבנה כזה נקראים </a:t>
            </a:r>
            <a:r>
              <a:rPr lang="he-IL" sz="2000" b="1" u="sng" dirty="0">
                <a:latin typeface="Times New Roman" pitchFamily="18" charset="0"/>
                <a:sym typeface="Wingdings" pitchFamily="2" charset="2"/>
              </a:rPr>
              <a:t>עצי </a:t>
            </a:r>
            <a:r>
              <a:rPr lang="he-IL" sz="2000" b="1" u="sng" dirty="0" err="1">
                <a:latin typeface="Times New Roman" pitchFamily="18" charset="0"/>
                <a:sym typeface="Wingdings" pitchFamily="2" charset="2"/>
              </a:rPr>
              <a:t>פיבונאצ'י</a:t>
            </a:r>
            <a:r>
              <a:rPr lang="he-IL" sz="2000" dirty="0">
                <a:latin typeface="Times New Roman" pitchFamily="18" charset="0"/>
                <a:sym typeface="Wingdings" pitchFamily="2" charset="2"/>
              </a:rPr>
              <a:t>.</a:t>
            </a:r>
            <a:endParaRPr lang="en-US" u="sng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000" u="sng" dirty="0">
                <a:latin typeface="Times New Roman" pitchFamily="18" charset="0"/>
                <a:sym typeface="Wingdings" pitchFamily="2" charset="2"/>
              </a:rPr>
              <a:t>תזכורת</a:t>
            </a:r>
            <a:r>
              <a:rPr lang="he-IL" sz="2000" dirty="0">
                <a:latin typeface="Times New Roman" pitchFamily="18" charset="0"/>
                <a:sym typeface="Wingdings" pitchFamily="2" charset="2"/>
              </a:rPr>
              <a:t>: סדרת </a:t>
            </a:r>
            <a:r>
              <a:rPr lang="he-IL" sz="2000" dirty="0" err="1">
                <a:latin typeface="Times New Roman" pitchFamily="18" charset="0"/>
                <a:sym typeface="Wingdings" pitchFamily="2" charset="2"/>
              </a:rPr>
              <a:t>פיבונאצ'י</a:t>
            </a:r>
            <a:r>
              <a:rPr lang="he-IL" sz="2000" dirty="0">
                <a:latin typeface="Times New Roman" pitchFamily="18" charset="0"/>
                <a:sym typeface="Wingdings" pitchFamily="2" charset="2"/>
              </a:rPr>
              <a:t>:	</a:t>
            </a:r>
            <a:r>
              <a:rPr lang="en-US" sz="2000" i="1" dirty="0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000" i="1" baseline="-25000" dirty="0">
                <a:latin typeface="Times New Roman" pitchFamily="18" charset="0"/>
                <a:sym typeface="Wingdings" pitchFamily="2" charset="2"/>
              </a:rPr>
              <a:t>n</a:t>
            </a:r>
            <a:r>
              <a:rPr lang="en-US" sz="2000" dirty="0">
                <a:latin typeface="Times New Roman" pitchFamily="18" charset="0"/>
                <a:sym typeface="Wingdings" pitchFamily="2" charset="2"/>
              </a:rPr>
              <a:t>  =  </a:t>
            </a:r>
            <a:r>
              <a:rPr lang="en-US" sz="2000" i="1" dirty="0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000" i="1" baseline="-25000" dirty="0">
                <a:latin typeface="Times New Roman" pitchFamily="18" charset="0"/>
                <a:sym typeface="Wingdings" pitchFamily="2" charset="2"/>
              </a:rPr>
              <a:t>n</a:t>
            </a:r>
            <a:r>
              <a:rPr lang="en-US" sz="2000" baseline="-25000" dirty="0">
                <a:latin typeface="Times New Roman" pitchFamily="18" charset="0"/>
                <a:sym typeface="Wingdings" pitchFamily="2" charset="2"/>
              </a:rPr>
              <a:t>-1</a:t>
            </a:r>
            <a:r>
              <a:rPr lang="en-US" sz="2000" dirty="0">
                <a:latin typeface="Times New Roman" pitchFamily="18" charset="0"/>
                <a:sym typeface="Wingdings" pitchFamily="2" charset="2"/>
              </a:rPr>
              <a:t>  +  </a:t>
            </a:r>
            <a:r>
              <a:rPr lang="en-US" sz="2000" i="1" dirty="0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000" i="1" baseline="-25000" dirty="0">
                <a:latin typeface="Times New Roman" pitchFamily="18" charset="0"/>
                <a:sym typeface="Wingdings" pitchFamily="2" charset="2"/>
              </a:rPr>
              <a:t>n</a:t>
            </a:r>
            <a:r>
              <a:rPr lang="en-US" sz="2000" baseline="-25000" dirty="0">
                <a:latin typeface="Times New Roman" pitchFamily="18" charset="0"/>
                <a:sym typeface="Wingdings" pitchFamily="2" charset="2"/>
              </a:rPr>
              <a:t>-2</a:t>
            </a:r>
            <a:r>
              <a:rPr lang="he-IL" sz="2000" dirty="0">
                <a:latin typeface="Times New Roman" pitchFamily="18" charset="0"/>
                <a:sym typeface="Wingdings" pitchFamily="2" charset="2"/>
              </a:rPr>
              <a:t>	</a:t>
            </a:r>
            <a:r>
              <a:rPr lang="en-US" sz="2000" i="1" dirty="0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000" baseline="-25000" dirty="0">
                <a:latin typeface="Times New Roman" pitchFamily="18" charset="0"/>
                <a:sym typeface="Wingdings" pitchFamily="2" charset="2"/>
              </a:rPr>
              <a:t>1</a:t>
            </a:r>
            <a:r>
              <a:rPr lang="en-US" sz="2000" dirty="0">
                <a:latin typeface="Times New Roman" pitchFamily="18" charset="0"/>
                <a:sym typeface="Wingdings" pitchFamily="2" charset="2"/>
              </a:rPr>
              <a:t> = </a:t>
            </a:r>
            <a:r>
              <a:rPr lang="en-US" sz="2000" i="1" dirty="0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000" baseline="-25000" dirty="0">
                <a:latin typeface="Times New Roman" pitchFamily="18" charset="0"/>
                <a:sym typeface="Wingdings" pitchFamily="2" charset="2"/>
              </a:rPr>
              <a:t>2</a:t>
            </a:r>
            <a:r>
              <a:rPr lang="en-US" sz="2000" dirty="0">
                <a:latin typeface="Times New Roman" pitchFamily="18" charset="0"/>
                <a:sym typeface="Wingdings" pitchFamily="2" charset="2"/>
              </a:rPr>
              <a:t> = 1</a:t>
            </a:r>
            <a:endParaRPr lang="he-IL" sz="2000" dirty="0">
              <a:latin typeface="Times New Roman" pitchFamily="18" charset="0"/>
              <a:sym typeface="Wingdings" pitchFamily="2" charset="2"/>
            </a:endParaRPr>
          </a:p>
        </p:txBody>
      </p:sp>
      <p:grpSp>
        <p:nvGrpSpPr>
          <p:cNvPr id="20" name="קבוצה 19"/>
          <p:cNvGrpSpPr/>
          <p:nvPr/>
        </p:nvGrpSpPr>
        <p:grpSpPr>
          <a:xfrm>
            <a:off x="4849091" y="3069316"/>
            <a:ext cx="3278591" cy="2180281"/>
            <a:chOff x="5770463" y="1699395"/>
            <a:chExt cx="2894380" cy="1800200"/>
          </a:xfrm>
        </p:grpSpPr>
        <p:sp>
          <p:nvSpPr>
            <p:cNvPr id="24" name="AutoShape 36"/>
            <p:cNvSpPr>
              <a:spLocks noChangeArrowheads="1"/>
            </p:cNvSpPr>
            <p:nvPr/>
          </p:nvSpPr>
          <p:spPr bwMode="auto">
            <a:xfrm>
              <a:off x="7236296" y="2420888"/>
              <a:ext cx="838845" cy="1078707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400" dirty="0"/>
                <a:t>AVL</a:t>
              </a:r>
              <a:endParaRPr lang="he-IL" sz="1400" dirty="0"/>
            </a:p>
            <a:p>
              <a:pPr algn="ctr" rtl="1"/>
              <a:r>
                <a:rPr lang="he-IL" sz="1400" dirty="0" err="1"/>
                <a:t>מינימלי</a:t>
              </a:r>
              <a:endParaRPr lang="he-IL" sz="1400" dirty="0"/>
            </a:p>
          </p:txBody>
        </p:sp>
        <p:sp>
          <p:nvSpPr>
            <p:cNvPr id="25" name="Oval 55"/>
            <p:cNvSpPr>
              <a:spLocks noChangeArrowheads="1"/>
            </p:cNvSpPr>
            <p:nvPr/>
          </p:nvSpPr>
          <p:spPr bwMode="auto">
            <a:xfrm>
              <a:off x="6710263" y="1699395"/>
              <a:ext cx="454025" cy="404812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n-US" dirty="0">
                <a:latin typeface="Comic Sans MS" pitchFamily="66" charset="0"/>
              </a:endParaRPr>
            </a:p>
          </p:txBody>
        </p:sp>
        <p:cxnSp>
          <p:nvCxnSpPr>
            <p:cNvPr id="26" name="AutoShape 62"/>
            <p:cNvCxnSpPr>
              <a:cxnSpLocks noChangeShapeType="1"/>
              <a:stCxn id="25" idx="5"/>
              <a:endCxn id="24" idx="0"/>
            </p:cNvCxnSpPr>
            <p:nvPr/>
          </p:nvCxnSpPr>
          <p:spPr bwMode="auto">
            <a:xfrm rot="16200000" flipH="1">
              <a:off x="7188776" y="1953945"/>
              <a:ext cx="375964" cy="557921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" name="AutoShape 36"/>
            <p:cNvSpPr>
              <a:spLocks noChangeArrowheads="1"/>
            </p:cNvSpPr>
            <p:nvPr/>
          </p:nvSpPr>
          <p:spPr bwMode="auto">
            <a:xfrm>
              <a:off x="5770463" y="2418104"/>
              <a:ext cx="864096" cy="793460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1"/>
              <a:r>
                <a:rPr lang="en-US" sz="1400" dirty="0"/>
                <a:t>AVL</a:t>
              </a:r>
              <a:endParaRPr lang="he-IL" sz="1400" dirty="0"/>
            </a:p>
            <a:p>
              <a:pPr algn="ctr" rtl="1"/>
              <a:r>
                <a:rPr lang="he-IL" sz="1400" dirty="0" err="1"/>
                <a:t>מינימלי</a:t>
              </a:r>
              <a:endParaRPr lang="he-IL" sz="1400" dirty="0"/>
            </a:p>
            <a:p>
              <a:pPr algn="ctr" rtl="1"/>
              <a:endParaRPr lang="he-IL" sz="1400" dirty="0"/>
            </a:p>
          </p:txBody>
        </p:sp>
        <p:cxnSp>
          <p:nvCxnSpPr>
            <p:cNvPr id="28" name="AutoShape 62"/>
            <p:cNvCxnSpPr>
              <a:cxnSpLocks noChangeShapeType="1"/>
              <a:stCxn id="25" idx="3"/>
              <a:endCxn id="27" idx="0"/>
            </p:cNvCxnSpPr>
            <p:nvPr/>
          </p:nvCxnSpPr>
          <p:spPr bwMode="auto">
            <a:xfrm rot="5400000">
              <a:off x="6303042" y="1944393"/>
              <a:ext cx="373180" cy="57424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9" name="מחבר חץ ישר 28"/>
            <p:cNvCxnSpPr/>
            <p:nvPr/>
          </p:nvCxnSpPr>
          <p:spPr>
            <a:xfrm rot="16200000" flipH="1">
              <a:off x="7750684" y="2959535"/>
              <a:ext cx="1080119" cy="1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מלבן 29"/>
            <p:cNvSpPr/>
            <p:nvPr/>
          </p:nvSpPr>
          <p:spPr>
            <a:xfrm>
              <a:off x="8172400" y="2770223"/>
              <a:ext cx="49244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h</a:t>
              </a:r>
              <a:r>
                <a:rPr lang="en-US" dirty="0">
                  <a:latin typeface="Times New Roman" pitchFamily="18" charset="0"/>
                </a:rPr>
                <a:t>-1</a:t>
              </a:r>
              <a:endParaRPr lang="he-IL" dirty="0"/>
            </a:p>
          </p:txBody>
        </p:sp>
        <p:cxnSp>
          <p:nvCxnSpPr>
            <p:cNvPr id="31" name="מחבר חץ ישר 30"/>
            <p:cNvCxnSpPr/>
            <p:nvPr/>
          </p:nvCxnSpPr>
          <p:spPr>
            <a:xfrm rot="16200000" flipH="1">
              <a:off x="6346528" y="2779514"/>
              <a:ext cx="864096" cy="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מלבן 31"/>
            <p:cNvSpPr/>
            <p:nvPr/>
          </p:nvSpPr>
          <p:spPr>
            <a:xfrm>
              <a:off x="6634559" y="2626207"/>
              <a:ext cx="49244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h</a:t>
              </a:r>
              <a:r>
                <a:rPr lang="en-US" dirty="0">
                  <a:latin typeface="Times New Roman" pitchFamily="18" charset="0"/>
                </a:rPr>
                <a:t>-2</a:t>
              </a:r>
              <a:endParaRPr lang="he-IL" dirty="0"/>
            </a:p>
          </p:txBody>
        </p:sp>
      </p:grpSp>
      <p:sp>
        <p:nvSpPr>
          <p:cNvPr id="40" name="מלבן 39"/>
          <p:cNvSpPr/>
          <p:nvPr/>
        </p:nvSpPr>
        <p:spPr>
          <a:xfrm>
            <a:off x="5722248" y="2492896"/>
            <a:ext cx="966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latin typeface="Times New Roman" pitchFamily="18" charset="0"/>
              </a:rPr>
              <a:t>(או הפוך)</a:t>
            </a:r>
            <a:endParaRPr lang="he-IL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  <p:sp>
        <p:nvSpPr>
          <p:cNvPr id="6" name="כותרת 3">
            <a:extLst>
              <a:ext uri="{FF2B5EF4-FFF2-40B4-BE49-F238E27FC236}">
                <a16:creationId xmlns:a16="http://schemas.microsoft.com/office/drawing/2014/main" id="{5BF172E4-A6AB-18F7-9257-2BD4E6F1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חסם לגובה עץ </a:t>
            </a:r>
            <a:r>
              <a:rPr lang="en-US" dirty="0"/>
              <a:t>AVL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6CC7-5D87-41AE-A8C6-B06E12F85E9C}" type="slidenum">
              <a:rPr lang="en-US" sz="2133"/>
              <a:pPr/>
              <a:t>13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84779" y="1527713"/>
            <a:ext cx="308783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he-IL" sz="40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עצי </a:t>
            </a:r>
            <a:r>
              <a:rPr lang="he-IL" sz="4000" cap="all" dirty="0" err="1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פיבונאצ'י</a:t>
            </a:r>
            <a:endParaRPr lang="he-IL" sz="4000" cap="all" dirty="0">
              <a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sp>
        <p:nvSpPr>
          <p:cNvPr id="2" name="כותרת 3">
            <a:extLst>
              <a:ext uri="{FF2B5EF4-FFF2-40B4-BE49-F238E27FC236}">
                <a16:creationId xmlns:a16="http://schemas.microsoft.com/office/drawing/2014/main" id="{86643264-0E54-392F-0952-564047F7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חסם לגובה עץ </a:t>
            </a:r>
            <a:r>
              <a:rPr lang="en-US" dirty="0"/>
              <a:t>AVL</a:t>
            </a:r>
            <a:endParaRPr lang="he-IL" dirty="0"/>
          </a:p>
        </p:txBody>
      </p:sp>
      <p:grpSp>
        <p:nvGrpSpPr>
          <p:cNvPr id="183" name="קבוצה 182">
            <a:extLst>
              <a:ext uri="{FF2B5EF4-FFF2-40B4-BE49-F238E27FC236}">
                <a16:creationId xmlns:a16="http://schemas.microsoft.com/office/drawing/2014/main" id="{EFBF623A-A248-6A75-EFDD-A94A316D3A4C}"/>
              </a:ext>
            </a:extLst>
          </p:cNvPr>
          <p:cNvGrpSpPr/>
          <p:nvPr/>
        </p:nvGrpSpPr>
        <p:grpSpPr>
          <a:xfrm>
            <a:off x="1069848" y="2385246"/>
            <a:ext cx="10357935" cy="4252663"/>
            <a:chOff x="383746" y="2064387"/>
            <a:chExt cx="11567462" cy="4570457"/>
          </a:xfrm>
        </p:grpSpPr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420426" y="2069609"/>
              <a:ext cx="573219" cy="562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2800" dirty="0">
                  <a:latin typeface="+mn-lt"/>
                </a:rPr>
                <a:t>F</a:t>
              </a:r>
              <a:r>
                <a:rPr lang="en-US" altLang="he-IL" sz="2800" baseline="-25000" dirty="0">
                  <a:latin typeface="+mn-lt"/>
                </a:rPr>
                <a:t>0</a:t>
              </a:r>
            </a:p>
          </p:txBody>
        </p:sp>
        <p:sp>
          <p:nvSpPr>
            <p:cNvPr id="17" name="Oval 68"/>
            <p:cNvSpPr>
              <a:spLocks noChangeArrowheads="1"/>
            </p:cNvSpPr>
            <p:nvPr/>
          </p:nvSpPr>
          <p:spPr bwMode="auto">
            <a:xfrm>
              <a:off x="623392" y="2793907"/>
              <a:ext cx="287867" cy="283633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rtl="0" eaLnBrk="1" hangingPunct="1"/>
              <a:endParaRPr lang="he-IL" altLang="he-IL" sz="3733" b="1">
                <a:latin typeface="+mn-lt"/>
              </a:endParaRPr>
            </a:p>
          </p:txBody>
        </p:sp>
        <p:grpSp>
          <p:nvGrpSpPr>
            <p:cNvPr id="18" name="Group 70"/>
            <p:cNvGrpSpPr>
              <a:grpSpLocks/>
            </p:cNvGrpSpPr>
            <p:nvPr/>
          </p:nvGrpSpPr>
          <p:grpSpPr bwMode="auto">
            <a:xfrm>
              <a:off x="1583995" y="2789508"/>
              <a:ext cx="863600" cy="912284"/>
              <a:chOff x="1383" y="1979"/>
              <a:chExt cx="453" cy="453"/>
            </a:xfrm>
          </p:grpSpPr>
          <p:sp>
            <p:nvSpPr>
              <p:cNvPr id="19" name="Oval 65"/>
              <p:cNvSpPr>
                <a:spLocks noChangeArrowheads="1"/>
              </p:cNvSpPr>
              <p:nvPr/>
            </p:nvSpPr>
            <p:spPr bwMode="auto">
              <a:xfrm>
                <a:off x="1677" y="1979"/>
                <a:ext cx="159" cy="156"/>
              </a:xfrm>
              <a:prstGeom prst="ellipse">
                <a:avLst/>
              </a:prstGeom>
              <a:noFill/>
              <a:ln w="31750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rtl="0" eaLnBrk="1" hangingPunct="1"/>
                <a:endParaRPr lang="he-IL" altLang="he-IL" sz="3733" b="1">
                  <a:latin typeface="+mn-lt"/>
                </a:endParaRPr>
              </a:p>
            </p:txBody>
          </p:sp>
          <p:cxnSp>
            <p:nvCxnSpPr>
              <p:cNvPr id="20" name="AutoShape 67"/>
              <p:cNvCxnSpPr>
                <a:cxnSpLocks noChangeShapeType="1"/>
                <a:endCxn id="19" idx="3"/>
              </p:cNvCxnSpPr>
              <p:nvPr/>
            </p:nvCxnSpPr>
            <p:spPr bwMode="auto">
              <a:xfrm flipV="1">
                <a:off x="1497" y="2122"/>
                <a:ext cx="203" cy="174"/>
              </a:xfrm>
              <a:prstGeom prst="straightConnector1">
                <a:avLst/>
              </a:prstGeom>
              <a:noFill/>
              <a:ln w="31750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" name="Oval 69"/>
              <p:cNvSpPr>
                <a:spLocks noChangeArrowheads="1"/>
              </p:cNvSpPr>
              <p:nvPr/>
            </p:nvSpPr>
            <p:spPr bwMode="auto">
              <a:xfrm>
                <a:off x="1383" y="2276"/>
                <a:ext cx="159" cy="156"/>
              </a:xfrm>
              <a:prstGeom prst="ellipse">
                <a:avLst/>
              </a:prstGeom>
              <a:noFill/>
              <a:ln w="31750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rtl="0" eaLnBrk="1" hangingPunct="1"/>
                <a:endParaRPr lang="he-IL" altLang="he-IL" sz="3733" b="1">
                  <a:latin typeface="+mn-lt"/>
                </a:endParaRPr>
              </a:p>
            </p:txBody>
          </p:sp>
        </p:grpSp>
        <p:sp>
          <p:nvSpPr>
            <p:cNvPr id="23" name="Text Box 73"/>
            <p:cNvSpPr txBox="1">
              <a:spLocks noChangeArrowheads="1"/>
            </p:cNvSpPr>
            <p:nvPr/>
          </p:nvSpPr>
          <p:spPr bwMode="auto">
            <a:xfrm>
              <a:off x="531596" y="4229668"/>
              <a:ext cx="548156" cy="628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3200" dirty="0">
                  <a:latin typeface="+mn-lt"/>
                </a:rPr>
                <a:t>F</a:t>
              </a:r>
              <a:r>
                <a:rPr lang="en-US" altLang="he-IL" sz="3200" baseline="-25000" dirty="0">
                  <a:latin typeface="+mn-lt"/>
                </a:rPr>
                <a:t>i</a:t>
              </a:r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383746" y="4197087"/>
              <a:ext cx="3119967" cy="2400300"/>
              <a:chOff x="935881" y="3291805"/>
              <a:chExt cx="2339975" cy="1800225"/>
            </a:xfrm>
          </p:grpSpPr>
          <p:grpSp>
            <p:nvGrpSpPr>
              <p:cNvPr id="11" name="Group 71"/>
              <p:cNvGrpSpPr>
                <a:grpSpLocks/>
              </p:cNvGrpSpPr>
              <p:nvPr/>
            </p:nvGrpSpPr>
            <p:grpSpPr bwMode="auto">
              <a:xfrm>
                <a:off x="935881" y="3291805"/>
                <a:ext cx="2339975" cy="1800225"/>
                <a:chOff x="839" y="2931"/>
                <a:chExt cx="1474" cy="1134"/>
              </a:xfrm>
            </p:grpSpPr>
            <p:sp>
              <p:nvSpPr>
                <p:cNvPr id="12" name="Oval 51"/>
                <p:cNvSpPr>
                  <a:spLocks noChangeArrowheads="1"/>
                </p:cNvSpPr>
                <p:nvPr/>
              </p:nvSpPr>
              <p:spPr bwMode="auto">
                <a:xfrm>
                  <a:off x="1451" y="2931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  <p:cxnSp>
              <p:nvCxnSpPr>
                <p:cNvPr id="13" name="AutoShape 54"/>
                <p:cNvCxnSpPr>
                  <a:cxnSpLocks noChangeShapeType="1"/>
                  <a:stCxn id="15" idx="0"/>
                  <a:endCxn id="12" idx="5"/>
                </p:cNvCxnSpPr>
                <p:nvPr/>
              </p:nvCxnSpPr>
              <p:spPr bwMode="auto">
                <a:xfrm flipH="1" flipV="1">
                  <a:off x="1587" y="3074"/>
                  <a:ext cx="445" cy="316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" name="AutoShape 55"/>
                <p:cNvCxnSpPr>
                  <a:cxnSpLocks noChangeShapeType="1"/>
                  <a:stCxn id="16" idx="0"/>
                  <a:endCxn id="12" idx="3"/>
                </p:cNvCxnSpPr>
                <p:nvPr/>
              </p:nvCxnSpPr>
              <p:spPr bwMode="auto">
                <a:xfrm flipV="1">
                  <a:off x="1121" y="3074"/>
                  <a:ext cx="353" cy="317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" name="AutoShape 56"/>
                <p:cNvSpPr>
                  <a:spLocks noChangeArrowheads="1"/>
                </p:cNvSpPr>
                <p:nvPr/>
              </p:nvSpPr>
              <p:spPr bwMode="auto">
                <a:xfrm>
                  <a:off x="1750" y="3400"/>
                  <a:ext cx="563" cy="665"/>
                </a:xfrm>
                <a:prstGeom prst="triangle">
                  <a:avLst>
                    <a:gd name="adj" fmla="val 50000"/>
                  </a:avLst>
                </a:prstGeom>
                <a:noFill/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he-IL" altLang="he-IL" sz="2400" b="1">
                    <a:latin typeface="+mn-lt"/>
                  </a:endParaRPr>
                </a:p>
              </p:txBody>
            </p:sp>
            <p:sp>
              <p:nvSpPr>
                <p:cNvPr id="16" name="AutoShape 58"/>
                <p:cNvSpPr>
                  <a:spLocks noChangeArrowheads="1"/>
                </p:cNvSpPr>
                <p:nvPr/>
              </p:nvSpPr>
              <p:spPr bwMode="auto">
                <a:xfrm>
                  <a:off x="839" y="3401"/>
                  <a:ext cx="563" cy="551"/>
                </a:xfrm>
                <a:prstGeom prst="triangle">
                  <a:avLst>
                    <a:gd name="adj" fmla="val 50000"/>
                  </a:avLst>
                </a:prstGeom>
                <a:noFill/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he-IL" altLang="he-IL" sz="2400" b="1">
                    <a:latin typeface="+mn-lt"/>
                  </a:endParaRPr>
                </a:p>
              </p:txBody>
            </p:sp>
          </p:grpSp>
          <p:sp>
            <p:nvSpPr>
              <p:cNvPr id="24" name="Text Box 74"/>
              <p:cNvSpPr txBox="1">
                <a:spLocks noChangeArrowheads="1"/>
              </p:cNvSpPr>
              <p:nvPr/>
            </p:nvSpPr>
            <p:spPr bwMode="auto">
              <a:xfrm>
                <a:off x="2527183" y="4598318"/>
                <a:ext cx="592951" cy="4385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algn="r" eaLnBrk="1" hangingPunct="1"/>
                <a:r>
                  <a:rPr lang="en-US" altLang="he-IL" sz="3200" b="1" dirty="0">
                    <a:latin typeface="+mn-lt"/>
                  </a:rPr>
                  <a:t>F</a:t>
                </a:r>
                <a:r>
                  <a:rPr lang="en-US" altLang="he-IL" sz="3200" b="1" baseline="-25000" dirty="0">
                    <a:latin typeface="+mn-lt"/>
                  </a:rPr>
                  <a:t>i-1</a:t>
                </a:r>
              </a:p>
            </p:txBody>
          </p:sp>
          <p:sp>
            <p:nvSpPr>
              <p:cNvPr id="25" name="Text Box 75"/>
              <p:cNvSpPr txBox="1">
                <a:spLocks noChangeArrowheads="1"/>
              </p:cNvSpPr>
              <p:nvPr/>
            </p:nvSpPr>
            <p:spPr bwMode="auto">
              <a:xfrm>
                <a:off x="1133357" y="4407818"/>
                <a:ext cx="592951" cy="4385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algn="r" eaLnBrk="1" hangingPunct="1"/>
                <a:r>
                  <a:rPr lang="en-US" altLang="he-IL" sz="3200" b="1" dirty="0">
                    <a:latin typeface="+mn-lt"/>
                  </a:rPr>
                  <a:t>F</a:t>
                </a:r>
                <a:r>
                  <a:rPr lang="en-US" altLang="he-IL" sz="3200" b="1" baseline="-25000" dirty="0">
                    <a:latin typeface="+mn-lt"/>
                  </a:rPr>
                  <a:t>i-2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216176" y="2789508"/>
              <a:ext cx="1151136" cy="1584359"/>
              <a:chOff x="2412132" y="1707654"/>
              <a:chExt cx="863352" cy="1188269"/>
            </a:xfrm>
          </p:grpSpPr>
          <p:grpSp>
            <p:nvGrpSpPr>
              <p:cNvPr id="26" name="Group 70"/>
              <p:cNvGrpSpPr>
                <a:grpSpLocks/>
              </p:cNvGrpSpPr>
              <p:nvPr/>
            </p:nvGrpSpPr>
            <p:grpSpPr bwMode="auto">
              <a:xfrm>
                <a:off x="2412132" y="1707654"/>
                <a:ext cx="647700" cy="684213"/>
                <a:chOff x="1383" y="1979"/>
                <a:chExt cx="453" cy="453"/>
              </a:xfrm>
            </p:grpSpPr>
            <p:sp>
              <p:nvSpPr>
                <p:cNvPr id="27" name="Oval 65"/>
                <p:cNvSpPr>
                  <a:spLocks noChangeArrowheads="1"/>
                </p:cNvSpPr>
                <p:nvPr/>
              </p:nvSpPr>
              <p:spPr bwMode="auto">
                <a:xfrm>
                  <a:off x="1677" y="1979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  <p:cxnSp>
              <p:nvCxnSpPr>
                <p:cNvPr id="28" name="AutoShape 67"/>
                <p:cNvCxnSpPr>
                  <a:cxnSpLocks noChangeShapeType="1"/>
                  <a:endCxn id="27" idx="3"/>
                </p:cNvCxnSpPr>
                <p:nvPr/>
              </p:nvCxnSpPr>
              <p:spPr bwMode="auto">
                <a:xfrm flipV="1">
                  <a:off x="1497" y="2122"/>
                  <a:ext cx="203" cy="174"/>
                </a:xfrm>
                <a:prstGeom prst="straightConnector1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29" name="Oval 69"/>
                <p:cNvSpPr>
                  <a:spLocks noChangeArrowheads="1"/>
                </p:cNvSpPr>
                <p:nvPr/>
              </p:nvSpPr>
              <p:spPr bwMode="auto">
                <a:xfrm>
                  <a:off x="1383" y="2276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</p:grpSp>
          <p:grpSp>
            <p:nvGrpSpPr>
              <p:cNvPr id="31" name="Group 70"/>
              <p:cNvGrpSpPr>
                <a:grpSpLocks/>
              </p:cNvGrpSpPr>
              <p:nvPr/>
            </p:nvGrpSpPr>
            <p:grpSpPr bwMode="auto">
              <a:xfrm>
                <a:off x="2627784" y="2211710"/>
                <a:ext cx="647700" cy="684213"/>
                <a:chOff x="1383" y="1979"/>
                <a:chExt cx="453" cy="453"/>
              </a:xfrm>
            </p:grpSpPr>
            <p:sp>
              <p:nvSpPr>
                <p:cNvPr id="32" name="Oval 65"/>
                <p:cNvSpPr>
                  <a:spLocks noChangeArrowheads="1"/>
                </p:cNvSpPr>
                <p:nvPr/>
              </p:nvSpPr>
              <p:spPr bwMode="auto">
                <a:xfrm>
                  <a:off x="1677" y="1979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  <p:cxnSp>
              <p:nvCxnSpPr>
                <p:cNvPr id="33" name="AutoShape 67"/>
                <p:cNvCxnSpPr>
                  <a:cxnSpLocks noChangeShapeType="1"/>
                  <a:endCxn id="32" idx="3"/>
                </p:cNvCxnSpPr>
                <p:nvPr/>
              </p:nvCxnSpPr>
              <p:spPr bwMode="auto">
                <a:xfrm flipV="1">
                  <a:off x="1497" y="2122"/>
                  <a:ext cx="203" cy="174"/>
                </a:xfrm>
                <a:prstGeom prst="straightConnector1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4" name="Oval 69"/>
                <p:cNvSpPr>
                  <a:spLocks noChangeArrowheads="1"/>
                </p:cNvSpPr>
                <p:nvPr/>
              </p:nvSpPr>
              <p:spPr bwMode="auto">
                <a:xfrm>
                  <a:off x="1383" y="2276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</p:grpSp>
          <p:cxnSp>
            <p:nvCxnSpPr>
              <p:cNvPr id="35" name="AutoShape 67"/>
              <p:cNvCxnSpPr>
                <a:cxnSpLocks noChangeShapeType="1"/>
                <a:stCxn id="32" idx="0"/>
                <a:endCxn id="27" idx="5"/>
              </p:cNvCxnSpPr>
              <p:nvPr/>
            </p:nvCxnSpPr>
            <p:spPr bwMode="auto">
              <a:xfrm flipH="1" flipV="1">
                <a:off x="3026539" y="1908771"/>
                <a:ext cx="135276" cy="302939"/>
              </a:xfrm>
              <a:prstGeom prst="straightConnector1">
                <a:avLst/>
              </a:prstGeom>
              <a:noFill/>
              <a:ln w="3175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0" name="Group 79"/>
            <p:cNvGrpSpPr/>
            <p:nvPr/>
          </p:nvGrpSpPr>
          <p:grpSpPr>
            <a:xfrm>
              <a:off x="5328411" y="2793906"/>
              <a:ext cx="2207749" cy="2203847"/>
              <a:chOff x="3996308" y="1710953"/>
              <a:chExt cx="1655812" cy="1652885"/>
            </a:xfrm>
          </p:grpSpPr>
          <p:sp>
            <p:nvSpPr>
              <p:cNvPr id="38" name="Oval 68"/>
              <p:cNvSpPr>
                <a:spLocks noChangeArrowheads="1"/>
              </p:cNvSpPr>
              <p:nvPr/>
            </p:nvSpPr>
            <p:spPr bwMode="auto">
              <a:xfrm>
                <a:off x="4860032" y="1710953"/>
                <a:ext cx="215900" cy="212725"/>
              </a:xfrm>
              <a:prstGeom prst="ellips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rtl="0" eaLnBrk="1" hangingPunct="1"/>
                <a:endParaRPr lang="he-IL" altLang="he-IL" sz="3733" b="1">
                  <a:latin typeface="+mn-lt"/>
                </a:endParaRPr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4788768" y="2175569"/>
                <a:ext cx="863352" cy="1188269"/>
                <a:chOff x="2412132" y="1707654"/>
                <a:chExt cx="863352" cy="1188269"/>
              </a:xfrm>
            </p:grpSpPr>
            <p:grpSp>
              <p:nvGrpSpPr>
                <p:cNvPr id="40" name="Group 70"/>
                <p:cNvGrpSpPr>
                  <a:grpSpLocks/>
                </p:cNvGrpSpPr>
                <p:nvPr/>
              </p:nvGrpSpPr>
              <p:grpSpPr bwMode="auto">
                <a:xfrm>
                  <a:off x="2412132" y="1707654"/>
                  <a:ext cx="647700" cy="684213"/>
                  <a:chOff x="1383" y="1979"/>
                  <a:chExt cx="453" cy="453"/>
                </a:xfrm>
              </p:grpSpPr>
              <p:sp>
                <p:nvSpPr>
                  <p:cNvPr id="46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1677" y="1979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rgbClr val="00B05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  <p:cxnSp>
                <p:nvCxnSpPr>
                  <p:cNvPr id="47" name="AutoShape 67"/>
                  <p:cNvCxnSpPr>
                    <a:cxnSpLocks noChangeShapeType="1"/>
                    <a:endCxn id="46" idx="3"/>
                  </p:cNvCxnSpPr>
                  <p:nvPr/>
                </p:nvCxnSpPr>
                <p:spPr bwMode="auto">
                  <a:xfrm flipV="1">
                    <a:off x="1497" y="2122"/>
                    <a:ext cx="203" cy="174"/>
                  </a:xfrm>
                  <a:prstGeom prst="straightConnector1">
                    <a:avLst/>
                  </a:prstGeom>
                  <a:noFill/>
                  <a:ln w="31750">
                    <a:solidFill>
                      <a:srgbClr val="00B05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48" name="Oval 69"/>
                  <p:cNvSpPr>
                    <a:spLocks noChangeArrowheads="1"/>
                  </p:cNvSpPr>
                  <p:nvPr/>
                </p:nvSpPr>
                <p:spPr bwMode="auto">
                  <a:xfrm>
                    <a:off x="1383" y="2276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rgbClr val="00B05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</p:grpSp>
            <p:grpSp>
              <p:nvGrpSpPr>
                <p:cNvPr id="41" name="Group 70"/>
                <p:cNvGrpSpPr>
                  <a:grpSpLocks/>
                </p:cNvGrpSpPr>
                <p:nvPr/>
              </p:nvGrpSpPr>
              <p:grpSpPr bwMode="auto">
                <a:xfrm>
                  <a:off x="2627784" y="2211710"/>
                  <a:ext cx="647700" cy="684213"/>
                  <a:chOff x="1383" y="1979"/>
                  <a:chExt cx="453" cy="453"/>
                </a:xfrm>
              </p:grpSpPr>
              <p:sp>
                <p:nvSpPr>
                  <p:cNvPr id="43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1677" y="1979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rgbClr val="00B05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  <p:cxnSp>
                <p:nvCxnSpPr>
                  <p:cNvPr id="44" name="AutoShape 67"/>
                  <p:cNvCxnSpPr>
                    <a:cxnSpLocks noChangeShapeType="1"/>
                    <a:endCxn id="43" idx="3"/>
                  </p:cNvCxnSpPr>
                  <p:nvPr/>
                </p:nvCxnSpPr>
                <p:spPr bwMode="auto">
                  <a:xfrm flipV="1">
                    <a:off x="1497" y="2122"/>
                    <a:ext cx="203" cy="174"/>
                  </a:xfrm>
                  <a:prstGeom prst="straightConnector1">
                    <a:avLst/>
                  </a:prstGeom>
                  <a:noFill/>
                  <a:ln w="31750">
                    <a:solidFill>
                      <a:srgbClr val="00B05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45" name="Oval 69"/>
                  <p:cNvSpPr>
                    <a:spLocks noChangeArrowheads="1"/>
                  </p:cNvSpPr>
                  <p:nvPr/>
                </p:nvSpPr>
                <p:spPr bwMode="auto">
                  <a:xfrm>
                    <a:off x="1383" y="2276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rgbClr val="00B05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</p:grpSp>
            <p:cxnSp>
              <p:nvCxnSpPr>
                <p:cNvPr id="42" name="AutoShape 67"/>
                <p:cNvCxnSpPr>
                  <a:cxnSpLocks noChangeShapeType="1"/>
                  <a:stCxn id="43" idx="0"/>
                  <a:endCxn id="46" idx="5"/>
                </p:cNvCxnSpPr>
                <p:nvPr/>
              </p:nvCxnSpPr>
              <p:spPr bwMode="auto">
                <a:xfrm flipH="1" flipV="1">
                  <a:off x="3026539" y="1908771"/>
                  <a:ext cx="135276" cy="302939"/>
                </a:xfrm>
                <a:prstGeom prst="straightConnector1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49" name="Group 70"/>
              <p:cNvGrpSpPr>
                <a:grpSpLocks/>
              </p:cNvGrpSpPr>
              <p:nvPr/>
            </p:nvGrpSpPr>
            <p:grpSpPr bwMode="auto">
              <a:xfrm>
                <a:off x="3996308" y="2175569"/>
                <a:ext cx="647700" cy="684213"/>
                <a:chOff x="1383" y="1979"/>
                <a:chExt cx="453" cy="453"/>
              </a:xfrm>
            </p:grpSpPr>
            <p:sp>
              <p:nvSpPr>
                <p:cNvPr id="50" name="Oval 65"/>
                <p:cNvSpPr>
                  <a:spLocks noChangeArrowheads="1"/>
                </p:cNvSpPr>
                <p:nvPr/>
              </p:nvSpPr>
              <p:spPr bwMode="auto">
                <a:xfrm>
                  <a:off x="1677" y="1979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F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  <p:cxnSp>
              <p:nvCxnSpPr>
                <p:cNvPr id="51" name="AutoShape 67"/>
                <p:cNvCxnSpPr>
                  <a:cxnSpLocks noChangeShapeType="1"/>
                  <a:endCxn id="50" idx="3"/>
                </p:cNvCxnSpPr>
                <p:nvPr/>
              </p:nvCxnSpPr>
              <p:spPr bwMode="auto">
                <a:xfrm flipV="1">
                  <a:off x="1497" y="2122"/>
                  <a:ext cx="203" cy="174"/>
                </a:xfrm>
                <a:prstGeom prst="straightConnector1">
                  <a:avLst/>
                </a:prstGeom>
                <a:noFill/>
                <a:ln w="31750">
                  <a:solidFill>
                    <a:srgbClr val="00B0F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2" name="Oval 69"/>
                <p:cNvSpPr>
                  <a:spLocks noChangeArrowheads="1"/>
                </p:cNvSpPr>
                <p:nvPr/>
              </p:nvSpPr>
              <p:spPr bwMode="auto">
                <a:xfrm>
                  <a:off x="1383" y="2276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F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</p:grpSp>
          <p:cxnSp>
            <p:nvCxnSpPr>
              <p:cNvPr id="53" name="AutoShape 67"/>
              <p:cNvCxnSpPr>
                <a:cxnSpLocks noChangeShapeType="1"/>
                <a:stCxn id="50" idx="7"/>
                <a:endCxn id="38" idx="3"/>
              </p:cNvCxnSpPr>
              <p:nvPr/>
            </p:nvCxnSpPr>
            <p:spPr bwMode="auto">
              <a:xfrm flipV="1">
                <a:off x="4610715" y="1892525"/>
                <a:ext cx="280935" cy="317550"/>
              </a:xfrm>
              <a:prstGeom prst="straightConnector1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8" name="AutoShape 67"/>
              <p:cNvCxnSpPr>
                <a:cxnSpLocks noChangeShapeType="1"/>
                <a:stCxn id="46" idx="0"/>
                <a:endCxn id="38" idx="5"/>
              </p:cNvCxnSpPr>
              <p:nvPr/>
            </p:nvCxnSpPr>
            <p:spPr bwMode="auto">
              <a:xfrm flipH="1" flipV="1">
                <a:off x="5044314" y="1892525"/>
                <a:ext cx="278485" cy="283044"/>
              </a:xfrm>
              <a:prstGeom prst="straightConnector1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1" name="Text Box 72"/>
            <p:cNvSpPr txBox="1">
              <a:spLocks noChangeArrowheads="1"/>
            </p:cNvSpPr>
            <p:nvPr/>
          </p:nvSpPr>
          <p:spPr bwMode="auto">
            <a:xfrm>
              <a:off x="9003569" y="2064387"/>
              <a:ext cx="644826" cy="562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2800" dirty="0">
                  <a:latin typeface="+mn-lt"/>
                </a:rPr>
                <a:t>F4</a:t>
              </a:r>
            </a:p>
          </p:txBody>
        </p:sp>
        <p:grpSp>
          <p:nvGrpSpPr>
            <p:cNvPr id="81" name="Group 80"/>
            <p:cNvGrpSpPr/>
            <p:nvPr/>
          </p:nvGrpSpPr>
          <p:grpSpPr>
            <a:xfrm>
              <a:off x="9219463" y="2727126"/>
              <a:ext cx="1622720" cy="780392"/>
              <a:chOff x="7105144" y="1707654"/>
              <a:chExt cx="1217040" cy="585294"/>
            </a:xfrm>
          </p:grpSpPr>
          <p:sp>
            <p:nvSpPr>
              <p:cNvPr id="63" name="Oval 68"/>
              <p:cNvSpPr>
                <a:spLocks noChangeArrowheads="1"/>
              </p:cNvSpPr>
              <p:nvPr/>
            </p:nvSpPr>
            <p:spPr bwMode="auto">
              <a:xfrm>
                <a:off x="7524328" y="1707654"/>
                <a:ext cx="215900" cy="212725"/>
              </a:xfrm>
              <a:prstGeom prst="ellips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rtl="0" eaLnBrk="1" hangingPunct="1"/>
                <a:endParaRPr lang="he-IL" altLang="he-IL" sz="3733" b="1">
                  <a:latin typeface="+mn-lt"/>
                </a:endParaRPr>
              </a:p>
            </p:txBody>
          </p:sp>
          <p:cxnSp>
            <p:nvCxnSpPr>
              <p:cNvPr id="64" name="AutoShape 67"/>
              <p:cNvCxnSpPr>
                <a:cxnSpLocks noChangeShapeType="1"/>
                <a:stCxn id="89" idx="7"/>
                <a:endCxn id="63" idx="3"/>
              </p:cNvCxnSpPr>
              <p:nvPr/>
            </p:nvCxnSpPr>
            <p:spPr bwMode="auto">
              <a:xfrm flipV="1">
                <a:off x="7105144" y="1889226"/>
                <a:ext cx="450802" cy="367635"/>
              </a:xfrm>
              <a:prstGeom prst="straightConnector1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AutoShape 67"/>
              <p:cNvCxnSpPr>
                <a:cxnSpLocks noChangeShapeType="1"/>
                <a:stCxn id="93" idx="1"/>
                <a:endCxn id="63" idx="5"/>
              </p:cNvCxnSpPr>
              <p:nvPr/>
            </p:nvCxnSpPr>
            <p:spPr bwMode="auto">
              <a:xfrm flipH="1" flipV="1">
                <a:off x="7708610" y="1889226"/>
                <a:ext cx="613574" cy="403722"/>
              </a:xfrm>
              <a:prstGeom prst="straightConnector1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2" name="Group 81"/>
            <p:cNvGrpSpPr/>
            <p:nvPr/>
          </p:nvGrpSpPr>
          <p:grpSpPr>
            <a:xfrm>
              <a:off x="8400256" y="3413394"/>
              <a:ext cx="1151136" cy="1584359"/>
              <a:chOff x="2412132" y="1707654"/>
              <a:chExt cx="863352" cy="1188269"/>
            </a:xfrm>
          </p:grpSpPr>
          <p:grpSp>
            <p:nvGrpSpPr>
              <p:cNvPr id="83" name="Group 70"/>
              <p:cNvGrpSpPr>
                <a:grpSpLocks/>
              </p:cNvGrpSpPr>
              <p:nvPr/>
            </p:nvGrpSpPr>
            <p:grpSpPr bwMode="auto">
              <a:xfrm>
                <a:off x="2412132" y="1707654"/>
                <a:ext cx="647700" cy="684213"/>
                <a:chOff x="1383" y="1979"/>
                <a:chExt cx="453" cy="453"/>
              </a:xfrm>
            </p:grpSpPr>
            <p:sp>
              <p:nvSpPr>
                <p:cNvPr id="89" name="Oval 65"/>
                <p:cNvSpPr>
                  <a:spLocks noChangeArrowheads="1"/>
                </p:cNvSpPr>
                <p:nvPr/>
              </p:nvSpPr>
              <p:spPr bwMode="auto">
                <a:xfrm>
                  <a:off x="1677" y="1979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  <p:cxnSp>
              <p:nvCxnSpPr>
                <p:cNvPr id="90" name="AutoShape 67"/>
                <p:cNvCxnSpPr>
                  <a:cxnSpLocks noChangeShapeType="1"/>
                  <a:endCxn id="89" idx="3"/>
                </p:cNvCxnSpPr>
                <p:nvPr/>
              </p:nvCxnSpPr>
              <p:spPr bwMode="auto">
                <a:xfrm flipV="1">
                  <a:off x="1497" y="2122"/>
                  <a:ext cx="203" cy="174"/>
                </a:xfrm>
                <a:prstGeom prst="straightConnector1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1" name="Oval 69"/>
                <p:cNvSpPr>
                  <a:spLocks noChangeArrowheads="1"/>
                </p:cNvSpPr>
                <p:nvPr/>
              </p:nvSpPr>
              <p:spPr bwMode="auto">
                <a:xfrm>
                  <a:off x="1383" y="2276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</p:grpSp>
          <p:grpSp>
            <p:nvGrpSpPr>
              <p:cNvPr id="84" name="Group 70"/>
              <p:cNvGrpSpPr>
                <a:grpSpLocks/>
              </p:cNvGrpSpPr>
              <p:nvPr/>
            </p:nvGrpSpPr>
            <p:grpSpPr bwMode="auto">
              <a:xfrm>
                <a:off x="2627784" y="2211710"/>
                <a:ext cx="647700" cy="684213"/>
                <a:chOff x="1383" y="1979"/>
                <a:chExt cx="453" cy="453"/>
              </a:xfrm>
            </p:grpSpPr>
            <p:sp>
              <p:nvSpPr>
                <p:cNvPr id="86" name="Oval 65"/>
                <p:cNvSpPr>
                  <a:spLocks noChangeArrowheads="1"/>
                </p:cNvSpPr>
                <p:nvPr/>
              </p:nvSpPr>
              <p:spPr bwMode="auto">
                <a:xfrm>
                  <a:off x="1677" y="1979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  <p:cxnSp>
              <p:nvCxnSpPr>
                <p:cNvPr id="87" name="AutoShape 67"/>
                <p:cNvCxnSpPr>
                  <a:cxnSpLocks noChangeShapeType="1"/>
                  <a:endCxn id="86" idx="3"/>
                </p:cNvCxnSpPr>
                <p:nvPr/>
              </p:nvCxnSpPr>
              <p:spPr bwMode="auto">
                <a:xfrm flipV="1">
                  <a:off x="1497" y="2122"/>
                  <a:ext cx="203" cy="174"/>
                </a:xfrm>
                <a:prstGeom prst="straightConnector1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8" name="Oval 69"/>
                <p:cNvSpPr>
                  <a:spLocks noChangeArrowheads="1"/>
                </p:cNvSpPr>
                <p:nvPr/>
              </p:nvSpPr>
              <p:spPr bwMode="auto">
                <a:xfrm>
                  <a:off x="1383" y="2276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rgbClr val="00B05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</p:grpSp>
          <p:cxnSp>
            <p:nvCxnSpPr>
              <p:cNvPr id="85" name="AutoShape 67"/>
              <p:cNvCxnSpPr>
                <a:cxnSpLocks noChangeShapeType="1"/>
                <a:stCxn id="86" idx="0"/>
                <a:endCxn id="89" idx="5"/>
              </p:cNvCxnSpPr>
              <p:nvPr/>
            </p:nvCxnSpPr>
            <p:spPr bwMode="auto">
              <a:xfrm flipH="1" flipV="1">
                <a:off x="3026539" y="1908771"/>
                <a:ext cx="135276" cy="302939"/>
              </a:xfrm>
              <a:prstGeom prst="straightConnector1">
                <a:avLst/>
              </a:prstGeom>
              <a:noFill/>
              <a:ln w="3175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2" name="Group 91"/>
            <p:cNvGrpSpPr/>
            <p:nvPr/>
          </p:nvGrpSpPr>
          <p:grpSpPr>
            <a:xfrm>
              <a:off x="9648395" y="3465981"/>
              <a:ext cx="2207749" cy="2203847"/>
              <a:chOff x="3996308" y="1710953"/>
              <a:chExt cx="1655812" cy="1652885"/>
            </a:xfrm>
          </p:grpSpPr>
          <p:sp>
            <p:nvSpPr>
              <p:cNvPr id="93" name="Oval 68"/>
              <p:cNvSpPr>
                <a:spLocks noChangeArrowheads="1"/>
              </p:cNvSpPr>
              <p:nvPr/>
            </p:nvSpPr>
            <p:spPr bwMode="auto">
              <a:xfrm>
                <a:off x="4860032" y="1710953"/>
                <a:ext cx="215900" cy="212725"/>
              </a:xfrm>
              <a:prstGeom prst="ellips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rtl="0" eaLnBrk="1" hangingPunct="1"/>
                <a:endParaRPr lang="he-IL" altLang="he-IL" sz="3733" b="1">
                  <a:latin typeface="+mn-lt"/>
                </a:endParaRPr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4788768" y="2175569"/>
                <a:ext cx="863352" cy="1188269"/>
                <a:chOff x="2412132" y="1707654"/>
                <a:chExt cx="863352" cy="1188269"/>
              </a:xfrm>
            </p:grpSpPr>
            <p:grpSp>
              <p:nvGrpSpPr>
                <p:cNvPr id="101" name="Group 70"/>
                <p:cNvGrpSpPr>
                  <a:grpSpLocks/>
                </p:cNvGrpSpPr>
                <p:nvPr/>
              </p:nvGrpSpPr>
              <p:grpSpPr bwMode="auto">
                <a:xfrm>
                  <a:off x="2412132" y="1707654"/>
                  <a:ext cx="647700" cy="684213"/>
                  <a:chOff x="1383" y="1979"/>
                  <a:chExt cx="453" cy="453"/>
                </a:xfrm>
              </p:grpSpPr>
              <p:sp>
                <p:nvSpPr>
                  <p:cNvPr id="107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1677" y="1979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  <p:cxnSp>
                <p:nvCxnSpPr>
                  <p:cNvPr id="108" name="AutoShape 67"/>
                  <p:cNvCxnSpPr>
                    <a:cxnSpLocks noChangeShapeType="1"/>
                    <a:endCxn id="107" idx="3"/>
                  </p:cNvCxnSpPr>
                  <p:nvPr/>
                </p:nvCxnSpPr>
                <p:spPr bwMode="auto">
                  <a:xfrm flipV="1">
                    <a:off x="1497" y="2122"/>
                    <a:ext cx="203" cy="174"/>
                  </a:xfrm>
                  <a:prstGeom prst="straightConnector1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09" name="Oval 69"/>
                  <p:cNvSpPr>
                    <a:spLocks noChangeArrowheads="1"/>
                  </p:cNvSpPr>
                  <p:nvPr/>
                </p:nvSpPr>
                <p:spPr bwMode="auto">
                  <a:xfrm>
                    <a:off x="1383" y="2276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</p:grpSp>
            <p:grpSp>
              <p:nvGrpSpPr>
                <p:cNvPr id="102" name="Group 70"/>
                <p:cNvGrpSpPr>
                  <a:grpSpLocks/>
                </p:cNvGrpSpPr>
                <p:nvPr/>
              </p:nvGrpSpPr>
              <p:grpSpPr bwMode="auto">
                <a:xfrm>
                  <a:off x="2627784" y="2211710"/>
                  <a:ext cx="647700" cy="684213"/>
                  <a:chOff x="1383" y="1979"/>
                  <a:chExt cx="453" cy="453"/>
                </a:xfrm>
              </p:grpSpPr>
              <p:sp>
                <p:nvSpPr>
                  <p:cNvPr id="104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1677" y="1979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  <p:cxnSp>
                <p:nvCxnSpPr>
                  <p:cNvPr id="105" name="AutoShape 67"/>
                  <p:cNvCxnSpPr>
                    <a:cxnSpLocks noChangeShapeType="1"/>
                    <a:endCxn id="104" idx="3"/>
                  </p:cNvCxnSpPr>
                  <p:nvPr/>
                </p:nvCxnSpPr>
                <p:spPr bwMode="auto">
                  <a:xfrm flipV="1">
                    <a:off x="1497" y="2122"/>
                    <a:ext cx="203" cy="174"/>
                  </a:xfrm>
                  <a:prstGeom prst="straightConnector1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06" name="Oval 69"/>
                  <p:cNvSpPr>
                    <a:spLocks noChangeArrowheads="1"/>
                  </p:cNvSpPr>
                  <p:nvPr/>
                </p:nvSpPr>
                <p:spPr bwMode="auto">
                  <a:xfrm>
                    <a:off x="1383" y="2276"/>
                    <a:ext cx="159" cy="156"/>
                  </a:xfrm>
                  <a:prstGeom prst="ellips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  <a:cs typeface="Arial" pitchFamily="34" charset="0"/>
                      </a:defRPr>
                    </a:lvl9pPr>
                  </a:lstStyle>
                  <a:p>
                    <a:pPr rtl="0" eaLnBrk="1" hangingPunct="1"/>
                    <a:endParaRPr lang="he-IL" altLang="he-IL" sz="3733" b="1">
                      <a:latin typeface="+mn-lt"/>
                    </a:endParaRPr>
                  </a:p>
                </p:txBody>
              </p:sp>
            </p:grpSp>
            <p:cxnSp>
              <p:nvCxnSpPr>
                <p:cNvPr id="103" name="AutoShape 67"/>
                <p:cNvCxnSpPr>
                  <a:cxnSpLocks noChangeShapeType="1"/>
                  <a:stCxn id="104" idx="0"/>
                  <a:endCxn id="107" idx="5"/>
                </p:cNvCxnSpPr>
                <p:nvPr/>
              </p:nvCxnSpPr>
              <p:spPr bwMode="auto">
                <a:xfrm flipH="1" flipV="1">
                  <a:off x="3026539" y="1908771"/>
                  <a:ext cx="135276" cy="302939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95" name="Group 70"/>
              <p:cNvGrpSpPr>
                <a:grpSpLocks/>
              </p:cNvGrpSpPr>
              <p:nvPr/>
            </p:nvGrpSpPr>
            <p:grpSpPr bwMode="auto">
              <a:xfrm>
                <a:off x="3996308" y="2175569"/>
                <a:ext cx="647700" cy="684213"/>
                <a:chOff x="1383" y="1979"/>
                <a:chExt cx="453" cy="453"/>
              </a:xfrm>
            </p:grpSpPr>
            <p:sp>
              <p:nvSpPr>
                <p:cNvPr id="98" name="Oval 65"/>
                <p:cNvSpPr>
                  <a:spLocks noChangeArrowheads="1"/>
                </p:cNvSpPr>
                <p:nvPr/>
              </p:nvSpPr>
              <p:spPr bwMode="auto">
                <a:xfrm>
                  <a:off x="1677" y="1979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  <p:cxnSp>
              <p:nvCxnSpPr>
                <p:cNvPr id="99" name="AutoShape 67"/>
                <p:cNvCxnSpPr>
                  <a:cxnSpLocks noChangeShapeType="1"/>
                  <a:endCxn id="98" idx="3"/>
                </p:cNvCxnSpPr>
                <p:nvPr/>
              </p:nvCxnSpPr>
              <p:spPr bwMode="auto">
                <a:xfrm flipV="1">
                  <a:off x="1497" y="2122"/>
                  <a:ext cx="203" cy="174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00" name="Oval 69"/>
                <p:cNvSpPr>
                  <a:spLocks noChangeArrowheads="1"/>
                </p:cNvSpPr>
                <p:nvPr/>
              </p:nvSpPr>
              <p:spPr bwMode="auto">
                <a:xfrm>
                  <a:off x="1383" y="2276"/>
                  <a:ext cx="159" cy="156"/>
                </a:xfrm>
                <a:prstGeom prst="ellips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  <a:cs typeface="Arial" pitchFamily="34" charset="0"/>
                    </a:defRPr>
                  </a:lvl9pPr>
                </a:lstStyle>
                <a:p>
                  <a:pPr rtl="0" eaLnBrk="1" hangingPunct="1"/>
                  <a:endParaRPr lang="he-IL" altLang="he-IL" sz="3733" b="1">
                    <a:latin typeface="+mn-lt"/>
                  </a:endParaRPr>
                </a:p>
              </p:txBody>
            </p:sp>
          </p:grpSp>
          <p:cxnSp>
            <p:nvCxnSpPr>
              <p:cNvPr id="96" name="AutoShape 67"/>
              <p:cNvCxnSpPr>
                <a:cxnSpLocks noChangeShapeType="1"/>
                <a:stCxn id="98" idx="7"/>
                <a:endCxn id="93" idx="3"/>
              </p:cNvCxnSpPr>
              <p:nvPr/>
            </p:nvCxnSpPr>
            <p:spPr bwMode="auto">
              <a:xfrm flipV="1">
                <a:off x="4610715" y="1892525"/>
                <a:ext cx="280935" cy="317550"/>
              </a:xfrm>
              <a:prstGeom prst="straightConnector1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7" name="AutoShape 67"/>
              <p:cNvCxnSpPr>
                <a:cxnSpLocks noChangeShapeType="1"/>
                <a:stCxn id="107" idx="0"/>
                <a:endCxn id="93" idx="5"/>
              </p:cNvCxnSpPr>
              <p:nvPr/>
            </p:nvCxnSpPr>
            <p:spPr bwMode="auto">
              <a:xfrm flipH="1" flipV="1">
                <a:off x="5044314" y="1892525"/>
                <a:ext cx="278485" cy="283044"/>
              </a:xfrm>
              <a:prstGeom prst="straightConnector1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2" name="TextBox 111"/>
            <p:cNvSpPr txBox="1"/>
            <p:nvPr/>
          </p:nvSpPr>
          <p:spPr>
            <a:xfrm>
              <a:off x="1354237" y="5000110"/>
              <a:ext cx="1197623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he-IL" sz="2400" b="1" dirty="0">
                  <a:latin typeface="David" panose="020E0502060401010101" pitchFamily="34" charset="-79"/>
                  <a:cs typeface="David" panose="020E0502060401010101" pitchFamily="34" charset="-79"/>
                </a:rPr>
                <a:t>עבור כל </a:t>
              </a:r>
              <a:r>
                <a:rPr lang="en-US" sz="2400" b="1" dirty="0" err="1">
                  <a:latin typeface="David" panose="020E0502060401010101" pitchFamily="34" charset="-79"/>
                  <a:cs typeface="David" panose="020E0502060401010101" pitchFamily="34" charset="-79"/>
                </a:rPr>
                <a:t>i</a:t>
              </a:r>
              <a:r>
                <a:rPr lang="en-US" sz="2400" b="1" dirty="0">
                  <a:latin typeface="David" panose="020E0502060401010101" pitchFamily="34" charset="-79"/>
                  <a:cs typeface="David" panose="020E0502060401010101" pitchFamily="34" charset="-79"/>
                </a:rPr>
                <a:t> </a:t>
              </a:r>
              <a:r>
                <a:rPr lang="en-US" sz="2400" b="1" dirty="0">
                  <a:latin typeface="David" panose="020E0502060401010101" pitchFamily="34" charset="-79"/>
                  <a:cs typeface="David" panose="020E0502060401010101" pitchFamily="34" charset="-79"/>
                  <a:sym typeface="Symbol"/>
                </a:rPr>
                <a:t> 2</a:t>
              </a:r>
              <a:endParaRPr lang="he-IL" sz="2400" b="1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grpSp>
          <p:nvGrpSpPr>
            <p:cNvPr id="115" name="Group 114"/>
            <p:cNvGrpSpPr/>
            <p:nvPr/>
          </p:nvGrpSpPr>
          <p:grpSpPr>
            <a:xfrm>
              <a:off x="8648733" y="3461581"/>
              <a:ext cx="1191684" cy="1166284"/>
              <a:chOff x="6372200" y="3785269"/>
              <a:chExt cx="893763" cy="874713"/>
            </a:xfrm>
          </p:grpSpPr>
          <p:sp>
            <p:nvSpPr>
              <p:cNvPr id="113" name="AutoShape 58"/>
              <p:cNvSpPr>
                <a:spLocks noChangeArrowheads="1"/>
              </p:cNvSpPr>
              <p:nvPr/>
            </p:nvSpPr>
            <p:spPr bwMode="auto">
              <a:xfrm>
                <a:off x="6372200" y="3785269"/>
                <a:ext cx="893763" cy="874713"/>
              </a:xfrm>
              <a:prstGeom prst="triangle">
                <a:avLst>
                  <a:gd name="adj" fmla="val 50000"/>
                </a:avLst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he-IL" altLang="he-IL" sz="2400" b="1">
                  <a:latin typeface="+mn-lt"/>
                </a:endParaRPr>
              </a:p>
            </p:txBody>
          </p:sp>
          <p:sp>
            <p:nvSpPr>
              <p:cNvPr id="114" name="Text Box 75"/>
              <p:cNvSpPr txBox="1">
                <a:spLocks noChangeArrowheads="1"/>
              </p:cNvSpPr>
              <p:nvPr/>
            </p:nvSpPr>
            <p:spPr bwMode="auto">
              <a:xfrm>
                <a:off x="6507480" y="4083918"/>
                <a:ext cx="449882" cy="4385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algn="r" eaLnBrk="1" hangingPunct="1"/>
                <a:r>
                  <a:rPr lang="en-US" altLang="he-IL" sz="3200" b="1" dirty="0">
                    <a:latin typeface="+mn-lt"/>
                  </a:rPr>
                  <a:t>F</a:t>
                </a:r>
                <a:r>
                  <a:rPr lang="en-US" altLang="he-IL" sz="3200" b="1" baseline="-25000" dirty="0">
                    <a:latin typeface="+mn-lt"/>
                  </a:rPr>
                  <a:t>2</a:t>
                </a:r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9936428" y="3557593"/>
              <a:ext cx="1874937" cy="1766108"/>
              <a:chOff x="6372200" y="3785269"/>
              <a:chExt cx="893763" cy="874713"/>
            </a:xfrm>
          </p:grpSpPr>
          <p:sp>
            <p:nvSpPr>
              <p:cNvPr id="117" name="AutoShape 58"/>
              <p:cNvSpPr>
                <a:spLocks noChangeArrowheads="1"/>
              </p:cNvSpPr>
              <p:nvPr/>
            </p:nvSpPr>
            <p:spPr bwMode="auto">
              <a:xfrm>
                <a:off x="6372200" y="3785269"/>
                <a:ext cx="893763" cy="874713"/>
              </a:xfrm>
              <a:prstGeom prst="triangle">
                <a:avLst>
                  <a:gd name="adj" fmla="val 50000"/>
                </a:avLst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he-IL" altLang="he-IL" sz="2400" b="1">
                  <a:latin typeface="+mn-lt"/>
                </a:endParaRPr>
              </a:p>
            </p:txBody>
          </p:sp>
          <p:sp>
            <p:nvSpPr>
              <p:cNvPr id="118" name="Text Box 75"/>
              <p:cNvSpPr txBox="1">
                <a:spLocks noChangeArrowheads="1"/>
              </p:cNvSpPr>
              <p:nvPr/>
            </p:nvSpPr>
            <p:spPr bwMode="auto">
              <a:xfrm>
                <a:off x="6530910" y="4336332"/>
                <a:ext cx="285939" cy="289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  <a:cs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he-IL" sz="3200" b="1" dirty="0">
                    <a:latin typeface="+mn-lt"/>
                  </a:rPr>
                  <a:t>F</a:t>
                </a:r>
                <a:r>
                  <a:rPr lang="en-US" altLang="he-IL" sz="3200" b="1" baseline="-25000" dirty="0">
                    <a:latin typeface="+mn-lt"/>
                  </a:rPr>
                  <a:t>3</a:t>
                </a:r>
              </a:p>
            </p:txBody>
          </p:sp>
        </p:grpSp>
        <p:sp>
          <p:nvSpPr>
            <p:cNvPr id="3" name="Slide Number Placeholder 4">
              <a:extLst>
                <a:ext uri="{FF2B5EF4-FFF2-40B4-BE49-F238E27FC236}">
                  <a16:creationId xmlns:a16="http://schemas.microsoft.com/office/drawing/2014/main" id="{F93E6476-1474-64CA-8123-AA2E4597171B}"/>
                </a:ext>
              </a:extLst>
            </p:cNvPr>
            <p:cNvSpPr txBox="1">
              <a:spLocks/>
            </p:cNvSpPr>
            <p:nvPr/>
          </p:nvSpPr>
          <p:spPr>
            <a:xfrm>
              <a:off x="11311128" y="6269719"/>
              <a:ext cx="64008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1400" b="1" kern="1200">
                  <a:solidFill>
                    <a:srgbClr val="FFFFFF"/>
                  </a:solidFill>
                  <a:latin typeface="+mj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4F1E6CC7-5D87-41AE-A8C6-B06E12F85E9C}" type="slidenum">
                <a:rPr lang="en-US" sz="2133" smtClean="0"/>
                <a:pPr/>
                <a:t>13</a:t>
              </a:fld>
              <a:endParaRPr lang="en-US" dirty="0"/>
            </a:p>
          </p:txBody>
        </p:sp>
        <p:sp>
          <p:nvSpPr>
            <p:cNvPr id="185" name="Text Box 72">
              <a:extLst>
                <a:ext uri="{FF2B5EF4-FFF2-40B4-BE49-F238E27FC236}">
                  <a16:creationId xmlns:a16="http://schemas.microsoft.com/office/drawing/2014/main" id="{7B04A5EC-F6B0-C8AB-DDBC-4955895A3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1914" y="2064387"/>
              <a:ext cx="644826" cy="562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2800" dirty="0">
                  <a:latin typeface="+mn-lt"/>
                </a:rPr>
                <a:t>F1</a:t>
              </a:r>
            </a:p>
          </p:txBody>
        </p:sp>
        <p:sp>
          <p:nvSpPr>
            <p:cNvPr id="186" name="Text Box 72">
              <a:extLst>
                <a:ext uri="{FF2B5EF4-FFF2-40B4-BE49-F238E27FC236}">
                  <a16:creationId xmlns:a16="http://schemas.microsoft.com/office/drawing/2014/main" id="{715DC3EA-886E-76E7-7112-83027DB15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540" y="2064387"/>
              <a:ext cx="644826" cy="562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2800" dirty="0">
                  <a:latin typeface="+mn-lt"/>
                </a:rPr>
                <a:t>F2</a:t>
              </a:r>
            </a:p>
          </p:txBody>
        </p:sp>
        <p:sp>
          <p:nvSpPr>
            <p:cNvPr id="187" name="Text Box 72">
              <a:extLst>
                <a:ext uri="{FF2B5EF4-FFF2-40B4-BE49-F238E27FC236}">
                  <a16:creationId xmlns:a16="http://schemas.microsoft.com/office/drawing/2014/main" id="{8718DF50-0BFB-61D9-81BD-B79A7D71F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3422" y="2064387"/>
              <a:ext cx="644826" cy="562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2800" dirty="0">
                  <a:latin typeface="+mn-lt"/>
                </a:rPr>
                <a:t>F3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341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68036" y="1770964"/>
            <a:ext cx="10381649" cy="4204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</a:rPr>
              <a:t>חסם עליון (המשך)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  <a:sym typeface="Wingdings" pitchFamily="2" charset="2"/>
              </a:rPr>
              <a:t>תכונות של עצי </a:t>
            </a:r>
            <a:r>
              <a:rPr lang="he-IL" sz="2800" u="sng" dirty="0" err="1">
                <a:latin typeface="Times New Roman" pitchFamily="18" charset="0"/>
                <a:sym typeface="Wingdings" pitchFamily="2" charset="2"/>
              </a:rPr>
              <a:t>פיבונאצ'י</a:t>
            </a:r>
            <a:r>
              <a:rPr lang="he-IL" sz="2800" u="sng" dirty="0">
                <a:latin typeface="Times New Roman" pitchFamily="18" charset="0"/>
                <a:sym typeface="Wingdings" pitchFamily="2" charset="2"/>
              </a:rPr>
              <a:t> (תרגיל: הוכיחו כל אחת מהתכונות)</a:t>
            </a:r>
          </a:p>
          <a:p>
            <a:pPr marL="342900" indent="-342900" algn="r" rtl="1">
              <a:lnSpc>
                <a:spcPct val="150000"/>
              </a:lnSpc>
              <a:spcAft>
                <a:spcPts val="600"/>
              </a:spcAft>
              <a:buAutoNum type="arabicPeriod"/>
              <a:defRPr/>
            </a:pPr>
            <a:r>
              <a:rPr lang="he-IL" sz="2800" dirty="0">
                <a:latin typeface="Times New Roman" pitchFamily="18" charset="0"/>
                <a:sym typeface="Wingdings" pitchFamily="2" charset="2"/>
              </a:rPr>
              <a:t>גובהו של </a:t>
            </a:r>
            <a:r>
              <a:rPr lang="en-US" sz="2800" i="1" dirty="0" err="1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800" i="1" baseline="-25000" dirty="0" err="1">
                <a:latin typeface="Times New Roman" pitchFamily="18" charset="0"/>
                <a:sym typeface="Wingdings" pitchFamily="2" charset="2"/>
              </a:rPr>
              <a:t>h</a:t>
            </a:r>
            <a:r>
              <a:rPr lang="he-IL" sz="2800" dirty="0">
                <a:latin typeface="Times New Roman" pitchFamily="18" charset="0"/>
                <a:sym typeface="Wingdings" pitchFamily="2" charset="2"/>
              </a:rPr>
              <a:t> הוא </a:t>
            </a:r>
            <a:r>
              <a:rPr lang="en-US" sz="2800" i="1" dirty="0">
                <a:latin typeface="Times New Roman" pitchFamily="18" charset="0"/>
                <a:sym typeface="Wingdings" pitchFamily="2" charset="2"/>
              </a:rPr>
              <a:t>h</a:t>
            </a:r>
            <a:r>
              <a:rPr lang="he-IL" sz="2800" i="1" dirty="0">
                <a:latin typeface="Times New Roman" pitchFamily="18" charset="0"/>
                <a:sym typeface="Wingdings" pitchFamily="2" charset="2"/>
              </a:rPr>
              <a:t>.</a:t>
            </a:r>
          </a:p>
          <a:p>
            <a:pPr marL="342900" indent="-342900" algn="r" rtl="1">
              <a:lnSpc>
                <a:spcPct val="150000"/>
              </a:lnSpc>
              <a:spcAft>
                <a:spcPts val="600"/>
              </a:spcAft>
              <a:buAutoNum type="arabicPeriod"/>
              <a:defRPr/>
            </a:pPr>
            <a:r>
              <a:rPr lang="en-US" sz="2800" dirty="0">
                <a:latin typeface="Times New Roman" pitchFamily="18" charset="0"/>
                <a:sym typeface="Wingdings" pitchFamily="2" charset="2"/>
              </a:rPr>
              <a:t>|</a:t>
            </a:r>
            <a:r>
              <a:rPr lang="en-US" sz="2800" i="1" dirty="0" err="1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800" i="1" baseline="-25000" dirty="0" err="1">
                <a:latin typeface="Times New Roman" pitchFamily="18" charset="0"/>
                <a:sym typeface="Wingdings" pitchFamily="2" charset="2"/>
              </a:rPr>
              <a:t>h</a:t>
            </a:r>
            <a:r>
              <a:rPr lang="en-US" sz="2800" dirty="0">
                <a:latin typeface="Times New Roman" pitchFamily="18" charset="0"/>
                <a:sym typeface="Wingdings" pitchFamily="2" charset="2"/>
              </a:rPr>
              <a:t>| = |</a:t>
            </a:r>
            <a:r>
              <a:rPr lang="en-US" sz="2800" i="1" dirty="0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800" i="1" baseline="-25000" dirty="0">
                <a:latin typeface="Times New Roman" pitchFamily="18" charset="0"/>
                <a:sym typeface="Wingdings" pitchFamily="2" charset="2"/>
              </a:rPr>
              <a:t>h</a:t>
            </a:r>
            <a:r>
              <a:rPr lang="en-US" sz="2800" baseline="-25000" dirty="0">
                <a:latin typeface="Times New Roman" pitchFamily="18" charset="0"/>
                <a:sym typeface="Wingdings" pitchFamily="2" charset="2"/>
              </a:rPr>
              <a:t>-1</a:t>
            </a:r>
            <a:r>
              <a:rPr lang="en-US" sz="2800" dirty="0">
                <a:latin typeface="Times New Roman" pitchFamily="18" charset="0"/>
                <a:sym typeface="Wingdings" pitchFamily="2" charset="2"/>
              </a:rPr>
              <a:t>| + |</a:t>
            </a:r>
            <a:r>
              <a:rPr lang="en-US" sz="2800" i="1" dirty="0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800" i="1" baseline="-25000" dirty="0">
                <a:latin typeface="Times New Roman" pitchFamily="18" charset="0"/>
                <a:sym typeface="Wingdings" pitchFamily="2" charset="2"/>
              </a:rPr>
              <a:t>h</a:t>
            </a:r>
            <a:r>
              <a:rPr lang="en-US" sz="2800" baseline="-25000" dirty="0">
                <a:latin typeface="Times New Roman" pitchFamily="18" charset="0"/>
                <a:sym typeface="Wingdings" pitchFamily="2" charset="2"/>
              </a:rPr>
              <a:t>-2</a:t>
            </a:r>
            <a:r>
              <a:rPr lang="en-US" sz="2800" dirty="0">
                <a:latin typeface="Times New Roman" pitchFamily="18" charset="0"/>
                <a:sym typeface="Wingdings" pitchFamily="2" charset="2"/>
              </a:rPr>
              <a:t>| + 1</a:t>
            </a:r>
            <a:r>
              <a:rPr lang="he-IL" sz="2800" dirty="0">
                <a:latin typeface="Times New Roman" pitchFamily="18" charset="0"/>
                <a:sym typeface="Wingdings" pitchFamily="2" charset="2"/>
              </a:rPr>
              <a:t>    </a:t>
            </a:r>
            <a:r>
              <a:rPr lang="he-IL" sz="2400" dirty="0">
                <a:latin typeface="Times New Roman" pitchFamily="18" charset="0"/>
                <a:sym typeface="Wingdings" pitchFamily="2" charset="2"/>
              </a:rPr>
              <a:t>(כאשר 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|</a:t>
            </a:r>
            <a:r>
              <a:rPr lang="en-US" sz="2400" i="1" dirty="0" err="1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400" i="1" baseline="-25000" dirty="0" err="1">
                <a:latin typeface="Times New Roman" pitchFamily="18" charset="0"/>
                <a:sym typeface="Wingdings" pitchFamily="2" charset="2"/>
              </a:rPr>
              <a:t>i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|</a:t>
            </a:r>
            <a:r>
              <a:rPr lang="he-IL" sz="2400" dirty="0">
                <a:latin typeface="Times New Roman" pitchFamily="18" charset="0"/>
                <a:sym typeface="Wingdings" pitchFamily="2" charset="2"/>
              </a:rPr>
              <a:t> הוא מספר הצמתים ב- </a:t>
            </a:r>
            <a:r>
              <a:rPr lang="en-US" sz="2400" i="1" dirty="0" err="1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400" i="1" baseline="-25000" dirty="0" err="1">
                <a:latin typeface="Times New Roman" pitchFamily="18" charset="0"/>
                <a:sym typeface="Wingdings" pitchFamily="2" charset="2"/>
              </a:rPr>
              <a:t>i</a:t>
            </a:r>
            <a:r>
              <a:rPr lang="he-IL" sz="2400" dirty="0">
                <a:latin typeface="Times New Roman" pitchFamily="18" charset="0"/>
                <a:sym typeface="Wingdings" pitchFamily="2" charset="2"/>
              </a:rPr>
              <a:t>).</a:t>
            </a:r>
          </a:p>
          <a:p>
            <a:pPr marL="342900" indent="-342900" algn="r" rtl="1">
              <a:lnSpc>
                <a:spcPct val="150000"/>
              </a:lnSpc>
              <a:spcAft>
                <a:spcPts val="600"/>
              </a:spcAft>
              <a:buAutoNum type="arabicPeriod"/>
              <a:defRPr/>
            </a:pPr>
            <a:r>
              <a:rPr lang="he-IL" sz="2800" dirty="0">
                <a:latin typeface="Times New Roman" pitchFamily="18" charset="0"/>
                <a:sym typeface="Wingdings" pitchFamily="2" charset="2"/>
              </a:rPr>
              <a:t> </a:t>
            </a:r>
            <a:r>
              <a:rPr lang="en-US" sz="2800" i="1" dirty="0" err="1">
                <a:latin typeface="Times New Roman" pitchFamily="18" charset="0"/>
                <a:sym typeface="Wingdings" pitchFamily="2" charset="2"/>
              </a:rPr>
              <a:t>F</a:t>
            </a:r>
            <a:r>
              <a:rPr lang="en-US" sz="2800" i="1" baseline="-25000" dirty="0" err="1">
                <a:latin typeface="Times New Roman" pitchFamily="18" charset="0"/>
                <a:sym typeface="Wingdings" pitchFamily="2" charset="2"/>
              </a:rPr>
              <a:t>h</a:t>
            </a:r>
            <a:r>
              <a:rPr lang="he-IL" sz="2800" dirty="0">
                <a:latin typeface="Times New Roman" pitchFamily="18" charset="0"/>
                <a:sym typeface="Wingdings" pitchFamily="2" charset="2"/>
              </a:rPr>
              <a:t> הוא עץ </a:t>
            </a:r>
            <a:r>
              <a:rPr lang="en-US" sz="2800" dirty="0">
                <a:latin typeface="Times New Roman" pitchFamily="18" charset="0"/>
                <a:sym typeface="Wingdings" pitchFamily="2" charset="2"/>
              </a:rPr>
              <a:t>AVL</a:t>
            </a:r>
            <a:r>
              <a:rPr lang="he-IL" sz="2800" dirty="0">
                <a:latin typeface="Times New Roman" pitchFamily="18" charset="0"/>
                <a:sym typeface="Wingdings" pitchFamily="2" charset="2"/>
              </a:rPr>
              <a:t> בעל מספר צמתים </a:t>
            </a:r>
            <a:r>
              <a:rPr lang="he-IL" sz="2800" dirty="0" err="1">
                <a:latin typeface="Times New Roman" pitchFamily="18" charset="0"/>
                <a:sym typeface="Wingdings" pitchFamily="2" charset="2"/>
              </a:rPr>
              <a:t>מינימלי</a:t>
            </a:r>
            <a:r>
              <a:rPr lang="he-IL" sz="2800" dirty="0">
                <a:latin typeface="Times New Roman" pitchFamily="18" charset="0"/>
                <a:sym typeface="Wingdings" pitchFamily="2" charset="2"/>
              </a:rPr>
              <a:t> מבין כל עצי ה- </a:t>
            </a:r>
            <a:r>
              <a:rPr lang="en-US" sz="2800" dirty="0">
                <a:latin typeface="Times New Roman" pitchFamily="18" charset="0"/>
                <a:sym typeface="Wingdings" pitchFamily="2" charset="2"/>
              </a:rPr>
              <a:t>AVL</a:t>
            </a:r>
            <a:r>
              <a:rPr lang="he-IL" sz="2800" dirty="0">
                <a:latin typeface="Times New Roman" pitchFamily="18" charset="0"/>
                <a:sym typeface="Wingdings" pitchFamily="2" charset="2"/>
              </a:rPr>
              <a:t> בגובה </a:t>
            </a:r>
            <a:r>
              <a:rPr lang="en-US" sz="2800" i="1" dirty="0">
                <a:latin typeface="Times New Roman" pitchFamily="18" charset="0"/>
                <a:sym typeface="Wingdings" pitchFamily="2" charset="2"/>
              </a:rPr>
              <a:t>h</a:t>
            </a:r>
            <a:r>
              <a:rPr lang="he-IL" sz="2800" dirty="0">
                <a:latin typeface="Times New Roman" pitchFamily="18" charset="0"/>
                <a:sym typeface="Wingdings" pitchFamily="2" charset="2"/>
              </a:rPr>
              <a:t>.</a:t>
            </a:r>
          </a:p>
        </p:txBody>
      </p:sp>
      <p:sp>
        <p:nvSpPr>
          <p:cNvPr id="10" name="כותרת 3">
            <a:extLst>
              <a:ext uri="{FF2B5EF4-FFF2-40B4-BE49-F238E27FC236}">
                <a16:creationId xmlns:a16="http://schemas.microsoft.com/office/drawing/2014/main" id="{ADECE5DF-8F52-F408-918D-1FE81F7F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חסם לגובה עץ </a:t>
            </a:r>
            <a:r>
              <a:rPr lang="en-US" dirty="0"/>
              <a:t>AVL</a:t>
            </a:r>
            <a:endParaRPr lang="he-I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6CC7-5D87-41AE-A8C6-B06E12F85E9C}" type="slidenum">
              <a:rPr lang="en-US" sz="2133"/>
              <a:pPr/>
              <a:t>15</a:t>
            </a:fld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1141527" y="1598761"/>
            <a:ext cx="101771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r>
              <a:rPr lang="he-IL" sz="36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חסם עליון לגובה עץ </a:t>
            </a:r>
            <a:r>
              <a:rPr lang="he-IL" sz="3600" cap="all" dirty="0" err="1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פיבונאצ'י</a:t>
            </a:r>
            <a:r>
              <a:rPr lang="he-IL" sz="36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 = עץ </a:t>
            </a:r>
            <a:r>
              <a:rPr lang="en-US" sz="36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AVL</a:t>
            </a:r>
            <a:r>
              <a:rPr lang="he-IL" sz="36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 מינימלי בגובה </a:t>
            </a:r>
            <a:r>
              <a:rPr lang="en-US" sz="36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h</a:t>
            </a:r>
            <a:r>
              <a:rPr lang="he-IL" sz="360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.</a:t>
            </a:r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15B60F63-9530-46F9-CC52-3829ECBB198F}"/>
              </a:ext>
            </a:extLst>
          </p:cNvPr>
          <p:cNvGrpSpPr/>
          <p:nvPr/>
        </p:nvGrpSpPr>
        <p:grpSpPr>
          <a:xfrm>
            <a:off x="598565" y="2325724"/>
            <a:ext cx="9269107" cy="4419428"/>
            <a:chOff x="-135923" y="1340385"/>
            <a:chExt cx="9269107" cy="4419428"/>
          </a:xfrm>
        </p:grpSpPr>
        <p:sp>
          <p:nvSpPr>
            <p:cNvPr id="35" name="Rectangle 34"/>
            <p:cNvSpPr/>
            <p:nvPr/>
          </p:nvSpPr>
          <p:spPr>
            <a:xfrm>
              <a:off x="2847515" y="1340385"/>
              <a:ext cx="386414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</a:t>
              </a:r>
              <a:r>
                <a:rPr lang="en-US" sz="2800" i="1" dirty="0" err="1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 err="1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= |</a:t>
              </a:r>
              <a:r>
                <a:rPr lang="en-US" sz="2800" i="1" dirty="0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baseline="-25000" dirty="0">
                  <a:latin typeface="Times New Roman" pitchFamily="18" charset="0"/>
                  <a:sym typeface="Wingdings" pitchFamily="2" charset="2"/>
                </a:rPr>
                <a:t>-1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+ |</a:t>
              </a:r>
              <a:r>
                <a:rPr lang="en-US" sz="2800" i="1" dirty="0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baseline="-25000" dirty="0">
                  <a:latin typeface="Times New Roman" pitchFamily="18" charset="0"/>
                  <a:sym typeface="Wingdings" pitchFamily="2" charset="2"/>
                </a:rPr>
                <a:t>-2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+ 1</a:t>
              </a:r>
              <a:endParaRPr lang="he-IL" altLang="he-IL" sz="2800" u="sng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sp>
          <p:nvSpPr>
            <p:cNvPr id="37" name="Text Box 15"/>
            <p:cNvSpPr txBox="1">
              <a:spLocks noChangeArrowheads="1"/>
            </p:cNvSpPr>
            <p:nvPr/>
          </p:nvSpPr>
          <p:spPr bwMode="auto">
            <a:xfrm>
              <a:off x="6311232" y="1343077"/>
              <a:ext cx="16946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≥  2*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 |</a:t>
              </a:r>
              <a:r>
                <a:rPr lang="en-US" sz="2800" i="1" dirty="0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baseline="-25000" dirty="0">
                  <a:latin typeface="Times New Roman" pitchFamily="18" charset="0"/>
                  <a:sym typeface="Wingdings" pitchFamily="2" charset="2"/>
                </a:rPr>
                <a:t>-2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</a:t>
              </a:r>
              <a:endParaRPr lang="en-US" altLang="he-IL" sz="2800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sp>
          <p:nvSpPr>
            <p:cNvPr id="38" name="Text Box 16"/>
            <p:cNvSpPr txBox="1">
              <a:spLocks noChangeArrowheads="1"/>
            </p:cNvSpPr>
            <p:nvPr/>
          </p:nvSpPr>
          <p:spPr bwMode="auto">
            <a:xfrm>
              <a:off x="6311232" y="1939199"/>
              <a:ext cx="206338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≥  2*(2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 |</a:t>
              </a:r>
              <a:r>
                <a:rPr lang="en-US" sz="2800" i="1" dirty="0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baseline="-25000" dirty="0">
                  <a:latin typeface="Times New Roman" pitchFamily="18" charset="0"/>
                  <a:sym typeface="Wingdings" pitchFamily="2" charset="2"/>
                </a:rPr>
                <a:t>-4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)</a:t>
              </a:r>
              <a:endParaRPr lang="en-US" altLang="he-IL" sz="2800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6311232" y="2590568"/>
              <a:ext cx="2691827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≥  2*(2*(2*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 |</a:t>
              </a:r>
              <a:r>
                <a:rPr lang="en-US" sz="2800" i="1" dirty="0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baseline="-25000" dirty="0">
                  <a:latin typeface="Times New Roman" pitchFamily="18" charset="0"/>
                  <a:sym typeface="Wingdings" pitchFamily="2" charset="2"/>
                </a:rPr>
                <a:t>-6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))</a:t>
              </a:r>
              <a:endParaRPr lang="he-IL" altLang="he-IL" sz="2800" dirty="0">
                <a:latin typeface="David" panose="020E0502060401010101" pitchFamily="34" charset="-79"/>
                <a:cs typeface="David" panose="020E0502060401010101" pitchFamily="34" charset="-79"/>
              </a:endParaRPr>
            </a:p>
            <a:p>
              <a:pPr algn="r" eaLnBrk="1" hangingPunct="1"/>
              <a:endParaRPr lang="en-US" altLang="he-IL" sz="2800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5495604" y="3796623"/>
              <a:ext cx="36375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algn="ctr" rtl="1" eaLnBrk="1" hangingPunct="1"/>
              <a:r>
                <a:rPr lang="he-IL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נגדיר שהגובה הוא </a:t>
              </a: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h = 2i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847515" y="3155729"/>
              <a:ext cx="218040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</a:t>
              </a:r>
              <a:r>
                <a:rPr lang="en-US" sz="2800" i="1" dirty="0" err="1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 err="1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</a:t>
              </a: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≥ 2</a:t>
              </a:r>
              <a:r>
                <a:rPr lang="en-US" altLang="he-IL" sz="2800" baseline="30000" dirty="0">
                  <a:latin typeface="David" panose="020E0502060401010101" pitchFamily="34" charset="-79"/>
                  <a:cs typeface="David" panose="020E0502060401010101" pitchFamily="34" charset="-79"/>
                </a:rPr>
                <a:t>i</a:t>
              </a: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 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</a:t>
              </a:r>
              <a:r>
                <a:rPr lang="en-US" sz="2800" i="1" dirty="0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>
                  <a:latin typeface="Times New Roman" pitchFamily="18" charset="0"/>
                  <a:sym typeface="Wingdings" pitchFamily="2" charset="2"/>
                </a:rPr>
                <a:t>h-2i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</a:t>
              </a:r>
              <a:endParaRPr lang="he-IL" sz="2800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847515" y="3768637"/>
              <a:ext cx="57602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</a:t>
              </a:r>
              <a:r>
                <a:rPr lang="en-US" sz="2800" i="1" dirty="0" err="1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 err="1">
                  <a:latin typeface="Times New Roman" pitchFamily="18" charset="0"/>
                  <a:sym typeface="Wingdings" pitchFamily="2" charset="2"/>
                </a:rPr>
                <a:t>h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</a:t>
              </a: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 ≥ 2</a:t>
              </a:r>
              <a:r>
                <a:rPr lang="en-US" altLang="he-IL" sz="2800" baseline="30000" dirty="0">
                  <a:latin typeface="David" panose="020E0502060401010101" pitchFamily="34" charset="-79"/>
                  <a:cs typeface="David" panose="020E0502060401010101" pitchFamily="34" charset="-79"/>
                </a:rPr>
                <a:t>h/2</a:t>
              </a: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 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</a:t>
              </a:r>
              <a:r>
                <a:rPr lang="en-US" sz="2800" i="1" dirty="0">
                  <a:latin typeface="Times New Roman" pitchFamily="18" charset="0"/>
                  <a:sym typeface="Wingdings" pitchFamily="2" charset="2"/>
                </a:rPr>
                <a:t>F</a:t>
              </a:r>
              <a:r>
                <a:rPr lang="en-US" sz="2800" i="1" baseline="-25000" dirty="0">
                  <a:latin typeface="Times New Roman" pitchFamily="18" charset="0"/>
                  <a:sym typeface="Wingdings" pitchFamily="2" charset="2"/>
                </a:rPr>
                <a:t>0</a:t>
              </a:r>
              <a:r>
                <a:rPr lang="en-US" sz="2800" dirty="0">
                  <a:latin typeface="Times New Roman" pitchFamily="18" charset="0"/>
                  <a:sym typeface="Wingdings" pitchFamily="2" charset="2"/>
                </a:rPr>
                <a:t>| </a:t>
              </a:r>
              <a:endParaRPr lang="he-IL" sz="2800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887311" y="4351499"/>
              <a:ext cx="236854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n  ≥  2</a:t>
              </a:r>
              <a:r>
                <a:rPr lang="en-US" altLang="he-IL" sz="2800" baseline="30000" dirty="0">
                  <a:latin typeface="David" panose="020E0502060401010101" pitchFamily="34" charset="-79"/>
                  <a:cs typeface="David" panose="020E0502060401010101" pitchFamily="34" charset="-79"/>
                </a:rPr>
                <a:t>h/2 </a:t>
              </a:r>
              <a:endParaRPr lang="he-IL" sz="2800" dirty="0">
                <a:latin typeface="David" panose="020E0502060401010101" pitchFamily="34" charset="-79"/>
                <a:cs typeface="David" panose="020E0502060401010101" pitchFamily="34" charset="-79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47515" y="4764225"/>
              <a:ext cx="276836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log n ≥ h/2                                                                                                    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843690" y="5236593"/>
              <a:ext cx="276836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he-IL" sz="2800" dirty="0">
                  <a:latin typeface="David" panose="020E0502060401010101" pitchFamily="34" charset="-79"/>
                  <a:cs typeface="David" panose="020E0502060401010101" pitchFamily="34" charset="-79"/>
                </a:rPr>
                <a:t>2 * log n ≥ h                                                                                            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/>
                <p:cNvSpPr/>
                <p:nvPr/>
              </p:nvSpPr>
              <p:spPr>
                <a:xfrm>
                  <a:off x="-135923" y="4864809"/>
                  <a:ext cx="2768368" cy="523220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r" rtl="1">
                    <a:spcBef>
                      <a:spcPct val="50000"/>
                    </a:spcBef>
                  </a:pPr>
                  <a:r>
                    <a:rPr lang="he-IL" altLang="he-IL" sz="2800" dirty="0">
                      <a:ea typeface="Cambria Math" panose="02040503050406030204" pitchFamily="18" charset="0"/>
                      <a:cs typeface="David" panose="020E0502060401010101" pitchFamily="34" charset="-79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he-IL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avid" panose="020E0502060401010101" pitchFamily="34" charset="-79"/>
                        </a:rPr>
                        <m:t>⇐</m:t>
                      </m:r>
                    </m:oMath>
                  </a14:m>
                  <a:endParaRPr lang="en-US" altLang="he-IL" sz="2800" dirty="0">
                    <a:latin typeface="David" panose="020E0502060401010101" pitchFamily="34" charset="-79"/>
                    <a:cs typeface="David" panose="020E0502060401010101" pitchFamily="34" charset="-79"/>
                  </a:endParaRPr>
                </a:p>
              </p:txBody>
            </p:sp>
          </mc:Choice>
          <mc:Fallback xmlns="">
            <p:sp>
              <p:nvSpPr>
                <p:cNvPr id="45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5923" y="4864809"/>
                  <a:ext cx="2768368" cy="523220"/>
                </a:xfrm>
                <a:prstGeom prst="rect">
                  <a:avLst/>
                </a:prstGeom>
                <a:blipFill>
                  <a:blip r:embed="rId3"/>
                  <a:stretch>
                    <a:fillRect t="-9890" r="-3922" b="-26374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כותרת 3">
            <a:extLst>
              <a:ext uri="{FF2B5EF4-FFF2-40B4-BE49-F238E27FC236}">
                <a16:creationId xmlns:a16="http://schemas.microsoft.com/office/drawing/2014/main" id="{5E5BDB38-52A1-BC55-1B28-E8A23760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חסם לגובה עץ </a:t>
            </a:r>
            <a:r>
              <a:rPr lang="en-US" dirty="0"/>
              <a:t>AVL</a:t>
            </a:r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CB22413-7983-2E6D-1358-F567AEAD5BC0}"/>
              </a:ext>
            </a:extLst>
          </p:cNvPr>
          <p:cNvSpPr txBox="1"/>
          <p:nvPr/>
        </p:nvSpPr>
        <p:spPr>
          <a:xfrm>
            <a:off x="976194" y="5860058"/>
            <a:ext cx="2013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h = O(log n)</a:t>
            </a:r>
            <a:r>
              <a:rPr lang="he-IL" altLang="he-IL" sz="2800" dirty="0">
                <a:ea typeface="Cambria Math" panose="02040503050406030204" pitchFamily="18" charset="0"/>
              </a:rPr>
              <a:t> 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153522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15159" y="1609617"/>
            <a:ext cx="10710041" cy="4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</a:rPr>
              <a:t>מסקנה</a:t>
            </a:r>
            <a:r>
              <a:rPr lang="he-IL" sz="2800" dirty="0">
                <a:latin typeface="Times New Roman" pitchFamily="18" charset="0"/>
              </a:rPr>
              <a:t>:  כל השאילתות מתבצעות על עץ </a:t>
            </a:r>
            <a:r>
              <a:rPr lang="en-US" sz="2800" dirty="0">
                <a:latin typeface="Times New Roman" pitchFamily="18" charset="0"/>
              </a:rPr>
              <a:t>AVL</a:t>
            </a:r>
            <a:r>
              <a:rPr lang="he-IL" sz="2800" dirty="0">
                <a:latin typeface="Times New Roman" pitchFamily="18" charset="0"/>
              </a:rPr>
              <a:t> בזמן לוגריתמי במספר צמתיו.</a:t>
            </a:r>
          </a:p>
          <a:p>
            <a:pPr algn="ct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</a:rPr>
              <a:t>AVL-Find</a:t>
            </a:r>
            <a:r>
              <a:rPr lang="he-IL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</a:rPr>
              <a:t>AVL-Min,</a:t>
            </a:r>
            <a:r>
              <a:rPr lang="he-IL" sz="2800" dirty="0">
                <a:latin typeface="Times New Roman" pitchFamily="18" charset="0"/>
              </a:rPr>
              <a:t>, </a:t>
            </a:r>
            <a:r>
              <a:rPr lang="en-US" sz="2800" dirty="0">
                <a:latin typeface="Times New Roman" pitchFamily="18" charset="0"/>
              </a:rPr>
              <a:t>AVL-Max</a:t>
            </a:r>
            <a:r>
              <a:rPr lang="he-IL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</a:rPr>
              <a:t>AVL-Next</a:t>
            </a:r>
            <a:r>
              <a:rPr lang="he-IL" sz="2800" dirty="0">
                <a:latin typeface="Times New Roman" pitchFamily="18" charset="0"/>
              </a:rPr>
              <a:t>, </a:t>
            </a:r>
            <a:r>
              <a:rPr lang="en-US" sz="2800" dirty="0">
                <a:latin typeface="Times New Roman" pitchFamily="18" charset="0"/>
              </a:rPr>
              <a:t>AVL-Prev</a:t>
            </a:r>
            <a:endParaRPr lang="he-IL" sz="20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</a:rPr>
              <a:t>מה לגבי הכנסה והוצאה של איבר?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dirty="0">
                <a:latin typeface="Times New Roman" pitchFamily="18" charset="0"/>
              </a:rPr>
              <a:t>גם כן בזמן לוגריתמי, אבל פעולות אלו עלולות להפר את האיזון של העץ.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000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dirty="0">
                <a:latin typeface="Times New Roman" pitchFamily="18" charset="0"/>
              </a:rPr>
              <a:t>למשל: הוספת 2 לעץ הבא:</a:t>
            </a:r>
            <a:r>
              <a:rPr lang="he-IL" sz="2000" dirty="0">
                <a:latin typeface="Times New Roman" pitchFamily="18" charset="0"/>
              </a:rPr>
              <a:t>		                      </a:t>
            </a:r>
            <a:r>
              <a:rPr lang="he-IL" sz="2800" dirty="0">
                <a:latin typeface="Times New Roman" pitchFamily="18" charset="0"/>
              </a:rPr>
              <a:t>או מחיקת 10 מהעץ הבא:</a:t>
            </a:r>
            <a:endParaRPr lang="he-IL" sz="2000" dirty="0">
              <a:latin typeface="Times New Roman" pitchFamily="18" charset="0"/>
            </a:endParaRPr>
          </a:p>
        </p:txBody>
      </p:sp>
      <p:grpSp>
        <p:nvGrpSpPr>
          <p:cNvPr id="22" name="קבוצה 21"/>
          <p:cNvGrpSpPr/>
          <p:nvPr/>
        </p:nvGrpSpPr>
        <p:grpSpPr>
          <a:xfrm>
            <a:off x="5629684" y="4764025"/>
            <a:ext cx="1732707" cy="1665950"/>
            <a:chOff x="3275856" y="3501008"/>
            <a:chExt cx="1732707" cy="1665950"/>
          </a:xfrm>
        </p:grpSpPr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4333663" y="3501008"/>
              <a:ext cx="36036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3984626" y="3990372"/>
              <a:ext cx="361950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4648201" y="3934810"/>
              <a:ext cx="360362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 flipH="1">
              <a:off x="4198937" y="3798807"/>
              <a:ext cx="229046" cy="1915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4573588" y="3777647"/>
              <a:ext cx="146050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30" name="Oval 31"/>
            <p:cNvSpPr>
              <a:spLocks noChangeArrowheads="1"/>
            </p:cNvSpPr>
            <p:nvPr/>
          </p:nvSpPr>
          <p:spPr bwMode="auto">
            <a:xfrm>
              <a:off x="3648076" y="4436460"/>
              <a:ext cx="360362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31" name="Line 32"/>
            <p:cNvSpPr>
              <a:spLocks noChangeShapeType="1"/>
            </p:cNvSpPr>
            <p:nvPr/>
          </p:nvSpPr>
          <p:spPr bwMode="auto">
            <a:xfrm flipH="1">
              <a:off x="3862388" y="4257072"/>
              <a:ext cx="21748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32" name="Line 37"/>
            <p:cNvSpPr>
              <a:spLocks noChangeShapeType="1"/>
            </p:cNvSpPr>
            <p:nvPr/>
          </p:nvSpPr>
          <p:spPr bwMode="auto">
            <a:xfrm flipH="1">
              <a:off x="3490168" y="4689121"/>
              <a:ext cx="217884" cy="179387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33" name="Oval 38"/>
            <p:cNvSpPr>
              <a:spLocks noChangeArrowheads="1"/>
            </p:cNvSpPr>
            <p:nvPr/>
          </p:nvSpPr>
          <p:spPr bwMode="auto">
            <a:xfrm>
              <a:off x="3275856" y="4868508"/>
              <a:ext cx="360759" cy="29845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</p:grpSp>
      <p:grpSp>
        <p:nvGrpSpPr>
          <p:cNvPr id="23" name="קבוצה 22"/>
          <p:cNvGrpSpPr/>
          <p:nvPr/>
        </p:nvGrpSpPr>
        <p:grpSpPr>
          <a:xfrm>
            <a:off x="1002975" y="4879326"/>
            <a:ext cx="1285141" cy="1233902"/>
            <a:chOff x="3984626" y="5363450"/>
            <a:chExt cx="1285141" cy="1233902"/>
          </a:xfrm>
        </p:grpSpPr>
        <p:sp>
          <p:nvSpPr>
            <p:cNvPr id="34" name="Oval 17"/>
            <p:cNvSpPr>
              <a:spLocks noChangeArrowheads="1"/>
            </p:cNvSpPr>
            <p:nvPr/>
          </p:nvSpPr>
          <p:spPr bwMode="auto">
            <a:xfrm>
              <a:off x="4333663" y="5363450"/>
              <a:ext cx="36036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35" name="Oval 18"/>
            <p:cNvSpPr>
              <a:spLocks noChangeArrowheads="1"/>
            </p:cNvSpPr>
            <p:nvPr/>
          </p:nvSpPr>
          <p:spPr bwMode="auto">
            <a:xfrm>
              <a:off x="3984626" y="5852814"/>
              <a:ext cx="361950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6</a:t>
              </a:r>
            </a:p>
          </p:txBody>
        </p:sp>
        <p:sp>
          <p:nvSpPr>
            <p:cNvPr id="36" name="Oval 19"/>
            <p:cNvSpPr>
              <a:spLocks noChangeArrowheads="1"/>
            </p:cNvSpPr>
            <p:nvPr/>
          </p:nvSpPr>
          <p:spPr bwMode="auto">
            <a:xfrm>
              <a:off x="4648201" y="5797252"/>
              <a:ext cx="360362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10</a:t>
              </a:r>
            </a:p>
          </p:txBody>
        </p:sp>
        <p:sp>
          <p:nvSpPr>
            <p:cNvPr id="37" name="Line 20"/>
            <p:cNvSpPr>
              <a:spLocks noChangeShapeType="1"/>
            </p:cNvSpPr>
            <p:nvPr/>
          </p:nvSpPr>
          <p:spPr bwMode="auto">
            <a:xfrm flipH="1">
              <a:off x="4198937" y="5661249"/>
              <a:ext cx="229046" cy="1915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38" name="Line 21"/>
            <p:cNvSpPr>
              <a:spLocks noChangeShapeType="1"/>
            </p:cNvSpPr>
            <p:nvPr/>
          </p:nvSpPr>
          <p:spPr bwMode="auto">
            <a:xfrm>
              <a:off x="4573588" y="5640089"/>
              <a:ext cx="146050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39" name="Oval 31"/>
            <p:cNvSpPr>
              <a:spLocks noChangeArrowheads="1"/>
            </p:cNvSpPr>
            <p:nvPr/>
          </p:nvSpPr>
          <p:spPr bwMode="auto">
            <a:xfrm>
              <a:off x="4211638" y="6298902"/>
              <a:ext cx="360362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7</a:t>
              </a:r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4211960" y="6165304"/>
              <a:ext cx="144016" cy="144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43" name="כפל 42"/>
            <p:cNvSpPr/>
            <p:nvPr/>
          </p:nvSpPr>
          <p:spPr>
            <a:xfrm>
              <a:off x="4477679" y="5673622"/>
              <a:ext cx="792088" cy="576064"/>
            </a:xfrm>
            <a:prstGeom prst="mathMultiply">
              <a:avLst>
                <a:gd name="adj1" fmla="val 0"/>
              </a:avLst>
            </a:prstGeom>
            <a:solidFill>
              <a:schemeClr val="accent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3" name="כותרת 3">
            <a:extLst>
              <a:ext uri="{FF2B5EF4-FFF2-40B4-BE49-F238E27FC236}">
                <a16:creationId xmlns:a16="http://schemas.microsoft.com/office/drawing/2014/main" id="{0CCBD416-C693-A235-D56A-8A6F2F359AE7}"/>
              </a:ext>
            </a:extLst>
          </p:cNvPr>
          <p:cNvSpPr txBox="1">
            <a:spLocks/>
          </p:cNvSpPr>
          <p:nvPr/>
        </p:nvSpPr>
        <p:spPr>
          <a:xfrm>
            <a:off x="1066800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סיבוכיות זמן לפעולות בעץ </a:t>
            </a:r>
            <a:r>
              <a:rPr lang="en-US" dirty="0"/>
              <a:t>AVL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61124" y="1804393"/>
            <a:ext cx="8856984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  <a:defRPr/>
            </a:pPr>
            <a:r>
              <a:rPr lang="he-IL" sz="2800" b="1" dirty="0">
                <a:latin typeface="Times New Roman" pitchFamily="18" charset="0"/>
              </a:rPr>
              <a:t>מה אפשר לעשות אם הכנסה גורמת להפרת האיזון?</a:t>
            </a:r>
          </a:p>
          <a:p>
            <a:pPr algn="r" rtl="1"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לבצע </a:t>
            </a:r>
            <a:r>
              <a:rPr lang="he-IL" sz="2400" i="1" u="sng" dirty="0">
                <a:latin typeface="Times New Roman" pitchFamily="18" charset="0"/>
              </a:rPr>
              <a:t>גלגול</a:t>
            </a:r>
            <a:r>
              <a:rPr lang="he-IL" sz="2400" dirty="0">
                <a:latin typeface="Times New Roman" pitchFamily="18" charset="0"/>
              </a:rPr>
              <a:t> בעץ – שינוי של כמה מצביעים כדי לאזן את הפרש הגבהים. </a:t>
            </a:r>
          </a:p>
        </p:txBody>
      </p:sp>
      <p:sp>
        <p:nvSpPr>
          <p:cNvPr id="6" name="Oval 17"/>
          <p:cNvSpPr>
            <a:spLocks noChangeArrowheads="1"/>
          </p:cNvSpPr>
          <p:nvPr/>
        </p:nvSpPr>
        <p:spPr bwMode="auto">
          <a:xfrm>
            <a:off x="1937861" y="3088648"/>
            <a:ext cx="360363" cy="3000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8" name="Oval 18"/>
          <p:cNvSpPr>
            <a:spLocks noChangeArrowheads="1"/>
          </p:cNvSpPr>
          <p:nvPr/>
        </p:nvSpPr>
        <p:spPr bwMode="auto">
          <a:xfrm>
            <a:off x="1588823" y="3578012"/>
            <a:ext cx="361950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9" name="Oval 19"/>
          <p:cNvSpPr>
            <a:spLocks noChangeArrowheads="1"/>
          </p:cNvSpPr>
          <p:nvPr/>
        </p:nvSpPr>
        <p:spPr bwMode="auto">
          <a:xfrm>
            <a:off x="2252398" y="3522450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10" name="Line 20"/>
          <p:cNvSpPr>
            <a:spLocks noChangeShapeType="1"/>
          </p:cNvSpPr>
          <p:nvPr/>
        </p:nvSpPr>
        <p:spPr bwMode="auto">
          <a:xfrm flipH="1">
            <a:off x="1803134" y="3386447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1" name="Line 21"/>
          <p:cNvSpPr>
            <a:spLocks noChangeShapeType="1"/>
          </p:cNvSpPr>
          <p:nvPr/>
        </p:nvSpPr>
        <p:spPr bwMode="auto">
          <a:xfrm>
            <a:off x="2177785" y="3365287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2" name="Oval 31"/>
          <p:cNvSpPr>
            <a:spLocks noChangeArrowheads="1"/>
          </p:cNvSpPr>
          <p:nvPr/>
        </p:nvSpPr>
        <p:spPr bwMode="auto">
          <a:xfrm>
            <a:off x="1252273" y="4024100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3" name="Line 32"/>
          <p:cNvSpPr>
            <a:spLocks noChangeShapeType="1"/>
          </p:cNvSpPr>
          <p:nvPr/>
        </p:nvSpPr>
        <p:spPr bwMode="auto">
          <a:xfrm flipH="1">
            <a:off x="1466585" y="3844712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4" name="Oval 17"/>
          <p:cNvSpPr>
            <a:spLocks noChangeArrowheads="1"/>
          </p:cNvSpPr>
          <p:nvPr/>
        </p:nvSpPr>
        <p:spPr bwMode="auto">
          <a:xfrm>
            <a:off x="4863361" y="3088648"/>
            <a:ext cx="360363" cy="3000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25" name="Oval 18"/>
          <p:cNvSpPr>
            <a:spLocks noChangeArrowheads="1"/>
          </p:cNvSpPr>
          <p:nvPr/>
        </p:nvSpPr>
        <p:spPr bwMode="auto">
          <a:xfrm>
            <a:off x="4514323" y="3578012"/>
            <a:ext cx="361950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5177898" y="3522450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 flipH="1">
            <a:off x="4728634" y="3386447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>
            <a:off x="5103285" y="3365287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9" name="Oval 31"/>
          <p:cNvSpPr>
            <a:spLocks noChangeArrowheads="1"/>
          </p:cNvSpPr>
          <p:nvPr/>
        </p:nvSpPr>
        <p:spPr bwMode="auto">
          <a:xfrm>
            <a:off x="4177773" y="4024100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H="1">
            <a:off x="4392085" y="3844712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31" name="Line 37"/>
          <p:cNvSpPr>
            <a:spLocks noChangeShapeType="1"/>
          </p:cNvSpPr>
          <p:nvPr/>
        </p:nvSpPr>
        <p:spPr bwMode="auto">
          <a:xfrm flipH="1">
            <a:off x="4019865" y="4276762"/>
            <a:ext cx="217884" cy="179387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32" name="Oval 38"/>
          <p:cNvSpPr>
            <a:spLocks noChangeArrowheads="1"/>
          </p:cNvSpPr>
          <p:nvPr/>
        </p:nvSpPr>
        <p:spPr bwMode="auto">
          <a:xfrm>
            <a:off x="3809350" y="4446382"/>
            <a:ext cx="360759" cy="29845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1" name="Oval 17"/>
          <p:cNvSpPr>
            <a:spLocks noChangeArrowheads="1"/>
          </p:cNvSpPr>
          <p:nvPr/>
        </p:nvSpPr>
        <p:spPr bwMode="auto">
          <a:xfrm>
            <a:off x="7599665" y="3088648"/>
            <a:ext cx="360363" cy="3000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42" name="Oval 18"/>
          <p:cNvSpPr>
            <a:spLocks noChangeArrowheads="1"/>
          </p:cNvSpPr>
          <p:nvPr/>
        </p:nvSpPr>
        <p:spPr bwMode="auto">
          <a:xfrm>
            <a:off x="7250627" y="3578012"/>
            <a:ext cx="361950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43" name="Oval 19"/>
          <p:cNvSpPr>
            <a:spLocks noChangeArrowheads="1"/>
          </p:cNvSpPr>
          <p:nvPr/>
        </p:nvSpPr>
        <p:spPr bwMode="auto">
          <a:xfrm>
            <a:off x="7914202" y="3522450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flipH="1">
            <a:off x="7464938" y="3386447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45" name="Line 21"/>
          <p:cNvSpPr>
            <a:spLocks noChangeShapeType="1"/>
          </p:cNvSpPr>
          <p:nvPr/>
        </p:nvSpPr>
        <p:spPr bwMode="auto">
          <a:xfrm>
            <a:off x="7839589" y="3365287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46" name="Oval 31"/>
          <p:cNvSpPr>
            <a:spLocks noChangeArrowheads="1"/>
          </p:cNvSpPr>
          <p:nvPr/>
        </p:nvSpPr>
        <p:spPr bwMode="auto">
          <a:xfrm>
            <a:off x="6914077" y="4024100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7" name="Line 32"/>
          <p:cNvSpPr>
            <a:spLocks noChangeShapeType="1"/>
          </p:cNvSpPr>
          <p:nvPr/>
        </p:nvSpPr>
        <p:spPr bwMode="auto">
          <a:xfrm flipH="1">
            <a:off x="7128389" y="3844712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55" name="Oval 19"/>
          <p:cNvSpPr>
            <a:spLocks noChangeArrowheads="1"/>
          </p:cNvSpPr>
          <p:nvPr/>
        </p:nvSpPr>
        <p:spPr bwMode="auto">
          <a:xfrm>
            <a:off x="7619158" y="4004395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56" name="Line 21"/>
          <p:cNvSpPr>
            <a:spLocks noChangeShapeType="1"/>
          </p:cNvSpPr>
          <p:nvPr/>
        </p:nvSpPr>
        <p:spPr bwMode="auto">
          <a:xfrm>
            <a:off x="7544545" y="3847232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62" name="AutoShape 42"/>
          <p:cNvSpPr>
            <a:spLocks noChangeArrowheads="1"/>
          </p:cNvSpPr>
          <p:nvPr/>
        </p:nvSpPr>
        <p:spPr bwMode="auto">
          <a:xfrm>
            <a:off x="3017567" y="3713414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63" name="Oval 10"/>
          <p:cNvSpPr>
            <a:spLocks noChangeArrowheads="1"/>
          </p:cNvSpPr>
          <p:nvPr/>
        </p:nvSpPr>
        <p:spPr bwMode="auto">
          <a:xfrm>
            <a:off x="3543693" y="3408532"/>
            <a:ext cx="308566" cy="300909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64" name="מלבן 63"/>
          <p:cNvSpPr/>
          <p:nvPr/>
        </p:nvSpPr>
        <p:spPr>
          <a:xfrm>
            <a:off x="2873965" y="3376680"/>
            <a:ext cx="71045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Insert</a:t>
            </a:r>
            <a:endParaRPr lang="he-IL" dirty="0"/>
          </a:p>
        </p:txBody>
      </p:sp>
      <p:sp>
        <p:nvSpPr>
          <p:cNvPr id="65" name="AutoShape 42"/>
          <p:cNvSpPr>
            <a:spLocks noChangeArrowheads="1"/>
          </p:cNvSpPr>
          <p:nvPr/>
        </p:nvSpPr>
        <p:spPr bwMode="auto">
          <a:xfrm>
            <a:off x="5960124" y="3713414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66" name="מלבן 65"/>
          <p:cNvSpPr/>
          <p:nvPr/>
        </p:nvSpPr>
        <p:spPr>
          <a:xfrm>
            <a:off x="5835922" y="3367388"/>
            <a:ext cx="7873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Rotate</a:t>
            </a:r>
            <a:endParaRPr lang="he-IL" dirty="0">
              <a:latin typeface="Times New Roman" pitchFamily="18" charset="0"/>
            </a:endParaRPr>
          </a:p>
        </p:txBody>
      </p:sp>
      <p:sp>
        <p:nvSpPr>
          <p:cNvPr id="68" name="חץ מעוקל למטה 67"/>
          <p:cNvSpPr/>
          <p:nvPr/>
        </p:nvSpPr>
        <p:spPr>
          <a:xfrm>
            <a:off x="4602156" y="3952744"/>
            <a:ext cx="504056" cy="288032"/>
          </a:xfrm>
          <a:prstGeom prst="curvedDownArrow">
            <a:avLst>
              <a:gd name="adj1" fmla="val 25000"/>
              <a:gd name="adj2" fmla="val 72727"/>
              <a:gd name="adj3" fmla="val 46332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75" name="Oval 17"/>
          <p:cNvSpPr>
            <a:spLocks noChangeArrowheads="1"/>
          </p:cNvSpPr>
          <p:nvPr/>
        </p:nvSpPr>
        <p:spPr bwMode="auto">
          <a:xfrm>
            <a:off x="1929187" y="5011795"/>
            <a:ext cx="360363" cy="3000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76" name="Oval 18"/>
          <p:cNvSpPr>
            <a:spLocks noChangeArrowheads="1"/>
          </p:cNvSpPr>
          <p:nvPr/>
        </p:nvSpPr>
        <p:spPr bwMode="auto">
          <a:xfrm>
            <a:off x="1580149" y="5501159"/>
            <a:ext cx="361950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77" name="Oval 19"/>
          <p:cNvSpPr>
            <a:spLocks noChangeArrowheads="1"/>
          </p:cNvSpPr>
          <p:nvPr/>
        </p:nvSpPr>
        <p:spPr bwMode="auto">
          <a:xfrm>
            <a:off x="2243724" y="5445597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78" name="Line 20"/>
          <p:cNvSpPr>
            <a:spLocks noChangeShapeType="1"/>
          </p:cNvSpPr>
          <p:nvPr/>
        </p:nvSpPr>
        <p:spPr bwMode="auto">
          <a:xfrm flipH="1">
            <a:off x="1794460" y="5309594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79" name="Line 21"/>
          <p:cNvSpPr>
            <a:spLocks noChangeShapeType="1"/>
          </p:cNvSpPr>
          <p:nvPr/>
        </p:nvSpPr>
        <p:spPr bwMode="auto">
          <a:xfrm>
            <a:off x="2169111" y="5288434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80" name="Oval 31"/>
          <p:cNvSpPr>
            <a:spLocks noChangeArrowheads="1"/>
          </p:cNvSpPr>
          <p:nvPr/>
        </p:nvSpPr>
        <p:spPr bwMode="auto">
          <a:xfrm>
            <a:off x="1243599" y="5947247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81" name="Line 32"/>
          <p:cNvSpPr>
            <a:spLocks noChangeShapeType="1"/>
          </p:cNvSpPr>
          <p:nvPr/>
        </p:nvSpPr>
        <p:spPr bwMode="auto">
          <a:xfrm flipH="1">
            <a:off x="1457911" y="5767859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82" name="Oval 17"/>
          <p:cNvSpPr>
            <a:spLocks noChangeArrowheads="1"/>
          </p:cNvSpPr>
          <p:nvPr/>
        </p:nvSpPr>
        <p:spPr bwMode="auto">
          <a:xfrm>
            <a:off x="4854687" y="5011795"/>
            <a:ext cx="360363" cy="3000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83" name="Oval 18"/>
          <p:cNvSpPr>
            <a:spLocks noChangeArrowheads="1"/>
          </p:cNvSpPr>
          <p:nvPr/>
        </p:nvSpPr>
        <p:spPr bwMode="auto">
          <a:xfrm>
            <a:off x="4505649" y="5501159"/>
            <a:ext cx="361950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84" name="Oval 19"/>
          <p:cNvSpPr>
            <a:spLocks noChangeArrowheads="1"/>
          </p:cNvSpPr>
          <p:nvPr/>
        </p:nvSpPr>
        <p:spPr bwMode="auto">
          <a:xfrm>
            <a:off x="5169224" y="5445597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85" name="Line 20"/>
          <p:cNvSpPr>
            <a:spLocks noChangeShapeType="1"/>
          </p:cNvSpPr>
          <p:nvPr/>
        </p:nvSpPr>
        <p:spPr bwMode="auto">
          <a:xfrm flipH="1">
            <a:off x="4719960" y="5309594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86" name="Line 21"/>
          <p:cNvSpPr>
            <a:spLocks noChangeShapeType="1"/>
          </p:cNvSpPr>
          <p:nvPr/>
        </p:nvSpPr>
        <p:spPr bwMode="auto">
          <a:xfrm>
            <a:off x="5094611" y="5288434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87" name="Oval 31"/>
          <p:cNvSpPr>
            <a:spLocks noChangeArrowheads="1"/>
          </p:cNvSpPr>
          <p:nvPr/>
        </p:nvSpPr>
        <p:spPr bwMode="auto">
          <a:xfrm>
            <a:off x="4169099" y="5947247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88" name="Line 32"/>
          <p:cNvSpPr>
            <a:spLocks noChangeShapeType="1"/>
          </p:cNvSpPr>
          <p:nvPr/>
        </p:nvSpPr>
        <p:spPr bwMode="auto">
          <a:xfrm flipH="1">
            <a:off x="4383411" y="5767859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89" name="Line 37"/>
          <p:cNvSpPr>
            <a:spLocks noChangeShapeType="1"/>
          </p:cNvSpPr>
          <p:nvPr/>
        </p:nvSpPr>
        <p:spPr bwMode="auto">
          <a:xfrm>
            <a:off x="4449466" y="6245697"/>
            <a:ext cx="216024" cy="144016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90" name="Oval 38"/>
          <p:cNvSpPr>
            <a:spLocks noChangeArrowheads="1"/>
          </p:cNvSpPr>
          <p:nvPr/>
        </p:nvSpPr>
        <p:spPr bwMode="auto">
          <a:xfrm>
            <a:off x="4521327" y="6379295"/>
            <a:ext cx="360759" cy="29845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91" name="Oval 17"/>
          <p:cNvSpPr>
            <a:spLocks noChangeArrowheads="1"/>
          </p:cNvSpPr>
          <p:nvPr/>
        </p:nvSpPr>
        <p:spPr bwMode="auto">
          <a:xfrm>
            <a:off x="7590991" y="5011795"/>
            <a:ext cx="360363" cy="3000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92" name="Oval 18"/>
          <p:cNvSpPr>
            <a:spLocks noChangeArrowheads="1"/>
          </p:cNvSpPr>
          <p:nvPr/>
        </p:nvSpPr>
        <p:spPr bwMode="auto">
          <a:xfrm>
            <a:off x="7241953" y="5501159"/>
            <a:ext cx="361950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93" name="Oval 19"/>
          <p:cNvSpPr>
            <a:spLocks noChangeArrowheads="1"/>
          </p:cNvSpPr>
          <p:nvPr/>
        </p:nvSpPr>
        <p:spPr bwMode="auto">
          <a:xfrm>
            <a:off x="7905528" y="5445597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94" name="Line 20"/>
          <p:cNvSpPr>
            <a:spLocks noChangeShapeType="1"/>
          </p:cNvSpPr>
          <p:nvPr/>
        </p:nvSpPr>
        <p:spPr bwMode="auto">
          <a:xfrm flipH="1">
            <a:off x="7456264" y="5309594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95" name="Line 21"/>
          <p:cNvSpPr>
            <a:spLocks noChangeShapeType="1"/>
          </p:cNvSpPr>
          <p:nvPr/>
        </p:nvSpPr>
        <p:spPr bwMode="auto">
          <a:xfrm>
            <a:off x="7830915" y="5288434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96" name="Oval 31"/>
          <p:cNvSpPr>
            <a:spLocks noChangeArrowheads="1"/>
          </p:cNvSpPr>
          <p:nvPr/>
        </p:nvSpPr>
        <p:spPr bwMode="auto">
          <a:xfrm>
            <a:off x="6905403" y="5947247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97" name="Line 32"/>
          <p:cNvSpPr>
            <a:spLocks noChangeShapeType="1"/>
          </p:cNvSpPr>
          <p:nvPr/>
        </p:nvSpPr>
        <p:spPr bwMode="auto">
          <a:xfrm flipH="1">
            <a:off x="7119715" y="5767859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98" name="Oval 19"/>
          <p:cNvSpPr>
            <a:spLocks noChangeArrowheads="1"/>
          </p:cNvSpPr>
          <p:nvPr/>
        </p:nvSpPr>
        <p:spPr bwMode="auto">
          <a:xfrm>
            <a:off x="7610484" y="5927542"/>
            <a:ext cx="360362" cy="298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99" name="Line 21"/>
          <p:cNvSpPr>
            <a:spLocks noChangeShapeType="1"/>
          </p:cNvSpPr>
          <p:nvPr/>
        </p:nvSpPr>
        <p:spPr bwMode="auto">
          <a:xfrm>
            <a:off x="7535871" y="5770379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00" name="AutoShape 42"/>
          <p:cNvSpPr>
            <a:spLocks noChangeArrowheads="1"/>
          </p:cNvSpPr>
          <p:nvPr/>
        </p:nvSpPr>
        <p:spPr bwMode="auto">
          <a:xfrm>
            <a:off x="3008893" y="5636561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01" name="Oval 10"/>
          <p:cNvSpPr>
            <a:spLocks noChangeArrowheads="1"/>
          </p:cNvSpPr>
          <p:nvPr/>
        </p:nvSpPr>
        <p:spPr bwMode="auto">
          <a:xfrm>
            <a:off x="3535019" y="5331679"/>
            <a:ext cx="308566" cy="300909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02" name="מלבן 101"/>
          <p:cNvSpPr/>
          <p:nvPr/>
        </p:nvSpPr>
        <p:spPr>
          <a:xfrm>
            <a:off x="2865291" y="5299827"/>
            <a:ext cx="71045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Insert</a:t>
            </a:r>
            <a:endParaRPr lang="he-IL" dirty="0">
              <a:latin typeface="Times New Roman" pitchFamily="18" charset="0"/>
            </a:endParaRPr>
          </a:p>
        </p:txBody>
      </p:sp>
      <p:sp>
        <p:nvSpPr>
          <p:cNvPr id="103" name="AutoShape 42"/>
          <p:cNvSpPr>
            <a:spLocks noChangeArrowheads="1"/>
          </p:cNvSpPr>
          <p:nvPr/>
        </p:nvSpPr>
        <p:spPr bwMode="auto">
          <a:xfrm>
            <a:off x="5951450" y="5636561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04" name="מלבן 103"/>
          <p:cNvSpPr/>
          <p:nvPr/>
        </p:nvSpPr>
        <p:spPr>
          <a:xfrm>
            <a:off x="5827248" y="5299827"/>
            <a:ext cx="7873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Rotate</a:t>
            </a:r>
            <a:endParaRPr lang="he-IL" dirty="0">
              <a:latin typeface="Times New Roman" pitchFamily="18" charset="0"/>
            </a:endParaRPr>
          </a:p>
        </p:txBody>
      </p:sp>
      <p:sp>
        <p:nvSpPr>
          <p:cNvPr id="106" name="חץ מעוקל למטה 105"/>
          <p:cNvSpPr/>
          <p:nvPr/>
        </p:nvSpPr>
        <p:spPr>
          <a:xfrm>
            <a:off x="4593482" y="5885657"/>
            <a:ext cx="360040" cy="216024"/>
          </a:xfrm>
          <a:prstGeom prst="curvedDownArrow">
            <a:avLst>
              <a:gd name="adj1" fmla="val 25000"/>
              <a:gd name="adj2" fmla="val 72727"/>
              <a:gd name="adj3" fmla="val 46332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07" name="חץ מעוקל למטה 106"/>
          <p:cNvSpPr/>
          <p:nvPr/>
        </p:nvSpPr>
        <p:spPr>
          <a:xfrm flipH="1">
            <a:off x="4089426" y="6326089"/>
            <a:ext cx="360040" cy="207640"/>
          </a:xfrm>
          <a:prstGeom prst="curvedDownArrow">
            <a:avLst>
              <a:gd name="adj1" fmla="val 25000"/>
              <a:gd name="adj2" fmla="val 72727"/>
              <a:gd name="adj3" fmla="val 46332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4" name="כותרת 3">
            <a:extLst>
              <a:ext uri="{FF2B5EF4-FFF2-40B4-BE49-F238E27FC236}">
                <a16:creationId xmlns:a16="http://schemas.microsoft.com/office/drawing/2014/main" id="{E3581BDB-6D0F-93AA-8ACF-8B1550BE5928}"/>
              </a:ext>
            </a:extLst>
          </p:cNvPr>
          <p:cNvSpPr txBox="1">
            <a:spLocks/>
          </p:cNvSpPr>
          <p:nvPr/>
        </p:nvSpPr>
        <p:spPr>
          <a:xfrm>
            <a:off x="1066800" y="472206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תיקון לאחר הכנסה- גלגולים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9908C605-3328-6F89-14F7-C209F83FFB8A}"/>
              </a:ext>
            </a:extLst>
          </p:cNvPr>
          <p:cNvSpPr txBox="1"/>
          <p:nvPr/>
        </p:nvSpPr>
        <p:spPr>
          <a:xfrm>
            <a:off x="8883581" y="3166763"/>
            <a:ext cx="255299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spcAft>
                <a:spcPts val="600"/>
              </a:spcAft>
              <a:defRPr sz="2400" b="1">
                <a:latin typeface="Times New Roman" pitchFamily="18" charset="0"/>
              </a:defRPr>
            </a:lvl1pPr>
          </a:lstStyle>
          <a:p>
            <a:r>
              <a:rPr lang="he-IL" dirty="0"/>
              <a:t> דוגמאות פשוטות: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49764" y="1614784"/>
            <a:ext cx="10374848" cy="4505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</a:rPr>
              <a:t>הגדרה</a:t>
            </a:r>
            <a:r>
              <a:rPr lang="he-IL" sz="2800" dirty="0">
                <a:latin typeface="Times New Roman" pitchFamily="18" charset="0"/>
              </a:rPr>
              <a:t>: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800" u="sng" dirty="0">
                <a:latin typeface="Times New Roman" pitchFamily="18" charset="0"/>
              </a:rPr>
              <a:t>גורם האיזון</a:t>
            </a:r>
            <a:r>
              <a:rPr lang="he-IL" sz="2800" dirty="0">
                <a:latin typeface="Times New Roman" pitchFamily="18" charset="0"/>
              </a:rPr>
              <a:t> (</a:t>
            </a:r>
            <a:r>
              <a:rPr lang="en-US" sz="2800" dirty="0">
                <a:latin typeface="Times New Roman" pitchFamily="18" charset="0"/>
              </a:rPr>
              <a:t>balance factor</a:t>
            </a:r>
            <a:r>
              <a:rPr lang="he-IL" sz="2800" dirty="0">
                <a:latin typeface="Times New Roman" pitchFamily="18" charset="0"/>
              </a:rPr>
              <a:t>) של צומת הוא ההפרש בין גובה תת העץ השמאלי לתת העץ הימני של הצומת.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000" b="1" dirty="0">
                <a:latin typeface="Times New Roman" pitchFamily="18" charset="0"/>
                <a:sym typeface="Wingdings" pitchFamily="2" charset="2"/>
              </a:rPr>
              <a:t>			</a:t>
            </a:r>
            <a:r>
              <a:rPr lang="en-US" sz="2800" b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BF[</a:t>
            </a:r>
            <a:r>
              <a:rPr lang="en-US" sz="2800" b="1" i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v</a:t>
            </a:r>
            <a:r>
              <a:rPr lang="en-US" sz="2800" b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]</a:t>
            </a:r>
            <a:r>
              <a:rPr lang="en-US" sz="2800" b="1" i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   =   h</a:t>
            </a:r>
            <a:r>
              <a:rPr lang="en-US" sz="2800" b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(left[</a:t>
            </a:r>
            <a:r>
              <a:rPr lang="en-US" sz="2800" b="1" i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v</a:t>
            </a:r>
            <a:r>
              <a:rPr lang="en-US" sz="2800" b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])  –  </a:t>
            </a:r>
            <a:r>
              <a:rPr lang="en-US" sz="2800" b="1" i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h</a:t>
            </a:r>
            <a:r>
              <a:rPr lang="en-US" sz="2800" b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(right[</a:t>
            </a:r>
            <a:r>
              <a:rPr lang="en-US" sz="2800" b="1" i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v</a:t>
            </a:r>
            <a:r>
              <a:rPr lang="en-US" sz="2800" b="1" dirty="0">
                <a:highlight>
                  <a:srgbClr val="FFE6E6"/>
                </a:highlight>
                <a:latin typeface="Times New Roman" pitchFamily="18" charset="0"/>
                <a:sym typeface="Wingdings" pitchFamily="2" charset="2"/>
              </a:rPr>
              <a:t>])</a:t>
            </a:r>
            <a:endParaRPr lang="he-IL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בעץ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 תקין מתקיים לכל צומת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he-IL" sz="2400" dirty="0">
                <a:latin typeface="Times New Roman" pitchFamily="18" charset="0"/>
              </a:rPr>
              <a:t>:           </a:t>
            </a:r>
            <a:r>
              <a:rPr lang="en-US" sz="2800" b="1" dirty="0">
                <a:latin typeface="Times New Roman" pitchFamily="18" charset="0"/>
              </a:rPr>
              <a:t>|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sym typeface="Wingdings" pitchFamily="2" charset="2"/>
              </a:rPr>
              <a:t>BF[</a:t>
            </a:r>
            <a:r>
              <a:rPr lang="en-US" sz="2400" b="1" i="1" dirty="0">
                <a:latin typeface="Times New Roman" pitchFamily="18" charset="0"/>
                <a:sym typeface="Wingdings" pitchFamily="2" charset="2"/>
              </a:rPr>
              <a:t>v</a:t>
            </a:r>
            <a:r>
              <a:rPr lang="en-US" sz="2400" b="1" dirty="0">
                <a:latin typeface="Times New Roman" pitchFamily="18" charset="0"/>
                <a:sym typeface="Wingdings" pitchFamily="2" charset="2"/>
              </a:rPr>
              <a:t>] </a:t>
            </a:r>
            <a:r>
              <a:rPr lang="en-US" sz="2800" b="1" dirty="0">
                <a:latin typeface="Times New Roman" pitchFamily="18" charset="0"/>
                <a:sym typeface="Wingdings" pitchFamily="2" charset="2"/>
              </a:rPr>
              <a:t>|</a:t>
            </a:r>
            <a:r>
              <a:rPr lang="en-US" sz="2400" b="1" dirty="0">
                <a:latin typeface="Times New Roman" pitchFamily="18" charset="0"/>
                <a:sym typeface="Wingdings" pitchFamily="2" charset="2"/>
              </a:rPr>
              <a:t> ≤ 1</a:t>
            </a:r>
            <a:endParaRPr lang="he-IL" sz="2400" b="1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b="1" dirty="0">
              <a:latin typeface="Times New Roman" pitchFamily="18" charset="0"/>
              <a:sym typeface="Wingdings" pitchFamily="2" charset="2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  <a:sym typeface="Wingdings" pitchFamily="2" charset="2"/>
              </a:rPr>
              <a:t>       </a:t>
            </a:r>
            <a:endParaRPr lang="he-IL" dirty="0">
              <a:latin typeface="Times New Roman" pitchFamily="18" charset="0"/>
            </a:endParaRPr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515379" y="4229914"/>
            <a:ext cx="4672012" cy="2371725"/>
            <a:chOff x="682" y="1680"/>
            <a:chExt cx="2616" cy="14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8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9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10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11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4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5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16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20</a:t>
              </a:r>
            </a:p>
          </p:txBody>
        </p:sp>
        <p:sp>
          <p:nvSpPr>
            <p:cNvPr id="17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0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2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3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24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5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26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7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28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9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19</a:t>
              </a:r>
            </a:p>
          </p:txBody>
        </p:sp>
        <p:sp>
          <p:nvSpPr>
            <p:cNvPr id="30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grpSp>
        <p:nvGrpSpPr>
          <p:cNvPr id="61" name="קבוצה 60"/>
          <p:cNvGrpSpPr/>
          <p:nvPr/>
        </p:nvGrpSpPr>
        <p:grpSpPr>
          <a:xfrm>
            <a:off x="371363" y="3989606"/>
            <a:ext cx="5060470" cy="2540025"/>
            <a:chOff x="611560" y="3985319"/>
            <a:chExt cx="5060470" cy="2540025"/>
          </a:xfrm>
        </p:grpSpPr>
        <p:sp>
          <p:nvSpPr>
            <p:cNvPr id="49" name="מלבן 48"/>
            <p:cNvSpPr/>
            <p:nvPr/>
          </p:nvSpPr>
          <p:spPr>
            <a:xfrm>
              <a:off x="4924827" y="5157192"/>
              <a:ext cx="4026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+1</a:t>
              </a:r>
              <a:endParaRPr lang="en-US" dirty="0"/>
            </a:p>
          </p:txBody>
        </p:sp>
        <p:sp>
          <p:nvSpPr>
            <p:cNvPr id="50" name="מלבן 49"/>
            <p:cNvSpPr/>
            <p:nvPr/>
          </p:nvSpPr>
          <p:spPr>
            <a:xfrm>
              <a:off x="5387978" y="5641503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51" name="מלבן 50"/>
            <p:cNvSpPr/>
            <p:nvPr/>
          </p:nvSpPr>
          <p:spPr>
            <a:xfrm>
              <a:off x="3943806" y="6217567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52" name="מלבן 51"/>
            <p:cNvSpPr/>
            <p:nvPr/>
          </p:nvSpPr>
          <p:spPr>
            <a:xfrm>
              <a:off x="3419872" y="5691065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53" name="מלבן 52"/>
            <p:cNvSpPr/>
            <p:nvPr/>
          </p:nvSpPr>
          <p:spPr>
            <a:xfrm>
              <a:off x="2483768" y="551723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54" name="מלבן 53"/>
            <p:cNvSpPr/>
            <p:nvPr/>
          </p:nvSpPr>
          <p:spPr>
            <a:xfrm>
              <a:off x="611560" y="515719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55" name="מלבן 54"/>
            <p:cNvSpPr/>
            <p:nvPr/>
          </p:nvSpPr>
          <p:spPr>
            <a:xfrm>
              <a:off x="2026044" y="506543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56" name="מלבן 55"/>
            <p:cNvSpPr/>
            <p:nvPr/>
          </p:nvSpPr>
          <p:spPr>
            <a:xfrm>
              <a:off x="1085960" y="470539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57" name="מלבן 56"/>
            <p:cNvSpPr/>
            <p:nvPr/>
          </p:nvSpPr>
          <p:spPr>
            <a:xfrm>
              <a:off x="2860484" y="398531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58" name="מלבן 57"/>
            <p:cNvSpPr/>
            <p:nvPr/>
          </p:nvSpPr>
          <p:spPr>
            <a:xfrm>
              <a:off x="4372652" y="470539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59" name="מלבן 58"/>
            <p:cNvSpPr/>
            <p:nvPr/>
          </p:nvSpPr>
          <p:spPr>
            <a:xfrm>
              <a:off x="3606240" y="5209455"/>
              <a:ext cx="4026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+1</a:t>
              </a:r>
              <a:endParaRPr lang="en-US" dirty="0"/>
            </a:p>
          </p:txBody>
        </p:sp>
        <p:sp>
          <p:nvSpPr>
            <p:cNvPr id="60" name="מלבן 59"/>
            <p:cNvSpPr/>
            <p:nvPr/>
          </p:nvSpPr>
          <p:spPr>
            <a:xfrm>
              <a:off x="4254312" y="5641503"/>
              <a:ext cx="4026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+1</a:t>
              </a:r>
              <a:endParaRPr lang="en-US" dirty="0"/>
            </a:p>
          </p:txBody>
        </p:sp>
      </p:grpSp>
      <p:sp>
        <p:nvSpPr>
          <p:cNvPr id="31" name="כותרת 3">
            <a:extLst>
              <a:ext uri="{FF2B5EF4-FFF2-40B4-BE49-F238E27FC236}">
                <a16:creationId xmlns:a16="http://schemas.microsoft.com/office/drawing/2014/main" id="{5858ED62-293F-94E9-CFE8-9FCB97A27A37}"/>
              </a:ext>
            </a:extLst>
          </p:cNvPr>
          <p:cNvSpPr txBox="1">
            <a:spLocks/>
          </p:cNvSpPr>
          <p:nvPr/>
        </p:nvSpPr>
        <p:spPr>
          <a:xfrm>
            <a:off x="1066800" y="447051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תיקון לאחר הכנסה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354361" y="2062118"/>
            <a:ext cx="9956767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נניח שהכנסנו את 18 לעץ.</a:t>
            </a: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שאלה</a:t>
            </a:r>
            <a:r>
              <a:rPr lang="he-IL" sz="2400" dirty="0">
                <a:latin typeface="Times New Roman" pitchFamily="18" charset="0"/>
              </a:rPr>
              <a:t>: אילו ערכי </a:t>
            </a:r>
            <a:r>
              <a:rPr lang="en-US" sz="2400" dirty="0">
                <a:latin typeface="Times New Roman" pitchFamily="18" charset="0"/>
              </a:rPr>
              <a:t>BF</a:t>
            </a:r>
            <a:r>
              <a:rPr lang="he-IL" sz="2400" dirty="0">
                <a:latin typeface="Times New Roman" pitchFamily="18" charset="0"/>
              </a:rPr>
              <a:t> אפשריים כעת?</a:t>
            </a: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אבחנה מס' 1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/>
              <a:t>לאחר הכנסה, גורם האיזון לא יכול להיות גדול מ- 2 בערכו המוחלט, כי הוא משתנה ב- 1 לכל היותר.</a:t>
            </a:r>
            <a:endParaRPr lang="he-IL" sz="2400" u="sng" dirty="0">
              <a:latin typeface="Times New Roman" pitchFamily="18" charset="0"/>
            </a:endParaRPr>
          </a:p>
        </p:txBody>
      </p:sp>
      <p:sp>
        <p:nvSpPr>
          <p:cNvPr id="43" name="Oval 35"/>
          <p:cNvSpPr>
            <a:spLocks noChangeArrowheads="1"/>
          </p:cNvSpPr>
          <p:nvPr/>
        </p:nvSpPr>
        <p:spPr bwMode="auto">
          <a:xfrm>
            <a:off x="5014754" y="4908315"/>
            <a:ext cx="360759" cy="29845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44" name="Line 36"/>
          <p:cNvSpPr>
            <a:spLocks noChangeShapeType="1"/>
          </p:cNvSpPr>
          <p:nvPr/>
        </p:nvSpPr>
        <p:spPr bwMode="auto">
          <a:xfrm flipH="1">
            <a:off x="5229066" y="4728928"/>
            <a:ext cx="217884" cy="179388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45" name="Text Box 49"/>
          <p:cNvSpPr txBox="1">
            <a:spLocks noChangeArrowheads="1"/>
          </p:cNvSpPr>
          <p:nvPr/>
        </p:nvSpPr>
        <p:spPr bwMode="auto">
          <a:xfrm>
            <a:off x="4805757" y="4719080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59" name="Group 50"/>
          <p:cNvGrpSpPr>
            <a:grpSpLocks/>
          </p:cNvGrpSpPr>
          <p:nvPr/>
        </p:nvGrpSpPr>
        <p:grpSpPr bwMode="auto">
          <a:xfrm>
            <a:off x="1990417" y="2367101"/>
            <a:ext cx="4672012" cy="2371725"/>
            <a:chOff x="682" y="1680"/>
            <a:chExt cx="2616" cy="1494"/>
          </a:xfrm>
        </p:grpSpPr>
        <p:sp>
          <p:nvSpPr>
            <p:cNvPr id="60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61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62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63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  <p:sp>
          <p:nvSpPr>
            <p:cNvPr id="64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5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6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67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68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20</a:t>
              </a:r>
            </a:p>
          </p:txBody>
        </p:sp>
        <p:sp>
          <p:nvSpPr>
            <p:cNvPr id="69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70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1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2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3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5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76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7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78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9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80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1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19</a:t>
              </a:r>
            </a:p>
          </p:txBody>
        </p:sp>
        <p:sp>
          <p:nvSpPr>
            <p:cNvPr id="82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grpSp>
        <p:nvGrpSpPr>
          <p:cNvPr id="83" name="קבוצה 82"/>
          <p:cNvGrpSpPr/>
          <p:nvPr/>
        </p:nvGrpSpPr>
        <p:grpSpPr>
          <a:xfrm>
            <a:off x="1846401" y="2126792"/>
            <a:ext cx="5060470" cy="2570802"/>
            <a:chOff x="611560" y="3985319"/>
            <a:chExt cx="5060470" cy="2570802"/>
          </a:xfrm>
        </p:grpSpPr>
        <p:sp>
          <p:nvSpPr>
            <p:cNvPr id="84" name="מלבן 83"/>
            <p:cNvSpPr/>
            <p:nvPr/>
          </p:nvSpPr>
          <p:spPr>
            <a:xfrm>
              <a:off x="4907995" y="5157192"/>
              <a:ext cx="4363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+2</a:t>
              </a:r>
            </a:p>
          </p:txBody>
        </p:sp>
        <p:sp>
          <p:nvSpPr>
            <p:cNvPr id="85" name="מלבן 84"/>
            <p:cNvSpPr/>
            <p:nvPr/>
          </p:nvSpPr>
          <p:spPr>
            <a:xfrm>
              <a:off x="5387978" y="5641503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86" name="מלבן 85"/>
            <p:cNvSpPr/>
            <p:nvPr/>
          </p:nvSpPr>
          <p:spPr>
            <a:xfrm>
              <a:off x="3827875" y="6217567"/>
              <a:ext cx="4363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+1</a:t>
              </a:r>
            </a:p>
          </p:txBody>
        </p:sp>
        <p:sp>
          <p:nvSpPr>
            <p:cNvPr id="87" name="מלבן 86"/>
            <p:cNvSpPr/>
            <p:nvPr/>
          </p:nvSpPr>
          <p:spPr>
            <a:xfrm>
              <a:off x="3419872" y="5691065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88" name="מלבן 87"/>
            <p:cNvSpPr/>
            <p:nvPr/>
          </p:nvSpPr>
          <p:spPr>
            <a:xfrm>
              <a:off x="2483768" y="551723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89" name="מלבן 88"/>
            <p:cNvSpPr/>
            <p:nvPr/>
          </p:nvSpPr>
          <p:spPr>
            <a:xfrm>
              <a:off x="611560" y="515719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90" name="מלבן 89"/>
            <p:cNvSpPr/>
            <p:nvPr/>
          </p:nvSpPr>
          <p:spPr>
            <a:xfrm>
              <a:off x="2026044" y="506543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91" name="מלבן 90"/>
            <p:cNvSpPr/>
            <p:nvPr/>
          </p:nvSpPr>
          <p:spPr>
            <a:xfrm>
              <a:off x="1085960" y="470539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92" name="מלבן 91"/>
            <p:cNvSpPr/>
            <p:nvPr/>
          </p:nvSpPr>
          <p:spPr>
            <a:xfrm>
              <a:off x="2848462" y="3985319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-2</a:t>
              </a:r>
            </a:p>
          </p:txBody>
        </p:sp>
        <p:sp>
          <p:nvSpPr>
            <p:cNvPr id="93" name="מלבן 92"/>
            <p:cNvSpPr/>
            <p:nvPr/>
          </p:nvSpPr>
          <p:spPr>
            <a:xfrm>
              <a:off x="4360630" y="4705399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-2</a:t>
              </a:r>
            </a:p>
          </p:txBody>
        </p:sp>
        <p:sp>
          <p:nvSpPr>
            <p:cNvPr id="94" name="מלבן 93"/>
            <p:cNvSpPr/>
            <p:nvPr/>
          </p:nvSpPr>
          <p:spPr>
            <a:xfrm>
              <a:off x="3606240" y="5209455"/>
              <a:ext cx="4026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+1</a:t>
              </a:r>
              <a:endParaRPr lang="en-US" dirty="0"/>
            </a:p>
          </p:txBody>
        </p:sp>
        <p:sp>
          <p:nvSpPr>
            <p:cNvPr id="95" name="מלבן 94"/>
            <p:cNvSpPr/>
            <p:nvPr/>
          </p:nvSpPr>
          <p:spPr>
            <a:xfrm>
              <a:off x="4168037" y="5619190"/>
              <a:ext cx="4363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+2</a:t>
              </a:r>
            </a:p>
          </p:txBody>
        </p:sp>
      </p:grpSp>
      <p:grpSp>
        <p:nvGrpSpPr>
          <p:cNvPr id="46" name="Group 50"/>
          <p:cNvGrpSpPr>
            <a:grpSpLocks/>
          </p:cNvGrpSpPr>
          <p:nvPr/>
        </p:nvGrpSpPr>
        <p:grpSpPr bwMode="auto">
          <a:xfrm>
            <a:off x="1990417" y="2362695"/>
            <a:ext cx="4672012" cy="2371725"/>
            <a:chOff x="682" y="1680"/>
            <a:chExt cx="2616" cy="14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  <p:sp>
          <p:nvSpPr>
            <p:cNvPr id="51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20</a:t>
              </a: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6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7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8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dirty="0"/>
            </a:p>
          </p:txBody>
        </p:sp>
        <p:sp>
          <p:nvSpPr>
            <p:cNvPr id="99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100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01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102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03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104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05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19</a:t>
              </a:r>
            </a:p>
          </p:txBody>
        </p:sp>
        <p:sp>
          <p:nvSpPr>
            <p:cNvPr id="106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sp>
        <p:nvSpPr>
          <p:cNvPr id="6" name="כותרת 3">
            <a:extLst>
              <a:ext uri="{FF2B5EF4-FFF2-40B4-BE49-F238E27FC236}">
                <a16:creationId xmlns:a16="http://schemas.microsoft.com/office/drawing/2014/main" id="{7E0FF881-0242-7C9B-0212-D90812F18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975" y="484188"/>
            <a:ext cx="10058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תיקון לאחר הכנסה- אבחנות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46593" y="1780684"/>
            <a:ext cx="10058400" cy="4385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שאלה</a:t>
            </a:r>
            <a:r>
              <a:rPr lang="he-IL" sz="2400" dirty="0">
                <a:latin typeface="Times New Roman" pitchFamily="18" charset="0"/>
              </a:rPr>
              <a:t>: מיהם הצמתים בהם ייתכן שינוי בגורם האיזון?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אבחנה מס' 2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/>
              <a:t>הצמתים היחידים שאולי הופר בהם האיזון הם הצמתים לאורך מסלול ההכנסה.</a:t>
            </a:r>
          </a:p>
        </p:txBody>
      </p:sp>
      <p:sp>
        <p:nvSpPr>
          <p:cNvPr id="43" name="Oval 35"/>
          <p:cNvSpPr>
            <a:spLocks noChangeArrowheads="1"/>
          </p:cNvSpPr>
          <p:nvPr/>
        </p:nvSpPr>
        <p:spPr bwMode="auto">
          <a:xfrm>
            <a:off x="4535782" y="5198768"/>
            <a:ext cx="360759" cy="29845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44" name="Line 36"/>
          <p:cNvSpPr>
            <a:spLocks noChangeShapeType="1"/>
          </p:cNvSpPr>
          <p:nvPr/>
        </p:nvSpPr>
        <p:spPr bwMode="auto">
          <a:xfrm flipH="1">
            <a:off x="4750094" y="5019381"/>
            <a:ext cx="217884" cy="179388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45" name="Text Box 49"/>
          <p:cNvSpPr txBox="1">
            <a:spLocks noChangeArrowheads="1"/>
          </p:cNvSpPr>
          <p:nvPr/>
        </p:nvSpPr>
        <p:spPr bwMode="auto">
          <a:xfrm>
            <a:off x="4326785" y="5009533"/>
            <a:ext cx="298480" cy="33855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511445" y="2657554"/>
            <a:ext cx="4672012" cy="2371725"/>
            <a:chOff x="682" y="1680"/>
            <a:chExt cx="2616" cy="14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60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61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62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63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  <p:sp>
          <p:nvSpPr>
            <p:cNvPr id="64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5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6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67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68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20</a:t>
              </a:r>
            </a:p>
          </p:txBody>
        </p:sp>
        <p:sp>
          <p:nvSpPr>
            <p:cNvPr id="69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70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1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2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3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5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76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7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78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79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80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1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19</a:t>
              </a:r>
            </a:p>
          </p:txBody>
        </p:sp>
        <p:sp>
          <p:nvSpPr>
            <p:cNvPr id="82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grpSp>
        <p:nvGrpSpPr>
          <p:cNvPr id="3" name="קבוצה 82"/>
          <p:cNvGrpSpPr/>
          <p:nvPr/>
        </p:nvGrpSpPr>
        <p:grpSpPr>
          <a:xfrm>
            <a:off x="1367429" y="2417245"/>
            <a:ext cx="5060470" cy="2570802"/>
            <a:chOff x="611560" y="3985319"/>
            <a:chExt cx="5060470" cy="2570802"/>
          </a:xfrm>
        </p:grpSpPr>
        <p:sp>
          <p:nvSpPr>
            <p:cNvPr id="84" name="מלבן 83"/>
            <p:cNvSpPr/>
            <p:nvPr/>
          </p:nvSpPr>
          <p:spPr>
            <a:xfrm>
              <a:off x="4907995" y="5157192"/>
              <a:ext cx="4363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+2</a:t>
              </a:r>
            </a:p>
          </p:txBody>
        </p:sp>
        <p:sp>
          <p:nvSpPr>
            <p:cNvPr id="85" name="מלבן 84"/>
            <p:cNvSpPr/>
            <p:nvPr/>
          </p:nvSpPr>
          <p:spPr>
            <a:xfrm>
              <a:off x="5387978" y="5641503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86" name="מלבן 85"/>
            <p:cNvSpPr/>
            <p:nvPr/>
          </p:nvSpPr>
          <p:spPr>
            <a:xfrm>
              <a:off x="3827875" y="6217567"/>
              <a:ext cx="4363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+1</a:t>
              </a:r>
            </a:p>
          </p:txBody>
        </p:sp>
        <p:sp>
          <p:nvSpPr>
            <p:cNvPr id="87" name="מלבן 86"/>
            <p:cNvSpPr/>
            <p:nvPr/>
          </p:nvSpPr>
          <p:spPr>
            <a:xfrm>
              <a:off x="3419872" y="5691065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88" name="מלבן 87"/>
            <p:cNvSpPr/>
            <p:nvPr/>
          </p:nvSpPr>
          <p:spPr>
            <a:xfrm>
              <a:off x="2483768" y="551723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89" name="מלבן 88"/>
            <p:cNvSpPr/>
            <p:nvPr/>
          </p:nvSpPr>
          <p:spPr>
            <a:xfrm>
              <a:off x="611560" y="515719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90" name="מלבן 89"/>
            <p:cNvSpPr/>
            <p:nvPr/>
          </p:nvSpPr>
          <p:spPr>
            <a:xfrm>
              <a:off x="2026044" y="506543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91" name="מלבן 90"/>
            <p:cNvSpPr/>
            <p:nvPr/>
          </p:nvSpPr>
          <p:spPr>
            <a:xfrm>
              <a:off x="1085960" y="470539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92" name="מלבן 91"/>
            <p:cNvSpPr/>
            <p:nvPr/>
          </p:nvSpPr>
          <p:spPr>
            <a:xfrm>
              <a:off x="2848462" y="3985319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-2</a:t>
              </a:r>
            </a:p>
          </p:txBody>
        </p:sp>
        <p:sp>
          <p:nvSpPr>
            <p:cNvPr id="93" name="מלבן 92"/>
            <p:cNvSpPr/>
            <p:nvPr/>
          </p:nvSpPr>
          <p:spPr>
            <a:xfrm>
              <a:off x="4360630" y="4705399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-2</a:t>
              </a:r>
            </a:p>
          </p:txBody>
        </p:sp>
        <p:sp>
          <p:nvSpPr>
            <p:cNvPr id="94" name="מלבן 93"/>
            <p:cNvSpPr/>
            <p:nvPr/>
          </p:nvSpPr>
          <p:spPr>
            <a:xfrm>
              <a:off x="3606240" y="5209455"/>
              <a:ext cx="4026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+1</a:t>
              </a:r>
              <a:endParaRPr lang="en-US" dirty="0"/>
            </a:p>
          </p:txBody>
        </p:sp>
        <p:sp>
          <p:nvSpPr>
            <p:cNvPr id="95" name="מלבן 94"/>
            <p:cNvSpPr/>
            <p:nvPr/>
          </p:nvSpPr>
          <p:spPr>
            <a:xfrm>
              <a:off x="4168037" y="5621625"/>
              <a:ext cx="4363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+2</a:t>
              </a:r>
            </a:p>
          </p:txBody>
        </p:sp>
      </p:grpSp>
      <p:sp>
        <p:nvSpPr>
          <p:cNvPr id="9" name="כותרת 3">
            <a:extLst>
              <a:ext uri="{FF2B5EF4-FFF2-40B4-BE49-F238E27FC236}">
                <a16:creationId xmlns:a16="http://schemas.microsoft.com/office/drawing/2014/main" id="{AE58B841-CA0B-3BE6-6C6B-0D5DC03C3F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975" y="484188"/>
            <a:ext cx="10058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תיקון לאחר הכנסה- אבחנות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29242" y="1700809"/>
            <a:ext cx="10574622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שאלה</a:t>
            </a:r>
            <a:r>
              <a:rPr lang="he-IL" sz="2400" dirty="0">
                <a:latin typeface="Times New Roman" pitchFamily="18" charset="0"/>
              </a:rPr>
              <a:t>: כיצד ייתכן שלא חל שינוי </a:t>
            </a:r>
            <a:r>
              <a:rPr lang="he-IL" sz="2400" u="sng" dirty="0">
                <a:latin typeface="Times New Roman" pitchFamily="18" charset="0"/>
              </a:rPr>
              <a:t>בכל</a:t>
            </a:r>
            <a:r>
              <a:rPr lang="he-IL" sz="2400" dirty="0">
                <a:latin typeface="Times New Roman" pitchFamily="18" charset="0"/>
              </a:rPr>
              <a:t> הצמתים במסלול ההכנסה?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	למשל בהכנסת 30: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אבחנה מס' 3</a:t>
            </a:r>
          </a:p>
          <a:p>
            <a:pPr algn="r" rtl="1"/>
            <a:r>
              <a:rPr lang="he-IL" sz="2400" dirty="0"/>
              <a:t>אם קיים במסלול הנ"ל צומת </a:t>
            </a:r>
            <a:r>
              <a:rPr lang="he-IL" sz="2400" u="sng" dirty="0"/>
              <a:t>שגובהו לא השתנה</a:t>
            </a:r>
            <a:r>
              <a:rPr lang="he-IL" sz="2400" dirty="0"/>
              <a:t> בעקבות ההכנסה, אז גורמי האיזון בצמתים שמעליו במסלול לא השתנו.</a:t>
            </a:r>
          </a:p>
        </p:txBody>
      </p:sp>
      <p:grpSp>
        <p:nvGrpSpPr>
          <p:cNvPr id="46" name="Group 50"/>
          <p:cNvGrpSpPr>
            <a:grpSpLocks/>
          </p:cNvGrpSpPr>
          <p:nvPr/>
        </p:nvGrpSpPr>
        <p:grpSpPr bwMode="auto">
          <a:xfrm>
            <a:off x="1757062" y="2623290"/>
            <a:ext cx="4672012" cy="2371725"/>
            <a:chOff x="682" y="1680"/>
            <a:chExt cx="2616" cy="14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51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20</a:t>
              </a: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9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3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6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98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9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01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102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03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19</a:t>
              </a:r>
            </a:p>
          </p:txBody>
        </p:sp>
        <p:sp>
          <p:nvSpPr>
            <p:cNvPr id="104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grpSp>
        <p:nvGrpSpPr>
          <p:cNvPr id="105" name="קבוצה 104"/>
          <p:cNvGrpSpPr/>
          <p:nvPr/>
        </p:nvGrpSpPr>
        <p:grpSpPr>
          <a:xfrm>
            <a:off x="1613046" y="2382982"/>
            <a:ext cx="5102148" cy="2540025"/>
            <a:chOff x="611560" y="3985319"/>
            <a:chExt cx="5102148" cy="2540025"/>
          </a:xfrm>
        </p:grpSpPr>
        <p:sp>
          <p:nvSpPr>
            <p:cNvPr id="106" name="מלבן 105"/>
            <p:cNvSpPr/>
            <p:nvPr/>
          </p:nvSpPr>
          <p:spPr>
            <a:xfrm>
              <a:off x="4976924" y="5157192"/>
              <a:ext cx="2984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0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7" name="מלבן 106"/>
            <p:cNvSpPr/>
            <p:nvPr/>
          </p:nvSpPr>
          <p:spPr>
            <a:xfrm>
              <a:off x="5346300" y="5641503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-1</a:t>
              </a:r>
            </a:p>
          </p:txBody>
        </p:sp>
        <p:sp>
          <p:nvSpPr>
            <p:cNvPr id="108" name="מלבן 107"/>
            <p:cNvSpPr/>
            <p:nvPr/>
          </p:nvSpPr>
          <p:spPr>
            <a:xfrm>
              <a:off x="3943806" y="6217567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109" name="מלבן 108"/>
            <p:cNvSpPr/>
            <p:nvPr/>
          </p:nvSpPr>
          <p:spPr>
            <a:xfrm>
              <a:off x="3419872" y="5691065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110" name="מלבן 109"/>
            <p:cNvSpPr/>
            <p:nvPr/>
          </p:nvSpPr>
          <p:spPr>
            <a:xfrm>
              <a:off x="2483768" y="551723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111" name="מלבן 110"/>
            <p:cNvSpPr/>
            <p:nvPr/>
          </p:nvSpPr>
          <p:spPr>
            <a:xfrm>
              <a:off x="611560" y="5157192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112" name="מלבן 111"/>
            <p:cNvSpPr/>
            <p:nvPr/>
          </p:nvSpPr>
          <p:spPr>
            <a:xfrm>
              <a:off x="2026044" y="506543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113" name="מלבן 112"/>
            <p:cNvSpPr/>
            <p:nvPr/>
          </p:nvSpPr>
          <p:spPr>
            <a:xfrm>
              <a:off x="1085960" y="470539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114" name="מלבן 113"/>
            <p:cNvSpPr/>
            <p:nvPr/>
          </p:nvSpPr>
          <p:spPr>
            <a:xfrm>
              <a:off x="2860484" y="398531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115" name="מלבן 114"/>
            <p:cNvSpPr/>
            <p:nvPr/>
          </p:nvSpPr>
          <p:spPr>
            <a:xfrm>
              <a:off x="4372652" y="4705399"/>
              <a:ext cx="34336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-1</a:t>
              </a:r>
              <a:endParaRPr lang="en-US" dirty="0"/>
            </a:p>
          </p:txBody>
        </p:sp>
        <p:sp>
          <p:nvSpPr>
            <p:cNvPr id="116" name="מלבן 115"/>
            <p:cNvSpPr/>
            <p:nvPr/>
          </p:nvSpPr>
          <p:spPr>
            <a:xfrm>
              <a:off x="3606240" y="5209455"/>
              <a:ext cx="4026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+1</a:t>
              </a:r>
              <a:endParaRPr lang="en-US" dirty="0"/>
            </a:p>
          </p:txBody>
        </p:sp>
        <p:sp>
          <p:nvSpPr>
            <p:cNvPr id="117" name="מלבן 116"/>
            <p:cNvSpPr/>
            <p:nvPr/>
          </p:nvSpPr>
          <p:spPr>
            <a:xfrm>
              <a:off x="4254312" y="5641503"/>
              <a:ext cx="4026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+1</a:t>
              </a:r>
              <a:endParaRPr lang="en-US" dirty="0"/>
            </a:p>
          </p:txBody>
        </p:sp>
      </p:grpSp>
      <p:sp>
        <p:nvSpPr>
          <p:cNvPr id="118" name="Oval 23"/>
          <p:cNvSpPr>
            <a:spLocks noChangeArrowheads="1"/>
          </p:cNvSpPr>
          <p:nvPr/>
        </p:nvSpPr>
        <p:spPr bwMode="auto">
          <a:xfrm>
            <a:off x="6508872" y="4696697"/>
            <a:ext cx="360759" cy="29845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19" name="Line 25"/>
          <p:cNvSpPr>
            <a:spLocks noChangeShapeType="1"/>
          </p:cNvSpPr>
          <p:nvPr/>
        </p:nvSpPr>
        <p:spPr bwMode="auto">
          <a:xfrm>
            <a:off x="6365574" y="4506957"/>
            <a:ext cx="216024" cy="252288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120" name="מלבן 119"/>
          <p:cNvSpPr/>
          <p:nvPr/>
        </p:nvSpPr>
        <p:spPr>
          <a:xfrm>
            <a:off x="6748217" y="4523476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1" name="הסבר קווי 1 120"/>
          <p:cNvSpPr/>
          <p:nvPr/>
        </p:nvSpPr>
        <p:spPr>
          <a:xfrm>
            <a:off x="7028722" y="3463101"/>
            <a:ext cx="1080120" cy="504056"/>
          </a:xfrm>
          <a:prstGeom prst="borderCallout1">
            <a:avLst>
              <a:gd name="adj1" fmla="val 18750"/>
              <a:gd name="adj2" fmla="val -8333"/>
              <a:gd name="adj3" fmla="val 71092"/>
              <a:gd name="adj4" fmla="val -7514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rPr>
              <a:t>גובה לא השתנה</a:t>
            </a:r>
          </a:p>
        </p:txBody>
      </p:sp>
      <p:sp>
        <p:nvSpPr>
          <p:cNvPr id="6" name="כותרת 3">
            <a:extLst>
              <a:ext uri="{FF2B5EF4-FFF2-40B4-BE49-F238E27FC236}">
                <a16:creationId xmlns:a16="http://schemas.microsoft.com/office/drawing/2014/main" id="{7D7E7FFC-14A7-E573-B2C1-CECC65FB98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975" y="484188"/>
            <a:ext cx="10058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תיקון לאחר הכנסה- גלגולים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/>
      <p:bldP spid="1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12237" y="2093913"/>
            <a:ext cx="10767525" cy="312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u="sng" dirty="0">
                <a:latin typeface="Times New Roman" pitchFamily="18" charset="0"/>
              </a:rPr>
              <a:t>לאור 3 האבחנות, להלן קווים ראשונים לדמותו של אלגוריתם התיקון לאחר הכנסה לעץ </a:t>
            </a:r>
            <a:r>
              <a:rPr lang="en-US" sz="2400" u="sng" dirty="0">
                <a:latin typeface="Times New Roman" pitchFamily="18" charset="0"/>
              </a:rPr>
              <a:t>AVL</a:t>
            </a:r>
            <a:r>
              <a:rPr lang="he-IL" sz="2400" u="sng" dirty="0">
                <a:latin typeface="Times New Roman" pitchFamily="18" charset="0"/>
              </a:rPr>
              <a:t>: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sz="2400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-  אחרי הוספת צומת לעץ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, נעבור על הצמתים החל בצומת החדש כלפי מעלה לכיוון השורש.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-  אם גורם האיזון בצומת כלשהו לא תקין 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sym typeface="Symbol"/>
              </a:rPr>
              <a:t></a:t>
            </a:r>
            <a:r>
              <a:rPr lang="en-US" sz="2400" dirty="0">
                <a:latin typeface="Times New Roman" pitchFamily="18" charset="0"/>
              </a:rPr>
              <a:t>2)</a:t>
            </a:r>
            <a:r>
              <a:rPr lang="he-IL" sz="2400" dirty="0">
                <a:latin typeface="Times New Roman" pitchFamily="18" charset="0"/>
              </a:rPr>
              <a:t> – נבצע גלגול מתאים (כפי שנראה מייד).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2400" dirty="0">
                <a:latin typeface="Times New Roman" pitchFamily="18" charset="0"/>
              </a:rPr>
              <a:t>-  נסיים כאשר נגיע לצומת שגובהו זהה לגובהו לפני ההכנסה, או כאשר נסיים לטפל בשורש.</a:t>
            </a:r>
          </a:p>
        </p:txBody>
      </p:sp>
      <p:sp>
        <p:nvSpPr>
          <p:cNvPr id="6" name="כותרת 3">
            <a:extLst>
              <a:ext uri="{FF2B5EF4-FFF2-40B4-BE49-F238E27FC236}">
                <a16:creationId xmlns:a16="http://schemas.microsoft.com/office/drawing/2014/main" id="{5C5161E4-72C0-2A68-FBEE-E01C13ED47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975" y="484188"/>
            <a:ext cx="10058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תיקון לאחר הכנסה- גלגולים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תיקון לאחר הכנסה - גלגולים</a:t>
            </a:r>
            <a:endParaRPr lang="en-US" sz="3200" u="sng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03512" y="620688"/>
            <a:ext cx="88569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ישנם 4 סוגי גלגולים, המתאימים ל- 4 המצבים אפשריים של הפרת איזון*:</a:t>
            </a:r>
          </a:p>
        </p:txBody>
      </p:sp>
      <p:sp>
        <p:nvSpPr>
          <p:cNvPr id="8" name="Oval 18"/>
          <p:cNvSpPr>
            <a:spLocks noChangeArrowheads="1"/>
          </p:cNvSpPr>
          <p:nvPr/>
        </p:nvSpPr>
        <p:spPr bwMode="auto">
          <a:xfrm>
            <a:off x="2602502" y="3054269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2" name="Oval 31"/>
          <p:cNvSpPr>
            <a:spLocks noChangeArrowheads="1"/>
          </p:cNvSpPr>
          <p:nvPr/>
        </p:nvSpPr>
        <p:spPr bwMode="auto">
          <a:xfrm>
            <a:off x="2265952" y="3500357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3" name="Line 32"/>
          <p:cNvSpPr>
            <a:spLocks noChangeShapeType="1"/>
          </p:cNvSpPr>
          <p:nvPr/>
        </p:nvSpPr>
        <p:spPr bwMode="auto">
          <a:xfrm flipH="1">
            <a:off x="2480264" y="3320969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4" name="Line 37"/>
          <p:cNvSpPr>
            <a:spLocks noChangeShapeType="1"/>
          </p:cNvSpPr>
          <p:nvPr/>
        </p:nvSpPr>
        <p:spPr bwMode="auto">
          <a:xfrm flipH="1">
            <a:off x="2108044" y="3753019"/>
            <a:ext cx="217884" cy="179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5" name="Oval 38"/>
          <p:cNvSpPr>
            <a:spLocks noChangeArrowheads="1"/>
          </p:cNvSpPr>
          <p:nvPr/>
        </p:nvSpPr>
        <p:spPr bwMode="auto">
          <a:xfrm>
            <a:off x="1897529" y="3922639"/>
            <a:ext cx="360759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7" name="Oval 18"/>
          <p:cNvSpPr>
            <a:spLocks noChangeArrowheads="1"/>
          </p:cNvSpPr>
          <p:nvPr/>
        </p:nvSpPr>
        <p:spPr bwMode="auto">
          <a:xfrm>
            <a:off x="5129380" y="3140969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21" name="Oval 31"/>
          <p:cNvSpPr>
            <a:spLocks noChangeArrowheads="1"/>
          </p:cNvSpPr>
          <p:nvPr/>
        </p:nvSpPr>
        <p:spPr bwMode="auto">
          <a:xfrm>
            <a:off x="4792830" y="3587057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22" name="Line 32"/>
          <p:cNvSpPr>
            <a:spLocks noChangeShapeType="1"/>
          </p:cNvSpPr>
          <p:nvPr/>
        </p:nvSpPr>
        <p:spPr bwMode="auto">
          <a:xfrm flipH="1">
            <a:off x="5007142" y="3407669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3" name="Oval 19"/>
          <p:cNvSpPr>
            <a:spLocks noChangeArrowheads="1"/>
          </p:cNvSpPr>
          <p:nvPr/>
        </p:nvSpPr>
        <p:spPr bwMode="auto">
          <a:xfrm>
            <a:off x="5497911" y="3567352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5423298" y="3410189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7" name="AutoShape 42"/>
          <p:cNvSpPr>
            <a:spLocks noChangeArrowheads="1"/>
          </p:cNvSpPr>
          <p:nvPr/>
        </p:nvSpPr>
        <p:spPr bwMode="auto">
          <a:xfrm>
            <a:off x="3543833" y="3573018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29" name="חץ מעוקל למטה 28"/>
          <p:cNvSpPr/>
          <p:nvPr/>
        </p:nvSpPr>
        <p:spPr>
          <a:xfrm>
            <a:off x="2690335" y="3429001"/>
            <a:ext cx="504056" cy="288032"/>
          </a:xfrm>
          <a:prstGeom prst="curvedDownArrow">
            <a:avLst>
              <a:gd name="adj1" fmla="val 25000"/>
              <a:gd name="adj2" fmla="val 72727"/>
              <a:gd name="adj3" fmla="val 463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grpSp>
        <p:nvGrpSpPr>
          <p:cNvPr id="42" name="קבוצה 41"/>
          <p:cNvGrpSpPr/>
          <p:nvPr/>
        </p:nvGrpSpPr>
        <p:grpSpPr>
          <a:xfrm flipH="1">
            <a:off x="1897223" y="5070493"/>
            <a:ext cx="1093316" cy="1166820"/>
            <a:chOff x="683568" y="3558324"/>
            <a:chExt cx="1066924" cy="1166820"/>
          </a:xfrm>
        </p:grpSpPr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1388542" y="3558324"/>
              <a:ext cx="361950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1051992" y="4004412"/>
              <a:ext cx="360362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1266304" y="3825024"/>
              <a:ext cx="21748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 flipH="1">
              <a:off x="894084" y="4257073"/>
              <a:ext cx="217884" cy="1793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34" name="Oval 38"/>
            <p:cNvSpPr>
              <a:spLocks noChangeArrowheads="1"/>
            </p:cNvSpPr>
            <p:nvPr/>
          </p:nvSpPr>
          <p:spPr bwMode="auto">
            <a:xfrm>
              <a:off x="683568" y="4426694"/>
              <a:ext cx="360759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</p:grpSp>
      <p:sp>
        <p:nvSpPr>
          <p:cNvPr id="35" name="Oval 18"/>
          <p:cNvSpPr>
            <a:spLocks noChangeArrowheads="1"/>
          </p:cNvSpPr>
          <p:nvPr/>
        </p:nvSpPr>
        <p:spPr bwMode="auto">
          <a:xfrm>
            <a:off x="5129075" y="5142501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36" name="Oval 31"/>
          <p:cNvSpPr>
            <a:spLocks noChangeArrowheads="1"/>
          </p:cNvSpPr>
          <p:nvPr/>
        </p:nvSpPr>
        <p:spPr bwMode="auto">
          <a:xfrm>
            <a:off x="4792525" y="5588589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37" name="Line 32"/>
          <p:cNvSpPr>
            <a:spLocks noChangeShapeType="1"/>
          </p:cNvSpPr>
          <p:nvPr/>
        </p:nvSpPr>
        <p:spPr bwMode="auto">
          <a:xfrm flipH="1">
            <a:off x="5006837" y="5409201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38" name="Oval 19"/>
          <p:cNvSpPr>
            <a:spLocks noChangeArrowheads="1"/>
          </p:cNvSpPr>
          <p:nvPr/>
        </p:nvSpPr>
        <p:spPr bwMode="auto">
          <a:xfrm>
            <a:off x="5497606" y="5568884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>
            <a:off x="5422993" y="5411721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40" name="AutoShape 42"/>
          <p:cNvSpPr>
            <a:spLocks noChangeArrowheads="1"/>
          </p:cNvSpPr>
          <p:nvPr/>
        </p:nvSpPr>
        <p:spPr bwMode="auto">
          <a:xfrm>
            <a:off x="3543528" y="5574550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41" name="חץ מעוקל למטה 40"/>
          <p:cNvSpPr/>
          <p:nvPr/>
        </p:nvSpPr>
        <p:spPr>
          <a:xfrm flipH="1">
            <a:off x="1703512" y="5462785"/>
            <a:ext cx="504056" cy="288032"/>
          </a:xfrm>
          <a:prstGeom prst="curvedDownArrow">
            <a:avLst>
              <a:gd name="adj1" fmla="val 25000"/>
              <a:gd name="adj2" fmla="val 72727"/>
              <a:gd name="adj3" fmla="val 463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43" name="Oval 18"/>
          <p:cNvSpPr>
            <a:spLocks noChangeArrowheads="1"/>
          </p:cNvSpPr>
          <p:nvPr/>
        </p:nvSpPr>
        <p:spPr bwMode="auto">
          <a:xfrm>
            <a:off x="7089006" y="3054269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45" name="Line 32"/>
          <p:cNvSpPr>
            <a:spLocks noChangeShapeType="1"/>
          </p:cNvSpPr>
          <p:nvPr/>
        </p:nvSpPr>
        <p:spPr bwMode="auto">
          <a:xfrm flipH="1">
            <a:off x="6888088" y="3320969"/>
            <a:ext cx="296168" cy="2520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46" name="Line 37"/>
          <p:cNvSpPr>
            <a:spLocks noChangeShapeType="1"/>
          </p:cNvSpPr>
          <p:nvPr/>
        </p:nvSpPr>
        <p:spPr bwMode="auto">
          <a:xfrm>
            <a:off x="6960096" y="3789041"/>
            <a:ext cx="144016" cy="1440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47" name="Oval 38"/>
          <p:cNvSpPr>
            <a:spLocks noChangeArrowheads="1"/>
          </p:cNvSpPr>
          <p:nvPr/>
        </p:nvSpPr>
        <p:spPr bwMode="auto">
          <a:xfrm>
            <a:off x="7031386" y="3922639"/>
            <a:ext cx="360759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8" name="Oval 18"/>
          <p:cNvSpPr>
            <a:spLocks noChangeArrowheads="1"/>
          </p:cNvSpPr>
          <p:nvPr/>
        </p:nvSpPr>
        <p:spPr bwMode="auto">
          <a:xfrm>
            <a:off x="9615884" y="3140969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9" name="Oval 31"/>
          <p:cNvSpPr>
            <a:spLocks noChangeArrowheads="1"/>
          </p:cNvSpPr>
          <p:nvPr/>
        </p:nvSpPr>
        <p:spPr bwMode="auto">
          <a:xfrm>
            <a:off x="9279334" y="3587057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50" name="Line 32"/>
          <p:cNvSpPr>
            <a:spLocks noChangeShapeType="1"/>
          </p:cNvSpPr>
          <p:nvPr/>
        </p:nvSpPr>
        <p:spPr bwMode="auto">
          <a:xfrm flipH="1">
            <a:off x="9493646" y="3407669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51" name="Oval 19"/>
          <p:cNvSpPr>
            <a:spLocks noChangeArrowheads="1"/>
          </p:cNvSpPr>
          <p:nvPr/>
        </p:nvSpPr>
        <p:spPr bwMode="auto">
          <a:xfrm>
            <a:off x="9984415" y="3567352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52" name="Line 21"/>
          <p:cNvSpPr>
            <a:spLocks noChangeShapeType="1"/>
          </p:cNvSpPr>
          <p:nvPr/>
        </p:nvSpPr>
        <p:spPr bwMode="auto">
          <a:xfrm>
            <a:off x="9909802" y="3410189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53" name="AutoShape 42"/>
          <p:cNvSpPr>
            <a:spLocks noChangeArrowheads="1"/>
          </p:cNvSpPr>
          <p:nvPr/>
        </p:nvSpPr>
        <p:spPr bwMode="auto">
          <a:xfrm>
            <a:off x="8030337" y="3573018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54" name="חץ מעוקל למטה 53"/>
          <p:cNvSpPr/>
          <p:nvPr/>
        </p:nvSpPr>
        <p:spPr>
          <a:xfrm>
            <a:off x="7104113" y="3429001"/>
            <a:ext cx="359321" cy="216024"/>
          </a:xfrm>
          <a:prstGeom prst="curvedDownArrow">
            <a:avLst>
              <a:gd name="adj1" fmla="val 25000"/>
              <a:gd name="adj2" fmla="val 72727"/>
              <a:gd name="adj3" fmla="val 463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44" name="Oval 31"/>
          <p:cNvSpPr>
            <a:spLocks noChangeArrowheads="1"/>
          </p:cNvSpPr>
          <p:nvPr/>
        </p:nvSpPr>
        <p:spPr bwMode="auto">
          <a:xfrm>
            <a:off x="6672064" y="3500357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55" name="חץ מעוקל למטה 54"/>
          <p:cNvSpPr/>
          <p:nvPr/>
        </p:nvSpPr>
        <p:spPr>
          <a:xfrm flipH="1">
            <a:off x="6600056" y="3861049"/>
            <a:ext cx="360040" cy="216024"/>
          </a:xfrm>
          <a:prstGeom prst="curvedDownArrow">
            <a:avLst>
              <a:gd name="adj1" fmla="val 25000"/>
              <a:gd name="adj2" fmla="val 72727"/>
              <a:gd name="adj3" fmla="val 463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56" name="מלבן 55"/>
          <p:cNvSpPr/>
          <p:nvPr/>
        </p:nvSpPr>
        <p:spPr>
          <a:xfrm>
            <a:off x="6412379" y="3861050"/>
            <a:ext cx="2696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57" name="מלבן 56"/>
          <p:cNvSpPr/>
          <p:nvPr/>
        </p:nvSpPr>
        <p:spPr>
          <a:xfrm>
            <a:off x="7392145" y="3429002"/>
            <a:ext cx="2696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62" name="Oval 18"/>
          <p:cNvSpPr>
            <a:spLocks noChangeArrowheads="1"/>
          </p:cNvSpPr>
          <p:nvPr/>
        </p:nvSpPr>
        <p:spPr bwMode="auto">
          <a:xfrm>
            <a:off x="9615884" y="5229201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63" name="Oval 31"/>
          <p:cNvSpPr>
            <a:spLocks noChangeArrowheads="1"/>
          </p:cNvSpPr>
          <p:nvPr/>
        </p:nvSpPr>
        <p:spPr bwMode="auto">
          <a:xfrm>
            <a:off x="9279334" y="5675289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64" name="Line 32"/>
          <p:cNvSpPr>
            <a:spLocks noChangeShapeType="1"/>
          </p:cNvSpPr>
          <p:nvPr/>
        </p:nvSpPr>
        <p:spPr bwMode="auto">
          <a:xfrm flipH="1">
            <a:off x="9493646" y="5495901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65" name="Oval 19"/>
          <p:cNvSpPr>
            <a:spLocks noChangeArrowheads="1"/>
          </p:cNvSpPr>
          <p:nvPr/>
        </p:nvSpPr>
        <p:spPr bwMode="auto">
          <a:xfrm>
            <a:off x="9984415" y="5655584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66" name="Line 21"/>
          <p:cNvSpPr>
            <a:spLocks noChangeShapeType="1"/>
          </p:cNvSpPr>
          <p:nvPr/>
        </p:nvSpPr>
        <p:spPr bwMode="auto">
          <a:xfrm>
            <a:off x="9909802" y="5498421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67" name="AutoShape 42"/>
          <p:cNvSpPr>
            <a:spLocks noChangeArrowheads="1"/>
          </p:cNvSpPr>
          <p:nvPr/>
        </p:nvSpPr>
        <p:spPr bwMode="auto">
          <a:xfrm>
            <a:off x="8030337" y="5661250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grpSp>
        <p:nvGrpSpPr>
          <p:cNvPr id="73" name="קבוצה 72"/>
          <p:cNvGrpSpPr/>
          <p:nvPr/>
        </p:nvGrpSpPr>
        <p:grpSpPr>
          <a:xfrm flipH="1">
            <a:off x="6600056" y="5142501"/>
            <a:ext cx="1263886" cy="1166820"/>
            <a:chOff x="5036597" y="3068960"/>
            <a:chExt cx="1244883" cy="1166820"/>
          </a:xfrm>
        </p:grpSpPr>
        <p:sp>
          <p:nvSpPr>
            <p:cNvPr id="58" name="Oval 18"/>
            <p:cNvSpPr>
              <a:spLocks noChangeArrowheads="1"/>
            </p:cNvSpPr>
            <p:nvPr/>
          </p:nvSpPr>
          <p:spPr bwMode="auto">
            <a:xfrm>
              <a:off x="5708717" y="3068960"/>
              <a:ext cx="361950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59" name="Line 32"/>
            <p:cNvSpPr>
              <a:spLocks noChangeShapeType="1"/>
            </p:cNvSpPr>
            <p:nvPr/>
          </p:nvSpPr>
          <p:spPr bwMode="auto">
            <a:xfrm flipH="1">
              <a:off x="5507799" y="3335660"/>
              <a:ext cx="296168" cy="2520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60" name="Line 37"/>
            <p:cNvSpPr>
              <a:spLocks noChangeShapeType="1"/>
            </p:cNvSpPr>
            <p:nvPr/>
          </p:nvSpPr>
          <p:spPr bwMode="auto">
            <a:xfrm>
              <a:off x="5579807" y="3803732"/>
              <a:ext cx="144016" cy="144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61" name="Oval 38"/>
            <p:cNvSpPr>
              <a:spLocks noChangeArrowheads="1"/>
            </p:cNvSpPr>
            <p:nvPr/>
          </p:nvSpPr>
          <p:spPr bwMode="auto">
            <a:xfrm>
              <a:off x="5651096" y="3937330"/>
              <a:ext cx="360759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68" name="חץ מעוקל למטה 67"/>
            <p:cNvSpPr/>
            <p:nvPr/>
          </p:nvSpPr>
          <p:spPr>
            <a:xfrm>
              <a:off x="5723823" y="3443692"/>
              <a:ext cx="359321" cy="216024"/>
            </a:xfrm>
            <a:prstGeom prst="curvedDownArrow">
              <a:avLst>
                <a:gd name="adj1" fmla="val 25000"/>
                <a:gd name="adj2" fmla="val 72727"/>
                <a:gd name="adj3" fmla="val 4633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  <p:sp>
          <p:nvSpPr>
            <p:cNvPr id="69" name="Oval 31"/>
            <p:cNvSpPr>
              <a:spLocks noChangeArrowheads="1"/>
            </p:cNvSpPr>
            <p:nvPr/>
          </p:nvSpPr>
          <p:spPr bwMode="auto">
            <a:xfrm>
              <a:off x="5291775" y="3515048"/>
              <a:ext cx="360362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70" name="חץ מעוקל למטה 69"/>
            <p:cNvSpPr/>
            <p:nvPr/>
          </p:nvSpPr>
          <p:spPr>
            <a:xfrm flipH="1">
              <a:off x="5219767" y="3875740"/>
              <a:ext cx="360040" cy="216024"/>
            </a:xfrm>
            <a:prstGeom prst="curvedDownArrow">
              <a:avLst>
                <a:gd name="adj1" fmla="val 25000"/>
                <a:gd name="adj2" fmla="val 72727"/>
                <a:gd name="adj3" fmla="val 4633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  <p:sp>
          <p:nvSpPr>
            <p:cNvPr id="71" name="מלבן 70"/>
            <p:cNvSpPr/>
            <p:nvPr/>
          </p:nvSpPr>
          <p:spPr>
            <a:xfrm>
              <a:off x="5036597" y="3875740"/>
              <a:ext cx="26962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72" name="מלבן 71"/>
            <p:cNvSpPr/>
            <p:nvPr/>
          </p:nvSpPr>
          <p:spPr>
            <a:xfrm>
              <a:off x="6011855" y="3443692"/>
              <a:ext cx="26962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/>
                <a:t>2</a:t>
              </a:r>
            </a:p>
          </p:txBody>
        </p:sp>
      </p:grpSp>
      <p:sp>
        <p:nvSpPr>
          <p:cNvPr id="74" name="מלבן 73"/>
          <p:cNvSpPr/>
          <p:nvPr/>
        </p:nvSpPr>
        <p:spPr>
          <a:xfrm>
            <a:off x="1631504" y="2924945"/>
            <a:ext cx="8856984" cy="352839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76" name="מחבר ישר 75"/>
          <p:cNvCxnSpPr>
            <a:stCxn id="74" idx="0"/>
            <a:endCxn id="74" idx="2"/>
          </p:cNvCxnSpPr>
          <p:nvPr/>
        </p:nvCxnSpPr>
        <p:spPr>
          <a:xfrm rot="16200000" flipH="1">
            <a:off x="4295800" y="4689141"/>
            <a:ext cx="35283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/>
          <p:cNvCxnSpPr>
            <a:stCxn id="74" idx="1"/>
            <a:endCxn id="74" idx="3"/>
          </p:cNvCxnSpPr>
          <p:nvPr/>
        </p:nvCxnSpPr>
        <p:spPr>
          <a:xfrm rot="10800000" flipH="1">
            <a:off x="1631504" y="4689141"/>
            <a:ext cx="88569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מלבן 80"/>
          <p:cNvSpPr/>
          <p:nvPr/>
        </p:nvSpPr>
        <p:spPr>
          <a:xfrm>
            <a:off x="3470177" y="3275693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latin typeface="Times New Roman" pitchFamily="18" charset="0"/>
              </a:rPr>
              <a:t>גלגול </a:t>
            </a:r>
            <a:r>
              <a:rPr lang="en-US" dirty="0">
                <a:latin typeface="Times New Roman" pitchFamily="18" charset="0"/>
              </a:rPr>
              <a:t>LL</a:t>
            </a:r>
            <a:endParaRPr lang="he-IL" dirty="0"/>
          </a:p>
        </p:txBody>
      </p:sp>
      <p:sp>
        <p:nvSpPr>
          <p:cNvPr id="82" name="מלבן 81"/>
          <p:cNvSpPr/>
          <p:nvPr/>
        </p:nvSpPr>
        <p:spPr>
          <a:xfrm>
            <a:off x="3406057" y="5291917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latin typeface="Times New Roman" pitchFamily="18" charset="0"/>
              </a:rPr>
              <a:t>גלגול </a:t>
            </a:r>
            <a:r>
              <a:rPr lang="en-US" dirty="0">
                <a:latin typeface="Times New Roman" pitchFamily="18" charset="0"/>
              </a:rPr>
              <a:t>RR</a:t>
            </a:r>
            <a:endParaRPr lang="he-IL" dirty="0"/>
          </a:p>
        </p:txBody>
      </p:sp>
      <p:sp>
        <p:nvSpPr>
          <p:cNvPr id="83" name="מלבן 82"/>
          <p:cNvSpPr/>
          <p:nvPr/>
        </p:nvSpPr>
        <p:spPr>
          <a:xfrm>
            <a:off x="7943794" y="3284985"/>
            <a:ext cx="960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latin typeface="Times New Roman" pitchFamily="18" charset="0"/>
              </a:rPr>
              <a:t>גלגול </a:t>
            </a:r>
            <a:r>
              <a:rPr lang="en-US" dirty="0">
                <a:latin typeface="Times New Roman" pitchFamily="18" charset="0"/>
              </a:rPr>
              <a:t>LR</a:t>
            </a:r>
            <a:endParaRPr lang="he-IL" dirty="0"/>
          </a:p>
        </p:txBody>
      </p:sp>
      <p:sp>
        <p:nvSpPr>
          <p:cNvPr id="84" name="מלבן 83"/>
          <p:cNvSpPr/>
          <p:nvPr/>
        </p:nvSpPr>
        <p:spPr>
          <a:xfrm>
            <a:off x="7934673" y="5363925"/>
            <a:ext cx="960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latin typeface="Times New Roman" pitchFamily="18" charset="0"/>
              </a:rPr>
              <a:t>גלגול </a:t>
            </a:r>
            <a:r>
              <a:rPr lang="en-US" dirty="0">
                <a:latin typeface="Times New Roman" pitchFamily="18" charset="0"/>
              </a:rPr>
              <a:t>RL</a:t>
            </a:r>
            <a:endParaRPr lang="he-IL" dirty="0"/>
          </a:p>
        </p:txBody>
      </p:sp>
      <p:sp>
        <p:nvSpPr>
          <p:cNvPr id="85" name="מלבן 84"/>
          <p:cNvSpPr/>
          <p:nvPr/>
        </p:nvSpPr>
        <p:spPr>
          <a:xfrm>
            <a:off x="2321930" y="2924946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+2</a:t>
            </a:r>
            <a:endParaRPr lang="en-US" dirty="0"/>
          </a:p>
        </p:txBody>
      </p:sp>
      <p:sp>
        <p:nvSpPr>
          <p:cNvPr id="86" name="מלבן 85"/>
          <p:cNvSpPr/>
          <p:nvPr/>
        </p:nvSpPr>
        <p:spPr>
          <a:xfrm>
            <a:off x="1978566" y="3337249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+1</a:t>
            </a:r>
            <a:endParaRPr lang="en-US" dirty="0"/>
          </a:p>
        </p:txBody>
      </p:sp>
      <p:sp>
        <p:nvSpPr>
          <p:cNvPr id="87" name="מלבן 86"/>
          <p:cNvSpPr/>
          <p:nvPr/>
        </p:nvSpPr>
        <p:spPr>
          <a:xfrm>
            <a:off x="2190893" y="4941170"/>
            <a:ext cx="343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-2</a:t>
            </a:r>
            <a:endParaRPr lang="en-US" dirty="0"/>
          </a:p>
        </p:txBody>
      </p:sp>
      <p:sp>
        <p:nvSpPr>
          <p:cNvPr id="88" name="מלבן 87"/>
          <p:cNvSpPr/>
          <p:nvPr/>
        </p:nvSpPr>
        <p:spPr>
          <a:xfrm>
            <a:off x="2495601" y="5301210"/>
            <a:ext cx="343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-1</a:t>
            </a:r>
            <a:endParaRPr lang="en-US" dirty="0"/>
          </a:p>
        </p:txBody>
      </p:sp>
      <p:sp>
        <p:nvSpPr>
          <p:cNvPr id="89" name="מלבן 88"/>
          <p:cNvSpPr/>
          <p:nvPr/>
        </p:nvSpPr>
        <p:spPr>
          <a:xfrm>
            <a:off x="6803102" y="2924946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+2</a:t>
            </a:r>
            <a:endParaRPr lang="en-US" dirty="0"/>
          </a:p>
        </p:txBody>
      </p:sp>
      <p:sp>
        <p:nvSpPr>
          <p:cNvPr id="90" name="מלבן 89"/>
          <p:cNvSpPr/>
          <p:nvPr/>
        </p:nvSpPr>
        <p:spPr>
          <a:xfrm>
            <a:off x="6406475" y="3337249"/>
            <a:ext cx="343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-1</a:t>
            </a:r>
            <a:endParaRPr lang="en-US" dirty="0"/>
          </a:p>
        </p:txBody>
      </p:sp>
      <p:sp>
        <p:nvSpPr>
          <p:cNvPr id="91" name="מלבן 90"/>
          <p:cNvSpPr/>
          <p:nvPr/>
        </p:nvSpPr>
        <p:spPr>
          <a:xfrm>
            <a:off x="7048469" y="4941170"/>
            <a:ext cx="343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-2</a:t>
            </a:r>
            <a:endParaRPr lang="en-US" dirty="0"/>
          </a:p>
        </p:txBody>
      </p:sp>
      <p:sp>
        <p:nvSpPr>
          <p:cNvPr id="92" name="מלבן 91"/>
          <p:cNvSpPr/>
          <p:nvPr/>
        </p:nvSpPr>
        <p:spPr>
          <a:xfrm>
            <a:off x="7356412" y="5353473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+1</a:t>
            </a:r>
            <a:endParaRPr lang="en-US" dirty="0"/>
          </a:p>
        </p:txBody>
      </p:sp>
      <p:graphicFrame>
        <p:nvGraphicFramePr>
          <p:cNvPr id="120" name="טבלה 119"/>
          <p:cNvGraphicFramePr>
            <a:graphicFrameLocks noGrp="1"/>
          </p:cNvGraphicFramePr>
          <p:nvPr/>
        </p:nvGraphicFramePr>
        <p:xfrm>
          <a:off x="2495600" y="1124744"/>
          <a:ext cx="6096000" cy="1676400"/>
        </p:xfrm>
        <a:graphic>
          <a:graphicData uri="http://schemas.openxmlformats.org/drawingml/2006/table">
            <a:tbl>
              <a:tblPr rtl="1" firstRow="1" bandRow="1">
                <a:tableStyleId>{9D7B26C5-4107-4FEC-AEDC-1716B250A1EF}</a:tableStyleId>
              </a:tblPr>
              <a:tblGrid>
                <a:gridCol w="882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418"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BF[v]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BF</a:t>
                      </a:r>
                      <a:r>
                        <a:rPr lang="he-IL" sz="1600" dirty="0"/>
                        <a:t> של הבן השמאלי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BF</a:t>
                      </a:r>
                      <a:r>
                        <a:rPr lang="he-IL" sz="1600" dirty="0"/>
                        <a:t> של הבן הימני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הגלגול המתאים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18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+2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+1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LL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44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-2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-1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RR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18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+2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-1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LR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418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-2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+1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RL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" name="מלבן 120"/>
          <p:cNvSpPr/>
          <p:nvPr/>
        </p:nvSpPr>
        <p:spPr>
          <a:xfrm>
            <a:off x="5173229" y="6454204"/>
            <a:ext cx="47756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sz="1600" dirty="0">
                <a:latin typeface="Times New Roman" pitchFamily="18" charset="0"/>
              </a:rPr>
              <a:t>*  4 המצבים האלו מכסים את כל המקרים האפשריים (מדוע?).</a:t>
            </a:r>
            <a:endParaRPr lang="he-IL" sz="1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6353" y="6331566"/>
            <a:ext cx="6327648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Amir Rubinstein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גלגול </a:t>
            </a:r>
            <a:r>
              <a:rPr lang="en-US" sz="3200" u="sng" dirty="0"/>
              <a:t>LL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28" name="קבוצה 27"/>
          <p:cNvGrpSpPr/>
          <p:nvPr/>
        </p:nvGrpSpPr>
        <p:grpSpPr>
          <a:xfrm>
            <a:off x="6528048" y="548680"/>
            <a:ext cx="3456384" cy="2348880"/>
            <a:chOff x="200124" y="1022575"/>
            <a:chExt cx="4927600" cy="3468661"/>
          </a:xfrm>
        </p:grpSpPr>
        <p:sp>
          <p:nvSpPr>
            <p:cNvPr id="6" name="AutoShape 31"/>
            <p:cNvSpPr>
              <a:spLocks noChangeArrowheads="1"/>
            </p:cNvSpPr>
            <p:nvPr/>
          </p:nvSpPr>
          <p:spPr bwMode="auto">
            <a:xfrm>
              <a:off x="200124" y="2852936"/>
              <a:ext cx="1393825" cy="1069975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" name="AutoShape 32"/>
            <p:cNvSpPr>
              <a:spLocks noChangeArrowheads="1"/>
            </p:cNvSpPr>
            <p:nvPr/>
          </p:nvSpPr>
          <p:spPr bwMode="auto">
            <a:xfrm>
              <a:off x="1979712" y="2852936"/>
              <a:ext cx="1392237" cy="1069975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" name="Rectangle 35"/>
            <p:cNvSpPr>
              <a:spLocks noChangeArrowheads="1"/>
            </p:cNvSpPr>
            <p:nvPr/>
          </p:nvSpPr>
          <p:spPr bwMode="auto">
            <a:xfrm>
              <a:off x="587474" y="3212672"/>
              <a:ext cx="624350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A</a:t>
              </a:r>
              <a:r>
                <a:rPr lang="en-US" baseline="-2500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10" name="AutoShape 36"/>
            <p:cNvSpPr>
              <a:spLocks noChangeArrowheads="1"/>
            </p:cNvSpPr>
            <p:nvPr/>
          </p:nvSpPr>
          <p:spPr bwMode="auto">
            <a:xfrm>
              <a:off x="3733899" y="2352873"/>
              <a:ext cx="1393825" cy="1069975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1" name="Rectangle 40"/>
            <p:cNvSpPr>
              <a:spLocks noChangeArrowheads="1"/>
            </p:cNvSpPr>
            <p:nvPr/>
          </p:nvSpPr>
          <p:spPr bwMode="auto">
            <a:xfrm>
              <a:off x="4194274" y="2758647"/>
              <a:ext cx="608354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B</a:t>
              </a:r>
              <a:r>
                <a:rPr lang="en-US" baseline="-25000" dirty="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2501998" y="3223784"/>
              <a:ext cx="640349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A</a:t>
              </a:r>
              <a:r>
                <a:rPr lang="en-US" baseline="-2500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15" name="Line 45"/>
            <p:cNvSpPr>
              <a:spLocks noChangeShapeType="1"/>
            </p:cNvSpPr>
            <p:nvPr/>
          </p:nvSpPr>
          <p:spPr bwMode="auto">
            <a:xfrm flipH="1">
              <a:off x="543024" y="3902273"/>
              <a:ext cx="257175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7" name="Text Box 47"/>
            <p:cNvSpPr txBox="1">
              <a:spLocks noChangeArrowheads="1"/>
            </p:cNvSpPr>
            <p:nvPr/>
          </p:nvSpPr>
          <p:spPr bwMode="auto">
            <a:xfrm>
              <a:off x="1584423" y="3116461"/>
              <a:ext cx="428625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 dirty="0">
                <a:solidFill>
                  <a:srgbClr val="006600"/>
                </a:solidFill>
                <a:latin typeface="Comic Sans MS" pitchFamily="66" charset="0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1124049" y="1963962"/>
              <a:ext cx="693736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+1</a:t>
              </a:r>
            </a:p>
          </p:txBody>
        </p:sp>
        <p:sp>
          <p:nvSpPr>
            <p:cNvPr id="20" name="Text Box 50"/>
            <p:cNvSpPr txBox="1">
              <a:spLocks noChangeArrowheads="1"/>
            </p:cNvSpPr>
            <p:nvPr/>
          </p:nvSpPr>
          <p:spPr bwMode="auto">
            <a:xfrm>
              <a:off x="2631007" y="1022575"/>
              <a:ext cx="842964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+2</a:t>
              </a:r>
            </a:p>
          </p:txBody>
        </p:sp>
        <p:sp>
          <p:nvSpPr>
            <p:cNvPr id="21" name="Oval 55"/>
            <p:cNvSpPr>
              <a:spLocks noChangeArrowheads="1"/>
            </p:cNvSpPr>
            <p:nvPr/>
          </p:nvSpPr>
          <p:spPr bwMode="auto">
            <a:xfrm>
              <a:off x="3179862" y="1170186"/>
              <a:ext cx="454025" cy="404812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dirty="0">
                  <a:latin typeface="Comic Sans MS" pitchFamily="66" charset="0"/>
                </a:rPr>
                <a:t>B</a:t>
              </a:r>
            </a:p>
          </p:txBody>
        </p:sp>
        <p:sp>
          <p:nvSpPr>
            <p:cNvPr id="22" name="Oval 56"/>
            <p:cNvSpPr>
              <a:spLocks noChangeArrowheads="1"/>
            </p:cNvSpPr>
            <p:nvPr/>
          </p:nvSpPr>
          <p:spPr bwMode="auto">
            <a:xfrm>
              <a:off x="1639987" y="2092523"/>
              <a:ext cx="455612" cy="404813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dirty="0">
                  <a:latin typeface="Comic Sans MS" pitchFamily="66" charset="0"/>
                </a:rPr>
                <a:t>A</a:t>
              </a:r>
            </a:p>
          </p:txBody>
        </p:sp>
        <p:sp>
          <p:nvSpPr>
            <p:cNvPr id="23" name="Oval 57"/>
            <p:cNvSpPr>
              <a:spLocks noChangeArrowheads="1"/>
            </p:cNvSpPr>
            <p:nvPr/>
          </p:nvSpPr>
          <p:spPr bwMode="auto">
            <a:xfrm>
              <a:off x="200124" y="4086423"/>
              <a:ext cx="455613" cy="404813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r>
                <a:rPr lang="en-US">
                  <a:latin typeface="Comic Sans MS" pitchFamily="66" charset="0"/>
                </a:rPr>
                <a:t>v</a:t>
              </a:r>
            </a:p>
          </p:txBody>
        </p:sp>
        <p:cxnSp>
          <p:nvCxnSpPr>
            <p:cNvPr id="24" name="AutoShape 59"/>
            <p:cNvCxnSpPr>
              <a:cxnSpLocks noChangeShapeType="1"/>
              <a:stCxn id="22" idx="3"/>
              <a:endCxn id="6" idx="0"/>
            </p:cNvCxnSpPr>
            <p:nvPr/>
          </p:nvCxnSpPr>
          <p:spPr bwMode="auto">
            <a:xfrm flipH="1">
              <a:off x="897037" y="2454473"/>
              <a:ext cx="808037" cy="379413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5" name="AutoShape 60"/>
            <p:cNvCxnSpPr>
              <a:cxnSpLocks noChangeShapeType="1"/>
              <a:stCxn id="22" idx="5"/>
              <a:endCxn id="8" idx="0"/>
            </p:cNvCxnSpPr>
            <p:nvPr/>
          </p:nvCxnSpPr>
          <p:spPr bwMode="auto">
            <a:xfrm>
              <a:off x="2028924" y="2454473"/>
              <a:ext cx="646113" cy="379413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6" name="AutoShape 61"/>
            <p:cNvCxnSpPr>
              <a:cxnSpLocks noChangeShapeType="1"/>
              <a:stCxn id="21" idx="3"/>
              <a:endCxn id="22" idx="7"/>
            </p:cNvCxnSpPr>
            <p:nvPr/>
          </p:nvCxnSpPr>
          <p:spPr bwMode="auto">
            <a:xfrm flipH="1">
              <a:off x="2028924" y="1532136"/>
              <a:ext cx="1216025" cy="60325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" name="AutoShape 62"/>
            <p:cNvCxnSpPr>
              <a:cxnSpLocks noChangeShapeType="1"/>
              <a:stCxn id="21" idx="5"/>
              <a:endCxn id="10" idx="0"/>
            </p:cNvCxnSpPr>
            <p:nvPr/>
          </p:nvCxnSpPr>
          <p:spPr bwMode="auto">
            <a:xfrm>
              <a:off x="3568799" y="1532136"/>
              <a:ext cx="862013" cy="801687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29" name="קבוצה 28"/>
          <p:cNvGrpSpPr/>
          <p:nvPr/>
        </p:nvGrpSpPr>
        <p:grpSpPr>
          <a:xfrm>
            <a:off x="1991544" y="647087"/>
            <a:ext cx="3456384" cy="1880193"/>
            <a:chOff x="200124" y="1146373"/>
            <a:chExt cx="4927600" cy="2776538"/>
          </a:xfrm>
        </p:grpSpPr>
        <p:sp>
          <p:nvSpPr>
            <p:cNvPr id="30" name="AutoShape 31"/>
            <p:cNvSpPr>
              <a:spLocks noChangeArrowheads="1"/>
            </p:cNvSpPr>
            <p:nvPr/>
          </p:nvSpPr>
          <p:spPr bwMode="auto">
            <a:xfrm>
              <a:off x="200124" y="2852936"/>
              <a:ext cx="1393825" cy="1069975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1" name="AutoShape 32"/>
            <p:cNvSpPr>
              <a:spLocks noChangeArrowheads="1"/>
            </p:cNvSpPr>
            <p:nvPr/>
          </p:nvSpPr>
          <p:spPr bwMode="auto">
            <a:xfrm>
              <a:off x="1979712" y="2852936"/>
              <a:ext cx="1392237" cy="1069975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607052" y="3262798"/>
              <a:ext cx="624350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A</a:t>
              </a:r>
              <a:r>
                <a:rPr lang="en-US" baseline="-25000" dirty="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33" name="AutoShape 36"/>
            <p:cNvSpPr>
              <a:spLocks noChangeArrowheads="1"/>
            </p:cNvSpPr>
            <p:nvPr/>
          </p:nvSpPr>
          <p:spPr bwMode="auto">
            <a:xfrm>
              <a:off x="3733899" y="2352873"/>
              <a:ext cx="1393825" cy="1069975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4" name="Rectangle 40"/>
            <p:cNvSpPr>
              <a:spLocks noChangeArrowheads="1"/>
            </p:cNvSpPr>
            <p:nvPr/>
          </p:nvSpPr>
          <p:spPr bwMode="auto">
            <a:xfrm>
              <a:off x="4213853" y="2808773"/>
              <a:ext cx="608354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B</a:t>
              </a:r>
              <a:r>
                <a:rPr lang="en-US" baseline="-25000" dirty="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35" name="Text Box 41"/>
            <p:cNvSpPr txBox="1">
              <a:spLocks noChangeArrowheads="1"/>
            </p:cNvSpPr>
            <p:nvPr/>
          </p:nvSpPr>
          <p:spPr bwMode="auto">
            <a:xfrm>
              <a:off x="2600424" y="1146373"/>
              <a:ext cx="641349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+1</a:t>
              </a:r>
            </a:p>
          </p:txBody>
        </p:sp>
        <p:sp>
          <p:nvSpPr>
            <p:cNvPr id="36" name="Text Box 42"/>
            <p:cNvSpPr txBox="1">
              <a:spLocks noChangeArrowheads="1"/>
            </p:cNvSpPr>
            <p:nvPr/>
          </p:nvSpPr>
          <p:spPr bwMode="auto">
            <a:xfrm>
              <a:off x="1258987" y="2089348"/>
              <a:ext cx="428625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0</a:t>
              </a: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2521577" y="3273910"/>
              <a:ext cx="640349" cy="5454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A</a:t>
              </a:r>
              <a:r>
                <a:rPr lang="en-US" baseline="-25000" dirty="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44" name="Oval 55"/>
            <p:cNvSpPr>
              <a:spLocks noChangeArrowheads="1"/>
            </p:cNvSpPr>
            <p:nvPr/>
          </p:nvSpPr>
          <p:spPr bwMode="auto">
            <a:xfrm>
              <a:off x="3179862" y="1170186"/>
              <a:ext cx="454025" cy="404812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dirty="0">
                  <a:latin typeface="Comic Sans MS" pitchFamily="66" charset="0"/>
                </a:rPr>
                <a:t>B</a:t>
              </a:r>
            </a:p>
          </p:txBody>
        </p:sp>
        <p:sp>
          <p:nvSpPr>
            <p:cNvPr id="45" name="Oval 56"/>
            <p:cNvSpPr>
              <a:spLocks noChangeArrowheads="1"/>
            </p:cNvSpPr>
            <p:nvPr/>
          </p:nvSpPr>
          <p:spPr bwMode="auto">
            <a:xfrm>
              <a:off x="1639987" y="2092523"/>
              <a:ext cx="455612" cy="404813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dirty="0">
                  <a:latin typeface="Comic Sans MS" pitchFamily="66" charset="0"/>
                </a:rPr>
                <a:t>A</a:t>
              </a:r>
            </a:p>
          </p:txBody>
        </p:sp>
        <p:cxnSp>
          <p:nvCxnSpPr>
            <p:cNvPr id="47" name="AutoShape 59"/>
            <p:cNvCxnSpPr>
              <a:cxnSpLocks noChangeShapeType="1"/>
              <a:stCxn id="45" idx="3"/>
              <a:endCxn id="30" idx="0"/>
            </p:cNvCxnSpPr>
            <p:nvPr/>
          </p:nvCxnSpPr>
          <p:spPr bwMode="auto">
            <a:xfrm flipH="1">
              <a:off x="897037" y="2454473"/>
              <a:ext cx="808037" cy="379413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8" name="AutoShape 60"/>
            <p:cNvCxnSpPr>
              <a:cxnSpLocks noChangeShapeType="1"/>
              <a:stCxn id="45" idx="5"/>
              <a:endCxn id="31" idx="0"/>
            </p:cNvCxnSpPr>
            <p:nvPr/>
          </p:nvCxnSpPr>
          <p:spPr bwMode="auto">
            <a:xfrm>
              <a:off x="2028924" y="2454473"/>
              <a:ext cx="646113" cy="379413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9" name="AutoShape 61"/>
            <p:cNvCxnSpPr>
              <a:cxnSpLocks noChangeShapeType="1"/>
              <a:stCxn id="44" idx="3"/>
              <a:endCxn id="45" idx="7"/>
            </p:cNvCxnSpPr>
            <p:nvPr/>
          </p:nvCxnSpPr>
          <p:spPr bwMode="auto">
            <a:xfrm flipH="1">
              <a:off x="2028924" y="1532136"/>
              <a:ext cx="1216025" cy="60325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50" name="AutoShape 62"/>
            <p:cNvCxnSpPr>
              <a:cxnSpLocks noChangeShapeType="1"/>
              <a:stCxn id="44" idx="5"/>
              <a:endCxn id="33" idx="0"/>
            </p:cNvCxnSpPr>
            <p:nvPr/>
          </p:nvCxnSpPr>
          <p:spPr bwMode="auto">
            <a:xfrm>
              <a:off x="3568799" y="1532136"/>
              <a:ext cx="862013" cy="801687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74" name="מלבן 73"/>
          <p:cNvSpPr/>
          <p:nvPr/>
        </p:nvSpPr>
        <p:spPr>
          <a:xfrm>
            <a:off x="3313286" y="2564904"/>
            <a:ext cx="115288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לפני הכנסה</a:t>
            </a:r>
          </a:p>
        </p:txBody>
      </p:sp>
      <p:sp>
        <p:nvSpPr>
          <p:cNvPr id="75" name="מלבן 74"/>
          <p:cNvSpPr/>
          <p:nvPr/>
        </p:nvSpPr>
        <p:spPr>
          <a:xfrm>
            <a:off x="8735372" y="2564904"/>
            <a:ext cx="124906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הכנסה</a:t>
            </a:r>
          </a:p>
        </p:txBody>
      </p:sp>
      <p:grpSp>
        <p:nvGrpSpPr>
          <p:cNvPr id="76" name="Group 84"/>
          <p:cNvGrpSpPr>
            <a:grpSpLocks/>
          </p:cNvGrpSpPr>
          <p:nvPr/>
        </p:nvGrpSpPr>
        <p:grpSpPr bwMode="auto">
          <a:xfrm>
            <a:off x="6281356" y="3788670"/>
            <a:ext cx="4135125" cy="2232619"/>
            <a:chOff x="240" y="2235"/>
            <a:chExt cx="3501" cy="2005"/>
          </a:xfrm>
        </p:grpSpPr>
        <p:sp>
          <p:nvSpPr>
            <p:cNvPr id="77" name="Oval 63"/>
            <p:cNvSpPr>
              <a:spLocks noChangeArrowheads="1"/>
            </p:cNvSpPr>
            <p:nvPr/>
          </p:nvSpPr>
          <p:spPr bwMode="auto">
            <a:xfrm>
              <a:off x="512" y="3985"/>
              <a:ext cx="287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r>
                <a:rPr lang="en-US">
                  <a:latin typeface="Comic Sans MS" pitchFamily="66" charset="0"/>
                </a:rPr>
                <a:t>v</a:t>
              </a:r>
            </a:p>
          </p:txBody>
        </p:sp>
        <p:grpSp>
          <p:nvGrpSpPr>
            <p:cNvPr id="78" name="Group 83"/>
            <p:cNvGrpSpPr>
              <a:grpSpLocks/>
            </p:cNvGrpSpPr>
            <p:nvPr/>
          </p:nvGrpSpPr>
          <p:grpSpPr bwMode="auto">
            <a:xfrm>
              <a:off x="240" y="2235"/>
              <a:ext cx="3501" cy="1946"/>
              <a:chOff x="240" y="2235"/>
              <a:chExt cx="3501" cy="1946"/>
            </a:xfrm>
          </p:grpSpPr>
          <p:sp>
            <p:nvSpPr>
              <p:cNvPr id="80" name="Line 22"/>
              <p:cNvSpPr>
                <a:spLocks noChangeShapeType="1"/>
              </p:cNvSpPr>
              <p:nvPr/>
            </p:nvSpPr>
            <p:spPr bwMode="auto">
              <a:xfrm flipV="1">
                <a:off x="393" y="3124"/>
                <a:ext cx="0" cy="277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1" name="Line 23"/>
              <p:cNvSpPr>
                <a:spLocks noChangeShapeType="1"/>
              </p:cNvSpPr>
              <p:nvPr/>
            </p:nvSpPr>
            <p:spPr bwMode="auto">
              <a:xfrm>
                <a:off x="393" y="3607"/>
                <a:ext cx="0" cy="238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82" name="Text Box 24"/>
              <p:cNvSpPr txBox="1">
                <a:spLocks noChangeArrowheads="1"/>
              </p:cNvSpPr>
              <p:nvPr/>
            </p:nvSpPr>
            <p:spPr bwMode="auto">
              <a:xfrm>
                <a:off x="240" y="3336"/>
                <a:ext cx="270" cy="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dirty="0">
                    <a:solidFill>
                      <a:srgbClr val="006600"/>
                    </a:solidFill>
                    <a:latin typeface="Arial" pitchFamily="34" charset="0"/>
                  </a:rPr>
                  <a:t>h</a:t>
                </a:r>
              </a:p>
            </p:txBody>
          </p:sp>
          <p:grpSp>
            <p:nvGrpSpPr>
              <p:cNvPr id="83" name="Group 82"/>
              <p:cNvGrpSpPr>
                <a:grpSpLocks/>
              </p:cNvGrpSpPr>
              <p:nvPr/>
            </p:nvGrpSpPr>
            <p:grpSpPr bwMode="auto">
              <a:xfrm>
                <a:off x="555" y="2235"/>
                <a:ext cx="3186" cy="1946"/>
                <a:chOff x="555" y="2235"/>
                <a:chExt cx="3186" cy="1946"/>
              </a:xfrm>
            </p:grpSpPr>
            <p:sp>
              <p:nvSpPr>
                <p:cNvPr id="84" name="AutoShape 9"/>
                <p:cNvSpPr>
                  <a:spLocks noChangeArrowheads="1"/>
                </p:cNvSpPr>
                <p:nvPr/>
              </p:nvSpPr>
              <p:spPr bwMode="auto">
                <a:xfrm>
                  <a:off x="1743" y="3507"/>
                  <a:ext cx="877" cy="6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9900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8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607" y="2235"/>
                  <a:ext cx="162" cy="33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dirty="0">
                      <a:latin typeface="Arial" pitchFamily="34" charset="0"/>
                    </a:rPr>
                    <a:t>0</a:t>
                  </a:r>
                </a:p>
              </p:txBody>
            </p:sp>
            <p:sp>
              <p:nvSpPr>
                <p:cNvPr id="86" name="Rectangle 7"/>
                <p:cNvSpPr>
                  <a:spLocks noChangeArrowheads="1"/>
                </p:cNvSpPr>
                <p:nvPr/>
              </p:nvSpPr>
              <p:spPr bwMode="auto">
                <a:xfrm>
                  <a:off x="1983" y="3791"/>
                  <a:ext cx="380" cy="33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latin typeface="Arial" pitchFamily="34" charset="0"/>
                    </a:rPr>
                    <a:t>A</a:t>
                  </a:r>
                  <a:r>
                    <a:rPr lang="en-US" baseline="-25000">
                      <a:latin typeface="Arial" pitchFamily="34" charset="0"/>
                    </a:rPr>
                    <a:t>R</a:t>
                  </a:r>
                </a:p>
              </p:txBody>
            </p:sp>
            <p:sp>
              <p:nvSpPr>
                <p:cNvPr id="87" name="AutoShape 10"/>
                <p:cNvSpPr>
                  <a:spLocks noChangeArrowheads="1"/>
                </p:cNvSpPr>
                <p:nvPr/>
              </p:nvSpPr>
              <p:spPr bwMode="auto">
                <a:xfrm>
                  <a:off x="2863" y="3507"/>
                  <a:ext cx="878" cy="6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9900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88" name="AutoShape 13"/>
                <p:cNvSpPr>
                  <a:spLocks noChangeArrowheads="1"/>
                </p:cNvSpPr>
                <p:nvPr/>
              </p:nvSpPr>
              <p:spPr bwMode="auto">
                <a:xfrm>
                  <a:off x="555" y="3171"/>
                  <a:ext cx="877" cy="67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9900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89" name="Rectangle 17"/>
                <p:cNvSpPr>
                  <a:spLocks noChangeArrowheads="1"/>
                </p:cNvSpPr>
                <p:nvPr/>
              </p:nvSpPr>
              <p:spPr bwMode="auto">
                <a:xfrm>
                  <a:off x="804" y="3464"/>
                  <a:ext cx="359" cy="33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latin typeface="Arial" pitchFamily="34" charset="0"/>
                    </a:rPr>
                    <a:t>A</a:t>
                  </a:r>
                  <a:r>
                    <a:rPr lang="en-US" baseline="-25000" dirty="0">
                      <a:latin typeface="Arial" pitchFamily="34" charset="0"/>
                    </a:rPr>
                    <a:t>L</a:t>
                  </a:r>
                </a:p>
              </p:txBody>
            </p:sp>
            <p:sp>
              <p:nvSpPr>
                <p:cNvPr id="90" name="Rectangle 18"/>
                <p:cNvSpPr>
                  <a:spLocks noChangeArrowheads="1"/>
                </p:cNvSpPr>
                <p:nvPr/>
              </p:nvSpPr>
              <p:spPr bwMode="auto">
                <a:xfrm>
                  <a:off x="3168" y="3800"/>
                  <a:ext cx="380" cy="33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latin typeface="Arial" pitchFamily="34" charset="0"/>
                    </a:rPr>
                    <a:t>B</a:t>
                  </a:r>
                  <a:r>
                    <a:rPr lang="en-US" baseline="-25000">
                      <a:latin typeface="Arial" pitchFamily="34" charset="0"/>
                    </a:rPr>
                    <a:t>R</a:t>
                  </a:r>
                </a:p>
              </p:txBody>
            </p:sp>
            <p:sp>
              <p:nvSpPr>
                <p:cNvPr id="9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374" y="2853"/>
                  <a:ext cx="270" cy="33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dirty="0">
                      <a:latin typeface="Arial" pitchFamily="34" charset="0"/>
                    </a:rPr>
                    <a:t>0</a:t>
                  </a:r>
                </a:p>
              </p:txBody>
            </p:sp>
            <p:sp>
              <p:nvSpPr>
                <p:cNvPr id="92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718" y="3854"/>
                  <a:ext cx="162" cy="1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93" name="Oval 65"/>
                <p:cNvSpPr>
                  <a:spLocks noChangeArrowheads="1"/>
                </p:cNvSpPr>
                <p:nvPr/>
              </p:nvSpPr>
              <p:spPr bwMode="auto">
                <a:xfrm>
                  <a:off x="2599" y="2911"/>
                  <a:ext cx="287" cy="255"/>
                </a:xfrm>
                <a:prstGeom prst="ellipse">
                  <a:avLst/>
                </a:prstGeom>
                <a:solidFill>
                  <a:srgbClr val="FF9900"/>
                </a:solidFill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 algn="ctr"/>
                  <a:r>
                    <a:rPr lang="en-US">
                      <a:latin typeface="Comic Sans MS" pitchFamily="66" charset="0"/>
                    </a:rPr>
                    <a:t>B</a:t>
                  </a:r>
                </a:p>
              </p:txBody>
            </p:sp>
            <p:sp>
              <p:nvSpPr>
                <p:cNvPr id="94" name="Oval 66"/>
                <p:cNvSpPr>
                  <a:spLocks noChangeArrowheads="1"/>
                </p:cNvSpPr>
                <p:nvPr/>
              </p:nvSpPr>
              <p:spPr bwMode="auto">
                <a:xfrm>
                  <a:off x="1824" y="2304"/>
                  <a:ext cx="287" cy="255"/>
                </a:xfrm>
                <a:prstGeom prst="ellipse">
                  <a:avLst/>
                </a:prstGeom>
                <a:solidFill>
                  <a:srgbClr val="FF9900"/>
                </a:solidFill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 algn="ctr"/>
                  <a:r>
                    <a:rPr lang="en-US" dirty="0">
                      <a:latin typeface="Comic Sans MS" pitchFamily="66" charset="0"/>
                    </a:rPr>
                    <a:t>A</a:t>
                  </a:r>
                </a:p>
              </p:txBody>
            </p:sp>
            <p:cxnSp>
              <p:nvCxnSpPr>
                <p:cNvPr id="95" name="AutoShape 67"/>
                <p:cNvCxnSpPr>
                  <a:cxnSpLocks noChangeShapeType="1"/>
                  <a:stCxn id="93" idx="3"/>
                  <a:endCxn id="84" idx="0"/>
                </p:cNvCxnSpPr>
                <p:nvPr/>
              </p:nvCxnSpPr>
              <p:spPr bwMode="auto">
                <a:xfrm flipH="1">
                  <a:off x="2182" y="3139"/>
                  <a:ext cx="459" cy="356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96" name="AutoShape 68"/>
                <p:cNvCxnSpPr>
                  <a:cxnSpLocks noChangeShapeType="1"/>
                  <a:stCxn id="93" idx="5"/>
                  <a:endCxn id="87" idx="0"/>
                </p:cNvCxnSpPr>
                <p:nvPr/>
              </p:nvCxnSpPr>
              <p:spPr bwMode="auto">
                <a:xfrm>
                  <a:off x="2844" y="3139"/>
                  <a:ext cx="458" cy="356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97" name="AutoShape 69"/>
                <p:cNvCxnSpPr>
                  <a:cxnSpLocks noChangeShapeType="1"/>
                  <a:stCxn id="94" idx="3"/>
                  <a:endCxn id="88" idx="0"/>
                </p:cNvCxnSpPr>
                <p:nvPr/>
              </p:nvCxnSpPr>
              <p:spPr bwMode="auto">
                <a:xfrm flipH="1">
                  <a:off x="994" y="2532"/>
                  <a:ext cx="872" cy="627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98" name="AutoShape 70"/>
                <p:cNvCxnSpPr>
                  <a:cxnSpLocks noChangeShapeType="1"/>
                  <a:stCxn id="94" idx="5"/>
                  <a:endCxn id="93" idx="1"/>
                </p:cNvCxnSpPr>
                <p:nvPr/>
              </p:nvCxnSpPr>
              <p:spPr bwMode="auto">
                <a:xfrm>
                  <a:off x="2069" y="2532"/>
                  <a:ext cx="572" cy="406"/>
                </a:xfrm>
                <a:prstGeom prst="straightConnector1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</p:grpSp>
        </p:grpSp>
      </p:grpSp>
      <p:sp>
        <p:nvSpPr>
          <p:cNvPr id="99" name="Line 22"/>
          <p:cNvSpPr>
            <a:spLocks noChangeShapeType="1"/>
          </p:cNvSpPr>
          <p:nvPr/>
        </p:nvSpPr>
        <p:spPr bwMode="auto">
          <a:xfrm flipV="1">
            <a:off x="3108564" y="1752773"/>
            <a:ext cx="0" cy="30844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0" name="Line 23"/>
          <p:cNvSpPr>
            <a:spLocks noChangeShapeType="1"/>
          </p:cNvSpPr>
          <p:nvPr/>
        </p:nvSpPr>
        <p:spPr bwMode="auto">
          <a:xfrm>
            <a:off x="3108564" y="2290606"/>
            <a:ext cx="0" cy="265019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1" name="Text Box 24"/>
          <p:cNvSpPr txBox="1">
            <a:spLocks noChangeArrowheads="1"/>
          </p:cNvSpPr>
          <p:nvPr/>
        </p:nvSpPr>
        <p:spPr bwMode="auto">
          <a:xfrm>
            <a:off x="2927648" y="1988840"/>
            <a:ext cx="318904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solidFill>
                  <a:srgbClr val="006600"/>
                </a:solidFill>
                <a:latin typeface="Arial" pitchFamily="34" charset="0"/>
              </a:rPr>
              <a:t>h</a:t>
            </a:r>
          </a:p>
        </p:txBody>
      </p:sp>
      <p:sp>
        <p:nvSpPr>
          <p:cNvPr id="102" name="Line 22"/>
          <p:cNvSpPr>
            <a:spLocks noChangeShapeType="1"/>
          </p:cNvSpPr>
          <p:nvPr/>
        </p:nvSpPr>
        <p:spPr bwMode="auto">
          <a:xfrm flipV="1">
            <a:off x="5556836" y="1392733"/>
            <a:ext cx="0" cy="30844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3" name="Line 23"/>
          <p:cNvSpPr>
            <a:spLocks noChangeShapeType="1"/>
          </p:cNvSpPr>
          <p:nvPr/>
        </p:nvSpPr>
        <p:spPr bwMode="auto">
          <a:xfrm>
            <a:off x="5556836" y="1930566"/>
            <a:ext cx="0" cy="265019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4" name="Text Box 24"/>
          <p:cNvSpPr txBox="1">
            <a:spLocks noChangeArrowheads="1"/>
          </p:cNvSpPr>
          <p:nvPr/>
        </p:nvSpPr>
        <p:spPr bwMode="auto">
          <a:xfrm>
            <a:off x="5375920" y="1628800"/>
            <a:ext cx="318904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solidFill>
                  <a:srgbClr val="006600"/>
                </a:solidFill>
                <a:latin typeface="Arial" pitchFamily="34" charset="0"/>
              </a:rPr>
              <a:t>h</a:t>
            </a:r>
          </a:p>
        </p:txBody>
      </p:sp>
      <p:sp>
        <p:nvSpPr>
          <p:cNvPr id="105" name="Line 22"/>
          <p:cNvSpPr>
            <a:spLocks noChangeShapeType="1"/>
          </p:cNvSpPr>
          <p:nvPr/>
        </p:nvSpPr>
        <p:spPr bwMode="auto">
          <a:xfrm flipV="1">
            <a:off x="7645068" y="1752773"/>
            <a:ext cx="0" cy="30844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6" name="Line 23"/>
          <p:cNvSpPr>
            <a:spLocks noChangeShapeType="1"/>
          </p:cNvSpPr>
          <p:nvPr/>
        </p:nvSpPr>
        <p:spPr bwMode="auto">
          <a:xfrm>
            <a:off x="7645068" y="2290606"/>
            <a:ext cx="0" cy="265019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7" name="Text Box 24"/>
          <p:cNvSpPr txBox="1">
            <a:spLocks noChangeArrowheads="1"/>
          </p:cNvSpPr>
          <p:nvPr/>
        </p:nvSpPr>
        <p:spPr bwMode="auto">
          <a:xfrm>
            <a:off x="7464152" y="1988840"/>
            <a:ext cx="318904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solidFill>
                  <a:srgbClr val="006600"/>
                </a:solidFill>
                <a:latin typeface="Arial" pitchFamily="34" charset="0"/>
              </a:rPr>
              <a:t>h</a:t>
            </a:r>
          </a:p>
        </p:txBody>
      </p:sp>
      <p:sp>
        <p:nvSpPr>
          <p:cNvPr id="108" name="Line 22"/>
          <p:cNvSpPr>
            <a:spLocks noChangeShapeType="1"/>
          </p:cNvSpPr>
          <p:nvPr/>
        </p:nvSpPr>
        <p:spPr bwMode="auto">
          <a:xfrm flipV="1">
            <a:off x="10093340" y="1392733"/>
            <a:ext cx="0" cy="30844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9" name="Line 23"/>
          <p:cNvSpPr>
            <a:spLocks noChangeShapeType="1"/>
          </p:cNvSpPr>
          <p:nvPr/>
        </p:nvSpPr>
        <p:spPr bwMode="auto">
          <a:xfrm>
            <a:off x="10093340" y="1930566"/>
            <a:ext cx="0" cy="265019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10" name="Text Box 24"/>
          <p:cNvSpPr txBox="1">
            <a:spLocks noChangeArrowheads="1"/>
          </p:cNvSpPr>
          <p:nvPr/>
        </p:nvSpPr>
        <p:spPr bwMode="auto">
          <a:xfrm>
            <a:off x="9912424" y="1628800"/>
            <a:ext cx="318904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solidFill>
                  <a:srgbClr val="006600"/>
                </a:solidFill>
                <a:latin typeface="Arial" pitchFamily="34" charset="0"/>
              </a:rPr>
              <a:t>h</a:t>
            </a:r>
          </a:p>
        </p:txBody>
      </p:sp>
      <p:sp>
        <p:nvSpPr>
          <p:cNvPr id="111" name="Line 22"/>
          <p:cNvSpPr>
            <a:spLocks noChangeShapeType="1"/>
          </p:cNvSpPr>
          <p:nvPr/>
        </p:nvSpPr>
        <p:spPr bwMode="auto">
          <a:xfrm flipV="1">
            <a:off x="9229244" y="5137149"/>
            <a:ext cx="0" cy="30844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12" name="Line 23"/>
          <p:cNvSpPr>
            <a:spLocks noChangeShapeType="1"/>
          </p:cNvSpPr>
          <p:nvPr/>
        </p:nvSpPr>
        <p:spPr bwMode="auto">
          <a:xfrm>
            <a:off x="9229244" y="5674982"/>
            <a:ext cx="0" cy="265019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13" name="Text Box 24"/>
          <p:cNvSpPr txBox="1">
            <a:spLocks noChangeArrowheads="1"/>
          </p:cNvSpPr>
          <p:nvPr/>
        </p:nvSpPr>
        <p:spPr bwMode="auto">
          <a:xfrm>
            <a:off x="9048328" y="5373216"/>
            <a:ext cx="318904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solidFill>
                  <a:srgbClr val="006600"/>
                </a:solidFill>
                <a:latin typeface="Arial" pitchFamily="34" charset="0"/>
              </a:rPr>
              <a:t>h</a:t>
            </a:r>
          </a:p>
        </p:txBody>
      </p:sp>
      <p:sp>
        <p:nvSpPr>
          <p:cNvPr id="114" name="מלבן 113"/>
          <p:cNvSpPr/>
          <p:nvPr/>
        </p:nvSpPr>
        <p:spPr>
          <a:xfrm>
            <a:off x="8870776" y="6068809"/>
            <a:ext cx="1107996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גלגול</a:t>
            </a:r>
          </a:p>
        </p:txBody>
      </p:sp>
      <p:sp>
        <p:nvSpPr>
          <p:cNvPr id="115" name="AutoShape 42"/>
          <p:cNvSpPr>
            <a:spLocks noChangeArrowheads="1"/>
          </p:cNvSpPr>
          <p:nvPr/>
        </p:nvSpPr>
        <p:spPr bwMode="auto">
          <a:xfrm>
            <a:off x="5735961" y="1124745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16" name="AutoShape 42"/>
          <p:cNvSpPr>
            <a:spLocks noChangeArrowheads="1"/>
          </p:cNvSpPr>
          <p:nvPr/>
        </p:nvSpPr>
        <p:spPr bwMode="auto">
          <a:xfrm rot="5400000">
            <a:off x="7183032" y="3494098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17" name="מלבן 116"/>
          <p:cNvSpPr/>
          <p:nvPr/>
        </p:nvSpPr>
        <p:spPr>
          <a:xfrm>
            <a:off x="2219072" y="4149081"/>
            <a:ext cx="2935419" cy="19475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הגלגול: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buFontTx/>
              <a:buChar char="-"/>
              <a:defRPr/>
            </a:pPr>
            <a:r>
              <a:rPr lang="he-IL" dirty="0">
                <a:latin typeface="Times New Roman" pitchFamily="18" charset="0"/>
              </a:rPr>
              <a:t> נשמרת תכונת עץ החיפוש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buFontTx/>
              <a:buChar char="-"/>
              <a:defRPr/>
            </a:pPr>
            <a:r>
              <a:rPr lang="he-IL" dirty="0">
                <a:latin typeface="Times New Roman" pitchFamily="18" charset="0"/>
              </a:rPr>
              <a:t> הפרת האיזון תוקנה בתת עץ זה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גלגול </a:t>
            </a:r>
            <a:r>
              <a:rPr lang="en-US" dirty="0">
                <a:latin typeface="Times New Roman" pitchFamily="18" charset="0"/>
              </a:rPr>
              <a:t>RR</a:t>
            </a:r>
            <a:r>
              <a:rPr lang="he-IL" dirty="0">
                <a:latin typeface="Times New Roman" pitchFamily="18" charset="0"/>
              </a:rPr>
              <a:t> סימטרי</a:t>
            </a:r>
          </a:p>
        </p:txBody>
      </p:sp>
      <p:sp>
        <p:nvSpPr>
          <p:cNvPr id="118" name="מלבן 116"/>
          <p:cNvSpPr/>
          <p:nvPr/>
        </p:nvSpPr>
        <p:spPr>
          <a:xfrm>
            <a:off x="5703144" y="83671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Insert</a:t>
            </a:r>
            <a:endParaRPr lang="he-IL" dirty="0"/>
          </a:p>
        </p:txBody>
      </p:sp>
      <p:sp>
        <p:nvSpPr>
          <p:cNvPr id="119" name="מלבן 116"/>
          <p:cNvSpPr/>
          <p:nvPr/>
        </p:nvSpPr>
        <p:spPr>
          <a:xfrm>
            <a:off x="6744073" y="3419708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Rotate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מלבן 115"/>
          <p:cNvSpPr/>
          <p:nvPr/>
        </p:nvSpPr>
        <p:spPr>
          <a:xfrm>
            <a:off x="2063552" y="4293096"/>
            <a:ext cx="2664296" cy="2016224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אחרי גלגול אחד נסיים, כי גובה תת העץ לא השתנה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גלגול </a:t>
            </a:r>
            <a:r>
              <a:rPr lang="en-US" sz="3200" u="sng" dirty="0"/>
              <a:t>LL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03512" y="476672"/>
            <a:ext cx="88569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הדגמה</a:t>
            </a:r>
          </a:p>
        </p:txBody>
      </p: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1691710" y="980729"/>
            <a:ext cx="3972243" cy="2371725"/>
            <a:chOff x="682" y="1680"/>
            <a:chExt cx="2616" cy="1494"/>
          </a:xfrm>
        </p:grpSpPr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20</a:t>
              </a: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19</a:t>
              </a: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grpSp>
        <p:nvGrpSpPr>
          <p:cNvPr id="47" name="Group 50"/>
          <p:cNvGrpSpPr>
            <a:grpSpLocks/>
          </p:cNvGrpSpPr>
          <p:nvPr/>
        </p:nvGrpSpPr>
        <p:grpSpPr bwMode="auto">
          <a:xfrm>
            <a:off x="6444238" y="980729"/>
            <a:ext cx="3972243" cy="2371725"/>
            <a:chOff x="682" y="1680"/>
            <a:chExt cx="2616" cy="1494"/>
          </a:xfrm>
        </p:grpSpPr>
        <p:sp>
          <p:nvSpPr>
            <p:cNvPr id="48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9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50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51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3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4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55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56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20</a:t>
              </a:r>
            </a:p>
          </p:txBody>
        </p:sp>
        <p:sp>
          <p:nvSpPr>
            <p:cNvPr id="57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58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1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2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3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64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5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66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7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68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69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19</a:t>
              </a:r>
            </a:p>
          </p:txBody>
        </p:sp>
        <p:sp>
          <p:nvSpPr>
            <p:cNvPr id="70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sp>
        <p:nvSpPr>
          <p:cNvPr id="71" name="Oval 63"/>
          <p:cNvSpPr>
            <a:spLocks noChangeArrowheads="1"/>
          </p:cNvSpPr>
          <p:nvPr/>
        </p:nvSpPr>
        <p:spPr bwMode="auto">
          <a:xfrm>
            <a:off x="8976321" y="3501009"/>
            <a:ext cx="338983" cy="283949"/>
          </a:xfrm>
          <a:prstGeom prst="ellipse">
            <a:avLst/>
          </a:prstGeom>
          <a:solidFill>
            <a:srgbClr val="FF9900"/>
          </a:solidFill>
          <a:ln w="317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en-US" dirty="0">
                <a:latin typeface="Comic Sans MS" pitchFamily="66" charset="0"/>
              </a:rPr>
              <a:t>18</a:t>
            </a:r>
          </a:p>
        </p:txBody>
      </p:sp>
      <p:sp>
        <p:nvSpPr>
          <p:cNvPr id="72" name="Line 21"/>
          <p:cNvSpPr>
            <a:spLocks noChangeShapeType="1"/>
          </p:cNvSpPr>
          <p:nvPr/>
        </p:nvSpPr>
        <p:spPr bwMode="auto">
          <a:xfrm flipH="1">
            <a:off x="9264353" y="3355136"/>
            <a:ext cx="146623" cy="14587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grpSp>
        <p:nvGrpSpPr>
          <p:cNvPr id="75" name="Group 50"/>
          <p:cNvGrpSpPr>
            <a:grpSpLocks/>
          </p:cNvGrpSpPr>
          <p:nvPr/>
        </p:nvGrpSpPr>
        <p:grpSpPr bwMode="auto">
          <a:xfrm>
            <a:off x="6240017" y="4149081"/>
            <a:ext cx="3972243" cy="2371725"/>
            <a:chOff x="682" y="1680"/>
            <a:chExt cx="2616" cy="1494"/>
          </a:xfrm>
        </p:grpSpPr>
        <p:sp>
          <p:nvSpPr>
            <p:cNvPr id="76" name="Oval 14"/>
            <p:cNvSpPr>
              <a:spLocks noChangeArrowheads="1"/>
            </p:cNvSpPr>
            <p:nvPr/>
          </p:nvSpPr>
          <p:spPr bwMode="auto">
            <a:xfrm>
              <a:off x="966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7" name="Oval 15"/>
            <p:cNvSpPr>
              <a:spLocks noChangeArrowheads="1"/>
            </p:cNvSpPr>
            <p:nvPr/>
          </p:nvSpPr>
          <p:spPr bwMode="auto">
            <a:xfrm>
              <a:off x="682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78" name="Oval 16"/>
            <p:cNvSpPr>
              <a:spLocks noChangeArrowheads="1"/>
            </p:cNvSpPr>
            <p:nvPr/>
          </p:nvSpPr>
          <p:spPr bwMode="auto">
            <a:xfrm>
              <a:off x="1254" y="2358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79" name="Oval 17"/>
            <p:cNvSpPr>
              <a:spLocks noChangeArrowheads="1"/>
            </p:cNvSpPr>
            <p:nvPr/>
          </p:nvSpPr>
          <p:spPr bwMode="auto">
            <a:xfrm>
              <a:off x="1735" y="1680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  <p:sp>
          <p:nvSpPr>
            <p:cNvPr id="80" name="Line 18"/>
            <p:cNvSpPr>
              <a:spLocks noChangeShapeType="1"/>
            </p:cNvSpPr>
            <p:nvPr/>
          </p:nvSpPr>
          <p:spPr bwMode="auto">
            <a:xfrm flipH="1">
              <a:off x="844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1" name="Line 19"/>
            <p:cNvSpPr>
              <a:spLocks noChangeShapeType="1"/>
            </p:cNvSpPr>
            <p:nvPr/>
          </p:nvSpPr>
          <p:spPr bwMode="auto">
            <a:xfrm>
              <a:off x="1127" y="2283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2" name="Oval 20"/>
            <p:cNvSpPr>
              <a:spLocks noChangeArrowheads="1"/>
            </p:cNvSpPr>
            <p:nvPr/>
          </p:nvSpPr>
          <p:spPr bwMode="auto">
            <a:xfrm>
              <a:off x="2584" y="2132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83" name="Oval 21"/>
            <p:cNvSpPr>
              <a:spLocks noChangeArrowheads="1"/>
            </p:cNvSpPr>
            <p:nvPr/>
          </p:nvSpPr>
          <p:spPr bwMode="auto">
            <a:xfrm>
              <a:off x="2908" y="2396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24</a:t>
              </a:r>
            </a:p>
          </p:txBody>
        </p:sp>
        <p:sp>
          <p:nvSpPr>
            <p:cNvPr id="84" name="Oval 22"/>
            <p:cNvSpPr>
              <a:spLocks noChangeArrowheads="1"/>
            </p:cNvSpPr>
            <p:nvPr/>
          </p:nvSpPr>
          <p:spPr bwMode="auto">
            <a:xfrm>
              <a:off x="2746" y="2698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19</a:t>
              </a:r>
            </a:p>
          </p:txBody>
        </p:sp>
        <p:sp>
          <p:nvSpPr>
            <p:cNvPr id="85" name="Oval 23"/>
            <p:cNvSpPr>
              <a:spLocks noChangeArrowheads="1"/>
            </p:cNvSpPr>
            <p:nvPr/>
          </p:nvSpPr>
          <p:spPr bwMode="auto">
            <a:xfrm>
              <a:off x="3096" y="2672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29</a:t>
              </a:r>
            </a:p>
          </p:txBody>
        </p:sp>
        <p:sp>
          <p:nvSpPr>
            <p:cNvPr id="86" name="Line 24"/>
            <p:cNvSpPr>
              <a:spLocks noChangeShapeType="1"/>
            </p:cNvSpPr>
            <p:nvPr/>
          </p:nvSpPr>
          <p:spPr bwMode="auto">
            <a:xfrm flipH="1">
              <a:off x="2866" y="2585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7" name="Line 25"/>
            <p:cNvSpPr>
              <a:spLocks noChangeShapeType="1"/>
            </p:cNvSpPr>
            <p:nvPr/>
          </p:nvSpPr>
          <p:spPr bwMode="auto">
            <a:xfrm>
              <a:off x="3061" y="2565"/>
              <a:ext cx="8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8" name="Line 26"/>
            <p:cNvSpPr>
              <a:spLocks noChangeShapeType="1"/>
            </p:cNvSpPr>
            <p:nvPr/>
          </p:nvSpPr>
          <p:spPr bwMode="auto">
            <a:xfrm>
              <a:off x="2746" y="2283"/>
              <a:ext cx="194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89" name="Line 27"/>
            <p:cNvSpPr>
              <a:spLocks noChangeShapeType="1"/>
            </p:cNvSpPr>
            <p:nvPr/>
          </p:nvSpPr>
          <p:spPr bwMode="auto">
            <a:xfrm flipH="1">
              <a:off x="1168" y="1831"/>
              <a:ext cx="60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0" name="Line 28"/>
            <p:cNvSpPr>
              <a:spLocks noChangeShapeType="1"/>
            </p:cNvSpPr>
            <p:nvPr/>
          </p:nvSpPr>
          <p:spPr bwMode="auto">
            <a:xfrm>
              <a:off x="1937" y="1831"/>
              <a:ext cx="647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1" name="Oval 29"/>
            <p:cNvSpPr>
              <a:spLocks noChangeArrowheads="1"/>
            </p:cNvSpPr>
            <p:nvPr/>
          </p:nvSpPr>
          <p:spPr bwMode="auto">
            <a:xfrm>
              <a:off x="1541" y="2637"/>
              <a:ext cx="202" cy="189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92" name="Line 30"/>
            <p:cNvSpPr>
              <a:spLocks noChangeShapeType="1"/>
            </p:cNvSpPr>
            <p:nvPr/>
          </p:nvSpPr>
          <p:spPr bwMode="auto">
            <a:xfrm>
              <a:off x="1405" y="2546"/>
              <a:ext cx="16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3" name="Oval 31"/>
            <p:cNvSpPr>
              <a:spLocks noChangeArrowheads="1"/>
            </p:cNvSpPr>
            <p:nvPr/>
          </p:nvSpPr>
          <p:spPr bwMode="auto">
            <a:xfrm>
              <a:off x="2398" y="2423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94" name="Line 32"/>
            <p:cNvSpPr>
              <a:spLocks noChangeShapeType="1"/>
            </p:cNvSpPr>
            <p:nvPr/>
          </p:nvSpPr>
          <p:spPr bwMode="auto">
            <a:xfrm flipH="1">
              <a:off x="2518" y="2310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5" name="Oval 33"/>
            <p:cNvSpPr>
              <a:spLocks noChangeArrowheads="1"/>
            </p:cNvSpPr>
            <p:nvPr/>
          </p:nvSpPr>
          <p:spPr bwMode="auto">
            <a:xfrm>
              <a:off x="2256" y="2711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13</a:t>
              </a:r>
            </a:p>
          </p:txBody>
        </p:sp>
        <p:sp>
          <p:nvSpPr>
            <p:cNvPr id="96" name="Line 34"/>
            <p:cNvSpPr>
              <a:spLocks noChangeShapeType="1"/>
            </p:cNvSpPr>
            <p:nvPr/>
          </p:nvSpPr>
          <p:spPr bwMode="auto">
            <a:xfrm flipH="1">
              <a:off x="2376" y="2598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97" name="Oval 35"/>
            <p:cNvSpPr>
              <a:spLocks noChangeArrowheads="1"/>
            </p:cNvSpPr>
            <p:nvPr/>
          </p:nvSpPr>
          <p:spPr bwMode="auto">
            <a:xfrm>
              <a:off x="2592" y="2986"/>
              <a:ext cx="202" cy="18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18</a:t>
              </a:r>
            </a:p>
          </p:txBody>
        </p:sp>
        <p:sp>
          <p:nvSpPr>
            <p:cNvPr id="98" name="Line 36"/>
            <p:cNvSpPr>
              <a:spLocks noChangeShapeType="1"/>
            </p:cNvSpPr>
            <p:nvPr/>
          </p:nvSpPr>
          <p:spPr bwMode="auto">
            <a:xfrm flipH="1">
              <a:off x="2712" y="2873"/>
              <a:ext cx="122" cy="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sp>
        <p:nvSpPr>
          <p:cNvPr id="99" name="Oval 23"/>
          <p:cNvSpPr>
            <a:spLocks noChangeArrowheads="1"/>
          </p:cNvSpPr>
          <p:nvPr/>
        </p:nvSpPr>
        <p:spPr bwMode="auto">
          <a:xfrm>
            <a:off x="9677539" y="6226894"/>
            <a:ext cx="306725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00" name="Line 25"/>
          <p:cNvSpPr>
            <a:spLocks noChangeShapeType="1"/>
          </p:cNvSpPr>
          <p:nvPr/>
        </p:nvSpPr>
        <p:spPr bwMode="auto">
          <a:xfrm>
            <a:off x="9624392" y="6057032"/>
            <a:ext cx="124512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101" name="מלבן 100"/>
          <p:cNvSpPr/>
          <p:nvPr/>
        </p:nvSpPr>
        <p:spPr>
          <a:xfrm>
            <a:off x="2492520" y="2900457"/>
            <a:ext cx="115288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לפני הכנסה</a:t>
            </a:r>
          </a:p>
        </p:txBody>
      </p:sp>
      <p:sp>
        <p:nvSpPr>
          <p:cNvPr id="102" name="מלבן 101"/>
          <p:cNvSpPr/>
          <p:nvPr/>
        </p:nvSpPr>
        <p:spPr>
          <a:xfrm>
            <a:off x="7914606" y="2900457"/>
            <a:ext cx="124906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הכנסה</a:t>
            </a:r>
          </a:p>
        </p:txBody>
      </p:sp>
      <p:sp>
        <p:nvSpPr>
          <p:cNvPr id="103" name="מלבן 102"/>
          <p:cNvSpPr/>
          <p:nvPr/>
        </p:nvSpPr>
        <p:spPr>
          <a:xfrm>
            <a:off x="7934672" y="6212825"/>
            <a:ext cx="1107996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גלגול</a:t>
            </a:r>
          </a:p>
        </p:txBody>
      </p:sp>
      <p:sp>
        <p:nvSpPr>
          <p:cNvPr id="104" name="AutoShape 42"/>
          <p:cNvSpPr>
            <a:spLocks noChangeArrowheads="1"/>
          </p:cNvSpPr>
          <p:nvPr/>
        </p:nvSpPr>
        <p:spPr bwMode="auto">
          <a:xfrm>
            <a:off x="5663952" y="1388770"/>
            <a:ext cx="936104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05" name="AutoShape 42"/>
          <p:cNvSpPr>
            <a:spLocks noChangeArrowheads="1"/>
          </p:cNvSpPr>
          <p:nvPr/>
        </p:nvSpPr>
        <p:spPr bwMode="auto">
          <a:xfrm rot="5400000">
            <a:off x="7183032" y="3494098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07" name="Oval 22"/>
          <p:cNvSpPr>
            <a:spLocks noChangeArrowheads="1"/>
          </p:cNvSpPr>
          <p:nvPr/>
        </p:nvSpPr>
        <p:spPr bwMode="auto">
          <a:xfrm>
            <a:off x="2441409" y="5265638"/>
            <a:ext cx="306725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08" name="Oval 35"/>
          <p:cNvSpPr>
            <a:spLocks noChangeArrowheads="1"/>
          </p:cNvSpPr>
          <p:nvPr/>
        </p:nvSpPr>
        <p:spPr bwMode="auto">
          <a:xfrm>
            <a:off x="2207569" y="5722838"/>
            <a:ext cx="306725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19</a:t>
            </a:r>
          </a:p>
        </p:txBody>
      </p:sp>
      <p:sp>
        <p:nvSpPr>
          <p:cNvPr id="109" name="Line 36"/>
          <p:cNvSpPr>
            <a:spLocks noChangeShapeType="1"/>
          </p:cNvSpPr>
          <p:nvPr/>
        </p:nvSpPr>
        <p:spPr bwMode="auto">
          <a:xfrm flipH="1">
            <a:off x="2389781" y="5543451"/>
            <a:ext cx="1852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110" name="Oval 22"/>
          <p:cNvSpPr>
            <a:spLocks noChangeArrowheads="1"/>
          </p:cNvSpPr>
          <p:nvPr/>
        </p:nvSpPr>
        <p:spPr bwMode="auto">
          <a:xfrm>
            <a:off x="4059565" y="5265638"/>
            <a:ext cx="306725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19</a:t>
            </a:r>
          </a:p>
        </p:txBody>
      </p:sp>
      <p:sp>
        <p:nvSpPr>
          <p:cNvPr id="111" name="Oval 35"/>
          <p:cNvSpPr>
            <a:spLocks noChangeArrowheads="1"/>
          </p:cNvSpPr>
          <p:nvPr/>
        </p:nvSpPr>
        <p:spPr bwMode="auto">
          <a:xfrm>
            <a:off x="3825725" y="5722838"/>
            <a:ext cx="306725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12" name="Line 36"/>
          <p:cNvSpPr>
            <a:spLocks noChangeShapeType="1"/>
          </p:cNvSpPr>
          <p:nvPr/>
        </p:nvSpPr>
        <p:spPr bwMode="auto">
          <a:xfrm flipH="1">
            <a:off x="4007937" y="5543451"/>
            <a:ext cx="1852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113" name="Oval 23"/>
          <p:cNvSpPr>
            <a:spLocks noChangeArrowheads="1"/>
          </p:cNvSpPr>
          <p:nvPr/>
        </p:nvSpPr>
        <p:spPr bwMode="auto">
          <a:xfrm>
            <a:off x="4349116" y="5717284"/>
            <a:ext cx="306725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14" name="Line 25"/>
          <p:cNvSpPr>
            <a:spLocks noChangeShapeType="1"/>
          </p:cNvSpPr>
          <p:nvPr/>
        </p:nvSpPr>
        <p:spPr bwMode="auto">
          <a:xfrm>
            <a:off x="4295969" y="5547422"/>
            <a:ext cx="124512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115" name="AutoShape 42"/>
          <p:cNvSpPr>
            <a:spLocks noChangeArrowheads="1"/>
          </p:cNvSpPr>
          <p:nvPr/>
        </p:nvSpPr>
        <p:spPr bwMode="auto">
          <a:xfrm>
            <a:off x="2927649" y="5517233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18" name="Text Box 50"/>
          <p:cNvSpPr txBox="1">
            <a:spLocks noChangeArrowheads="1"/>
          </p:cNvSpPr>
          <p:nvPr/>
        </p:nvSpPr>
        <p:spPr bwMode="auto">
          <a:xfrm>
            <a:off x="9244475" y="2475453"/>
            <a:ext cx="591283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mic Sans MS" pitchFamily="66" charset="0"/>
              </a:rPr>
              <a:t>+2</a:t>
            </a:r>
          </a:p>
        </p:txBody>
      </p:sp>
      <p:sp>
        <p:nvSpPr>
          <p:cNvPr id="119" name="Text Box 50"/>
          <p:cNvSpPr txBox="1">
            <a:spLocks noChangeArrowheads="1"/>
          </p:cNvSpPr>
          <p:nvPr/>
        </p:nvSpPr>
        <p:spPr bwMode="auto">
          <a:xfrm>
            <a:off x="9085240" y="2874422"/>
            <a:ext cx="591283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mic Sans MS" pitchFamily="66" charset="0"/>
              </a:rPr>
              <a:t>+1</a:t>
            </a:r>
          </a:p>
        </p:txBody>
      </p:sp>
      <p:sp>
        <p:nvSpPr>
          <p:cNvPr id="106" name="Oval 10"/>
          <p:cNvSpPr>
            <a:spLocks noChangeArrowheads="1"/>
          </p:cNvSpPr>
          <p:nvPr/>
        </p:nvSpPr>
        <p:spPr bwMode="auto">
          <a:xfrm>
            <a:off x="6269834" y="1052737"/>
            <a:ext cx="330223" cy="332760"/>
          </a:xfrm>
          <a:prstGeom prst="ellipse">
            <a:avLst/>
          </a:prstGeom>
          <a:solidFill>
            <a:srgbClr val="FF9900"/>
          </a:solidFill>
          <a:ln w="317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en-US" dirty="0">
                <a:latin typeface="Comic Sans MS" pitchFamily="66" charset="0"/>
              </a:rPr>
              <a:t>18</a:t>
            </a:r>
          </a:p>
        </p:txBody>
      </p:sp>
      <p:sp>
        <p:nvSpPr>
          <p:cNvPr id="117" name="מלבן 116"/>
          <p:cNvSpPr/>
          <p:nvPr/>
        </p:nvSpPr>
        <p:spPr>
          <a:xfrm>
            <a:off x="5591945" y="1052736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Insert</a:t>
            </a:r>
            <a:endParaRPr lang="he-IL" dirty="0"/>
          </a:p>
        </p:txBody>
      </p:sp>
      <p:sp>
        <p:nvSpPr>
          <p:cNvPr id="120" name="מלבן 119"/>
          <p:cNvSpPr/>
          <p:nvPr/>
        </p:nvSpPr>
        <p:spPr>
          <a:xfrm>
            <a:off x="7104112" y="34290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LL</a:t>
            </a:r>
            <a:endParaRPr lang="he-IL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גלגול </a:t>
            </a:r>
            <a:r>
              <a:rPr lang="en-US" sz="3200" u="sng" dirty="0"/>
              <a:t>LR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4" name="מלבן 73"/>
          <p:cNvSpPr/>
          <p:nvPr/>
        </p:nvSpPr>
        <p:spPr>
          <a:xfrm>
            <a:off x="3313286" y="2564904"/>
            <a:ext cx="115288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לפני הכנסה</a:t>
            </a:r>
          </a:p>
        </p:txBody>
      </p:sp>
      <p:sp>
        <p:nvSpPr>
          <p:cNvPr id="75" name="מלבן 74"/>
          <p:cNvSpPr/>
          <p:nvPr/>
        </p:nvSpPr>
        <p:spPr>
          <a:xfrm>
            <a:off x="8519348" y="2564904"/>
            <a:ext cx="124906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הכנסה</a:t>
            </a:r>
          </a:p>
        </p:txBody>
      </p:sp>
      <p:sp>
        <p:nvSpPr>
          <p:cNvPr id="99" name="Line 22"/>
          <p:cNvSpPr>
            <a:spLocks noChangeShapeType="1"/>
          </p:cNvSpPr>
          <p:nvPr/>
        </p:nvSpPr>
        <p:spPr bwMode="auto">
          <a:xfrm flipV="1">
            <a:off x="1740412" y="1834061"/>
            <a:ext cx="0" cy="30844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0" name="Line 23"/>
          <p:cNvSpPr>
            <a:spLocks noChangeShapeType="1"/>
          </p:cNvSpPr>
          <p:nvPr/>
        </p:nvSpPr>
        <p:spPr bwMode="auto">
          <a:xfrm>
            <a:off x="1740412" y="2371894"/>
            <a:ext cx="0" cy="265019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1" name="Text Box 24"/>
          <p:cNvSpPr txBox="1">
            <a:spLocks noChangeArrowheads="1"/>
          </p:cNvSpPr>
          <p:nvPr/>
        </p:nvSpPr>
        <p:spPr bwMode="auto">
          <a:xfrm>
            <a:off x="1559496" y="2070128"/>
            <a:ext cx="318904" cy="33855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  <a:latin typeface="Arial" pitchFamily="34" charset="0"/>
              </a:rPr>
              <a:t>h</a:t>
            </a:r>
          </a:p>
        </p:txBody>
      </p:sp>
      <p:sp>
        <p:nvSpPr>
          <p:cNvPr id="114" name="מלבן 113"/>
          <p:cNvSpPr/>
          <p:nvPr/>
        </p:nvSpPr>
        <p:spPr>
          <a:xfrm>
            <a:off x="8660412" y="6068809"/>
            <a:ext cx="1107996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גלגול</a:t>
            </a:r>
          </a:p>
        </p:txBody>
      </p:sp>
      <p:sp>
        <p:nvSpPr>
          <p:cNvPr id="115" name="AutoShape 42"/>
          <p:cNvSpPr>
            <a:spLocks noChangeArrowheads="1"/>
          </p:cNvSpPr>
          <p:nvPr/>
        </p:nvSpPr>
        <p:spPr bwMode="auto">
          <a:xfrm>
            <a:off x="5735961" y="1124745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16" name="AutoShape 42"/>
          <p:cNvSpPr>
            <a:spLocks noChangeArrowheads="1"/>
          </p:cNvSpPr>
          <p:nvPr/>
        </p:nvSpPr>
        <p:spPr bwMode="auto">
          <a:xfrm rot="5400000">
            <a:off x="7183032" y="3494098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17" name="מלבן 116"/>
          <p:cNvSpPr/>
          <p:nvPr/>
        </p:nvSpPr>
        <p:spPr>
          <a:xfrm>
            <a:off x="2219072" y="4149081"/>
            <a:ext cx="2935419" cy="19475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הגלגול: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buFontTx/>
              <a:buChar char="-"/>
              <a:defRPr/>
            </a:pPr>
            <a:r>
              <a:rPr lang="he-IL" dirty="0">
                <a:latin typeface="Times New Roman" pitchFamily="18" charset="0"/>
              </a:rPr>
              <a:t> נשמרת תכונת עץ החיפוש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buFontTx/>
              <a:buChar char="-"/>
              <a:defRPr/>
            </a:pPr>
            <a:r>
              <a:rPr lang="he-IL" dirty="0">
                <a:latin typeface="Times New Roman" pitchFamily="18" charset="0"/>
              </a:rPr>
              <a:t> הפרת האיזון תוקנה בתת עץ זה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גלגול </a:t>
            </a:r>
            <a:r>
              <a:rPr lang="en-US" dirty="0">
                <a:latin typeface="Times New Roman" pitchFamily="18" charset="0"/>
              </a:rPr>
              <a:t>RL</a:t>
            </a:r>
            <a:r>
              <a:rPr lang="he-IL" dirty="0">
                <a:latin typeface="Times New Roman" pitchFamily="18" charset="0"/>
              </a:rPr>
              <a:t> סימטרי</a:t>
            </a:r>
          </a:p>
        </p:txBody>
      </p:sp>
      <p:grpSp>
        <p:nvGrpSpPr>
          <p:cNvPr id="83" name="Group 101"/>
          <p:cNvGrpSpPr>
            <a:grpSpLocks/>
          </p:cNvGrpSpPr>
          <p:nvPr/>
        </p:nvGrpSpPr>
        <p:grpSpPr bwMode="auto">
          <a:xfrm>
            <a:off x="1847528" y="513556"/>
            <a:ext cx="3816424" cy="2099608"/>
            <a:chOff x="96" y="332"/>
            <a:chExt cx="3213" cy="1871"/>
          </a:xfrm>
        </p:grpSpPr>
        <p:sp>
          <p:nvSpPr>
            <p:cNvPr id="118" name="AutoShape 6"/>
            <p:cNvSpPr>
              <a:spLocks noChangeArrowheads="1"/>
            </p:cNvSpPr>
            <p:nvPr/>
          </p:nvSpPr>
          <p:spPr bwMode="auto">
            <a:xfrm>
              <a:off x="96" y="1476"/>
              <a:ext cx="841" cy="713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19" name="Rectangle 9"/>
            <p:cNvSpPr>
              <a:spLocks noChangeArrowheads="1"/>
            </p:cNvSpPr>
            <p:nvPr/>
          </p:nvSpPr>
          <p:spPr bwMode="auto">
            <a:xfrm>
              <a:off x="283" y="1846"/>
              <a:ext cx="393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Comic Sans MS" pitchFamily="66" charset="0"/>
                </a:rPr>
                <a:t>A</a:t>
              </a:r>
              <a:r>
                <a:rPr lang="en-US" sz="2000" baseline="-25000" dirty="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120" name="AutoShape 10"/>
            <p:cNvSpPr>
              <a:spLocks noChangeArrowheads="1"/>
            </p:cNvSpPr>
            <p:nvPr/>
          </p:nvSpPr>
          <p:spPr bwMode="auto">
            <a:xfrm>
              <a:off x="2257" y="1157"/>
              <a:ext cx="842" cy="714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21" name="Rectangle 14"/>
            <p:cNvSpPr>
              <a:spLocks noChangeArrowheads="1"/>
            </p:cNvSpPr>
            <p:nvPr/>
          </p:nvSpPr>
          <p:spPr bwMode="auto">
            <a:xfrm>
              <a:off x="2499" y="1518"/>
              <a:ext cx="375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Comic Sans MS" pitchFamily="66" charset="0"/>
                </a:rPr>
                <a:t>C</a:t>
              </a:r>
              <a:r>
                <a:rPr lang="en-US" sz="2000" baseline="-2500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122" name="Text Box 15"/>
            <p:cNvSpPr txBox="1">
              <a:spLocks noChangeArrowheads="1"/>
            </p:cNvSpPr>
            <p:nvPr/>
          </p:nvSpPr>
          <p:spPr bwMode="auto">
            <a:xfrm>
              <a:off x="777" y="636"/>
              <a:ext cx="259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</a:rPr>
                <a:t>0</a:t>
              </a:r>
            </a:p>
          </p:txBody>
        </p:sp>
        <p:sp>
          <p:nvSpPr>
            <p:cNvPr id="123" name="AutoShape 19"/>
            <p:cNvSpPr>
              <a:spLocks noChangeArrowheads="1"/>
            </p:cNvSpPr>
            <p:nvPr/>
          </p:nvSpPr>
          <p:spPr bwMode="auto">
            <a:xfrm>
              <a:off x="1132" y="1667"/>
              <a:ext cx="414" cy="511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24" name="AutoShape 20"/>
            <p:cNvSpPr>
              <a:spLocks noChangeArrowheads="1"/>
            </p:cNvSpPr>
            <p:nvPr/>
          </p:nvSpPr>
          <p:spPr bwMode="auto">
            <a:xfrm>
              <a:off x="1701" y="1667"/>
              <a:ext cx="415" cy="511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25" name="Rectangle 21"/>
            <p:cNvSpPr>
              <a:spLocks noChangeArrowheads="1"/>
            </p:cNvSpPr>
            <p:nvPr/>
          </p:nvSpPr>
          <p:spPr bwMode="auto">
            <a:xfrm>
              <a:off x="1171" y="1837"/>
              <a:ext cx="371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Comic Sans MS" pitchFamily="66" charset="0"/>
                </a:rPr>
                <a:t>B</a:t>
              </a:r>
              <a:r>
                <a:rPr lang="en-US" sz="2000" baseline="-2500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126" name="Rectangle 22"/>
            <p:cNvSpPr>
              <a:spLocks noChangeArrowheads="1"/>
            </p:cNvSpPr>
            <p:nvPr/>
          </p:nvSpPr>
          <p:spPr bwMode="auto">
            <a:xfrm>
              <a:off x="1736" y="1837"/>
              <a:ext cx="382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Comic Sans MS" pitchFamily="66" charset="0"/>
                </a:rPr>
                <a:t>B</a:t>
              </a:r>
              <a:r>
                <a:rPr lang="en-US" sz="2000" baseline="-2500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127" name="Line 25"/>
            <p:cNvSpPr>
              <a:spLocks noChangeShapeType="1"/>
            </p:cNvSpPr>
            <p:nvPr/>
          </p:nvSpPr>
          <p:spPr bwMode="auto">
            <a:xfrm>
              <a:off x="1099" y="1972"/>
              <a:ext cx="0" cy="204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28" name="Line 26"/>
            <p:cNvSpPr>
              <a:spLocks noChangeShapeType="1"/>
            </p:cNvSpPr>
            <p:nvPr/>
          </p:nvSpPr>
          <p:spPr bwMode="auto">
            <a:xfrm flipV="1">
              <a:off x="1099" y="1667"/>
              <a:ext cx="0" cy="153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29" name="Text Box 27"/>
            <p:cNvSpPr txBox="1">
              <a:spLocks noChangeArrowheads="1"/>
            </p:cNvSpPr>
            <p:nvPr/>
          </p:nvSpPr>
          <p:spPr bwMode="auto">
            <a:xfrm>
              <a:off x="903" y="1730"/>
              <a:ext cx="405" cy="30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6600"/>
                  </a:solidFill>
                  <a:latin typeface="Arial" pitchFamily="34" charset="0"/>
                </a:rPr>
                <a:t>h-1</a:t>
              </a:r>
            </a:p>
          </p:txBody>
        </p:sp>
        <p:sp>
          <p:nvSpPr>
            <p:cNvPr id="130" name="Line 28"/>
            <p:cNvSpPr>
              <a:spLocks noChangeShapeType="1"/>
            </p:cNvSpPr>
            <p:nvPr/>
          </p:nvSpPr>
          <p:spPr bwMode="auto">
            <a:xfrm>
              <a:off x="3213" y="1590"/>
              <a:ext cx="0" cy="28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31" name="Line 29"/>
            <p:cNvSpPr>
              <a:spLocks noChangeShapeType="1"/>
            </p:cNvSpPr>
            <p:nvPr/>
          </p:nvSpPr>
          <p:spPr bwMode="auto">
            <a:xfrm flipV="1">
              <a:off x="3213" y="1159"/>
              <a:ext cx="0" cy="254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32" name="Text Box 30"/>
            <p:cNvSpPr txBox="1">
              <a:spLocks noChangeArrowheads="1"/>
            </p:cNvSpPr>
            <p:nvPr/>
          </p:nvSpPr>
          <p:spPr bwMode="auto">
            <a:xfrm>
              <a:off x="3106" y="1326"/>
              <a:ext cx="203" cy="32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dirty="0">
                  <a:solidFill>
                    <a:srgbClr val="006600"/>
                  </a:solidFill>
                  <a:latin typeface="Arial" pitchFamily="34" charset="0"/>
                </a:rPr>
                <a:t>h</a:t>
              </a:r>
            </a:p>
          </p:txBody>
        </p:sp>
        <p:sp>
          <p:nvSpPr>
            <p:cNvPr id="133" name="Text Box 31"/>
            <p:cNvSpPr txBox="1">
              <a:spLocks noChangeArrowheads="1"/>
            </p:cNvSpPr>
            <p:nvPr/>
          </p:nvSpPr>
          <p:spPr bwMode="auto">
            <a:xfrm>
              <a:off x="1316" y="1209"/>
              <a:ext cx="259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</a:rPr>
                <a:t>0</a:t>
              </a:r>
            </a:p>
          </p:txBody>
        </p:sp>
        <p:sp>
          <p:nvSpPr>
            <p:cNvPr id="134" name="Text Box 67"/>
            <p:cNvSpPr txBox="1">
              <a:spLocks noChangeArrowheads="1"/>
            </p:cNvSpPr>
            <p:nvPr/>
          </p:nvSpPr>
          <p:spPr bwMode="auto">
            <a:xfrm>
              <a:off x="1635" y="332"/>
              <a:ext cx="401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</a:rPr>
                <a:t>+1</a:t>
              </a:r>
            </a:p>
          </p:txBody>
        </p:sp>
        <p:sp>
          <p:nvSpPr>
            <p:cNvPr id="138" name="Oval 74"/>
            <p:cNvSpPr>
              <a:spLocks noChangeArrowheads="1"/>
            </p:cNvSpPr>
            <p:nvPr/>
          </p:nvSpPr>
          <p:spPr bwMode="auto">
            <a:xfrm>
              <a:off x="990" y="727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dirty="0">
                  <a:latin typeface="Comic Sans MS" pitchFamily="66" charset="0"/>
                </a:rPr>
                <a:t>A</a:t>
              </a:r>
            </a:p>
          </p:txBody>
        </p:sp>
        <p:sp>
          <p:nvSpPr>
            <p:cNvPr id="139" name="Oval 75"/>
            <p:cNvSpPr>
              <a:spLocks noChangeArrowheads="1"/>
            </p:cNvSpPr>
            <p:nvPr/>
          </p:nvSpPr>
          <p:spPr bwMode="auto">
            <a:xfrm>
              <a:off x="1504" y="1320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b="1">
                  <a:latin typeface="Comic Sans MS" pitchFamily="66" charset="0"/>
                </a:rPr>
                <a:t>B</a:t>
              </a:r>
            </a:p>
          </p:txBody>
        </p:sp>
        <p:sp>
          <p:nvSpPr>
            <p:cNvPr id="140" name="Oval 76"/>
            <p:cNvSpPr>
              <a:spLocks noChangeArrowheads="1"/>
            </p:cNvSpPr>
            <p:nvPr/>
          </p:nvSpPr>
          <p:spPr bwMode="auto">
            <a:xfrm>
              <a:off x="1918" y="474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>
                  <a:latin typeface="Comic Sans MS" pitchFamily="66" charset="0"/>
                </a:rPr>
                <a:t>C</a:t>
              </a:r>
            </a:p>
          </p:txBody>
        </p:sp>
        <p:cxnSp>
          <p:nvCxnSpPr>
            <p:cNvPr id="141" name="AutoShape 77"/>
            <p:cNvCxnSpPr>
              <a:cxnSpLocks noChangeShapeType="1"/>
              <a:stCxn id="138" idx="3"/>
              <a:endCxn id="118" idx="0"/>
            </p:cNvCxnSpPr>
            <p:nvPr/>
          </p:nvCxnSpPr>
          <p:spPr bwMode="auto">
            <a:xfrm flipH="1">
              <a:off x="517" y="955"/>
              <a:ext cx="510" cy="51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2" name="AutoShape 80"/>
            <p:cNvCxnSpPr>
              <a:cxnSpLocks noChangeShapeType="1"/>
              <a:stCxn id="138" idx="5"/>
              <a:endCxn id="139" idx="1"/>
            </p:cNvCxnSpPr>
            <p:nvPr/>
          </p:nvCxnSpPr>
          <p:spPr bwMode="auto">
            <a:xfrm>
              <a:off x="1208" y="955"/>
              <a:ext cx="333" cy="39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3" name="AutoShape 81"/>
            <p:cNvCxnSpPr>
              <a:cxnSpLocks noChangeShapeType="1"/>
              <a:stCxn id="139" idx="3"/>
              <a:endCxn id="123" idx="0"/>
            </p:cNvCxnSpPr>
            <p:nvPr/>
          </p:nvCxnSpPr>
          <p:spPr bwMode="auto">
            <a:xfrm flipH="1">
              <a:off x="1339" y="1548"/>
              <a:ext cx="202" cy="11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4" name="AutoShape 82"/>
            <p:cNvCxnSpPr>
              <a:cxnSpLocks noChangeShapeType="1"/>
              <a:stCxn id="139" idx="5"/>
              <a:endCxn id="124" idx="0"/>
            </p:cNvCxnSpPr>
            <p:nvPr/>
          </p:nvCxnSpPr>
          <p:spPr bwMode="auto">
            <a:xfrm>
              <a:off x="1722" y="1548"/>
              <a:ext cx="187" cy="11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5" name="AutoShape 83"/>
            <p:cNvCxnSpPr>
              <a:cxnSpLocks noChangeShapeType="1"/>
              <a:stCxn id="138" idx="6"/>
              <a:endCxn id="140" idx="2"/>
            </p:cNvCxnSpPr>
            <p:nvPr/>
          </p:nvCxnSpPr>
          <p:spPr bwMode="auto">
            <a:xfrm flipV="1">
              <a:off x="1255" y="602"/>
              <a:ext cx="653" cy="253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46" name="AutoShape 84"/>
            <p:cNvCxnSpPr>
              <a:cxnSpLocks noChangeShapeType="1"/>
              <a:stCxn id="140" idx="6"/>
              <a:endCxn id="120" idx="0"/>
            </p:cNvCxnSpPr>
            <p:nvPr/>
          </p:nvCxnSpPr>
          <p:spPr bwMode="auto">
            <a:xfrm>
              <a:off x="2183" y="602"/>
              <a:ext cx="495" cy="546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82" name="Line 22"/>
          <p:cNvSpPr>
            <a:spLocks noChangeShapeType="1"/>
          </p:cNvSpPr>
          <p:nvPr/>
        </p:nvSpPr>
        <p:spPr bwMode="auto">
          <a:xfrm flipV="1">
            <a:off x="6348924" y="1869185"/>
            <a:ext cx="0" cy="30844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83" name="Line 23"/>
          <p:cNvSpPr>
            <a:spLocks noChangeShapeType="1"/>
          </p:cNvSpPr>
          <p:nvPr/>
        </p:nvSpPr>
        <p:spPr bwMode="auto">
          <a:xfrm>
            <a:off x="6348924" y="2407018"/>
            <a:ext cx="0" cy="265019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84" name="Text Box 24"/>
          <p:cNvSpPr txBox="1">
            <a:spLocks noChangeArrowheads="1"/>
          </p:cNvSpPr>
          <p:nvPr/>
        </p:nvSpPr>
        <p:spPr bwMode="auto">
          <a:xfrm>
            <a:off x="6168008" y="2105252"/>
            <a:ext cx="318904" cy="33855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  <a:latin typeface="Arial" pitchFamily="34" charset="0"/>
              </a:rPr>
              <a:t>h</a:t>
            </a:r>
          </a:p>
        </p:txBody>
      </p:sp>
      <p:grpSp>
        <p:nvGrpSpPr>
          <p:cNvPr id="185" name="Group 101"/>
          <p:cNvGrpSpPr>
            <a:grpSpLocks/>
          </p:cNvGrpSpPr>
          <p:nvPr/>
        </p:nvGrpSpPr>
        <p:grpSpPr bwMode="auto">
          <a:xfrm>
            <a:off x="6456040" y="548680"/>
            <a:ext cx="3816424" cy="2099608"/>
            <a:chOff x="96" y="332"/>
            <a:chExt cx="3213" cy="1871"/>
          </a:xfrm>
        </p:grpSpPr>
        <p:sp>
          <p:nvSpPr>
            <p:cNvPr id="186" name="AutoShape 6"/>
            <p:cNvSpPr>
              <a:spLocks noChangeArrowheads="1"/>
            </p:cNvSpPr>
            <p:nvPr/>
          </p:nvSpPr>
          <p:spPr bwMode="auto">
            <a:xfrm>
              <a:off x="96" y="1476"/>
              <a:ext cx="841" cy="713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87" name="Rectangle 9"/>
            <p:cNvSpPr>
              <a:spLocks noChangeArrowheads="1"/>
            </p:cNvSpPr>
            <p:nvPr/>
          </p:nvSpPr>
          <p:spPr bwMode="auto">
            <a:xfrm>
              <a:off x="283" y="1846"/>
              <a:ext cx="393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Comic Sans MS" pitchFamily="66" charset="0"/>
                </a:rPr>
                <a:t>A</a:t>
              </a:r>
              <a:r>
                <a:rPr lang="en-US" sz="2000" baseline="-25000" dirty="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188" name="AutoShape 10"/>
            <p:cNvSpPr>
              <a:spLocks noChangeArrowheads="1"/>
            </p:cNvSpPr>
            <p:nvPr/>
          </p:nvSpPr>
          <p:spPr bwMode="auto">
            <a:xfrm>
              <a:off x="2257" y="1157"/>
              <a:ext cx="842" cy="714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89" name="Rectangle 14"/>
            <p:cNvSpPr>
              <a:spLocks noChangeArrowheads="1"/>
            </p:cNvSpPr>
            <p:nvPr/>
          </p:nvSpPr>
          <p:spPr bwMode="auto">
            <a:xfrm>
              <a:off x="2499" y="1518"/>
              <a:ext cx="375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Comic Sans MS" pitchFamily="66" charset="0"/>
                </a:rPr>
                <a:t>C</a:t>
              </a:r>
              <a:r>
                <a:rPr lang="en-US" sz="2000" baseline="-2500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190" name="Text Box 15"/>
            <p:cNvSpPr txBox="1">
              <a:spLocks noChangeArrowheads="1"/>
            </p:cNvSpPr>
            <p:nvPr/>
          </p:nvSpPr>
          <p:spPr bwMode="auto">
            <a:xfrm>
              <a:off x="642" y="636"/>
              <a:ext cx="394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Arial" pitchFamily="34" charset="0"/>
                </a:rPr>
                <a:t>-1</a:t>
              </a:r>
            </a:p>
          </p:txBody>
        </p:sp>
        <p:sp>
          <p:nvSpPr>
            <p:cNvPr id="191" name="AutoShape 19"/>
            <p:cNvSpPr>
              <a:spLocks noChangeArrowheads="1"/>
            </p:cNvSpPr>
            <p:nvPr/>
          </p:nvSpPr>
          <p:spPr bwMode="auto">
            <a:xfrm>
              <a:off x="1132" y="1667"/>
              <a:ext cx="414" cy="511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2" name="AutoShape 20"/>
            <p:cNvSpPr>
              <a:spLocks noChangeArrowheads="1"/>
            </p:cNvSpPr>
            <p:nvPr/>
          </p:nvSpPr>
          <p:spPr bwMode="auto">
            <a:xfrm>
              <a:off x="1701" y="1667"/>
              <a:ext cx="415" cy="511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3" name="Rectangle 21"/>
            <p:cNvSpPr>
              <a:spLocks noChangeArrowheads="1"/>
            </p:cNvSpPr>
            <p:nvPr/>
          </p:nvSpPr>
          <p:spPr bwMode="auto">
            <a:xfrm>
              <a:off x="1171" y="1837"/>
              <a:ext cx="371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Comic Sans MS" pitchFamily="66" charset="0"/>
                </a:rPr>
                <a:t>B</a:t>
              </a:r>
              <a:r>
                <a:rPr lang="en-US" sz="2000" baseline="-2500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194" name="Rectangle 22"/>
            <p:cNvSpPr>
              <a:spLocks noChangeArrowheads="1"/>
            </p:cNvSpPr>
            <p:nvPr/>
          </p:nvSpPr>
          <p:spPr bwMode="auto">
            <a:xfrm>
              <a:off x="1736" y="1837"/>
              <a:ext cx="382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Comic Sans MS" pitchFamily="66" charset="0"/>
                </a:rPr>
                <a:t>B</a:t>
              </a:r>
              <a:r>
                <a:rPr lang="en-US" sz="2000" baseline="-2500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195" name="Line 25"/>
            <p:cNvSpPr>
              <a:spLocks noChangeShapeType="1"/>
            </p:cNvSpPr>
            <p:nvPr/>
          </p:nvSpPr>
          <p:spPr bwMode="auto">
            <a:xfrm>
              <a:off x="1099" y="1972"/>
              <a:ext cx="0" cy="204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 flipV="1">
              <a:off x="1099" y="1667"/>
              <a:ext cx="0" cy="153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7" name="Text Box 27"/>
            <p:cNvSpPr txBox="1">
              <a:spLocks noChangeArrowheads="1"/>
            </p:cNvSpPr>
            <p:nvPr/>
          </p:nvSpPr>
          <p:spPr bwMode="auto">
            <a:xfrm>
              <a:off x="903" y="1730"/>
              <a:ext cx="405" cy="30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6600"/>
                  </a:solidFill>
                  <a:latin typeface="Arial" pitchFamily="34" charset="0"/>
                </a:rPr>
                <a:t>h-1</a:t>
              </a:r>
            </a:p>
          </p:txBody>
        </p:sp>
        <p:sp>
          <p:nvSpPr>
            <p:cNvPr id="198" name="Line 28"/>
            <p:cNvSpPr>
              <a:spLocks noChangeShapeType="1"/>
            </p:cNvSpPr>
            <p:nvPr/>
          </p:nvSpPr>
          <p:spPr bwMode="auto">
            <a:xfrm>
              <a:off x="3213" y="1590"/>
              <a:ext cx="0" cy="28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9" name="Line 29"/>
            <p:cNvSpPr>
              <a:spLocks noChangeShapeType="1"/>
            </p:cNvSpPr>
            <p:nvPr/>
          </p:nvSpPr>
          <p:spPr bwMode="auto">
            <a:xfrm flipV="1">
              <a:off x="3213" y="1159"/>
              <a:ext cx="0" cy="254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00" name="Text Box 30"/>
            <p:cNvSpPr txBox="1">
              <a:spLocks noChangeArrowheads="1"/>
            </p:cNvSpPr>
            <p:nvPr/>
          </p:nvSpPr>
          <p:spPr bwMode="auto">
            <a:xfrm>
              <a:off x="3106" y="1326"/>
              <a:ext cx="203" cy="32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dirty="0">
                  <a:solidFill>
                    <a:srgbClr val="006600"/>
                  </a:solidFill>
                  <a:latin typeface="Arial" pitchFamily="34" charset="0"/>
                </a:rPr>
                <a:t>h</a:t>
              </a:r>
            </a:p>
          </p:txBody>
        </p:sp>
        <p:sp>
          <p:nvSpPr>
            <p:cNvPr id="201" name="Text Box 31"/>
            <p:cNvSpPr txBox="1">
              <a:spLocks noChangeArrowheads="1"/>
            </p:cNvSpPr>
            <p:nvPr/>
          </p:nvSpPr>
          <p:spPr bwMode="auto">
            <a:xfrm>
              <a:off x="1127" y="1209"/>
              <a:ext cx="448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Arial" pitchFamily="34" charset="0"/>
                </a:rPr>
                <a:t>+1</a:t>
              </a:r>
            </a:p>
          </p:txBody>
        </p:sp>
        <p:sp>
          <p:nvSpPr>
            <p:cNvPr id="202" name="Text Box 67"/>
            <p:cNvSpPr txBox="1">
              <a:spLocks noChangeArrowheads="1"/>
            </p:cNvSpPr>
            <p:nvPr/>
          </p:nvSpPr>
          <p:spPr bwMode="auto">
            <a:xfrm>
              <a:off x="1551" y="332"/>
              <a:ext cx="401" cy="35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Arial" pitchFamily="34" charset="0"/>
                </a:rPr>
                <a:t>+2</a:t>
              </a:r>
            </a:p>
          </p:txBody>
        </p:sp>
        <p:sp>
          <p:nvSpPr>
            <p:cNvPr id="203" name="Oval 74"/>
            <p:cNvSpPr>
              <a:spLocks noChangeArrowheads="1"/>
            </p:cNvSpPr>
            <p:nvPr/>
          </p:nvSpPr>
          <p:spPr bwMode="auto">
            <a:xfrm>
              <a:off x="990" y="727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dirty="0">
                  <a:latin typeface="Comic Sans MS" pitchFamily="66" charset="0"/>
                </a:rPr>
                <a:t>A</a:t>
              </a:r>
            </a:p>
          </p:txBody>
        </p:sp>
        <p:sp>
          <p:nvSpPr>
            <p:cNvPr id="204" name="Oval 75"/>
            <p:cNvSpPr>
              <a:spLocks noChangeArrowheads="1"/>
            </p:cNvSpPr>
            <p:nvPr/>
          </p:nvSpPr>
          <p:spPr bwMode="auto">
            <a:xfrm>
              <a:off x="1504" y="1320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b="1">
                  <a:latin typeface="Comic Sans MS" pitchFamily="66" charset="0"/>
                </a:rPr>
                <a:t>B</a:t>
              </a:r>
            </a:p>
          </p:txBody>
        </p:sp>
        <p:sp>
          <p:nvSpPr>
            <p:cNvPr id="205" name="Oval 76"/>
            <p:cNvSpPr>
              <a:spLocks noChangeArrowheads="1"/>
            </p:cNvSpPr>
            <p:nvPr/>
          </p:nvSpPr>
          <p:spPr bwMode="auto">
            <a:xfrm>
              <a:off x="1918" y="474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>
                  <a:latin typeface="Comic Sans MS" pitchFamily="66" charset="0"/>
                </a:rPr>
                <a:t>C</a:t>
              </a:r>
            </a:p>
          </p:txBody>
        </p:sp>
        <p:cxnSp>
          <p:nvCxnSpPr>
            <p:cNvPr id="206" name="AutoShape 77"/>
            <p:cNvCxnSpPr>
              <a:cxnSpLocks noChangeShapeType="1"/>
              <a:stCxn id="203" idx="3"/>
              <a:endCxn id="186" idx="0"/>
            </p:cNvCxnSpPr>
            <p:nvPr/>
          </p:nvCxnSpPr>
          <p:spPr bwMode="auto">
            <a:xfrm flipH="1">
              <a:off x="517" y="955"/>
              <a:ext cx="510" cy="51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7" name="AutoShape 80"/>
            <p:cNvCxnSpPr>
              <a:cxnSpLocks noChangeShapeType="1"/>
              <a:stCxn id="203" idx="5"/>
              <a:endCxn id="204" idx="1"/>
            </p:cNvCxnSpPr>
            <p:nvPr/>
          </p:nvCxnSpPr>
          <p:spPr bwMode="auto">
            <a:xfrm>
              <a:off x="1208" y="955"/>
              <a:ext cx="333" cy="39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8" name="AutoShape 81"/>
            <p:cNvCxnSpPr>
              <a:cxnSpLocks noChangeShapeType="1"/>
              <a:stCxn id="204" idx="3"/>
              <a:endCxn id="191" idx="0"/>
            </p:cNvCxnSpPr>
            <p:nvPr/>
          </p:nvCxnSpPr>
          <p:spPr bwMode="auto">
            <a:xfrm flipH="1">
              <a:off x="1339" y="1548"/>
              <a:ext cx="202" cy="11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09" name="AutoShape 82"/>
            <p:cNvCxnSpPr>
              <a:cxnSpLocks noChangeShapeType="1"/>
              <a:stCxn id="204" idx="5"/>
              <a:endCxn id="192" idx="0"/>
            </p:cNvCxnSpPr>
            <p:nvPr/>
          </p:nvCxnSpPr>
          <p:spPr bwMode="auto">
            <a:xfrm>
              <a:off x="1722" y="1548"/>
              <a:ext cx="187" cy="11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0" name="AutoShape 83"/>
            <p:cNvCxnSpPr>
              <a:cxnSpLocks noChangeShapeType="1"/>
              <a:stCxn id="203" idx="6"/>
              <a:endCxn id="205" idx="2"/>
            </p:cNvCxnSpPr>
            <p:nvPr/>
          </p:nvCxnSpPr>
          <p:spPr bwMode="auto">
            <a:xfrm flipV="1">
              <a:off x="1255" y="602"/>
              <a:ext cx="653" cy="253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11" name="AutoShape 84"/>
            <p:cNvCxnSpPr>
              <a:cxnSpLocks noChangeShapeType="1"/>
              <a:stCxn id="205" idx="6"/>
              <a:endCxn id="188" idx="0"/>
            </p:cNvCxnSpPr>
            <p:nvPr/>
          </p:nvCxnSpPr>
          <p:spPr bwMode="auto">
            <a:xfrm>
              <a:off x="2183" y="602"/>
              <a:ext cx="495" cy="546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212" name="Oval 63"/>
          <p:cNvSpPr>
            <a:spLocks noChangeArrowheads="1"/>
          </p:cNvSpPr>
          <p:nvPr/>
        </p:nvSpPr>
        <p:spPr bwMode="auto">
          <a:xfrm>
            <a:off x="7536160" y="2782784"/>
            <a:ext cx="311694" cy="286176"/>
          </a:xfrm>
          <a:prstGeom prst="ellipse">
            <a:avLst/>
          </a:prstGeom>
          <a:solidFill>
            <a:srgbClr val="FF9900"/>
          </a:solidFill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en-US" dirty="0">
                <a:latin typeface="Comic Sans MS" pitchFamily="66" charset="0"/>
              </a:rPr>
              <a:t>v</a:t>
            </a:r>
          </a:p>
        </p:txBody>
      </p:sp>
      <p:sp>
        <p:nvSpPr>
          <p:cNvPr id="213" name="Line 21"/>
          <p:cNvSpPr>
            <a:spLocks noChangeShapeType="1"/>
          </p:cNvSpPr>
          <p:nvPr/>
        </p:nvSpPr>
        <p:spPr bwMode="auto">
          <a:xfrm flipH="1">
            <a:off x="7752185" y="2636912"/>
            <a:ext cx="191343" cy="16034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grpSp>
        <p:nvGrpSpPr>
          <p:cNvPr id="216" name="Group 99"/>
          <p:cNvGrpSpPr>
            <a:grpSpLocks/>
          </p:cNvGrpSpPr>
          <p:nvPr/>
        </p:nvGrpSpPr>
        <p:grpSpPr bwMode="auto">
          <a:xfrm>
            <a:off x="5807968" y="3789040"/>
            <a:ext cx="4428776" cy="2304380"/>
            <a:chOff x="58" y="2336"/>
            <a:chExt cx="3761" cy="1984"/>
          </a:xfrm>
        </p:grpSpPr>
        <p:sp>
          <p:nvSpPr>
            <p:cNvPr id="217" name="AutoShape 36"/>
            <p:cNvSpPr>
              <a:spLocks noChangeArrowheads="1"/>
            </p:cNvSpPr>
            <p:nvPr/>
          </p:nvSpPr>
          <p:spPr bwMode="auto">
            <a:xfrm>
              <a:off x="58" y="3493"/>
              <a:ext cx="860" cy="743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8" name="Rectangle 39"/>
            <p:cNvSpPr>
              <a:spLocks noChangeArrowheads="1"/>
            </p:cNvSpPr>
            <p:nvPr/>
          </p:nvSpPr>
          <p:spPr bwMode="auto">
            <a:xfrm>
              <a:off x="300" y="3913"/>
              <a:ext cx="396" cy="34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Comic Sans MS" pitchFamily="66" charset="0"/>
                </a:rPr>
                <a:t>A</a:t>
              </a:r>
              <a:r>
                <a:rPr lang="en-US" sz="2000" baseline="-25000" dirty="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219" name="AutoShape 40"/>
            <p:cNvSpPr>
              <a:spLocks noChangeArrowheads="1"/>
            </p:cNvSpPr>
            <p:nvPr/>
          </p:nvSpPr>
          <p:spPr bwMode="auto">
            <a:xfrm>
              <a:off x="2849" y="3522"/>
              <a:ext cx="859" cy="743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0" name="Rectangle 44"/>
            <p:cNvSpPr>
              <a:spLocks noChangeArrowheads="1"/>
            </p:cNvSpPr>
            <p:nvPr/>
          </p:nvSpPr>
          <p:spPr bwMode="auto">
            <a:xfrm>
              <a:off x="3144" y="3946"/>
              <a:ext cx="379" cy="34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omic Sans MS" pitchFamily="66" charset="0"/>
                </a:rPr>
                <a:t>C</a:t>
              </a:r>
              <a:r>
                <a:rPr lang="en-US" sz="2000" baseline="-2500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221" name="Text Box 45"/>
            <p:cNvSpPr txBox="1">
              <a:spLocks noChangeArrowheads="1"/>
            </p:cNvSpPr>
            <p:nvPr/>
          </p:nvSpPr>
          <p:spPr bwMode="auto">
            <a:xfrm>
              <a:off x="701" y="3018"/>
              <a:ext cx="264" cy="3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 dirty="0">
                  <a:latin typeface="Comic Sans MS" pitchFamily="66" charset="0"/>
                </a:rPr>
                <a:t>0</a:t>
              </a:r>
            </a:p>
          </p:txBody>
        </p:sp>
        <p:sp>
          <p:nvSpPr>
            <p:cNvPr id="222" name="Line 47"/>
            <p:cNvSpPr>
              <a:spLocks noChangeShapeType="1"/>
            </p:cNvSpPr>
            <p:nvPr/>
          </p:nvSpPr>
          <p:spPr bwMode="auto">
            <a:xfrm flipH="1">
              <a:off x="1539" y="4000"/>
              <a:ext cx="159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3" name="AutoShape 49"/>
            <p:cNvSpPr>
              <a:spLocks noChangeArrowheads="1"/>
            </p:cNvSpPr>
            <p:nvPr/>
          </p:nvSpPr>
          <p:spPr bwMode="auto">
            <a:xfrm>
              <a:off x="1381" y="3471"/>
              <a:ext cx="423" cy="532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4" name="AutoShape 50"/>
            <p:cNvSpPr>
              <a:spLocks noChangeArrowheads="1"/>
            </p:cNvSpPr>
            <p:nvPr/>
          </p:nvSpPr>
          <p:spPr bwMode="auto">
            <a:xfrm>
              <a:off x="2386" y="3524"/>
              <a:ext cx="423" cy="532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" name="Rectangle 51"/>
            <p:cNvSpPr>
              <a:spLocks noChangeArrowheads="1"/>
            </p:cNvSpPr>
            <p:nvPr/>
          </p:nvSpPr>
          <p:spPr bwMode="auto">
            <a:xfrm>
              <a:off x="1403" y="3700"/>
              <a:ext cx="375" cy="34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Comic Sans MS" pitchFamily="66" charset="0"/>
                </a:rPr>
                <a:t>B</a:t>
              </a:r>
              <a:r>
                <a:rPr lang="en-US" sz="2000" baseline="-25000" dirty="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226" name="Rectangle 52"/>
            <p:cNvSpPr>
              <a:spLocks noChangeArrowheads="1"/>
            </p:cNvSpPr>
            <p:nvPr/>
          </p:nvSpPr>
          <p:spPr bwMode="auto">
            <a:xfrm>
              <a:off x="2450" y="3753"/>
              <a:ext cx="386" cy="34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omic Sans MS" pitchFamily="66" charset="0"/>
                </a:rPr>
                <a:t>B</a:t>
              </a:r>
              <a:r>
                <a:rPr lang="en-US" sz="2000" baseline="-25000">
                  <a:latin typeface="Comic Sans MS" pitchFamily="66" charset="0"/>
                </a:rPr>
                <a:t>R</a:t>
              </a:r>
            </a:p>
          </p:txBody>
        </p:sp>
        <p:sp>
          <p:nvSpPr>
            <p:cNvPr id="227" name="Line 53"/>
            <p:cNvSpPr>
              <a:spLocks noChangeShapeType="1"/>
            </p:cNvSpPr>
            <p:nvPr/>
          </p:nvSpPr>
          <p:spPr bwMode="auto">
            <a:xfrm>
              <a:off x="2280" y="3842"/>
              <a:ext cx="0" cy="21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8" name="Line 54"/>
            <p:cNvSpPr>
              <a:spLocks noChangeShapeType="1"/>
            </p:cNvSpPr>
            <p:nvPr/>
          </p:nvSpPr>
          <p:spPr bwMode="auto">
            <a:xfrm flipV="1">
              <a:off x="2280" y="3524"/>
              <a:ext cx="0" cy="159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9" name="Text Box 55"/>
            <p:cNvSpPr txBox="1">
              <a:spLocks noChangeArrowheads="1"/>
            </p:cNvSpPr>
            <p:nvPr/>
          </p:nvSpPr>
          <p:spPr bwMode="auto">
            <a:xfrm>
              <a:off x="2081" y="3591"/>
              <a:ext cx="440" cy="3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latin typeface="Comic Sans MS" pitchFamily="66" charset="0"/>
                </a:rPr>
                <a:t>h-1</a:t>
              </a:r>
            </a:p>
          </p:txBody>
        </p:sp>
        <p:sp>
          <p:nvSpPr>
            <p:cNvPr id="230" name="Line 56"/>
            <p:cNvSpPr>
              <a:spLocks noChangeShapeType="1"/>
            </p:cNvSpPr>
            <p:nvPr/>
          </p:nvSpPr>
          <p:spPr bwMode="auto">
            <a:xfrm>
              <a:off x="3763" y="3988"/>
              <a:ext cx="0" cy="277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31" name="Line 57"/>
            <p:cNvSpPr>
              <a:spLocks noChangeShapeType="1"/>
            </p:cNvSpPr>
            <p:nvPr/>
          </p:nvSpPr>
          <p:spPr bwMode="auto">
            <a:xfrm flipV="1">
              <a:off x="3763" y="3524"/>
              <a:ext cx="0" cy="288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32" name="Text Box 58"/>
            <p:cNvSpPr txBox="1">
              <a:spLocks noChangeArrowheads="1"/>
            </p:cNvSpPr>
            <p:nvPr/>
          </p:nvSpPr>
          <p:spPr bwMode="auto">
            <a:xfrm>
              <a:off x="3612" y="3744"/>
              <a:ext cx="207" cy="3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latin typeface="Comic Sans MS" pitchFamily="66" charset="0"/>
                </a:rPr>
                <a:t>h</a:t>
              </a:r>
            </a:p>
          </p:txBody>
        </p:sp>
        <p:sp>
          <p:nvSpPr>
            <p:cNvPr id="233" name="Text Box 59"/>
            <p:cNvSpPr txBox="1">
              <a:spLocks noChangeArrowheads="1"/>
            </p:cNvSpPr>
            <p:nvPr/>
          </p:nvSpPr>
          <p:spPr bwMode="auto">
            <a:xfrm>
              <a:off x="2099" y="2336"/>
              <a:ext cx="264" cy="3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>
                  <a:latin typeface="Comic Sans MS" pitchFamily="66" charset="0"/>
                </a:rPr>
                <a:t>0</a:t>
              </a:r>
            </a:p>
          </p:txBody>
        </p:sp>
        <p:sp>
          <p:nvSpPr>
            <p:cNvPr id="234" name="Line 62"/>
            <p:cNvSpPr>
              <a:spLocks noChangeShapeType="1"/>
            </p:cNvSpPr>
            <p:nvPr/>
          </p:nvSpPr>
          <p:spPr bwMode="auto">
            <a:xfrm>
              <a:off x="1214" y="3980"/>
              <a:ext cx="0" cy="285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35" name="Line 63"/>
            <p:cNvSpPr>
              <a:spLocks noChangeShapeType="1"/>
            </p:cNvSpPr>
            <p:nvPr/>
          </p:nvSpPr>
          <p:spPr bwMode="auto">
            <a:xfrm flipV="1">
              <a:off x="1222" y="3500"/>
              <a:ext cx="0" cy="32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37" name="Text Box 65"/>
            <p:cNvSpPr txBox="1">
              <a:spLocks noChangeArrowheads="1"/>
            </p:cNvSpPr>
            <p:nvPr/>
          </p:nvSpPr>
          <p:spPr bwMode="auto">
            <a:xfrm>
              <a:off x="2555" y="3031"/>
              <a:ext cx="346" cy="3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Comic Sans MS" pitchFamily="66" charset="0"/>
                </a:rPr>
                <a:t>-1</a:t>
              </a:r>
            </a:p>
          </p:txBody>
        </p:sp>
        <p:sp>
          <p:nvSpPr>
            <p:cNvPr id="238" name="Oval 72"/>
            <p:cNvSpPr>
              <a:spLocks noChangeArrowheads="1"/>
            </p:cNvSpPr>
            <p:nvPr/>
          </p:nvSpPr>
          <p:spPr bwMode="auto">
            <a:xfrm>
              <a:off x="1298" y="4065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>
                  <a:latin typeface="Comic Sans MS" pitchFamily="66" charset="0"/>
                </a:rPr>
                <a:t>v</a:t>
              </a:r>
            </a:p>
          </p:txBody>
        </p:sp>
        <p:sp>
          <p:nvSpPr>
            <p:cNvPr id="239" name="Oval 89"/>
            <p:cNvSpPr>
              <a:spLocks noChangeArrowheads="1"/>
            </p:cNvSpPr>
            <p:nvPr/>
          </p:nvSpPr>
          <p:spPr bwMode="auto">
            <a:xfrm>
              <a:off x="2859" y="3043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>
                  <a:latin typeface="Comic Sans MS" pitchFamily="66" charset="0"/>
                </a:rPr>
                <a:t>C</a:t>
              </a:r>
            </a:p>
          </p:txBody>
        </p:sp>
        <p:sp>
          <p:nvSpPr>
            <p:cNvPr id="240" name="Oval 90"/>
            <p:cNvSpPr>
              <a:spLocks noChangeArrowheads="1"/>
            </p:cNvSpPr>
            <p:nvPr/>
          </p:nvSpPr>
          <p:spPr bwMode="auto">
            <a:xfrm>
              <a:off x="2151" y="2389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>
                  <a:latin typeface="Comic Sans MS" pitchFamily="66" charset="0"/>
                </a:rPr>
                <a:t>B</a:t>
              </a:r>
            </a:p>
          </p:txBody>
        </p:sp>
        <p:sp>
          <p:nvSpPr>
            <p:cNvPr id="241" name="Oval 91"/>
            <p:cNvSpPr>
              <a:spLocks noChangeArrowheads="1"/>
            </p:cNvSpPr>
            <p:nvPr/>
          </p:nvSpPr>
          <p:spPr bwMode="auto">
            <a:xfrm>
              <a:off x="999" y="3030"/>
              <a:ext cx="255" cy="255"/>
            </a:xfrm>
            <a:prstGeom prst="ellipse">
              <a:avLst/>
            </a:prstGeom>
            <a:solidFill>
              <a:srgbClr val="FF9900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US" dirty="0">
                  <a:latin typeface="Comic Sans MS" pitchFamily="66" charset="0"/>
                </a:rPr>
                <a:t>A</a:t>
              </a:r>
            </a:p>
          </p:txBody>
        </p:sp>
        <p:cxnSp>
          <p:nvCxnSpPr>
            <p:cNvPr id="242" name="AutoShape 93"/>
            <p:cNvCxnSpPr>
              <a:cxnSpLocks noChangeShapeType="1"/>
              <a:stCxn id="241" idx="3"/>
              <a:endCxn id="217" idx="0"/>
            </p:cNvCxnSpPr>
            <p:nvPr/>
          </p:nvCxnSpPr>
          <p:spPr bwMode="auto">
            <a:xfrm flipH="1">
              <a:off x="488" y="3258"/>
              <a:ext cx="548" cy="226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3" name="AutoShape 94"/>
            <p:cNvCxnSpPr>
              <a:cxnSpLocks noChangeShapeType="1"/>
              <a:stCxn id="241" idx="5"/>
              <a:endCxn id="223" idx="0"/>
            </p:cNvCxnSpPr>
            <p:nvPr/>
          </p:nvCxnSpPr>
          <p:spPr bwMode="auto">
            <a:xfrm>
              <a:off x="1217" y="3258"/>
              <a:ext cx="376" cy="204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4" name="AutoShape 95"/>
            <p:cNvCxnSpPr>
              <a:cxnSpLocks noChangeShapeType="1"/>
              <a:stCxn id="240" idx="3"/>
              <a:endCxn id="241" idx="7"/>
            </p:cNvCxnSpPr>
            <p:nvPr/>
          </p:nvCxnSpPr>
          <p:spPr bwMode="auto">
            <a:xfrm flipH="1">
              <a:off x="1217" y="2617"/>
              <a:ext cx="971" cy="44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5" name="AutoShape 96"/>
            <p:cNvCxnSpPr>
              <a:cxnSpLocks noChangeShapeType="1"/>
              <a:stCxn id="240" idx="5"/>
              <a:endCxn id="239" idx="1"/>
            </p:cNvCxnSpPr>
            <p:nvPr/>
          </p:nvCxnSpPr>
          <p:spPr bwMode="auto">
            <a:xfrm>
              <a:off x="2369" y="2617"/>
              <a:ext cx="527" cy="453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" name="AutoShape 97"/>
            <p:cNvCxnSpPr>
              <a:cxnSpLocks noChangeShapeType="1"/>
              <a:stCxn id="239" idx="3"/>
              <a:endCxn id="224" idx="0"/>
            </p:cNvCxnSpPr>
            <p:nvPr/>
          </p:nvCxnSpPr>
          <p:spPr bwMode="auto">
            <a:xfrm flipH="1">
              <a:off x="2598" y="3271"/>
              <a:ext cx="298" cy="244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7" name="AutoShape 98"/>
            <p:cNvCxnSpPr>
              <a:cxnSpLocks noChangeShapeType="1"/>
              <a:stCxn id="239" idx="5"/>
              <a:endCxn id="219" idx="0"/>
            </p:cNvCxnSpPr>
            <p:nvPr/>
          </p:nvCxnSpPr>
          <p:spPr bwMode="auto">
            <a:xfrm>
              <a:off x="3077" y="3271"/>
              <a:ext cx="202" cy="24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36" name="Text Box 64"/>
            <p:cNvSpPr txBox="1">
              <a:spLocks noChangeArrowheads="1"/>
            </p:cNvSpPr>
            <p:nvPr/>
          </p:nvSpPr>
          <p:spPr bwMode="auto">
            <a:xfrm>
              <a:off x="1020" y="3717"/>
              <a:ext cx="207" cy="3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latin typeface="Comic Sans MS" pitchFamily="66" charset="0"/>
                </a:rPr>
                <a:t>h</a:t>
              </a:r>
            </a:p>
          </p:txBody>
        </p:sp>
      </p:grpSp>
      <p:sp>
        <p:nvSpPr>
          <p:cNvPr id="248" name="Text Box 65"/>
          <p:cNvSpPr txBox="1">
            <a:spLocks noChangeArrowheads="1"/>
          </p:cNvSpPr>
          <p:nvPr/>
        </p:nvSpPr>
        <p:spPr bwMode="auto">
          <a:xfrm>
            <a:off x="7986488" y="3789040"/>
            <a:ext cx="341760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0</a:t>
            </a:r>
          </a:p>
        </p:txBody>
      </p:sp>
      <p:sp>
        <p:nvSpPr>
          <p:cNvPr id="249" name="מלבן 248"/>
          <p:cNvSpPr/>
          <p:nvPr/>
        </p:nvSpPr>
        <p:spPr>
          <a:xfrm>
            <a:off x="7997190" y="2996952"/>
            <a:ext cx="2055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/>
              <a:t>(</a:t>
            </a:r>
            <a:r>
              <a:rPr lang="en-US" sz="1600" i="1" dirty="0">
                <a:latin typeface="Times New Roman" pitchFamily="18" charset="0"/>
              </a:rPr>
              <a:t>v</a:t>
            </a:r>
            <a:r>
              <a:rPr lang="he-IL" sz="1600" dirty="0">
                <a:latin typeface="Times New Roman" pitchFamily="18" charset="0"/>
              </a:rPr>
              <a:t> יכול להיכנס גם ל- </a:t>
            </a:r>
            <a:r>
              <a:rPr lang="en-US" sz="1600" dirty="0">
                <a:latin typeface="Times New Roman" pitchFamily="18" charset="0"/>
              </a:rPr>
              <a:t>B</a:t>
            </a:r>
            <a:r>
              <a:rPr lang="en-US" sz="1600" baseline="-25000" dirty="0">
                <a:latin typeface="Times New Roman" pitchFamily="18" charset="0"/>
              </a:rPr>
              <a:t>R</a:t>
            </a:r>
            <a:r>
              <a:rPr lang="he-IL" dirty="0"/>
              <a:t>)</a:t>
            </a:r>
            <a:endParaRPr lang="he-IL" sz="1600" baseline="-25000" dirty="0"/>
          </a:p>
        </p:txBody>
      </p:sp>
      <p:sp>
        <p:nvSpPr>
          <p:cNvPr id="106" name="מלבן 116"/>
          <p:cNvSpPr/>
          <p:nvPr/>
        </p:nvSpPr>
        <p:spPr>
          <a:xfrm>
            <a:off x="5703144" y="83671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Insert</a:t>
            </a:r>
            <a:endParaRPr lang="he-IL" dirty="0"/>
          </a:p>
        </p:txBody>
      </p:sp>
      <p:sp>
        <p:nvSpPr>
          <p:cNvPr id="107" name="מלבן 116"/>
          <p:cNvSpPr/>
          <p:nvPr/>
        </p:nvSpPr>
        <p:spPr>
          <a:xfrm>
            <a:off x="6744073" y="3419708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Rotate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Line 36"/>
          <p:cNvSpPr>
            <a:spLocks noChangeShapeType="1"/>
          </p:cNvSpPr>
          <p:nvPr/>
        </p:nvSpPr>
        <p:spPr bwMode="auto">
          <a:xfrm flipH="1">
            <a:off x="7186059" y="5897151"/>
            <a:ext cx="144016" cy="277615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b="1"/>
          </a:p>
        </p:txBody>
      </p:sp>
      <p:sp>
        <p:nvSpPr>
          <p:cNvPr id="116" name="מלבן 115"/>
          <p:cNvSpPr/>
          <p:nvPr/>
        </p:nvSpPr>
        <p:spPr>
          <a:xfrm>
            <a:off x="1631504" y="4293096"/>
            <a:ext cx="3672408" cy="20882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אחרי גלגול אחד נסיים, כי גובה תת העץ לא השתנה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גלגול </a:t>
            </a:r>
            <a:r>
              <a:rPr lang="en-US" sz="3200" u="sng" dirty="0"/>
              <a:t>LR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03512" y="476672"/>
            <a:ext cx="88569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הדגמה</a:t>
            </a:r>
          </a:p>
        </p:txBody>
      </p:sp>
      <p:sp>
        <p:nvSpPr>
          <p:cNvPr id="101" name="מלבן 100"/>
          <p:cNvSpPr/>
          <p:nvPr/>
        </p:nvSpPr>
        <p:spPr>
          <a:xfrm>
            <a:off x="3572640" y="3068960"/>
            <a:ext cx="115288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לפני הכנסה</a:t>
            </a:r>
          </a:p>
        </p:txBody>
      </p:sp>
      <p:sp>
        <p:nvSpPr>
          <p:cNvPr id="102" name="מלבן 101"/>
          <p:cNvSpPr/>
          <p:nvPr/>
        </p:nvSpPr>
        <p:spPr>
          <a:xfrm>
            <a:off x="8519348" y="2996952"/>
            <a:ext cx="1249060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הכנסה</a:t>
            </a:r>
          </a:p>
        </p:txBody>
      </p:sp>
      <p:sp>
        <p:nvSpPr>
          <p:cNvPr id="103" name="מלבן 102"/>
          <p:cNvSpPr/>
          <p:nvPr/>
        </p:nvSpPr>
        <p:spPr>
          <a:xfrm>
            <a:off x="8660412" y="6212825"/>
            <a:ext cx="1107996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אחרי גלגול</a:t>
            </a:r>
          </a:p>
        </p:txBody>
      </p:sp>
      <p:sp>
        <p:nvSpPr>
          <p:cNvPr id="104" name="AutoShape 42"/>
          <p:cNvSpPr>
            <a:spLocks noChangeArrowheads="1"/>
          </p:cNvSpPr>
          <p:nvPr/>
        </p:nvSpPr>
        <p:spPr bwMode="auto">
          <a:xfrm>
            <a:off x="5663953" y="1388770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05" name="AutoShape 42"/>
          <p:cNvSpPr>
            <a:spLocks noChangeArrowheads="1"/>
          </p:cNvSpPr>
          <p:nvPr/>
        </p:nvSpPr>
        <p:spPr bwMode="auto">
          <a:xfrm rot="5400000">
            <a:off x="7039016" y="3843953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15" name="AutoShape 42"/>
          <p:cNvSpPr>
            <a:spLocks noChangeArrowheads="1"/>
          </p:cNvSpPr>
          <p:nvPr/>
        </p:nvSpPr>
        <p:spPr bwMode="auto">
          <a:xfrm>
            <a:off x="2927649" y="5517233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grpSp>
        <p:nvGrpSpPr>
          <p:cNvPr id="261" name="קבוצה 260"/>
          <p:cNvGrpSpPr/>
          <p:nvPr/>
        </p:nvGrpSpPr>
        <p:grpSpPr>
          <a:xfrm>
            <a:off x="1559496" y="764704"/>
            <a:ext cx="4104456" cy="2376264"/>
            <a:chOff x="35496" y="764704"/>
            <a:chExt cx="4104456" cy="2376264"/>
          </a:xfrm>
        </p:grpSpPr>
        <p:grpSp>
          <p:nvGrpSpPr>
            <p:cNvPr id="177" name="קבוצה 176"/>
            <p:cNvGrpSpPr/>
            <p:nvPr/>
          </p:nvGrpSpPr>
          <p:grpSpPr>
            <a:xfrm>
              <a:off x="251520" y="2380779"/>
              <a:ext cx="1101975" cy="755650"/>
              <a:chOff x="251520" y="2380779"/>
              <a:chExt cx="1101975" cy="755650"/>
            </a:xfrm>
          </p:grpSpPr>
          <p:sp>
            <p:nvSpPr>
              <p:cNvPr id="19" name="Oval 22"/>
              <p:cNvSpPr>
                <a:spLocks noChangeArrowheads="1"/>
              </p:cNvSpPr>
              <p:nvPr/>
            </p:nvSpPr>
            <p:spPr bwMode="auto">
              <a:xfrm flipH="1">
                <a:off x="834135" y="2380779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0" name="Oval 23"/>
              <p:cNvSpPr>
                <a:spLocks noChangeArrowheads="1"/>
              </p:cNvSpPr>
              <p:nvPr/>
            </p:nvSpPr>
            <p:spPr bwMode="auto">
              <a:xfrm flipH="1">
                <a:off x="251520" y="2387892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33" name="Line 36"/>
              <p:cNvSpPr>
                <a:spLocks noChangeShapeType="1"/>
              </p:cNvSpPr>
              <p:nvPr/>
            </p:nvSpPr>
            <p:spPr bwMode="auto">
              <a:xfrm>
                <a:off x="1000447" y="2658592"/>
                <a:ext cx="177983" cy="1793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he-IL"/>
              </a:p>
            </p:txBody>
          </p:sp>
          <p:sp>
            <p:nvSpPr>
              <p:cNvPr id="32" name="Oval 35"/>
              <p:cNvSpPr>
                <a:spLocks noChangeArrowheads="1"/>
              </p:cNvSpPr>
              <p:nvPr/>
            </p:nvSpPr>
            <p:spPr bwMode="auto">
              <a:xfrm flipH="1">
                <a:off x="1058802" y="2837979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 flipH="1">
              <a:off x="3430937" y="14822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22</a:t>
              </a: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 flipH="1">
              <a:off x="3845259" y="19013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24</a:t>
              </a: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 flipH="1">
              <a:off x="3010781" y="1841029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20</a:t>
              </a: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 flipH="1">
              <a:off x="2309061" y="764704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3667276" y="1721967"/>
              <a:ext cx="23633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 flipH="1">
              <a:off x="3254413" y="1721967"/>
              <a:ext cx="23633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 flipH="1">
              <a:off x="1070473" y="14822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 flipH="1">
              <a:off x="597797" y="19013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>
              <a:off x="775780" y="2201392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 flipH="1">
              <a:off x="467544" y="2169642"/>
              <a:ext cx="201738" cy="251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 flipH="1">
              <a:off x="845806" y="1721967"/>
              <a:ext cx="283022" cy="266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>
              <a:off x="2545399" y="1004417"/>
              <a:ext cx="885539" cy="538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 flipH="1">
              <a:off x="1365167" y="1004417"/>
              <a:ext cx="943894" cy="538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 flipH="1">
              <a:off x="2592083" y="2283942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18</a:t>
              </a:r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 flipH="1">
              <a:off x="2848845" y="2139479"/>
              <a:ext cx="23633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 flipH="1">
              <a:off x="1341825" y="1944217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>
              <a:off x="1283470" y="1764829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 flipH="1">
              <a:off x="1548985" y="2401417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1490630" y="2222029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18" name="Oval 23"/>
            <p:cNvSpPr>
              <a:spLocks noChangeArrowheads="1"/>
            </p:cNvSpPr>
            <p:nvPr/>
          </p:nvSpPr>
          <p:spPr bwMode="auto">
            <a:xfrm flipH="1">
              <a:off x="571804" y="2842518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19" name="Line 25"/>
            <p:cNvSpPr>
              <a:spLocks noChangeShapeType="1"/>
            </p:cNvSpPr>
            <p:nvPr/>
          </p:nvSpPr>
          <p:spPr bwMode="auto">
            <a:xfrm flipH="1">
              <a:off x="797930" y="2672656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20" name="Oval 23"/>
            <p:cNvSpPr>
              <a:spLocks noChangeArrowheads="1"/>
            </p:cNvSpPr>
            <p:nvPr/>
          </p:nvSpPr>
          <p:spPr bwMode="auto">
            <a:xfrm flipH="1">
              <a:off x="35496" y="2842518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21" name="Line 25"/>
            <p:cNvSpPr>
              <a:spLocks noChangeShapeType="1"/>
            </p:cNvSpPr>
            <p:nvPr/>
          </p:nvSpPr>
          <p:spPr bwMode="auto">
            <a:xfrm flipH="1">
              <a:off x="215189" y="2670779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sp>
        <p:nvSpPr>
          <p:cNvPr id="122" name="Line 36"/>
          <p:cNvSpPr>
            <a:spLocks noChangeShapeType="1"/>
          </p:cNvSpPr>
          <p:nvPr/>
        </p:nvSpPr>
        <p:spPr bwMode="auto">
          <a:xfrm flipH="1">
            <a:off x="6960095" y="3079378"/>
            <a:ext cx="144016" cy="27761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b="1"/>
          </a:p>
        </p:txBody>
      </p:sp>
      <p:sp>
        <p:nvSpPr>
          <p:cNvPr id="147" name="Oval 35"/>
          <p:cNvSpPr>
            <a:spLocks noChangeArrowheads="1"/>
          </p:cNvSpPr>
          <p:nvPr/>
        </p:nvSpPr>
        <p:spPr bwMode="auto">
          <a:xfrm flipH="1">
            <a:off x="6744073" y="3286940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5</a:t>
            </a:r>
          </a:p>
        </p:txBody>
      </p:sp>
      <p:grpSp>
        <p:nvGrpSpPr>
          <p:cNvPr id="179" name="קבוצה 178"/>
          <p:cNvGrpSpPr/>
          <p:nvPr/>
        </p:nvGrpSpPr>
        <p:grpSpPr>
          <a:xfrm>
            <a:off x="6470326" y="764704"/>
            <a:ext cx="4090170" cy="2376264"/>
            <a:chOff x="49782" y="764704"/>
            <a:chExt cx="4090170" cy="2376264"/>
          </a:xfrm>
        </p:grpSpPr>
        <p:grpSp>
          <p:nvGrpSpPr>
            <p:cNvPr id="180" name="קבוצה 176"/>
            <p:cNvGrpSpPr/>
            <p:nvPr/>
          </p:nvGrpSpPr>
          <p:grpSpPr>
            <a:xfrm>
              <a:off x="251520" y="2380779"/>
              <a:ext cx="1101975" cy="755650"/>
              <a:chOff x="251520" y="2380779"/>
              <a:chExt cx="1101975" cy="755650"/>
            </a:xfrm>
          </p:grpSpPr>
          <p:sp>
            <p:nvSpPr>
              <p:cNvPr id="204" name="Oval 22"/>
              <p:cNvSpPr>
                <a:spLocks noChangeArrowheads="1"/>
              </p:cNvSpPr>
              <p:nvPr/>
            </p:nvSpPr>
            <p:spPr bwMode="auto">
              <a:xfrm flipH="1">
                <a:off x="834135" y="2380779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05" name="Oval 23"/>
              <p:cNvSpPr>
                <a:spLocks noChangeArrowheads="1"/>
              </p:cNvSpPr>
              <p:nvPr/>
            </p:nvSpPr>
            <p:spPr bwMode="auto">
              <a:xfrm flipH="1">
                <a:off x="251520" y="2382747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06" name="Line 36"/>
              <p:cNvSpPr>
                <a:spLocks noChangeShapeType="1"/>
              </p:cNvSpPr>
              <p:nvPr/>
            </p:nvSpPr>
            <p:spPr bwMode="auto">
              <a:xfrm>
                <a:off x="1000447" y="2658592"/>
                <a:ext cx="177983" cy="1793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he-IL"/>
              </a:p>
            </p:txBody>
          </p:sp>
          <p:sp>
            <p:nvSpPr>
              <p:cNvPr id="207" name="Oval 35"/>
              <p:cNvSpPr>
                <a:spLocks noChangeArrowheads="1"/>
              </p:cNvSpPr>
              <p:nvPr/>
            </p:nvSpPr>
            <p:spPr bwMode="auto">
              <a:xfrm flipH="1">
                <a:off x="1058802" y="2837979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sp>
          <p:nvSpPr>
            <p:cNvPr id="181" name="Oval 14"/>
            <p:cNvSpPr>
              <a:spLocks noChangeArrowheads="1"/>
            </p:cNvSpPr>
            <p:nvPr/>
          </p:nvSpPr>
          <p:spPr bwMode="auto">
            <a:xfrm flipH="1">
              <a:off x="3430937" y="14822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22</a:t>
              </a:r>
            </a:p>
          </p:txBody>
        </p:sp>
        <p:sp>
          <p:nvSpPr>
            <p:cNvPr id="182" name="Oval 15"/>
            <p:cNvSpPr>
              <a:spLocks noChangeArrowheads="1"/>
            </p:cNvSpPr>
            <p:nvPr/>
          </p:nvSpPr>
          <p:spPr bwMode="auto">
            <a:xfrm flipH="1">
              <a:off x="3845259" y="19013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24</a:t>
              </a:r>
            </a:p>
          </p:txBody>
        </p:sp>
        <p:sp>
          <p:nvSpPr>
            <p:cNvPr id="183" name="Oval 16"/>
            <p:cNvSpPr>
              <a:spLocks noChangeArrowheads="1"/>
            </p:cNvSpPr>
            <p:nvPr/>
          </p:nvSpPr>
          <p:spPr bwMode="auto">
            <a:xfrm flipH="1">
              <a:off x="3010781" y="1841029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20</a:t>
              </a:r>
            </a:p>
          </p:txBody>
        </p:sp>
        <p:sp>
          <p:nvSpPr>
            <p:cNvPr id="184" name="Oval 17"/>
            <p:cNvSpPr>
              <a:spLocks noChangeArrowheads="1"/>
            </p:cNvSpPr>
            <p:nvPr/>
          </p:nvSpPr>
          <p:spPr bwMode="auto">
            <a:xfrm flipH="1">
              <a:off x="2309061" y="764704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185" name="Line 18"/>
            <p:cNvSpPr>
              <a:spLocks noChangeShapeType="1"/>
            </p:cNvSpPr>
            <p:nvPr/>
          </p:nvSpPr>
          <p:spPr bwMode="auto">
            <a:xfrm>
              <a:off x="3667276" y="1721967"/>
              <a:ext cx="23633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86" name="Line 19"/>
            <p:cNvSpPr>
              <a:spLocks noChangeShapeType="1"/>
            </p:cNvSpPr>
            <p:nvPr/>
          </p:nvSpPr>
          <p:spPr bwMode="auto">
            <a:xfrm flipH="1">
              <a:off x="3254413" y="1721967"/>
              <a:ext cx="23633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87" name="Oval 20"/>
            <p:cNvSpPr>
              <a:spLocks noChangeArrowheads="1"/>
            </p:cNvSpPr>
            <p:nvPr/>
          </p:nvSpPr>
          <p:spPr bwMode="auto">
            <a:xfrm flipH="1">
              <a:off x="1070473" y="14822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188" name="Oval 21"/>
            <p:cNvSpPr>
              <a:spLocks noChangeArrowheads="1"/>
            </p:cNvSpPr>
            <p:nvPr/>
          </p:nvSpPr>
          <p:spPr bwMode="auto">
            <a:xfrm flipH="1">
              <a:off x="597797" y="1901354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89" name="Line 24"/>
            <p:cNvSpPr>
              <a:spLocks noChangeShapeType="1"/>
            </p:cNvSpPr>
            <p:nvPr/>
          </p:nvSpPr>
          <p:spPr bwMode="auto">
            <a:xfrm>
              <a:off x="775780" y="2201392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0" name="Line 25"/>
            <p:cNvSpPr>
              <a:spLocks noChangeShapeType="1"/>
            </p:cNvSpPr>
            <p:nvPr/>
          </p:nvSpPr>
          <p:spPr bwMode="auto">
            <a:xfrm flipH="1">
              <a:off x="467544" y="2169642"/>
              <a:ext cx="201738" cy="251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1" name="Line 26"/>
            <p:cNvSpPr>
              <a:spLocks noChangeShapeType="1"/>
            </p:cNvSpPr>
            <p:nvPr/>
          </p:nvSpPr>
          <p:spPr bwMode="auto">
            <a:xfrm flipH="1">
              <a:off x="845806" y="1721967"/>
              <a:ext cx="283022" cy="266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2" name="Line 27"/>
            <p:cNvSpPr>
              <a:spLocks noChangeShapeType="1"/>
            </p:cNvSpPr>
            <p:nvPr/>
          </p:nvSpPr>
          <p:spPr bwMode="auto">
            <a:xfrm>
              <a:off x="2545399" y="1004417"/>
              <a:ext cx="885539" cy="538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3" name="Line 28"/>
            <p:cNvSpPr>
              <a:spLocks noChangeShapeType="1"/>
            </p:cNvSpPr>
            <p:nvPr/>
          </p:nvSpPr>
          <p:spPr bwMode="auto">
            <a:xfrm flipH="1">
              <a:off x="1365167" y="1004417"/>
              <a:ext cx="943894" cy="538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4" name="Oval 29"/>
            <p:cNvSpPr>
              <a:spLocks noChangeArrowheads="1"/>
            </p:cNvSpPr>
            <p:nvPr/>
          </p:nvSpPr>
          <p:spPr bwMode="auto">
            <a:xfrm flipH="1">
              <a:off x="2592083" y="2283942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18</a:t>
              </a:r>
            </a:p>
          </p:txBody>
        </p:sp>
        <p:sp>
          <p:nvSpPr>
            <p:cNvPr id="195" name="Line 30"/>
            <p:cNvSpPr>
              <a:spLocks noChangeShapeType="1"/>
            </p:cNvSpPr>
            <p:nvPr/>
          </p:nvSpPr>
          <p:spPr bwMode="auto">
            <a:xfrm flipH="1">
              <a:off x="2848845" y="2139479"/>
              <a:ext cx="23633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6" name="Oval 31"/>
            <p:cNvSpPr>
              <a:spLocks noChangeArrowheads="1"/>
            </p:cNvSpPr>
            <p:nvPr/>
          </p:nvSpPr>
          <p:spPr bwMode="auto">
            <a:xfrm flipH="1">
              <a:off x="1341825" y="1944217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197" name="Line 32"/>
            <p:cNvSpPr>
              <a:spLocks noChangeShapeType="1"/>
            </p:cNvSpPr>
            <p:nvPr/>
          </p:nvSpPr>
          <p:spPr bwMode="auto">
            <a:xfrm>
              <a:off x="1283470" y="1764829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198" name="Oval 33"/>
            <p:cNvSpPr>
              <a:spLocks noChangeArrowheads="1"/>
            </p:cNvSpPr>
            <p:nvPr/>
          </p:nvSpPr>
          <p:spPr bwMode="auto">
            <a:xfrm flipH="1">
              <a:off x="1548985" y="2401417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199" name="Line 34"/>
            <p:cNvSpPr>
              <a:spLocks noChangeShapeType="1"/>
            </p:cNvSpPr>
            <p:nvPr/>
          </p:nvSpPr>
          <p:spPr bwMode="auto">
            <a:xfrm>
              <a:off x="1490630" y="2222029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00" name="Oval 23"/>
            <p:cNvSpPr>
              <a:spLocks noChangeArrowheads="1"/>
            </p:cNvSpPr>
            <p:nvPr/>
          </p:nvSpPr>
          <p:spPr bwMode="auto">
            <a:xfrm flipH="1">
              <a:off x="571804" y="2842518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01" name="Line 25"/>
            <p:cNvSpPr>
              <a:spLocks noChangeShapeType="1"/>
            </p:cNvSpPr>
            <p:nvPr/>
          </p:nvSpPr>
          <p:spPr bwMode="auto">
            <a:xfrm flipH="1">
              <a:off x="797930" y="2672656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  <p:sp>
          <p:nvSpPr>
            <p:cNvPr id="202" name="Oval 23"/>
            <p:cNvSpPr>
              <a:spLocks noChangeArrowheads="1"/>
            </p:cNvSpPr>
            <p:nvPr/>
          </p:nvSpPr>
          <p:spPr bwMode="auto">
            <a:xfrm flipH="1">
              <a:off x="49782" y="2842518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3" name="Line 25"/>
            <p:cNvSpPr>
              <a:spLocks noChangeShapeType="1"/>
            </p:cNvSpPr>
            <p:nvPr/>
          </p:nvSpPr>
          <p:spPr bwMode="auto">
            <a:xfrm flipH="1">
              <a:off x="251520" y="2673548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/>
            </a:p>
          </p:txBody>
        </p:sp>
      </p:grpSp>
      <p:sp>
        <p:nvSpPr>
          <p:cNvPr id="208" name="Text Box 50"/>
          <p:cNvSpPr txBox="1">
            <a:spLocks noChangeArrowheads="1"/>
          </p:cNvSpPr>
          <p:nvPr/>
        </p:nvSpPr>
        <p:spPr bwMode="auto">
          <a:xfrm>
            <a:off x="7160902" y="1268760"/>
            <a:ext cx="591283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mic Sans MS" pitchFamily="66" charset="0"/>
              </a:rPr>
              <a:t>+2</a:t>
            </a:r>
          </a:p>
        </p:txBody>
      </p:sp>
      <p:sp>
        <p:nvSpPr>
          <p:cNvPr id="209" name="Text Box 50"/>
          <p:cNvSpPr txBox="1">
            <a:spLocks noChangeArrowheads="1"/>
          </p:cNvSpPr>
          <p:nvPr/>
        </p:nvSpPr>
        <p:spPr bwMode="auto">
          <a:xfrm>
            <a:off x="6728854" y="1772816"/>
            <a:ext cx="591283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mic Sans MS" pitchFamily="66" charset="0"/>
              </a:rPr>
              <a:t>-1</a:t>
            </a:r>
          </a:p>
        </p:txBody>
      </p:sp>
      <p:sp>
        <p:nvSpPr>
          <p:cNvPr id="235" name="Oval 22"/>
          <p:cNvSpPr>
            <a:spLocks noChangeArrowheads="1"/>
          </p:cNvSpPr>
          <p:nvPr/>
        </p:nvSpPr>
        <p:spPr bwMode="auto">
          <a:xfrm flipH="1">
            <a:off x="7240394" y="5693147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36" name="Oval 23"/>
          <p:cNvSpPr>
            <a:spLocks noChangeArrowheads="1"/>
          </p:cNvSpPr>
          <p:nvPr/>
        </p:nvSpPr>
        <p:spPr bwMode="auto">
          <a:xfrm flipH="1">
            <a:off x="6729787" y="5651872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2" name="Oval 14"/>
          <p:cNvSpPr>
            <a:spLocks noChangeArrowheads="1"/>
          </p:cNvSpPr>
          <p:nvPr/>
        </p:nvSpPr>
        <p:spPr bwMode="auto">
          <a:xfrm flipH="1">
            <a:off x="9837196" y="4794622"/>
            <a:ext cx="29469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213" name="Oval 15"/>
          <p:cNvSpPr>
            <a:spLocks noChangeArrowheads="1"/>
          </p:cNvSpPr>
          <p:nvPr/>
        </p:nvSpPr>
        <p:spPr bwMode="auto">
          <a:xfrm flipH="1">
            <a:off x="10251518" y="5213722"/>
            <a:ext cx="29469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24</a:t>
            </a:r>
          </a:p>
        </p:txBody>
      </p:sp>
      <p:sp>
        <p:nvSpPr>
          <p:cNvPr id="214" name="Oval 16"/>
          <p:cNvSpPr>
            <a:spLocks noChangeArrowheads="1"/>
          </p:cNvSpPr>
          <p:nvPr/>
        </p:nvSpPr>
        <p:spPr bwMode="auto">
          <a:xfrm flipH="1">
            <a:off x="9417040" y="5153397"/>
            <a:ext cx="29469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215" name="Oval 17"/>
          <p:cNvSpPr>
            <a:spLocks noChangeArrowheads="1"/>
          </p:cNvSpPr>
          <p:nvPr/>
        </p:nvSpPr>
        <p:spPr bwMode="auto">
          <a:xfrm flipH="1">
            <a:off x="8715320" y="4077072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216" name="Line 18"/>
          <p:cNvSpPr>
            <a:spLocks noChangeShapeType="1"/>
          </p:cNvSpPr>
          <p:nvPr/>
        </p:nvSpPr>
        <p:spPr bwMode="auto">
          <a:xfrm>
            <a:off x="10073534" y="5034335"/>
            <a:ext cx="23633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17" name="Line 19"/>
          <p:cNvSpPr>
            <a:spLocks noChangeShapeType="1"/>
          </p:cNvSpPr>
          <p:nvPr/>
        </p:nvSpPr>
        <p:spPr bwMode="auto">
          <a:xfrm flipH="1">
            <a:off x="9660671" y="5034335"/>
            <a:ext cx="23633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18" name="Oval 20"/>
          <p:cNvSpPr>
            <a:spLocks noChangeArrowheads="1"/>
          </p:cNvSpPr>
          <p:nvPr/>
        </p:nvSpPr>
        <p:spPr bwMode="auto">
          <a:xfrm flipH="1">
            <a:off x="7476732" y="4794622"/>
            <a:ext cx="29469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19" name="Oval 21"/>
          <p:cNvSpPr>
            <a:spLocks noChangeArrowheads="1"/>
          </p:cNvSpPr>
          <p:nvPr/>
        </p:nvSpPr>
        <p:spPr bwMode="auto">
          <a:xfrm flipH="1">
            <a:off x="7004056" y="5213722"/>
            <a:ext cx="29469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0" name="Line 24"/>
          <p:cNvSpPr>
            <a:spLocks noChangeShapeType="1"/>
          </p:cNvSpPr>
          <p:nvPr/>
        </p:nvSpPr>
        <p:spPr bwMode="auto">
          <a:xfrm>
            <a:off x="7182039" y="5513760"/>
            <a:ext cx="177983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21" name="Line 25"/>
          <p:cNvSpPr>
            <a:spLocks noChangeShapeType="1"/>
          </p:cNvSpPr>
          <p:nvPr/>
        </p:nvSpPr>
        <p:spPr bwMode="auto">
          <a:xfrm flipH="1">
            <a:off x="6955912" y="5482010"/>
            <a:ext cx="11962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22" name="Line 26"/>
          <p:cNvSpPr>
            <a:spLocks noChangeShapeType="1"/>
          </p:cNvSpPr>
          <p:nvPr/>
        </p:nvSpPr>
        <p:spPr bwMode="auto">
          <a:xfrm flipH="1">
            <a:off x="7252064" y="5034335"/>
            <a:ext cx="283022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23" name="Line 27"/>
          <p:cNvSpPr>
            <a:spLocks noChangeShapeType="1"/>
          </p:cNvSpPr>
          <p:nvPr/>
        </p:nvSpPr>
        <p:spPr bwMode="auto">
          <a:xfrm>
            <a:off x="8951658" y="4316786"/>
            <a:ext cx="885539" cy="538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24" name="Line 28"/>
          <p:cNvSpPr>
            <a:spLocks noChangeShapeType="1"/>
          </p:cNvSpPr>
          <p:nvPr/>
        </p:nvSpPr>
        <p:spPr bwMode="auto">
          <a:xfrm flipH="1">
            <a:off x="7771425" y="4316786"/>
            <a:ext cx="943894" cy="538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25" name="Oval 29"/>
          <p:cNvSpPr>
            <a:spLocks noChangeArrowheads="1"/>
          </p:cNvSpPr>
          <p:nvPr/>
        </p:nvSpPr>
        <p:spPr bwMode="auto">
          <a:xfrm flipH="1">
            <a:off x="8998342" y="5596310"/>
            <a:ext cx="29469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226" name="Line 30"/>
          <p:cNvSpPr>
            <a:spLocks noChangeShapeType="1"/>
          </p:cNvSpPr>
          <p:nvPr/>
        </p:nvSpPr>
        <p:spPr bwMode="auto">
          <a:xfrm flipH="1">
            <a:off x="9255103" y="5451847"/>
            <a:ext cx="23633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27" name="Oval 31"/>
          <p:cNvSpPr>
            <a:spLocks noChangeArrowheads="1"/>
          </p:cNvSpPr>
          <p:nvPr/>
        </p:nvSpPr>
        <p:spPr bwMode="auto">
          <a:xfrm flipH="1">
            <a:off x="8114428" y="5625678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28" name="Line 32"/>
          <p:cNvSpPr>
            <a:spLocks noChangeShapeType="1"/>
          </p:cNvSpPr>
          <p:nvPr/>
        </p:nvSpPr>
        <p:spPr bwMode="auto">
          <a:xfrm>
            <a:off x="8056073" y="5446290"/>
            <a:ext cx="177983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29" name="Oval 33"/>
          <p:cNvSpPr>
            <a:spLocks noChangeArrowheads="1"/>
          </p:cNvSpPr>
          <p:nvPr/>
        </p:nvSpPr>
        <p:spPr bwMode="auto">
          <a:xfrm flipH="1">
            <a:off x="8321588" y="6082878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230" name="Line 34"/>
          <p:cNvSpPr>
            <a:spLocks noChangeShapeType="1"/>
          </p:cNvSpPr>
          <p:nvPr/>
        </p:nvSpPr>
        <p:spPr bwMode="auto">
          <a:xfrm>
            <a:off x="8263233" y="5903490"/>
            <a:ext cx="177983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31" name="Oval 23"/>
          <p:cNvSpPr>
            <a:spLocks noChangeArrowheads="1"/>
          </p:cNvSpPr>
          <p:nvPr/>
        </p:nvSpPr>
        <p:spPr bwMode="auto">
          <a:xfrm flipH="1">
            <a:off x="7608169" y="5661248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32" name="Line 25"/>
          <p:cNvSpPr>
            <a:spLocks noChangeShapeType="1"/>
          </p:cNvSpPr>
          <p:nvPr/>
        </p:nvSpPr>
        <p:spPr bwMode="auto">
          <a:xfrm flipH="1">
            <a:off x="7834294" y="5491386"/>
            <a:ext cx="11962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33" name="Oval 23"/>
          <p:cNvSpPr>
            <a:spLocks noChangeArrowheads="1"/>
          </p:cNvSpPr>
          <p:nvPr/>
        </p:nvSpPr>
        <p:spPr bwMode="auto">
          <a:xfrm flipH="1">
            <a:off x="6456041" y="6082878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4" name="Line 25"/>
          <p:cNvSpPr>
            <a:spLocks noChangeShapeType="1"/>
          </p:cNvSpPr>
          <p:nvPr/>
        </p:nvSpPr>
        <p:spPr bwMode="auto">
          <a:xfrm flipH="1">
            <a:off x="6682166" y="5913016"/>
            <a:ext cx="11962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39" name="Oval 31"/>
          <p:cNvSpPr>
            <a:spLocks noChangeArrowheads="1"/>
          </p:cNvSpPr>
          <p:nvPr/>
        </p:nvSpPr>
        <p:spPr bwMode="auto">
          <a:xfrm flipH="1">
            <a:off x="7889540" y="5218782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240" name="Line 32"/>
          <p:cNvSpPr>
            <a:spLocks noChangeShapeType="1"/>
          </p:cNvSpPr>
          <p:nvPr/>
        </p:nvSpPr>
        <p:spPr bwMode="auto">
          <a:xfrm>
            <a:off x="7739298" y="5039394"/>
            <a:ext cx="228910" cy="1898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/>
          </a:p>
        </p:txBody>
      </p:sp>
      <p:sp>
        <p:nvSpPr>
          <p:cNvPr id="242" name="Oval 35"/>
          <p:cNvSpPr>
            <a:spLocks noChangeArrowheads="1"/>
          </p:cNvSpPr>
          <p:nvPr/>
        </p:nvSpPr>
        <p:spPr bwMode="auto">
          <a:xfrm flipH="1">
            <a:off x="6970037" y="6104713"/>
            <a:ext cx="294693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5</a:t>
            </a:r>
          </a:p>
        </p:txBody>
      </p:sp>
      <p:grpSp>
        <p:nvGrpSpPr>
          <p:cNvPr id="282" name="קבוצה 281"/>
          <p:cNvGrpSpPr/>
          <p:nvPr/>
        </p:nvGrpSpPr>
        <p:grpSpPr>
          <a:xfrm>
            <a:off x="1703512" y="5085184"/>
            <a:ext cx="1201466" cy="1224136"/>
            <a:chOff x="202182" y="6738838"/>
            <a:chExt cx="1793896" cy="1658714"/>
          </a:xfrm>
        </p:grpSpPr>
        <p:grpSp>
          <p:nvGrpSpPr>
            <p:cNvPr id="243" name="קבוצה 242"/>
            <p:cNvGrpSpPr/>
            <p:nvPr/>
          </p:nvGrpSpPr>
          <p:grpSpPr>
            <a:xfrm>
              <a:off x="475928" y="7596088"/>
              <a:ext cx="1029967" cy="796925"/>
              <a:chOff x="323528" y="2339504"/>
              <a:chExt cx="1029967" cy="796925"/>
            </a:xfrm>
          </p:grpSpPr>
          <p:sp>
            <p:nvSpPr>
              <p:cNvPr id="244" name="Oval 22"/>
              <p:cNvSpPr>
                <a:spLocks noChangeArrowheads="1"/>
              </p:cNvSpPr>
              <p:nvPr/>
            </p:nvSpPr>
            <p:spPr bwMode="auto">
              <a:xfrm flipH="1">
                <a:off x="834135" y="2380779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/>
                  <a:t>7</a:t>
                </a:r>
              </a:p>
            </p:txBody>
          </p:sp>
          <p:sp>
            <p:nvSpPr>
              <p:cNvPr id="245" name="Oval 23"/>
              <p:cNvSpPr>
                <a:spLocks noChangeArrowheads="1"/>
              </p:cNvSpPr>
              <p:nvPr/>
            </p:nvSpPr>
            <p:spPr bwMode="auto">
              <a:xfrm flipH="1">
                <a:off x="323528" y="2339504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/>
                  <a:t>2</a:t>
                </a:r>
              </a:p>
            </p:txBody>
          </p:sp>
          <p:sp>
            <p:nvSpPr>
              <p:cNvPr id="246" name="Line 36"/>
              <p:cNvSpPr>
                <a:spLocks noChangeShapeType="1"/>
              </p:cNvSpPr>
              <p:nvPr/>
            </p:nvSpPr>
            <p:spPr bwMode="auto">
              <a:xfrm>
                <a:off x="1000447" y="2658592"/>
                <a:ext cx="177983" cy="1793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he-IL" sz="1200"/>
              </a:p>
            </p:txBody>
          </p:sp>
          <p:sp>
            <p:nvSpPr>
              <p:cNvPr id="247" name="Oval 35"/>
              <p:cNvSpPr>
                <a:spLocks noChangeArrowheads="1"/>
              </p:cNvSpPr>
              <p:nvPr/>
            </p:nvSpPr>
            <p:spPr bwMode="auto">
              <a:xfrm flipH="1">
                <a:off x="1058802" y="2837979"/>
                <a:ext cx="294693" cy="298450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/>
                  <a:t>8</a:t>
                </a:r>
              </a:p>
            </p:txBody>
          </p:sp>
        </p:grpSp>
        <p:sp>
          <p:nvSpPr>
            <p:cNvPr id="248" name="Oval 20"/>
            <p:cNvSpPr>
              <a:spLocks noChangeArrowheads="1"/>
            </p:cNvSpPr>
            <p:nvPr/>
          </p:nvSpPr>
          <p:spPr bwMode="auto">
            <a:xfrm flipH="1">
              <a:off x="1222873" y="6738838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10</a:t>
              </a:r>
            </a:p>
          </p:txBody>
        </p:sp>
        <p:sp>
          <p:nvSpPr>
            <p:cNvPr id="249" name="Oval 21"/>
            <p:cNvSpPr>
              <a:spLocks noChangeArrowheads="1"/>
            </p:cNvSpPr>
            <p:nvPr/>
          </p:nvSpPr>
          <p:spPr bwMode="auto">
            <a:xfrm flipH="1">
              <a:off x="750197" y="7157938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4</a:t>
              </a:r>
            </a:p>
          </p:txBody>
        </p:sp>
        <p:sp>
          <p:nvSpPr>
            <p:cNvPr id="250" name="Line 24"/>
            <p:cNvSpPr>
              <a:spLocks noChangeShapeType="1"/>
            </p:cNvSpPr>
            <p:nvPr/>
          </p:nvSpPr>
          <p:spPr bwMode="auto">
            <a:xfrm>
              <a:off x="928180" y="7457976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51" name="Line 25"/>
            <p:cNvSpPr>
              <a:spLocks noChangeShapeType="1"/>
            </p:cNvSpPr>
            <p:nvPr/>
          </p:nvSpPr>
          <p:spPr bwMode="auto">
            <a:xfrm flipH="1">
              <a:off x="702054" y="7426226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52" name="Line 26"/>
            <p:cNvSpPr>
              <a:spLocks noChangeShapeType="1"/>
            </p:cNvSpPr>
            <p:nvPr/>
          </p:nvSpPr>
          <p:spPr bwMode="auto">
            <a:xfrm flipH="1">
              <a:off x="998206" y="6978551"/>
              <a:ext cx="283022" cy="266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53" name="Oval 31"/>
            <p:cNvSpPr>
              <a:spLocks noChangeArrowheads="1"/>
            </p:cNvSpPr>
            <p:nvPr/>
          </p:nvSpPr>
          <p:spPr bwMode="auto">
            <a:xfrm flipH="1">
              <a:off x="1494225" y="7200801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11</a:t>
              </a:r>
            </a:p>
          </p:txBody>
        </p:sp>
        <p:sp>
          <p:nvSpPr>
            <p:cNvPr id="254" name="Line 32"/>
            <p:cNvSpPr>
              <a:spLocks noChangeShapeType="1"/>
            </p:cNvSpPr>
            <p:nvPr/>
          </p:nvSpPr>
          <p:spPr bwMode="auto">
            <a:xfrm>
              <a:off x="1435870" y="7021413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55" name="Oval 33"/>
            <p:cNvSpPr>
              <a:spLocks noChangeArrowheads="1"/>
            </p:cNvSpPr>
            <p:nvPr/>
          </p:nvSpPr>
          <p:spPr bwMode="auto">
            <a:xfrm flipH="1">
              <a:off x="1701385" y="7658001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12</a:t>
              </a:r>
            </a:p>
          </p:txBody>
        </p:sp>
        <p:sp>
          <p:nvSpPr>
            <p:cNvPr id="256" name="Line 34"/>
            <p:cNvSpPr>
              <a:spLocks noChangeShapeType="1"/>
            </p:cNvSpPr>
            <p:nvPr/>
          </p:nvSpPr>
          <p:spPr bwMode="auto">
            <a:xfrm>
              <a:off x="1643030" y="7478613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57" name="Oval 23"/>
            <p:cNvSpPr>
              <a:spLocks noChangeArrowheads="1"/>
            </p:cNvSpPr>
            <p:nvPr/>
          </p:nvSpPr>
          <p:spPr bwMode="auto">
            <a:xfrm flipH="1">
              <a:off x="724204" y="8099102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6</a:t>
              </a:r>
            </a:p>
          </p:txBody>
        </p:sp>
        <p:sp>
          <p:nvSpPr>
            <p:cNvPr id="258" name="Line 25"/>
            <p:cNvSpPr>
              <a:spLocks noChangeShapeType="1"/>
            </p:cNvSpPr>
            <p:nvPr/>
          </p:nvSpPr>
          <p:spPr bwMode="auto">
            <a:xfrm flipH="1">
              <a:off x="950330" y="7929240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59" name="Oval 23"/>
            <p:cNvSpPr>
              <a:spLocks noChangeArrowheads="1"/>
            </p:cNvSpPr>
            <p:nvPr/>
          </p:nvSpPr>
          <p:spPr bwMode="auto">
            <a:xfrm flipH="1">
              <a:off x="202182" y="8027094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60" name="Line 25"/>
            <p:cNvSpPr>
              <a:spLocks noChangeShapeType="1"/>
            </p:cNvSpPr>
            <p:nvPr/>
          </p:nvSpPr>
          <p:spPr bwMode="auto">
            <a:xfrm flipH="1">
              <a:off x="428308" y="7857232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</p:grpSp>
      <p:grpSp>
        <p:nvGrpSpPr>
          <p:cNvPr id="281" name="קבוצה 280"/>
          <p:cNvGrpSpPr/>
          <p:nvPr/>
        </p:nvGrpSpPr>
        <p:grpSpPr>
          <a:xfrm>
            <a:off x="3719736" y="5085184"/>
            <a:ext cx="1440160" cy="1152128"/>
            <a:chOff x="3275856" y="6644995"/>
            <a:chExt cx="2160240" cy="1608541"/>
          </a:xfrm>
        </p:grpSpPr>
        <p:sp>
          <p:nvSpPr>
            <p:cNvPr id="262" name="Line 36"/>
            <p:cNvSpPr>
              <a:spLocks noChangeShapeType="1"/>
            </p:cNvSpPr>
            <p:nvPr/>
          </p:nvSpPr>
          <p:spPr bwMode="auto">
            <a:xfrm flipH="1">
              <a:off x="4005875" y="7747523"/>
              <a:ext cx="144016" cy="2776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 b="1"/>
            </a:p>
          </p:txBody>
        </p:sp>
        <p:sp>
          <p:nvSpPr>
            <p:cNvPr id="263" name="Oval 22"/>
            <p:cNvSpPr>
              <a:spLocks noChangeArrowheads="1"/>
            </p:cNvSpPr>
            <p:nvPr/>
          </p:nvSpPr>
          <p:spPr bwMode="auto">
            <a:xfrm flipH="1">
              <a:off x="4060209" y="7543520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6</a:t>
              </a:r>
            </a:p>
          </p:txBody>
        </p:sp>
        <p:sp>
          <p:nvSpPr>
            <p:cNvPr id="264" name="Oval 23"/>
            <p:cNvSpPr>
              <a:spLocks noChangeArrowheads="1"/>
            </p:cNvSpPr>
            <p:nvPr/>
          </p:nvSpPr>
          <p:spPr bwMode="auto">
            <a:xfrm flipH="1">
              <a:off x="3549602" y="7502245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2</a:t>
              </a:r>
            </a:p>
          </p:txBody>
        </p:sp>
        <p:sp>
          <p:nvSpPr>
            <p:cNvPr id="265" name="Oval 20"/>
            <p:cNvSpPr>
              <a:spLocks noChangeArrowheads="1"/>
            </p:cNvSpPr>
            <p:nvPr/>
          </p:nvSpPr>
          <p:spPr bwMode="auto">
            <a:xfrm flipH="1">
              <a:off x="4296547" y="6644995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7</a:t>
              </a:r>
            </a:p>
          </p:txBody>
        </p:sp>
        <p:sp>
          <p:nvSpPr>
            <p:cNvPr id="266" name="Oval 21"/>
            <p:cNvSpPr>
              <a:spLocks noChangeArrowheads="1"/>
            </p:cNvSpPr>
            <p:nvPr/>
          </p:nvSpPr>
          <p:spPr bwMode="auto">
            <a:xfrm flipH="1">
              <a:off x="3823871" y="7064095"/>
              <a:ext cx="294693" cy="300038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4</a:t>
              </a:r>
            </a:p>
          </p:txBody>
        </p:sp>
        <p:sp>
          <p:nvSpPr>
            <p:cNvPr id="267" name="Line 24"/>
            <p:cNvSpPr>
              <a:spLocks noChangeShapeType="1"/>
            </p:cNvSpPr>
            <p:nvPr/>
          </p:nvSpPr>
          <p:spPr bwMode="auto">
            <a:xfrm>
              <a:off x="4001854" y="7364133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68" name="Line 25"/>
            <p:cNvSpPr>
              <a:spLocks noChangeShapeType="1"/>
            </p:cNvSpPr>
            <p:nvPr/>
          </p:nvSpPr>
          <p:spPr bwMode="auto">
            <a:xfrm flipH="1">
              <a:off x="3775728" y="7332383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69" name="Line 26"/>
            <p:cNvSpPr>
              <a:spLocks noChangeShapeType="1"/>
            </p:cNvSpPr>
            <p:nvPr/>
          </p:nvSpPr>
          <p:spPr bwMode="auto">
            <a:xfrm flipH="1">
              <a:off x="4071880" y="6884708"/>
              <a:ext cx="283022" cy="266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70" name="Oval 31"/>
            <p:cNvSpPr>
              <a:spLocks noChangeArrowheads="1"/>
            </p:cNvSpPr>
            <p:nvPr/>
          </p:nvSpPr>
          <p:spPr bwMode="auto">
            <a:xfrm flipH="1">
              <a:off x="4934243" y="7476051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11</a:t>
              </a:r>
            </a:p>
          </p:txBody>
        </p:sp>
        <p:sp>
          <p:nvSpPr>
            <p:cNvPr id="271" name="Line 32"/>
            <p:cNvSpPr>
              <a:spLocks noChangeShapeType="1"/>
            </p:cNvSpPr>
            <p:nvPr/>
          </p:nvSpPr>
          <p:spPr bwMode="auto">
            <a:xfrm>
              <a:off x="4875888" y="7296663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72" name="Oval 33"/>
            <p:cNvSpPr>
              <a:spLocks noChangeArrowheads="1"/>
            </p:cNvSpPr>
            <p:nvPr/>
          </p:nvSpPr>
          <p:spPr bwMode="auto">
            <a:xfrm flipH="1">
              <a:off x="5141403" y="7933251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12</a:t>
              </a:r>
            </a:p>
          </p:txBody>
        </p:sp>
        <p:sp>
          <p:nvSpPr>
            <p:cNvPr id="273" name="Line 34"/>
            <p:cNvSpPr>
              <a:spLocks noChangeShapeType="1"/>
            </p:cNvSpPr>
            <p:nvPr/>
          </p:nvSpPr>
          <p:spPr bwMode="auto">
            <a:xfrm>
              <a:off x="5083048" y="7753863"/>
              <a:ext cx="177983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74" name="Oval 23"/>
            <p:cNvSpPr>
              <a:spLocks noChangeArrowheads="1"/>
            </p:cNvSpPr>
            <p:nvPr/>
          </p:nvSpPr>
          <p:spPr bwMode="auto">
            <a:xfrm flipH="1">
              <a:off x="4427984" y="7511621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8</a:t>
              </a:r>
            </a:p>
          </p:txBody>
        </p:sp>
        <p:sp>
          <p:nvSpPr>
            <p:cNvPr id="275" name="Line 25"/>
            <p:cNvSpPr>
              <a:spLocks noChangeShapeType="1"/>
            </p:cNvSpPr>
            <p:nvPr/>
          </p:nvSpPr>
          <p:spPr bwMode="auto">
            <a:xfrm flipH="1">
              <a:off x="4654110" y="7341759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76" name="Oval 23"/>
            <p:cNvSpPr>
              <a:spLocks noChangeArrowheads="1"/>
            </p:cNvSpPr>
            <p:nvPr/>
          </p:nvSpPr>
          <p:spPr bwMode="auto">
            <a:xfrm flipH="1">
              <a:off x="3275856" y="7933251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Line 25"/>
            <p:cNvSpPr>
              <a:spLocks noChangeShapeType="1"/>
            </p:cNvSpPr>
            <p:nvPr/>
          </p:nvSpPr>
          <p:spPr bwMode="auto">
            <a:xfrm flipH="1">
              <a:off x="3501982" y="7763389"/>
              <a:ext cx="119628" cy="179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78" name="Oval 31"/>
            <p:cNvSpPr>
              <a:spLocks noChangeArrowheads="1"/>
            </p:cNvSpPr>
            <p:nvPr/>
          </p:nvSpPr>
          <p:spPr bwMode="auto">
            <a:xfrm flipH="1">
              <a:off x="4709355" y="7069155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10</a:t>
              </a:r>
            </a:p>
          </p:txBody>
        </p:sp>
        <p:sp>
          <p:nvSpPr>
            <p:cNvPr id="279" name="Line 32"/>
            <p:cNvSpPr>
              <a:spLocks noChangeShapeType="1"/>
            </p:cNvSpPr>
            <p:nvPr/>
          </p:nvSpPr>
          <p:spPr bwMode="auto">
            <a:xfrm>
              <a:off x="4559114" y="6889767"/>
              <a:ext cx="228910" cy="1898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200"/>
            </a:p>
          </p:txBody>
        </p:sp>
        <p:sp>
          <p:nvSpPr>
            <p:cNvPr id="280" name="Oval 35"/>
            <p:cNvSpPr>
              <a:spLocks noChangeArrowheads="1"/>
            </p:cNvSpPr>
            <p:nvPr/>
          </p:nvSpPr>
          <p:spPr bwMode="auto">
            <a:xfrm flipH="1">
              <a:off x="3789852" y="7955086"/>
              <a:ext cx="294693" cy="298450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dirty="0"/>
                <a:t>5</a:t>
              </a:r>
            </a:p>
          </p:txBody>
        </p:sp>
      </p:grpSp>
      <p:sp>
        <p:nvSpPr>
          <p:cNvPr id="142" name="Oval 10"/>
          <p:cNvSpPr>
            <a:spLocks noChangeArrowheads="1"/>
          </p:cNvSpPr>
          <p:nvPr/>
        </p:nvSpPr>
        <p:spPr bwMode="auto">
          <a:xfrm>
            <a:off x="6261673" y="1084588"/>
            <a:ext cx="308566" cy="300909"/>
          </a:xfrm>
          <a:prstGeom prst="ellipse">
            <a:avLst/>
          </a:prstGeom>
          <a:solidFill>
            <a:srgbClr val="FF9900"/>
          </a:solidFill>
          <a:ln w="317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en-US" dirty="0">
                <a:latin typeface="Comic Sans MS" pitchFamily="66" charset="0"/>
              </a:rPr>
              <a:t>5</a:t>
            </a:r>
          </a:p>
        </p:txBody>
      </p:sp>
      <p:sp>
        <p:nvSpPr>
          <p:cNvPr id="143" name="מלבן 142"/>
          <p:cNvSpPr/>
          <p:nvPr/>
        </p:nvSpPr>
        <p:spPr>
          <a:xfrm>
            <a:off x="5591945" y="1052736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Insert</a:t>
            </a:r>
            <a:endParaRPr lang="he-IL" dirty="0"/>
          </a:p>
        </p:txBody>
      </p:sp>
      <p:sp>
        <p:nvSpPr>
          <p:cNvPr id="144" name="מלבן 143"/>
          <p:cNvSpPr/>
          <p:nvPr/>
        </p:nvSpPr>
        <p:spPr>
          <a:xfrm>
            <a:off x="6960096" y="3779748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LR</a:t>
            </a:r>
            <a:endParaRPr lang="he-IL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תיקון לאחר הכנסה</a:t>
            </a:r>
            <a:endParaRPr lang="en-US" sz="3200" u="sng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03512" y="700535"/>
            <a:ext cx="8856984" cy="395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טענה</a:t>
            </a:r>
            <a:r>
              <a:rPr lang="he-IL" dirty="0">
                <a:latin typeface="Times New Roman" pitchFamily="18" charset="0"/>
              </a:rPr>
              <a:t>: לאחר הכנסה נדרש </a:t>
            </a:r>
            <a:r>
              <a:rPr lang="he-IL" u="sng" dirty="0">
                <a:latin typeface="Times New Roman" pitchFamily="18" charset="0"/>
              </a:rPr>
              <a:t>לכל היותר גלגול אחד</a:t>
            </a:r>
            <a:r>
              <a:rPr lang="he-IL" dirty="0">
                <a:latin typeface="Times New Roman" pitchFamily="18" charset="0"/>
              </a:rPr>
              <a:t> לתיקון העץ.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הוכחה</a:t>
            </a:r>
            <a:r>
              <a:rPr lang="he-IL" dirty="0">
                <a:latin typeface="Times New Roman" pitchFamily="18" charset="0"/>
              </a:rPr>
              <a:t>: גלגול בעקבות הכנסה תמיד מחזיר את גובה תת העץ לגובהו המקורי שלפני ההכנסה.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גלגול </a:t>
            </a:r>
            <a:r>
              <a:rPr lang="en-US" u="sng" dirty="0">
                <a:latin typeface="Times New Roman" pitchFamily="18" charset="0"/>
              </a:rPr>
              <a:t>LL</a:t>
            </a:r>
            <a:r>
              <a:rPr lang="he-IL" u="sng" dirty="0">
                <a:latin typeface="Times New Roman" pitchFamily="18" charset="0"/>
              </a:rPr>
              <a:t> (</a:t>
            </a:r>
            <a:r>
              <a:rPr lang="en-US" u="sng" dirty="0">
                <a:latin typeface="Times New Roman" pitchFamily="18" charset="0"/>
              </a:rPr>
              <a:t>RR</a:t>
            </a:r>
            <a:r>
              <a:rPr lang="he-IL" u="sng" dirty="0">
                <a:latin typeface="Times New Roman" pitchFamily="18" charset="0"/>
              </a:rPr>
              <a:t> סימטרי):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גלגול </a:t>
            </a:r>
            <a:r>
              <a:rPr lang="en-US" u="sng" dirty="0">
                <a:latin typeface="Times New Roman" pitchFamily="18" charset="0"/>
              </a:rPr>
              <a:t>LR</a:t>
            </a:r>
            <a:r>
              <a:rPr lang="he-IL" u="sng" dirty="0">
                <a:latin typeface="Times New Roman" pitchFamily="18" charset="0"/>
              </a:rPr>
              <a:t> (</a:t>
            </a:r>
            <a:r>
              <a:rPr lang="en-US" u="sng" dirty="0">
                <a:latin typeface="Times New Roman" pitchFamily="18" charset="0"/>
              </a:rPr>
              <a:t>RL</a:t>
            </a:r>
            <a:r>
              <a:rPr lang="he-IL" u="sng" dirty="0">
                <a:latin typeface="Times New Roman" pitchFamily="18" charset="0"/>
              </a:rPr>
              <a:t> סימטרי):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7742" y="2348881"/>
            <a:ext cx="2272034" cy="146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99857" y="2276873"/>
            <a:ext cx="2331259" cy="1624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68208" y="2276872"/>
            <a:ext cx="2664296" cy="161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6" name="AutoShape 42"/>
          <p:cNvSpPr>
            <a:spLocks noChangeArrowheads="1"/>
          </p:cNvSpPr>
          <p:nvPr/>
        </p:nvSpPr>
        <p:spPr bwMode="auto">
          <a:xfrm>
            <a:off x="4295801" y="2564905"/>
            <a:ext cx="288031" cy="144016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57" name="AutoShape 42"/>
          <p:cNvSpPr>
            <a:spLocks noChangeArrowheads="1"/>
          </p:cNvSpPr>
          <p:nvPr/>
        </p:nvSpPr>
        <p:spPr bwMode="auto">
          <a:xfrm>
            <a:off x="7248130" y="2564905"/>
            <a:ext cx="288031" cy="144016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58" name="Line 28"/>
          <p:cNvSpPr>
            <a:spLocks noChangeShapeType="1"/>
          </p:cNvSpPr>
          <p:nvPr/>
        </p:nvSpPr>
        <p:spPr bwMode="auto">
          <a:xfrm>
            <a:off x="1735734" y="3039143"/>
            <a:ext cx="0" cy="504056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59" name="Line 29"/>
          <p:cNvSpPr>
            <a:spLocks noChangeShapeType="1"/>
          </p:cNvSpPr>
          <p:nvPr/>
        </p:nvSpPr>
        <p:spPr bwMode="auto">
          <a:xfrm flipV="1">
            <a:off x="1735734" y="2247056"/>
            <a:ext cx="0" cy="576063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60" name="Text Box 30"/>
          <p:cNvSpPr txBox="1">
            <a:spLocks noChangeArrowheads="1"/>
          </p:cNvSpPr>
          <p:nvPr/>
        </p:nvSpPr>
        <p:spPr bwMode="auto">
          <a:xfrm>
            <a:off x="1447702" y="2751111"/>
            <a:ext cx="576064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itchFamily="34" charset="0"/>
              </a:rPr>
              <a:t>h+2</a:t>
            </a:r>
          </a:p>
        </p:txBody>
      </p:sp>
      <p:sp>
        <p:nvSpPr>
          <p:cNvPr id="161" name="Line 28"/>
          <p:cNvSpPr>
            <a:spLocks noChangeShapeType="1"/>
          </p:cNvSpPr>
          <p:nvPr/>
        </p:nvSpPr>
        <p:spPr bwMode="auto">
          <a:xfrm>
            <a:off x="4727848" y="3068960"/>
            <a:ext cx="0" cy="792088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62" name="Line 29"/>
          <p:cNvSpPr>
            <a:spLocks noChangeShapeType="1"/>
          </p:cNvSpPr>
          <p:nvPr/>
        </p:nvSpPr>
        <p:spPr bwMode="auto">
          <a:xfrm flipV="1">
            <a:off x="4727848" y="2276873"/>
            <a:ext cx="0" cy="576063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63" name="Text Box 30"/>
          <p:cNvSpPr txBox="1">
            <a:spLocks noChangeArrowheads="1"/>
          </p:cNvSpPr>
          <p:nvPr/>
        </p:nvSpPr>
        <p:spPr bwMode="auto">
          <a:xfrm>
            <a:off x="4439816" y="2780928"/>
            <a:ext cx="576064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itchFamily="34" charset="0"/>
              </a:rPr>
              <a:t>h+3</a:t>
            </a:r>
          </a:p>
        </p:txBody>
      </p:sp>
      <p:sp>
        <p:nvSpPr>
          <p:cNvPr id="166" name="Line 28"/>
          <p:cNvSpPr>
            <a:spLocks noChangeShapeType="1"/>
          </p:cNvSpPr>
          <p:nvPr/>
        </p:nvSpPr>
        <p:spPr bwMode="auto">
          <a:xfrm>
            <a:off x="7824192" y="3078899"/>
            <a:ext cx="0" cy="504056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67" name="Line 29"/>
          <p:cNvSpPr>
            <a:spLocks noChangeShapeType="1"/>
          </p:cNvSpPr>
          <p:nvPr/>
        </p:nvSpPr>
        <p:spPr bwMode="auto">
          <a:xfrm flipV="1">
            <a:off x="7824192" y="2286812"/>
            <a:ext cx="0" cy="576063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68" name="Text Box 30"/>
          <p:cNvSpPr txBox="1">
            <a:spLocks noChangeArrowheads="1"/>
          </p:cNvSpPr>
          <p:nvPr/>
        </p:nvSpPr>
        <p:spPr bwMode="auto">
          <a:xfrm>
            <a:off x="7536160" y="2790867"/>
            <a:ext cx="576064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itchFamily="34" charset="0"/>
              </a:rPr>
              <a:t>h+2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98916" y="4582554"/>
            <a:ext cx="2424877" cy="1603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05467" y="4590272"/>
            <a:ext cx="2424877" cy="1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968208" y="4497186"/>
            <a:ext cx="2627784" cy="175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2" name="Line 28"/>
          <p:cNvSpPr>
            <a:spLocks noChangeShapeType="1"/>
          </p:cNvSpPr>
          <p:nvPr/>
        </p:nvSpPr>
        <p:spPr bwMode="auto">
          <a:xfrm>
            <a:off x="1762825" y="5415407"/>
            <a:ext cx="0" cy="504056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73" name="Line 29"/>
          <p:cNvSpPr>
            <a:spLocks noChangeShapeType="1"/>
          </p:cNvSpPr>
          <p:nvPr/>
        </p:nvSpPr>
        <p:spPr bwMode="auto">
          <a:xfrm flipV="1">
            <a:off x="1762825" y="4623320"/>
            <a:ext cx="0" cy="576063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74" name="Text Box 30"/>
          <p:cNvSpPr txBox="1">
            <a:spLocks noChangeArrowheads="1"/>
          </p:cNvSpPr>
          <p:nvPr/>
        </p:nvSpPr>
        <p:spPr bwMode="auto">
          <a:xfrm>
            <a:off x="1474793" y="5127375"/>
            <a:ext cx="576064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itchFamily="34" charset="0"/>
              </a:rPr>
              <a:t>h+2</a:t>
            </a:r>
          </a:p>
        </p:txBody>
      </p:sp>
      <p:sp>
        <p:nvSpPr>
          <p:cNvPr id="175" name="Line 28"/>
          <p:cNvSpPr>
            <a:spLocks noChangeShapeType="1"/>
          </p:cNvSpPr>
          <p:nvPr/>
        </p:nvSpPr>
        <p:spPr bwMode="auto">
          <a:xfrm>
            <a:off x="4695626" y="5445224"/>
            <a:ext cx="0" cy="792088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76" name="Line 29"/>
          <p:cNvSpPr>
            <a:spLocks noChangeShapeType="1"/>
          </p:cNvSpPr>
          <p:nvPr/>
        </p:nvSpPr>
        <p:spPr bwMode="auto">
          <a:xfrm flipV="1">
            <a:off x="4695626" y="4653137"/>
            <a:ext cx="0" cy="576063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77" name="Text Box 30"/>
          <p:cNvSpPr txBox="1">
            <a:spLocks noChangeArrowheads="1"/>
          </p:cNvSpPr>
          <p:nvPr/>
        </p:nvSpPr>
        <p:spPr bwMode="auto">
          <a:xfrm>
            <a:off x="4407594" y="5157192"/>
            <a:ext cx="576064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itchFamily="34" charset="0"/>
              </a:rPr>
              <a:t>h+3</a:t>
            </a:r>
          </a:p>
        </p:txBody>
      </p:sp>
      <p:sp>
        <p:nvSpPr>
          <p:cNvPr id="178" name="Line 28"/>
          <p:cNvSpPr>
            <a:spLocks noChangeShapeType="1"/>
          </p:cNvSpPr>
          <p:nvPr/>
        </p:nvSpPr>
        <p:spPr bwMode="auto">
          <a:xfrm>
            <a:off x="7791970" y="5455163"/>
            <a:ext cx="0" cy="504056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79" name="Line 29"/>
          <p:cNvSpPr>
            <a:spLocks noChangeShapeType="1"/>
          </p:cNvSpPr>
          <p:nvPr/>
        </p:nvSpPr>
        <p:spPr bwMode="auto">
          <a:xfrm flipV="1">
            <a:off x="7791970" y="4663076"/>
            <a:ext cx="0" cy="576063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sp>
        <p:nvSpPr>
          <p:cNvPr id="180" name="Text Box 30"/>
          <p:cNvSpPr txBox="1">
            <a:spLocks noChangeArrowheads="1"/>
          </p:cNvSpPr>
          <p:nvPr/>
        </p:nvSpPr>
        <p:spPr bwMode="auto">
          <a:xfrm>
            <a:off x="7503938" y="5167131"/>
            <a:ext cx="576064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itchFamily="34" charset="0"/>
              </a:rPr>
              <a:t>h+2</a:t>
            </a:r>
          </a:p>
        </p:txBody>
      </p:sp>
      <p:sp>
        <p:nvSpPr>
          <p:cNvPr id="181" name="AutoShape 42"/>
          <p:cNvSpPr>
            <a:spLocks noChangeArrowheads="1"/>
          </p:cNvSpPr>
          <p:nvPr/>
        </p:nvSpPr>
        <p:spPr bwMode="auto">
          <a:xfrm>
            <a:off x="4295801" y="4869160"/>
            <a:ext cx="288031" cy="144016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82" name="AutoShape 42"/>
          <p:cNvSpPr>
            <a:spLocks noChangeArrowheads="1"/>
          </p:cNvSpPr>
          <p:nvPr/>
        </p:nvSpPr>
        <p:spPr bwMode="auto">
          <a:xfrm>
            <a:off x="7248130" y="4869160"/>
            <a:ext cx="288031" cy="144016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אלגוריתם ההכנסה</a:t>
            </a:r>
            <a:endParaRPr lang="en-US" sz="3200" u="sng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8" name="מלבן 7"/>
          <p:cNvSpPr/>
          <p:nvPr/>
        </p:nvSpPr>
        <p:spPr>
          <a:xfrm>
            <a:off x="5807969" y="4097684"/>
            <a:ext cx="4588015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סיבוכיות זמן</a:t>
            </a:r>
          </a:p>
          <a:p>
            <a:pPr algn="r" rtl="1"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הכנסה כרגיל לעץ חיפוש בינארי	</a:t>
            </a:r>
            <a:r>
              <a:rPr lang="en-US" dirty="0">
                <a:latin typeface="Times New Roman" pitchFamily="18" charset="0"/>
              </a:rPr>
              <a:t>Θ(</a:t>
            </a:r>
            <a:r>
              <a:rPr lang="en-US" i="1" dirty="0">
                <a:latin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</a:rPr>
              <a:t>)</a:t>
            </a:r>
            <a:endParaRPr lang="he-IL" dirty="0">
              <a:latin typeface="Times New Roman" pitchFamily="18" charset="0"/>
            </a:endParaRPr>
          </a:p>
          <a:p>
            <a:pPr algn="r" rtl="1"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מציאת מקום הגלגול (אם בכלל)		</a:t>
            </a:r>
            <a:r>
              <a:rPr lang="en-US" dirty="0">
                <a:latin typeface="Times New Roman" pitchFamily="18" charset="0"/>
              </a:rPr>
              <a:t>Θ(</a:t>
            </a:r>
            <a:r>
              <a:rPr lang="en-US" i="1" dirty="0">
                <a:latin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</a:rPr>
              <a:t>)</a:t>
            </a:r>
            <a:endParaRPr lang="he-IL" dirty="0">
              <a:latin typeface="Times New Roman" pitchFamily="18" charset="0"/>
            </a:endParaRPr>
          </a:p>
          <a:p>
            <a:pPr algn="r" rtl="1"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ביצוע הגלגול (אם מתבצע)	</a:t>
            </a:r>
            <a:r>
              <a:rPr lang="he-IL" u="sng" dirty="0">
                <a:latin typeface="Times New Roman" pitchFamily="18" charset="0"/>
              </a:rPr>
              <a:t>	</a:t>
            </a:r>
            <a:r>
              <a:rPr lang="en-US" u="sng" dirty="0">
                <a:latin typeface="Times New Roman" pitchFamily="18" charset="0"/>
              </a:rPr>
              <a:t> Θ(1)</a:t>
            </a:r>
            <a:endParaRPr lang="he-IL" u="sng" dirty="0"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dirty="0">
                <a:latin typeface="Times New Roman" pitchFamily="18" charset="0"/>
              </a:rPr>
              <a:t>      Θ(</a:t>
            </a:r>
            <a:r>
              <a:rPr lang="en-US" i="1" dirty="0">
                <a:latin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</a:rPr>
              <a:t>) = Θ(</a:t>
            </a:r>
            <a:r>
              <a:rPr lang="en-US" dirty="0" err="1">
                <a:latin typeface="Times New Roman" pitchFamily="18" charset="0"/>
              </a:rPr>
              <a:t>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endParaRPr lang="he-IL" u="sng" dirty="0">
              <a:latin typeface="Times New Roman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91544" y="780406"/>
            <a:ext cx="8424936" cy="3152650"/>
          </a:xfrm>
          <a:prstGeom prst="rect">
            <a:avLst/>
          </a:prstGeom>
          <a:solidFill>
            <a:srgbClr val="EAEAEA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126000" tIns="82800" rIns="126000" bIns="82800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u="sng" dirty="0">
                <a:latin typeface="Times New Roman" pitchFamily="18" charset="0"/>
              </a:rPr>
              <a:t>AVL-Insert(</a:t>
            </a:r>
            <a:r>
              <a:rPr lang="en-US" i="1" u="sng" dirty="0">
                <a:latin typeface="Times New Roman" pitchFamily="18" charset="0"/>
              </a:rPr>
              <a:t>T</a:t>
            </a:r>
            <a:r>
              <a:rPr lang="en-US" u="sng" dirty="0">
                <a:latin typeface="Times New Roman" pitchFamily="18" charset="0"/>
              </a:rPr>
              <a:t>, </a:t>
            </a:r>
            <a:r>
              <a:rPr lang="en-US" i="1" u="sng" dirty="0">
                <a:latin typeface="Times New Roman" pitchFamily="18" charset="0"/>
              </a:rPr>
              <a:t>z</a:t>
            </a:r>
            <a:r>
              <a:rPr lang="en-US" u="sng" dirty="0">
                <a:latin typeface="Times New Roman" pitchFamily="18" charset="0"/>
              </a:rPr>
              <a:t>)</a:t>
            </a:r>
            <a:endParaRPr lang="he-IL" i="1" u="sng" dirty="0">
              <a:latin typeface="Times New Roman" pitchFamily="18" charset="0"/>
            </a:endParaRPr>
          </a:p>
          <a:p>
            <a:pPr marL="342900" indent="-342900" algn="r" defTabSz="384175" rtl="1">
              <a:spcBef>
                <a:spcPct val="50000"/>
              </a:spcBef>
              <a:buAutoNum type="arabicPeriod"/>
              <a:defRPr/>
            </a:pPr>
            <a:r>
              <a:rPr lang="he-IL" dirty="0">
                <a:latin typeface="Times New Roman" pitchFamily="18" charset="0"/>
              </a:rPr>
              <a:t>הכנס את </a:t>
            </a:r>
            <a:r>
              <a:rPr lang="en-US" i="1" dirty="0">
                <a:latin typeface="Times New Roman" pitchFamily="18" charset="0"/>
              </a:rPr>
              <a:t>z</a:t>
            </a:r>
            <a:r>
              <a:rPr lang="he-IL" dirty="0">
                <a:latin typeface="Times New Roman" pitchFamily="18" charset="0"/>
              </a:rPr>
              <a:t> כרגיל (כמו בעץ חיפוש בינארי). יהי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he-IL" i="1" dirty="0">
                <a:latin typeface="Times New Roman" pitchFamily="18" charset="0"/>
              </a:rPr>
              <a:t> </a:t>
            </a:r>
            <a:r>
              <a:rPr lang="he-IL" dirty="0">
                <a:latin typeface="Times New Roman" pitchFamily="18" charset="0"/>
              </a:rPr>
              <a:t>אביו של הצומת שהוכנס</a:t>
            </a:r>
          </a:p>
          <a:p>
            <a:pPr marL="342900" indent="-342900" algn="r" defTabSz="384175" rtl="1">
              <a:spcBef>
                <a:spcPct val="50000"/>
              </a:spcBef>
              <a:buAutoNum type="arabicPeriod"/>
              <a:defRPr/>
            </a:pPr>
            <a:r>
              <a:rPr lang="he-IL" dirty="0">
                <a:latin typeface="Times New Roman" pitchFamily="18" charset="0"/>
              </a:rPr>
              <a:t>כל עוד </a:t>
            </a:r>
            <a:r>
              <a:rPr lang="en-US" i="1" dirty="0">
                <a:latin typeface="Times New Roman" pitchFamily="18" charset="0"/>
              </a:rPr>
              <a:t>y </a:t>
            </a:r>
            <a:r>
              <a:rPr lang="en-US" dirty="0">
                <a:latin typeface="Times New Roman" pitchFamily="18" charset="0"/>
                <a:sym typeface="Symbol"/>
              </a:rPr>
              <a:t></a:t>
            </a:r>
            <a:r>
              <a:rPr lang="en-US" i="1" dirty="0">
                <a:latin typeface="Times New Roman" pitchFamily="18" charset="0"/>
                <a:sym typeface="Symbol"/>
              </a:rPr>
              <a:t> </a:t>
            </a:r>
            <a:r>
              <a:rPr lang="en-US" dirty="0">
                <a:latin typeface="Times New Roman" pitchFamily="18" charset="0"/>
              </a:rPr>
              <a:t>Nil </a:t>
            </a:r>
            <a:r>
              <a:rPr lang="he-IL" dirty="0">
                <a:latin typeface="Times New Roman" pitchFamily="18" charset="0"/>
              </a:rPr>
              <a:t> בצע:</a:t>
            </a: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2.1.  חשב את </a:t>
            </a:r>
            <a:r>
              <a:rPr lang="en-US" dirty="0">
                <a:latin typeface="Times New Roman" pitchFamily="18" charset="0"/>
              </a:rPr>
              <a:t>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</a:t>
            </a:r>
            <a:r>
              <a:rPr lang="he-IL" dirty="0">
                <a:latin typeface="Times New Roman" pitchFamily="18" charset="0"/>
              </a:rPr>
              <a:t> </a:t>
            </a:r>
            <a:r>
              <a:rPr lang="he-IL" baseline="30000" dirty="0">
                <a:latin typeface="Times New Roman" pitchFamily="18" charset="0"/>
              </a:rPr>
              <a:t>*</a:t>
            </a: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2.2.  אם </a:t>
            </a:r>
            <a:r>
              <a:rPr lang="en-US" dirty="0">
                <a:latin typeface="Times New Roman" pitchFamily="18" charset="0"/>
              </a:rPr>
              <a:t>| 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 | &lt;2</a:t>
            </a:r>
            <a:r>
              <a:rPr lang="he-IL" dirty="0">
                <a:latin typeface="Times New Roman" pitchFamily="18" charset="0"/>
              </a:rPr>
              <a:t> וגובהו של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he-IL" dirty="0">
                <a:latin typeface="Times New Roman" pitchFamily="18" charset="0"/>
              </a:rPr>
              <a:t> לא השתנה – סיים</a:t>
            </a: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2.3.  אחרת אם </a:t>
            </a:r>
            <a:r>
              <a:rPr lang="en-US" dirty="0">
                <a:latin typeface="Times New Roman" pitchFamily="18" charset="0"/>
              </a:rPr>
              <a:t>| 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 | &lt;2 </a:t>
            </a:r>
            <a:r>
              <a:rPr lang="he-IL" dirty="0">
                <a:latin typeface="Times New Roman" pitchFamily="18" charset="0"/>
              </a:rPr>
              <a:t> וגובהו של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he-IL" dirty="0">
                <a:latin typeface="Times New Roman" pitchFamily="18" charset="0"/>
              </a:rPr>
              <a:t> השתנה, עבור </a:t>
            </a:r>
            <a:r>
              <a:rPr lang="he-IL" dirty="0" err="1">
                <a:latin typeface="Times New Roman" pitchFamily="18" charset="0"/>
              </a:rPr>
              <a:t>לאיטרציה</a:t>
            </a:r>
            <a:r>
              <a:rPr lang="he-IL" dirty="0">
                <a:latin typeface="Times New Roman" pitchFamily="18" charset="0"/>
              </a:rPr>
              <a:t> הבאה עם אביו של </a:t>
            </a:r>
            <a:r>
              <a:rPr lang="en-US" i="1" dirty="0">
                <a:latin typeface="Times New Roman" pitchFamily="18" charset="0"/>
              </a:rPr>
              <a:t>y</a:t>
            </a:r>
            <a:endParaRPr lang="he-IL" dirty="0">
              <a:latin typeface="Times New Roman" pitchFamily="18" charset="0"/>
            </a:endParaRP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2.4.  אחרת (כאן </a:t>
            </a:r>
            <a:r>
              <a:rPr lang="en-US" dirty="0">
                <a:latin typeface="Times New Roman" pitchFamily="18" charset="0"/>
              </a:rPr>
              <a:t>| 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 | =2</a:t>
            </a:r>
            <a:r>
              <a:rPr lang="he-IL" dirty="0">
                <a:latin typeface="Times New Roman" pitchFamily="18" charset="0"/>
              </a:rPr>
              <a:t>) בצע גלגול מתאים וסיים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3719737" y="6351712"/>
            <a:ext cx="646022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sz="1600" dirty="0">
                <a:latin typeface="Times New Roman" pitchFamily="18" charset="0"/>
              </a:rPr>
              <a:t>* לשם כך נדרש לשמור בכל צומת את גובהו. נתייחס לנושא זה בהרצאה הבאה.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תיקון לאחר הוצאה</a:t>
            </a:r>
            <a:endParaRPr lang="en-US" sz="3200" u="sng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03512" y="807384"/>
            <a:ext cx="8856984" cy="395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גם לאחר הוצאת צומת תיתכן הפרה של גורמי איזון.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אותם 4 סוגי גלגולים משמשים גם פה לתיקון ההפרה.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endParaRPr lang="he-IL" u="sng" dirty="0">
              <a:latin typeface="Times New Roman" pitchFamily="18" charset="0"/>
            </a:endParaRP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שימו לב להבדל בין שתי הטבלאות.</a:t>
            </a:r>
          </a:p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בהוצאה ייתכנו מצבים שאינם אפשריים בהכנסה. למשל:</a:t>
            </a:r>
          </a:p>
        </p:txBody>
      </p:sp>
      <p:graphicFrame>
        <p:nvGraphicFramePr>
          <p:cNvPr id="6" name="טבלה 5"/>
          <p:cNvGraphicFramePr>
            <a:graphicFrameLocks noGrp="1"/>
          </p:cNvGraphicFramePr>
          <p:nvPr/>
        </p:nvGraphicFramePr>
        <p:xfrm>
          <a:off x="3071664" y="1988840"/>
          <a:ext cx="6096000" cy="1676400"/>
        </p:xfrm>
        <a:graphic>
          <a:graphicData uri="http://schemas.openxmlformats.org/drawingml/2006/table">
            <a:tbl>
              <a:tblPr rtl="1" firstRow="1" bandRow="1">
                <a:tableStyleId>{9D7B26C5-4107-4FEC-AEDC-1716B250A1EF}</a:tableStyleId>
              </a:tblPr>
              <a:tblGrid>
                <a:gridCol w="882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418"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BF[v]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BF</a:t>
                      </a:r>
                      <a:r>
                        <a:rPr lang="he-IL" sz="1600" dirty="0"/>
                        <a:t> של הבן השמאלי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dirty="0"/>
                        <a:t>BF</a:t>
                      </a:r>
                      <a:r>
                        <a:rPr lang="he-IL" sz="1600" dirty="0"/>
                        <a:t> של הבן הימני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הגלגול המתאים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18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+2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+1</a:t>
                      </a:r>
                      <a:r>
                        <a:rPr lang="he-IL" sz="1600" dirty="0"/>
                        <a:t> או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LL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44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-2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dirty="0"/>
                        <a:t> </a:t>
                      </a:r>
                      <a:r>
                        <a:rPr lang="en-US" sz="1600" dirty="0"/>
                        <a:t>-1</a:t>
                      </a:r>
                      <a:r>
                        <a:rPr lang="he-IL" sz="1600" dirty="0"/>
                        <a:t> או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RR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18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+2</a:t>
                      </a:r>
                      <a:endParaRPr lang="he-IL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he-IL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he-IL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LR</a:t>
                      </a:r>
                      <a:endParaRPr lang="he-IL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418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-2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dirty="0"/>
                        <a:t> </a:t>
                      </a:r>
                      <a:r>
                        <a:rPr lang="en-US" sz="1600" dirty="0"/>
                        <a:t>+1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RL</a:t>
                      </a:r>
                      <a:endParaRPr lang="he-IL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val 17"/>
          <p:cNvSpPr>
            <a:spLocks noChangeArrowheads="1"/>
          </p:cNvSpPr>
          <p:nvPr/>
        </p:nvSpPr>
        <p:spPr bwMode="auto">
          <a:xfrm>
            <a:off x="2605124" y="4921636"/>
            <a:ext cx="36036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9" name="Oval 18"/>
          <p:cNvSpPr>
            <a:spLocks noChangeArrowheads="1"/>
          </p:cNvSpPr>
          <p:nvPr/>
        </p:nvSpPr>
        <p:spPr bwMode="auto">
          <a:xfrm>
            <a:off x="2256086" y="5411000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2919661" y="5355438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 flipH="1">
            <a:off x="2470397" y="5219435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2" name="Line 21"/>
          <p:cNvSpPr>
            <a:spLocks noChangeShapeType="1"/>
          </p:cNvSpPr>
          <p:nvPr/>
        </p:nvSpPr>
        <p:spPr bwMode="auto">
          <a:xfrm>
            <a:off x="2845048" y="5198275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3" name="Oval 31"/>
          <p:cNvSpPr>
            <a:spLocks noChangeArrowheads="1"/>
          </p:cNvSpPr>
          <p:nvPr/>
        </p:nvSpPr>
        <p:spPr bwMode="auto">
          <a:xfrm>
            <a:off x="1919536" y="5857088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4" name="Line 32"/>
          <p:cNvSpPr>
            <a:spLocks noChangeShapeType="1"/>
          </p:cNvSpPr>
          <p:nvPr/>
        </p:nvSpPr>
        <p:spPr bwMode="auto">
          <a:xfrm flipH="1">
            <a:off x="2133848" y="5677700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2624617" y="5837383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2550004" y="5680220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17" name="AutoShape 42"/>
          <p:cNvSpPr>
            <a:spLocks noChangeArrowheads="1"/>
          </p:cNvSpPr>
          <p:nvPr/>
        </p:nvSpPr>
        <p:spPr bwMode="auto">
          <a:xfrm>
            <a:off x="3612822" y="5546402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8" name="Oval 10"/>
          <p:cNvSpPr>
            <a:spLocks noChangeArrowheads="1"/>
          </p:cNvSpPr>
          <p:nvPr/>
        </p:nvSpPr>
        <p:spPr bwMode="auto">
          <a:xfrm>
            <a:off x="4168765" y="5241520"/>
            <a:ext cx="308566" cy="300909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19" name="מלבן 18"/>
          <p:cNvSpPr/>
          <p:nvPr/>
        </p:nvSpPr>
        <p:spPr>
          <a:xfrm>
            <a:off x="3469220" y="5209668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Delete</a:t>
            </a:r>
            <a:endParaRPr lang="he-IL" dirty="0"/>
          </a:p>
        </p:txBody>
      </p:sp>
      <p:sp>
        <p:nvSpPr>
          <p:cNvPr id="20" name="Oval 17"/>
          <p:cNvSpPr>
            <a:spLocks noChangeArrowheads="1"/>
          </p:cNvSpPr>
          <p:nvPr/>
        </p:nvSpPr>
        <p:spPr bwMode="auto">
          <a:xfrm>
            <a:off x="5572129" y="4931402"/>
            <a:ext cx="36036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21" name="Oval 18"/>
          <p:cNvSpPr>
            <a:spLocks noChangeArrowheads="1"/>
          </p:cNvSpPr>
          <p:nvPr/>
        </p:nvSpPr>
        <p:spPr bwMode="auto">
          <a:xfrm>
            <a:off x="5223091" y="5420766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flipH="1">
            <a:off x="5437402" y="5229201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5" name="Oval 31"/>
          <p:cNvSpPr>
            <a:spLocks noChangeArrowheads="1"/>
          </p:cNvSpPr>
          <p:nvPr/>
        </p:nvSpPr>
        <p:spPr bwMode="auto">
          <a:xfrm>
            <a:off x="4886541" y="5866854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26" name="Line 32"/>
          <p:cNvSpPr>
            <a:spLocks noChangeShapeType="1"/>
          </p:cNvSpPr>
          <p:nvPr/>
        </p:nvSpPr>
        <p:spPr bwMode="auto">
          <a:xfrm flipH="1">
            <a:off x="5100853" y="5687466"/>
            <a:ext cx="21748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7" name="Oval 19"/>
          <p:cNvSpPr>
            <a:spLocks noChangeArrowheads="1"/>
          </p:cNvSpPr>
          <p:nvPr/>
        </p:nvSpPr>
        <p:spPr bwMode="auto">
          <a:xfrm>
            <a:off x="5591622" y="5847149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>
            <a:off x="5517009" y="5689986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9" name="AutoShape 42"/>
          <p:cNvSpPr>
            <a:spLocks noChangeArrowheads="1"/>
          </p:cNvSpPr>
          <p:nvPr/>
        </p:nvSpPr>
        <p:spPr bwMode="auto">
          <a:xfrm>
            <a:off x="6455627" y="5556168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1" name="מלבן 30"/>
          <p:cNvSpPr/>
          <p:nvPr/>
        </p:nvSpPr>
        <p:spPr>
          <a:xfrm>
            <a:off x="6376145" y="5219434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he-IL" dirty="0">
                <a:latin typeface="Times New Roman" pitchFamily="18" charset="0"/>
              </a:rPr>
              <a:t>גלגול </a:t>
            </a:r>
            <a:r>
              <a:rPr lang="en-US" dirty="0">
                <a:latin typeface="Times New Roman" pitchFamily="18" charset="0"/>
              </a:rPr>
              <a:t>LL</a:t>
            </a:r>
            <a:endParaRPr lang="he-IL" dirty="0"/>
          </a:p>
        </p:txBody>
      </p:sp>
      <p:sp>
        <p:nvSpPr>
          <p:cNvPr id="34" name="Oval 17"/>
          <p:cNvSpPr>
            <a:spLocks noChangeArrowheads="1"/>
          </p:cNvSpPr>
          <p:nvPr/>
        </p:nvSpPr>
        <p:spPr bwMode="auto">
          <a:xfrm>
            <a:off x="8229413" y="4931402"/>
            <a:ext cx="360363" cy="300038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35" name="Oval 18"/>
          <p:cNvSpPr>
            <a:spLocks noChangeArrowheads="1"/>
          </p:cNvSpPr>
          <p:nvPr/>
        </p:nvSpPr>
        <p:spPr bwMode="auto">
          <a:xfrm>
            <a:off x="7880375" y="5420766"/>
            <a:ext cx="361950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36" name="Oval 19"/>
          <p:cNvSpPr>
            <a:spLocks noChangeArrowheads="1"/>
          </p:cNvSpPr>
          <p:nvPr/>
        </p:nvSpPr>
        <p:spPr bwMode="auto">
          <a:xfrm>
            <a:off x="8543950" y="5365204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37" name="Line 20"/>
          <p:cNvSpPr>
            <a:spLocks noChangeShapeType="1"/>
          </p:cNvSpPr>
          <p:nvPr/>
        </p:nvSpPr>
        <p:spPr bwMode="auto">
          <a:xfrm flipH="1">
            <a:off x="8094686" y="5229201"/>
            <a:ext cx="229046" cy="19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38" name="Line 21"/>
          <p:cNvSpPr>
            <a:spLocks noChangeShapeType="1"/>
          </p:cNvSpPr>
          <p:nvPr/>
        </p:nvSpPr>
        <p:spPr bwMode="auto">
          <a:xfrm>
            <a:off x="8469337" y="5208041"/>
            <a:ext cx="146050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41" name="Oval 19"/>
          <p:cNvSpPr>
            <a:spLocks noChangeArrowheads="1"/>
          </p:cNvSpPr>
          <p:nvPr/>
        </p:nvSpPr>
        <p:spPr bwMode="auto">
          <a:xfrm>
            <a:off x="8327926" y="5805264"/>
            <a:ext cx="360362" cy="298450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42" name="Line 21"/>
          <p:cNvSpPr>
            <a:spLocks noChangeShapeType="1"/>
          </p:cNvSpPr>
          <p:nvPr/>
        </p:nvSpPr>
        <p:spPr bwMode="auto">
          <a:xfrm flipH="1">
            <a:off x="8544272" y="5661248"/>
            <a:ext cx="144015" cy="1440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43" name="Text Box 50"/>
          <p:cNvSpPr txBox="1">
            <a:spLocks noChangeArrowheads="1"/>
          </p:cNvSpPr>
          <p:nvPr/>
        </p:nvSpPr>
        <p:spPr bwMode="auto">
          <a:xfrm>
            <a:off x="5288694" y="4746630"/>
            <a:ext cx="591283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mic Sans MS" pitchFamily="66" charset="0"/>
              </a:rPr>
              <a:t>+2</a:t>
            </a:r>
          </a:p>
        </p:txBody>
      </p:sp>
      <p:sp>
        <p:nvSpPr>
          <p:cNvPr id="44" name="Text Box 50"/>
          <p:cNvSpPr txBox="1">
            <a:spLocks noChangeArrowheads="1"/>
          </p:cNvSpPr>
          <p:nvPr/>
        </p:nvSpPr>
        <p:spPr bwMode="auto">
          <a:xfrm>
            <a:off x="5015881" y="5229200"/>
            <a:ext cx="591283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mic Sans MS" pitchFamily="66" charset="0"/>
              </a:rPr>
              <a:t>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Line 25"/>
          <p:cNvSpPr>
            <a:spLocks noChangeShapeType="1"/>
          </p:cNvSpPr>
          <p:nvPr/>
        </p:nvSpPr>
        <p:spPr bwMode="auto">
          <a:xfrm flipH="1">
            <a:off x="8760293" y="4941168"/>
            <a:ext cx="504058" cy="2160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תיקון לאחר הוצאה</a:t>
            </a:r>
            <a:endParaRPr lang="en-US" sz="3200" u="sng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03512" y="740217"/>
            <a:ext cx="8856984" cy="47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בהוצאה, ייתכן יותר מגלגול אחד</a:t>
            </a:r>
            <a:r>
              <a:rPr lang="he-IL" dirty="0">
                <a:latin typeface="Times New Roman" pitchFamily="18" charset="0"/>
              </a:rPr>
              <a:t> (ייתכן אף שיתבצע גלגול אחד בכל רמה של העץ).</a:t>
            </a:r>
            <a:endParaRPr lang="he-IL" u="sng" dirty="0">
              <a:latin typeface="Times New Roman" pitchFamily="18" charset="0"/>
            </a:endParaRPr>
          </a:p>
        </p:txBody>
      </p:sp>
      <p:grpSp>
        <p:nvGrpSpPr>
          <p:cNvPr id="184" name="קבוצה 183"/>
          <p:cNvGrpSpPr/>
          <p:nvPr/>
        </p:nvGrpSpPr>
        <p:grpSpPr>
          <a:xfrm>
            <a:off x="1919537" y="1776530"/>
            <a:ext cx="2942971" cy="1940503"/>
            <a:chOff x="395536" y="1628800"/>
            <a:chExt cx="2942971" cy="1940503"/>
          </a:xfrm>
        </p:grpSpPr>
        <p:sp>
          <p:nvSpPr>
            <p:cNvPr id="114" name="Oval 23"/>
            <p:cNvSpPr>
              <a:spLocks noChangeArrowheads="1"/>
            </p:cNvSpPr>
            <p:nvPr/>
          </p:nvSpPr>
          <p:spPr bwMode="auto">
            <a:xfrm flipH="1">
              <a:off x="395536" y="2917273"/>
              <a:ext cx="227248" cy="244187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15" name="Line 36"/>
            <p:cNvSpPr>
              <a:spLocks noChangeShapeType="1"/>
            </p:cNvSpPr>
            <p:nvPr/>
          </p:nvSpPr>
          <p:spPr bwMode="auto">
            <a:xfrm>
              <a:off x="1524275" y="3178345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16" name="Oval 35"/>
            <p:cNvSpPr>
              <a:spLocks noChangeArrowheads="1"/>
            </p:cNvSpPr>
            <p:nvPr/>
          </p:nvSpPr>
          <p:spPr bwMode="auto">
            <a:xfrm flipH="1">
              <a:off x="1569274" y="3325116"/>
              <a:ext cx="227248" cy="244187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13</a:t>
              </a:r>
            </a:p>
          </p:txBody>
        </p:sp>
        <p:sp>
          <p:nvSpPr>
            <p:cNvPr id="90" name="Oval 14"/>
            <p:cNvSpPr>
              <a:spLocks noChangeArrowheads="1"/>
            </p:cNvSpPr>
            <p:nvPr/>
          </p:nvSpPr>
          <p:spPr bwMode="auto">
            <a:xfrm flipH="1">
              <a:off x="2791762" y="2215886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22</a:t>
              </a:r>
            </a:p>
          </p:txBody>
        </p:sp>
        <p:sp>
          <p:nvSpPr>
            <p:cNvPr id="91" name="Oval 15"/>
            <p:cNvSpPr>
              <a:spLocks noChangeArrowheads="1"/>
            </p:cNvSpPr>
            <p:nvPr/>
          </p:nvSpPr>
          <p:spPr bwMode="auto">
            <a:xfrm flipH="1">
              <a:off x="3111259" y="2558786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24</a:t>
              </a:r>
            </a:p>
          </p:txBody>
        </p:sp>
        <p:sp>
          <p:nvSpPr>
            <p:cNvPr id="92" name="Oval 16"/>
            <p:cNvSpPr>
              <a:spLocks noChangeArrowheads="1"/>
            </p:cNvSpPr>
            <p:nvPr/>
          </p:nvSpPr>
          <p:spPr bwMode="auto">
            <a:xfrm flipH="1">
              <a:off x="2467766" y="2509430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20</a:t>
              </a:r>
            </a:p>
          </p:txBody>
        </p:sp>
        <p:sp>
          <p:nvSpPr>
            <p:cNvPr id="93" name="Oval 17"/>
            <p:cNvSpPr>
              <a:spLocks noChangeArrowheads="1"/>
            </p:cNvSpPr>
            <p:nvPr/>
          </p:nvSpPr>
          <p:spPr bwMode="auto">
            <a:xfrm flipH="1">
              <a:off x="1926646" y="1628800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15</a:t>
              </a:r>
            </a:p>
          </p:txBody>
        </p:sp>
        <p:sp>
          <p:nvSpPr>
            <p:cNvPr id="94" name="Line 18"/>
            <p:cNvSpPr>
              <a:spLocks noChangeShapeType="1"/>
            </p:cNvSpPr>
            <p:nvPr/>
          </p:nvSpPr>
          <p:spPr bwMode="auto">
            <a:xfrm>
              <a:off x="2974011" y="2412015"/>
              <a:ext cx="182248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95" name="Line 19"/>
            <p:cNvSpPr>
              <a:spLocks noChangeShapeType="1"/>
            </p:cNvSpPr>
            <p:nvPr/>
          </p:nvSpPr>
          <p:spPr bwMode="auto">
            <a:xfrm flipH="1">
              <a:off x="2655638" y="2412015"/>
              <a:ext cx="182248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96" name="Oval 20"/>
            <p:cNvSpPr>
              <a:spLocks noChangeArrowheads="1"/>
            </p:cNvSpPr>
            <p:nvPr/>
          </p:nvSpPr>
          <p:spPr bwMode="auto">
            <a:xfrm flipH="1">
              <a:off x="971530" y="2215886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97" name="Oval 21"/>
            <p:cNvSpPr>
              <a:spLocks noChangeArrowheads="1"/>
            </p:cNvSpPr>
            <p:nvPr/>
          </p:nvSpPr>
          <p:spPr bwMode="auto">
            <a:xfrm flipH="1">
              <a:off x="607034" y="2558786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99" name="Line 25"/>
            <p:cNvSpPr>
              <a:spLocks noChangeShapeType="1"/>
            </p:cNvSpPr>
            <p:nvPr/>
          </p:nvSpPr>
          <p:spPr bwMode="auto">
            <a:xfrm flipH="1">
              <a:off x="569909" y="2778295"/>
              <a:ext cx="92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00" name="Line 26"/>
            <p:cNvSpPr>
              <a:spLocks noChangeShapeType="1"/>
            </p:cNvSpPr>
            <p:nvPr/>
          </p:nvSpPr>
          <p:spPr bwMode="auto">
            <a:xfrm flipH="1">
              <a:off x="798282" y="2412015"/>
              <a:ext cx="218248" cy="2182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01" name="Line 27"/>
            <p:cNvSpPr>
              <a:spLocks noChangeShapeType="1"/>
            </p:cNvSpPr>
            <p:nvPr/>
          </p:nvSpPr>
          <p:spPr bwMode="auto">
            <a:xfrm>
              <a:off x="2108894" y="1824929"/>
              <a:ext cx="682869" cy="440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02" name="Line 28"/>
            <p:cNvSpPr>
              <a:spLocks noChangeShapeType="1"/>
            </p:cNvSpPr>
            <p:nvPr/>
          </p:nvSpPr>
          <p:spPr bwMode="auto">
            <a:xfrm flipH="1">
              <a:off x="1198778" y="1824929"/>
              <a:ext cx="727868" cy="440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03" name="Oval 29"/>
            <p:cNvSpPr>
              <a:spLocks noChangeArrowheads="1"/>
            </p:cNvSpPr>
            <p:nvPr/>
          </p:nvSpPr>
          <p:spPr bwMode="auto">
            <a:xfrm flipH="1">
              <a:off x="2144894" y="2871813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18</a:t>
              </a:r>
            </a:p>
          </p:txBody>
        </p:sp>
        <p:sp>
          <p:nvSpPr>
            <p:cNvPr id="104" name="Line 30"/>
            <p:cNvSpPr>
              <a:spLocks noChangeShapeType="1"/>
            </p:cNvSpPr>
            <p:nvPr/>
          </p:nvSpPr>
          <p:spPr bwMode="auto">
            <a:xfrm flipH="1">
              <a:off x="2342891" y="2753616"/>
              <a:ext cx="182248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05" name="Oval 31"/>
            <p:cNvSpPr>
              <a:spLocks noChangeArrowheads="1"/>
            </p:cNvSpPr>
            <p:nvPr/>
          </p:nvSpPr>
          <p:spPr bwMode="auto">
            <a:xfrm flipH="1">
              <a:off x="1180778" y="2593856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11</a:t>
              </a:r>
            </a:p>
          </p:txBody>
        </p:sp>
        <p:sp>
          <p:nvSpPr>
            <p:cNvPr id="106" name="Line 32"/>
            <p:cNvSpPr>
              <a:spLocks noChangeShapeType="1"/>
            </p:cNvSpPr>
            <p:nvPr/>
          </p:nvSpPr>
          <p:spPr bwMode="auto">
            <a:xfrm>
              <a:off x="1135779" y="2447084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07" name="Oval 33"/>
            <p:cNvSpPr>
              <a:spLocks noChangeArrowheads="1"/>
            </p:cNvSpPr>
            <p:nvPr/>
          </p:nvSpPr>
          <p:spPr bwMode="auto">
            <a:xfrm flipH="1">
              <a:off x="1383067" y="2967929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12</a:t>
              </a:r>
            </a:p>
          </p:txBody>
        </p:sp>
        <p:sp>
          <p:nvSpPr>
            <p:cNvPr id="108" name="Line 34"/>
            <p:cNvSpPr>
              <a:spLocks noChangeShapeType="1"/>
            </p:cNvSpPr>
            <p:nvPr/>
          </p:nvSpPr>
          <p:spPr bwMode="auto">
            <a:xfrm>
              <a:off x="1338068" y="2821157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09" name="Oval 23"/>
            <p:cNvSpPr>
              <a:spLocks noChangeArrowheads="1"/>
            </p:cNvSpPr>
            <p:nvPr/>
          </p:nvSpPr>
          <p:spPr bwMode="auto">
            <a:xfrm flipH="1">
              <a:off x="973714" y="2981975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110" name="Line 25"/>
            <p:cNvSpPr>
              <a:spLocks noChangeShapeType="1"/>
            </p:cNvSpPr>
            <p:nvPr/>
          </p:nvSpPr>
          <p:spPr bwMode="auto">
            <a:xfrm flipH="1">
              <a:off x="1148087" y="2842997"/>
              <a:ext cx="92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</p:grpSp>
      <p:sp>
        <p:nvSpPr>
          <p:cNvPr id="117" name="AutoShape 42"/>
          <p:cNvSpPr>
            <a:spLocks noChangeArrowheads="1"/>
          </p:cNvSpPr>
          <p:nvPr/>
        </p:nvSpPr>
        <p:spPr bwMode="auto">
          <a:xfrm>
            <a:off x="5375507" y="2541598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18" name="Oval 10"/>
          <p:cNvSpPr>
            <a:spLocks noChangeArrowheads="1"/>
          </p:cNvSpPr>
          <p:nvPr/>
        </p:nvSpPr>
        <p:spPr bwMode="auto">
          <a:xfrm>
            <a:off x="5931450" y="2236716"/>
            <a:ext cx="308566" cy="300909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24</a:t>
            </a:r>
          </a:p>
        </p:txBody>
      </p:sp>
      <p:sp>
        <p:nvSpPr>
          <p:cNvPr id="119" name="מלבן 118"/>
          <p:cNvSpPr/>
          <p:nvPr/>
        </p:nvSpPr>
        <p:spPr>
          <a:xfrm>
            <a:off x="5231905" y="2204864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Delete</a:t>
            </a:r>
            <a:endParaRPr lang="he-IL" dirty="0"/>
          </a:p>
        </p:txBody>
      </p:sp>
      <p:sp>
        <p:nvSpPr>
          <p:cNvPr id="152" name="AutoShape 42"/>
          <p:cNvSpPr>
            <a:spLocks noChangeArrowheads="1"/>
          </p:cNvSpPr>
          <p:nvPr/>
        </p:nvSpPr>
        <p:spPr bwMode="auto">
          <a:xfrm>
            <a:off x="1631091" y="4845154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153" name="מלבן 152"/>
          <p:cNvSpPr/>
          <p:nvPr/>
        </p:nvSpPr>
        <p:spPr>
          <a:xfrm>
            <a:off x="1740774" y="450842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LL</a:t>
            </a:r>
            <a:endParaRPr lang="he-IL" dirty="0"/>
          </a:p>
        </p:txBody>
      </p:sp>
      <p:grpSp>
        <p:nvGrpSpPr>
          <p:cNvPr id="211" name="קבוצה 210"/>
          <p:cNvGrpSpPr/>
          <p:nvPr/>
        </p:nvGrpSpPr>
        <p:grpSpPr>
          <a:xfrm>
            <a:off x="6897446" y="1776530"/>
            <a:ext cx="3158995" cy="1940503"/>
            <a:chOff x="5373445" y="1776529"/>
            <a:chExt cx="3158995" cy="1940503"/>
          </a:xfrm>
        </p:grpSpPr>
        <p:sp>
          <p:nvSpPr>
            <p:cNvPr id="186" name="Oval 23"/>
            <p:cNvSpPr>
              <a:spLocks noChangeArrowheads="1"/>
            </p:cNvSpPr>
            <p:nvPr/>
          </p:nvSpPr>
          <p:spPr bwMode="auto">
            <a:xfrm flipH="1">
              <a:off x="5373445" y="3065002"/>
              <a:ext cx="227248" cy="244187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87" name="Line 36"/>
            <p:cNvSpPr>
              <a:spLocks noChangeShapeType="1"/>
            </p:cNvSpPr>
            <p:nvPr/>
          </p:nvSpPr>
          <p:spPr bwMode="auto">
            <a:xfrm>
              <a:off x="6502184" y="3326074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88" name="Oval 35"/>
            <p:cNvSpPr>
              <a:spLocks noChangeArrowheads="1"/>
            </p:cNvSpPr>
            <p:nvPr/>
          </p:nvSpPr>
          <p:spPr bwMode="auto">
            <a:xfrm flipH="1">
              <a:off x="6547183" y="3472845"/>
              <a:ext cx="227248" cy="244187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13</a:t>
              </a:r>
            </a:p>
          </p:txBody>
        </p:sp>
        <p:sp>
          <p:nvSpPr>
            <p:cNvPr id="189" name="Oval 14"/>
            <p:cNvSpPr>
              <a:spLocks noChangeArrowheads="1"/>
            </p:cNvSpPr>
            <p:nvPr/>
          </p:nvSpPr>
          <p:spPr bwMode="auto">
            <a:xfrm flipH="1">
              <a:off x="7769671" y="2363615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22</a:t>
              </a:r>
            </a:p>
          </p:txBody>
        </p:sp>
        <p:sp>
          <p:nvSpPr>
            <p:cNvPr id="191" name="Oval 16"/>
            <p:cNvSpPr>
              <a:spLocks noChangeArrowheads="1"/>
            </p:cNvSpPr>
            <p:nvPr/>
          </p:nvSpPr>
          <p:spPr bwMode="auto">
            <a:xfrm flipH="1">
              <a:off x="7445675" y="2657159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20</a:t>
              </a:r>
            </a:p>
          </p:txBody>
        </p:sp>
        <p:sp>
          <p:nvSpPr>
            <p:cNvPr id="192" name="Oval 17"/>
            <p:cNvSpPr>
              <a:spLocks noChangeArrowheads="1"/>
            </p:cNvSpPr>
            <p:nvPr/>
          </p:nvSpPr>
          <p:spPr bwMode="auto">
            <a:xfrm flipH="1">
              <a:off x="6904555" y="1776529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15</a:t>
              </a:r>
            </a:p>
          </p:txBody>
        </p:sp>
        <p:sp>
          <p:nvSpPr>
            <p:cNvPr id="194" name="Line 19"/>
            <p:cNvSpPr>
              <a:spLocks noChangeShapeType="1"/>
            </p:cNvSpPr>
            <p:nvPr/>
          </p:nvSpPr>
          <p:spPr bwMode="auto">
            <a:xfrm flipH="1">
              <a:off x="7633547" y="2559744"/>
              <a:ext cx="182248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95" name="Oval 20"/>
            <p:cNvSpPr>
              <a:spLocks noChangeArrowheads="1"/>
            </p:cNvSpPr>
            <p:nvPr/>
          </p:nvSpPr>
          <p:spPr bwMode="auto">
            <a:xfrm flipH="1">
              <a:off x="5949439" y="2363615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196" name="Oval 21"/>
            <p:cNvSpPr>
              <a:spLocks noChangeArrowheads="1"/>
            </p:cNvSpPr>
            <p:nvPr/>
          </p:nvSpPr>
          <p:spPr bwMode="auto">
            <a:xfrm flipH="1">
              <a:off x="5584943" y="2706515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197" name="Line 25"/>
            <p:cNvSpPr>
              <a:spLocks noChangeShapeType="1"/>
            </p:cNvSpPr>
            <p:nvPr/>
          </p:nvSpPr>
          <p:spPr bwMode="auto">
            <a:xfrm flipH="1">
              <a:off x="5547818" y="2926024"/>
              <a:ext cx="92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98" name="Line 26"/>
            <p:cNvSpPr>
              <a:spLocks noChangeShapeType="1"/>
            </p:cNvSpPr>
            <p:nvPr/>
          </p:nvSpPr>
          <p:spPr bwMode="auto">
            <a:xfrm flipH="1">
              <a:off x="5776191" y="2559744"/>
              <a:ext cx="218248" cy="2182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199" name="Line 27"/>
            <p:cNvSpPr>
              <a:spLocks noChangeShapeType="1"/>
            </p:cNvSpPr>
            <p:nvPr/>
          </p:nvSpPr>
          <p:spPr bwMode="auto">
            <a:xfrm>
              <a:off x="7086803" y="1972658"/>
              <a:ext cx="682869" cy="440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00" name="Line 28"/>
            <p:cNvSpPr>
              <a:spLocks noChangeShapeType="1"/>
            </p:cNvSpPr>
            <p:nvPr/>
          </p:nvSpPr>
          <p:spPr bwMode="auto">
            <a:xfrm flipH="1">
              <a:off x="6176687" y="1972658"/>
              <a:ext cx="727868" cy="440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01" name="Oval 29"/>
            <p:cNvSpPr>
              <a:spLocks noChangeArrowheads="1"/>
            </p:cNvSpPr>
            <p:nvPr/>
          </p:nvSpPr>
          <p:spPr bwMode="auto">
            <a:xfrm flipH="1">
              <a:off x="7122803" y="3019542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18</a:t>
              </a:r>
            </a:p>
          </p:txBody>
        </p:sp>
        <p:sp>
          <p:nvSpPr>
            <p:cNvPr id="202" name="Line 30"/>
            <p:cNvSpPr>
              <a:spLocks noChangeShapeType="1"/>
            </p:cNvSpPr>
            <p:nvPr/>
          </p:nvSpPr>
          <p:spPr bwMode="auto">
            <a:xfrm flipH="1">
              <a:off x="7320800" y="2901345"/>
              <a:ext cx="182248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03" name="Oval 31"/>
            <p:cNvSpPr>
              <a:spLocks noChangeArrowheads="1"/>
            </p:cNvSpPr>
            <p:nvPr/>
          </p:nvSpPr>
          <p:spPr bwMode="auto">
            <a:xfrm flipH="1">
              <a:off x="6158687" y="2741585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11</a:t>
              </a:r>
            </a:p>
          </p:txBody>
        </p:sp>
        <p:sp>
          <p:nvSpPr>
            <p:cNvPr id="204" name="Line 32"/>
            <p:cNvSpPr>
              <a:spLocks noChangeShapeType="1"/>
            </p:cNvSpPr>
            <p:nvPr/>
          </p:nvSpPr>
          <p:spPr bwMode="auto">
            <a:xfrm>
              <a:off x="6113688" y="2594813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05" name="Oval 33"/>
            <p:cNvSpPr>
              <a:spLocks noChangeArrowheads="1"/>
            </p:cNvSpPr>
            <p:nvPr/>
          </p:nvSpPr>
          <p:spPr bwMode="auto">
            <a:xfrm flipH="1">
              <a:off x="6360976" y="3115658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12</a:t>
              </a:r>
            </a:p>
          </p:txBody>
        </p:sp>
        <p:sp>
          <p:nvSpPr>
            <p:cNvPr id="206" name="Line 34"/>
            <p:cNvSpPr>
              <a:spLocks noChangeShapeType="1"/>
            </p:cNvSpPr>
            <p:nvPr/>
          </p:nvSpPr>
          <p:spPr bwMode="auto">
            <a:xfrm>
              <a:off x="6315977" y="2968886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07" name="Oval 23"/>
            <p:cNvSpPr>
              <a:spLocks noChangeArrowheads="1"/>
            </p:cNvSpPr>
            <p:nvPr/>
          </p:nvSpPr>
          <p:spPr bwMode="auto">
            <a:xfrm flipH="1">
              <a:off x="5951623" y="3129704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208" name="Line 25"/>
            <p:cNvSpPr>
              <a:spLocks noChangeShapeType="1"/>
            </p:cNvSpPr>
            <p:nvPr/>
          </p:nvSpPr>
          <p:spPr bwMode="auto">
            <a:xfrm flipH="1">
              <a:off x="6125996" y="2990726"/>
              <a:ext cx="92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09" name="Text Box 50"/>
            <p:cNvSpPr txBox="1">
              <a:spLocks noChangeArrowheads="1"/>
            </p:cNvSpPr>
            <p:nvPr/>
          </p:nvSpPr>
          <p:spPr bwMode="auto">
            <a:xfrm>
              <a:off x="7941157" y="2226350"/>
              <a:ext cx="591283" cy="3385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dirty="0">
                  <a:latin typeface="Comic Sans MS" pitchFamily="66" charset="0"/>
                </a:rPr>
                <a:t>+2</a:t>
              </a:r>
            </a:p>
          </p:txBody>
        </p:sp>
        <p:sp>
          <p:nvSpPr>
            <p:cNvPr id="210" name="Text Box 50"/>
            <p:cNvSpPr txBox="1">
              <a:spLocks noChangeArrowheads="1"/>
            </p:cNvSpPr>
            <p:nvPr/>
          </p:nvSpPr>
          <p:spPr bwMode="auto">
            <a:xfrm>
              <a:off x="7653125" y="2658398"/>
              <a:ext cx="591283" cy="3385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dirty="0">
                  <a:latin typeface="Comic Sans MS" pitchFamily="66" charset="0"/>
                </a:rPr>
                <a:t>+1</a:t>
              </a:r>
            </a:p>
          </p:txBody>
        </p:sp>
      </p:grpSp>
      <p:grpSp>
        <p:nvGrpSpPr>
          <p:cNvPr id="236" name="קבוצה 235"/>
          <p:cNvGrpSpPr/>
          <p:nvPr/>
        </p:nvGrpSpPr>
        <p:grpSpPr>
          <a:xfrm>
            <a:off x="2279577" y="4098559"/>
            <a:ext cx="2953613" cy="2063033"/>
            <a:chOff x="755576" y="4098558"/>
            <a:chExt cx="2953613" cy="2063033"/>
          </a:xfrm>
        </p:grpSpPr>
        <p:sp>
          <p:nvSpPr>
            <p:cNvPr id="213" name="Oval 23"/>
            <p:cNvSpPr>
              <a:spLocks noChangeArrowheads="1"/>
            </p:cNvSpPr>
            <p:nvPr/>
          </p:nvSpPr>
          <p:spPr bwMode="auto">
            <a:xfrm flipH="1">
              <a:off x="755576" y="5509561"/>
              <a:ext cx="227248" cy="244187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214" name="Line 36"/>
            <p:cNvSpPr>
              <a:spLocks noChangeShapeType="1"/>
            </p:cNvSpPr>
            <p:nvPr/>
          </p:nvSpPr>
          <p:spPr bwMode="auto">
            <a:xfrm>
              <a:off x="1884315" y="5770633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15" name="Oval 35"/>
            <p:cNvSpPr>
              <a:spLocks noChangeArrowheads="1"/>
            </p:cNvSpPr>
            <p:nvPr/>
          </p:nvSpPr>
          <p:spPr bwMode="auto">
            <a:xfrm flipH="1">
              <a:off x="1929314" y="5917404"/>
              <a:ext cx="227248" cy="244187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13</a:t>
              </a:r>
            </a:p>
          </p:txBody>
        </p:sp>
        <p:sp>
          <p:nvSpPr>
            <p:cNvPr id="216" name="Oval 14"/>
            <p:cNvSpPr>
              <a:spLocks noChangeArrowheads="1"/>
            </p:cNvSpPr>
            <p:nvPr/>
          </p:nvSpPr>
          <p:spPr bwMode="auto">
            <a:xfrm flipH="1">
              <a:off x="3151802" y="4808174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20</a:t>
              </a:r>
            </a:p>
          </p:txBody>
        </p:sp>
        <p:sp>
          <p:nvSpPr>
            <p:cNvPr id="217" name="Oval 16"/>
            <p:cNvSpPr>
              <a:spLocks noChangeArrowheads="1"/>
            </p:cNvSpPr>
            <p:nvPr/>
          </p:nvSpPr>
          <p:spPr bwMode="auto">
            <a:xfrm flipH="1">
              <a:off x="2827806" y="5101718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18</a:t>
              </a:r>
            </a:p>
          </p:txBody>
        </p:sp>
        <p:sp>
          <p:nvSpPr>
            <p:cNvPr id="218" name="Oval 17"/>
            <p:cNvSpPr>
              <a:spLocks noChangeArrowheads="1"/>
            </p:cNvSpPr>
            <p:nvPr/>
          </p:nvSpPr>
          <p:spPr bwMode="auto">
            <a:xfrm flipH="1">
              <a:off x="2286686" y="4221088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15</a:t>
              </a:r>
            </a:p>
          </p:txBody>
        </p:sp>
        <p:sp>
          <p:nvSpPr>
            <p:cNvPr id="219" name="Line 19"/>
            <p:cNvSpPr>
              <a:spLocks noChangeShapeType="1"/>
            </p:cNvSpPr>
            <p:nvPr/>
          </p:nvSpPr>
          <p:spPr bwMode="auto">
            <a:xfrm flipH="1">
              <a:off x="3015678" y="5004303"/>
              <a:ext cx="182248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20" name="Oval 20"/>
            <p:cNvSpPr>
              <a:spLocks noChangeArrowheads="1"/>
            </p:cNvSpPr>
            <p:nvPr/>
          </p:nvSpPr>
          <p:spPr bwMode="auto">
            <a:xfrm flipH="1">
              <a:off x="1331570" y="4808174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8</a:t>
              </a:r>
            </a:p>
          </p:txBody>
        </p:sp>
        <p:sp>
          <p:nvSpPr>
            <p:cNvPr id="221" name="Oval 21"/>
            <p:cNvSpPr>
              <a:spLocks noChangeArrowheads="1"/>
            </p:cNvSpPr>
            <p:nvPr/>
          </p:nvSpPr>
          <p:spPr bwMode="auto">
            <a:xfrm flipH="1">
              <a:off x="967074" y="5151074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4</a:t>
              </a:r>
            </a:p>
          </p:txBody>
        </p:sp>
        <p:sp>
          <p:nvSpPr>
            <p:cNvPr id="222" name="Line 25"/>
            <p:cNvSpPr>
              <a:spLocks noChangeShapeType="1"/>
            </p:cNvSpPr>
            <p:nvPr/>
          </p:nvSpPr>
          <p:spPr bwMode="auto">
            <a:xfrm flipH="1">
              <a:off x="929949" y="5370583"/>
              <a:ext cx="92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23" name="Line 26"/>
            <p:cNvSpPr>
              <a:spLocks noChangeShapeType="1"/>
            </p:cNvSpPr>
            <p:nvPr/>
          </p:nvSpPr>
          <p:spPr bwMode="auto">
            <a:xfrm flipH="1">
              <a:off x="1158322" y="5004303"/>
              <a:ext cx="218248" cy="2182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24" name="Line 27"/>
            <p:cNvSpPr>
              <a:spLocks noChangeShapeType="1"/>
            </p:cNvSpPr>
            <p:nvPr/>
          </p:nvSpPr>
          <p:spPr bwMode="auto">
            <a:xfrm>
              <a:off x="2468934" y="4417217"/>
              <a:ext cx="682869" cy="440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25" name="Line 28"/>
            <p:cNvSpPr>
              <a:spLocks noChangeShapeType="1"/>
            </p:cNvSpPr>
            <p:nvPr/>
          </p:nvSpPr>
          <p:spPr bwMode="auto">
            <a:xfrm flipH="1">
              <a:off x="1558818" y="4417217"/>
              <a:ext cx="727868" cy="440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26" name="Oval 29"/>
            <p:cNvSpPr>
              <a:spLocks noChangeArrowheads="1"/>
            </p:cNvSpPr>
            <p:nvPr/>
          </p:nvSpPr>
          <p:spPr bwMode="auto">
            <a:xfrm flipH="1">
              <a:off x="3481941" y="5095123"/>
              <a:ext cx="227248" cy="2454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22</a:t>
              </a:r>
            </a:p>
          </p:txBody>
        </p:sp>
        <p:sp>
          <p:nvSpPr>
            <p:cNvPr id="227" name="Line 30"/>
            <p:cNvSpPr>
              <a:spLocks noChangeShapeType="1"/>
            </p:cNvSpPr>
            <p:nvPr/>
          </p:nvSpPr>
          <p:spPr bwMode="auto">
            <a:xfrm flipH="1" flipV="1">
              <a:off x="3347864" y="5015932"/>
              <a:ext cx="144016" cy="1412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28" name="Oval 31"/>
            <p:cNvSpPr>
              <a:spLocks noChangeArrowheads="1"/>
            </p:cNvSpPr>
            <p:nvPr/>
          </p:nvSpPr>
          <p:spPr bwMode="auto">
            <a:xfrm flipH="1">
              <a:off x="1540818" y="5186144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11</a:t>
              </a:r>
            </a:p>
          </p:txBody>
        </p:sp>
        <p:sp>
          <p:nvSpPr>
            <p:cNvPr id="229" name="Line 32"/>
            <p:cNvSpPr>
              <a:spLocks noChangeShapeType="1"/>
            </p:cNvSpPr>
            <p:nvPr/>
          </p:nvSpPr>
          <p:spPr bwMode="auto">
            <a:xfrm>
              <a:off x="1495819" y="5039372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30" name="Oval 33"/>
            <p:cNvSpPr>
              <a:spLocks noChangeArrowheads="1"/>
            </p:cNvSpPr>
            <p:nvPr/>
          </p:nvSpPr>
          <p:spPr bwMode="auto">
            <a:xfrm flipH="1">
              <a:off x="1743107" y="5560217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12</a:t>
              </a:r>
            </a:p>
          </p:txBody>
        </p:sp>
        <p:sp>
          <p:nvSpPr>
            <p:cNvPr id="231" name="Line 34"/>
            <p:cNvSpPr>
              <a:spLocks noChangeShapeType="1"/>
            </p:cNvSpPr>
            <p:nvPr/>
          </p:nvSpPr>
          <p:spPr bwMode="auto">
            <a:xfrm>
              <a:off x="1698108" y="5413445"/>
              <a:ext cx="137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32" name="Oval 23"/>
            <p:cNvSpPr>
              <a:spLocks noChangeArrowheads="1"/>
            </p:cNvSpPr>
            <p:nvPr/>
          </p:nvSpPr>
          <p:spPr bwMode="auto">
            <a:xfrm flipH="1">
              <a:off x="1333754" y="5574263"/>
              <a:ext cx="227248" cy="244186"/>
            </a:xfrm>
            <a:prstGeom prst="ellipse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/>
                <a:t>9</a:t>
              </a:r>
            </a:p>
          </p:txBody>
        </p:sp>
        <p:sp>
          <p:nvSpPr>
            <p:cNvPr id="233" name="Line 25"/>
            <p:cNvSpPr>
              <a:spLocks noChangeShapeType="1"/>
            </p:cNvSpPr>
            <p:nvPr/>
          </p:nvSpPr>
          <p:spPr bwMode="auto">
            <a:xfrm flipH="1">
              <a:off x="1508127" y="5435285"/>
              <a:ext cx="92249" cy="146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e-IL" sz="1400"/>
            </a:p>
          </p:txBody>
        </p:sp>
        <p:sp>
          <p:nvSpPr>
            <p:cNvPr id="234" name="Text Box 50"/>
            <p:cNvSpPr txBox="1">
              <a:spLocks noChangeArrowheads="1"/>
            </p:cNvSpPr>
            <p:nvPr/>
          </p:nvSpPr>
          <p:spPr bwMode="auto">
            <a:xfrm>
              <a:off x="1964493" y="4098558"/>
              <a:ext cx="591283" cy="3385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dirty="0">
                  <a:latin typeface="Comic Sans MS" pitchFamily="66" charset="0"/>
                </a:rPr>
                <a:t>+2</a:t>
              </a:r>
            </a:p>
          </p:txBody>
        </p:sp>
        <p:sp>
          <p:nvSpPr>
            <p:cNvPr id="235" name="Text Box 50"/>
            <p:cNvSpPr txBox="1">
              <a:spLocks noChangeArrowheads="1"/>
            </p:cNvSpPr>
            <p:nvPr/>
          </p:nvSpPr>
          <p:spPr bwMode="auto">
            <a:xfrm>
              <a:off x="1115616" y="4581128"/>
              <a:ext cx="591283" cy="3385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dirty="0">
                  <a:latin typeface="Comic Sans MS" pitchFamily="66" charset="0"/>
                </a:rPr>
                <a:t>-1</a:t>
              </a:r>
            </a:p>
          </p:txBody>
        </p:sp>
      </p:grpSp>
      <p:sp>
        <p:nvSpPr>
          <p:cNvPr id="237" name="AutoShape 42"/>
          <p:cNvSpPr>
            <a:spLocks noChangeArrowheads="1"/>
          </p:cNvSpPr>
          <p:nvPr/>
        </p:nvSpPr>
        <p:spPr bwMode="auto">
          <a:xfrm>
            <a:off x="5806270" y="4848867"/>
            <a:ext cx="802273" cy="240031"/>
          </a:xfrm>
          <a:prstGeom prst="rightArrow">
            <a:avLst>
              <a:gd name="adj1" fmla="val 56918"/>
              <a:gd name="adj2" fmla="val 5013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238" name="מלבן 237"/>
          <p:cNvSpPr/>
          <p:nvPr/>
        </p:nvSpPr>
        <p:spPr>
          <a:xfrm>
            <a:off x="5915953" y="4512133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</a:rPr>
              <a:t>LR</a:t>
            </a:r>
            <a:endParaRPr lang="he-IL" dirty="0"/>
          </a:p>
        </p:txBody>
      </p:sp>
      <p:sp>
        <p:nvSpPr>
          <p:cNvPr id="240" name="Oval 23"/>
          <p:cNvSpPr>
            <a:spLocks noChangeArrowheads="1"/>
          </p:cNvSpPr>
          <p:nvPr/>
        </p:nvSpPr>
        <p:spPr bwMode="auto">
          <a:xfrm flipH="1">
            <a:off x="6814795" y="5513275"/>
            <a:ext cx="227248" cy="244187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241" name="Line 36"/>
          <p:cNvSpPr>
            <a:spLocks noChangeShapeType="1"/>
          </p:cNvSpPr>
          <p:nvPr/>
        </p:nvSpPr>
        <p:spPr bwMode="auto">
          <a:xfrm>
            <a:off x="8757489" y="5295600"/>
            <a:ext cx="137249" cy="1467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42" name="Oval 35"/>
          <p:cNvSpPr>
            <a:spLocks noChangeArrowheads="1"/>
          </p:cNvSpPr>
          <p:nvPr/>
        </p:nvSpPr>
        <p:spPr bwMode="auto">
          <a:xfrm flipH="1">
            <a:off x="8802487" y="5442372"/>
            <a:ext cx="227248" cy="244187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13</a:t>
            </a:r>
          </a:p>
        </p:txBody>
      </p:sp>
      <p:sp>
        <p:nvSpPr>
          <p:cNvPr id="243" name="Oval 14"/>
          <p:cNvSpPr>
            <a:spLocks noChangeArrowheads="1"/>
          </p:cNvSpPr>
          <p:nvPr/>
        </p:nvSpPr>
        <p:spPr bwMode="auto">
          <a:xfrm flipH="1">
            <a:off x="9643069" y="5122218"/>
            <a:ext cx="227248" cy="2454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244" name="Oval 16"/>
          <p:cNvSpPr>
            <a:spLocks noChangeArrowheads="1"/>
          </p:cNvSpPr>
          <p:nvPr/>
        </p:nvSpPr>
        <p:spPr bwMode="auto">
          <a:xfrm flipH="1">
            <a:off x="9319073" y="5415762"/>
            <a:ext cx="227248" cy="2454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18</a:t>
            </a:r>
          </a:p>
        </p:txBody>
      </p:sp>
      <p:sp>
        <p:nvSpPr>
          <p:cNvPr id="245" name="Oval 17"/>
          <p:cNvSpPr>
            <a:spLocks noChangeArrowheads="1"/>
          </p:cNvSpPr>
          <p:nvPr/>
        </p:nvSpPr>
        <p:spPr bwMode="auto">
          <a:xfrm flipH="1">
            <a:off x="8345905" y="4224801"/>
            <a:ext cx="227248" cy="2441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11</a:t>
            </a:r>
          </a:p>
        </p:txBody>
      </p:sp>
      <p:sp>
        <p:nvSpPr>
          <p:cNvPr id="246" name="Line 19"/>
          <p:cNvSpPr>
            <a:spLocks noChangeShapeType="1"/>
          </p:cNvSpPr>
          <p:nvPr/>
        </p:nvSpPr>
        <p:spPr bwMode="auto">
          <a:xfrm flipH="1">
            <a:off x="9506945" y="5318347"/>
            <a:ext cx="182248" cy="1467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47" name="Oval 20"/>
          <p:cNvSpPr>
            <a:spLocks noChangeArrowheads="1"/>
          </p:cNvSpPr>
          <p:nvPr/>
        </p:nvSpPr>
        <p:spPr bwMode="auto">
          <a:xfrm flipH="1">
            <a:off x="7390789" y="4811887"/>
            <a:ext cx="227248" cy="2454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248" name="Oval 21"/>
          <p:cNvSpPr>
            <a:spLocks noChangeArrowheads="1"/>
          </p:cNvSpPr>
          <p:nvPr/>
        </p:nvSpPr>
        <p:spPr bwMode="auto">
          <a:xfrm flipH="1">
            <a:off x="7026293" y="5154787"/>
            <a:ext cx="227248" cy="2454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249" name="Line 25"/>
          <p:cNvSpPr>
            <a:spLocks noChangeShapeType="1"/>
          </p:cNvSpPr>
          <p:nvPr/>
        </p:nvSpPr>
        <p:spPr bwMode="auto">
          <a:xfrm flipH="1">
            <a:off x="6989169" y="5374296"/>
            <a:ext cx="92249" cy="1467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50" name="Line 26"/>
          <p:cNvSpPr>
            <a:spLocks noChangeShapeType="1"/>
          </p:cNvSpPr>
          <p:nvPr/>
        </p:nvSpPr>
        <p:spPr bwMode="auto">
          <a:xfrm flipH="1">
            <a:off x="7217541" y="5008017"/>
            <a:ext cx="218248" cy="21820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51" name="Line 27"/>
          <p:cNvSpPr>
            <a:spLocks noChangeShapeType="1"/>
          </p:cNvSpPr>
          <p:nvPr/>
        </p:nvSpPr>
        <p:spPr bwMode="auto">
          <a:xfrm>
            <a:off x="8528154" y="4420931"/>
            <a:ext cx="682869" cy="44031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52" name="Line 28"/>
          <p:cNvSpPr>
            <a:spLocks noChangeShapeType="1"/>
          </p:cNvSpPr>
          <p:nvPr/>
        </p:nvSpPr>
        <p:spPr bwMode="auto">
          <a:xfrm flipH="1">
            <a:off x="7618037" y="4420931"/>
            <a:ext cx="727868" cy="44031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53" name="Oval 29"/>
          <p:cNvSpPr>
            <a:spLocks noChangeArrowheads="1"/>
          </p:cNvSpPr>
          <p:nvPr/>
        </p:nvSpPr>
        <p:spPr bwMode="auto">
          <a:xfrm flipH="1">
            <a:off x="9973208" y="5409167"/>
            <a:ext cx="227248" cy="2454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22</a:t>
            </a:r>
          </a:p>
        </p:txBody>
      </p:sp>
      <p:sp>
        <p:nvSpPr>
          <p:cNvPr id="254" name="Line 30"/>
          <p:cNvSpPr>
            <a:spLocks noChangeShapeType="1"/>
          </p:cNvSpPr>
          <p:nvPr/>
        </p:nvSpPr>
        <p:spPr bwMode="auto">
          <a:xfrm flipH="1" flipV="1">
            <a:off x="9839131" y="5329976"/>
            <a:ext cx="144016" cy="1412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55" name="Oval 31"/>
          <p:cNvSpPr>
            <a:spLocks noChangeArrowheads="1"/>
          </p:cNvSpPr>
          <p:nvPr/>
        </p:nvSpPr>
        <p:spPr bwMode="auto">
          <a:xfrm flipH="1">
            <a:off x="7600037" y="5189857"/>
            <a:ext cx="227248" cy="2441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256" name="Line 32"/>
          <p:cNvSpPr>
            <a:spLocks noChangeShapeType="1"/>
          </p:cNvSpPr>
          <p:nvPr/>
        </p:nvSpPr>
        <p:spPr bwMode="auto">
          <a:xfrm>
            <a:off x="7555039" y="5043085"/>
            <a:ext cx="137249" cy="1467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57" name="Oval 33"/>
          <p:cNvSpPr>
            <a:spLocks noChangeArrowheads="1"/>
          </p:cNvSpPr>
          <p:nvPr/>
        </p:nvSpPr>
        <p:spPr bwMode="auto">
          <a:xfrm flipH="1">
            <a:off x="8616280" y="5085184"/>
            <a:ext cx="227248" cy="2441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12</a:t>
            </a:r>
          </a:p>
        </p:txBody>
      </p:sp>
      <p:sp>
        <p:nvSpPr>
          <p:cNvPr id="289" name="Oval 31"/>
          <p:cNvSpPr>
            <a:spLocks noChangeArrowheads="1"/>
          </p:cNvSpPr>
          <p:nvPr/>
        </p:nvSpPr>
        <p:spPr bwMode="auto">
          <a:xfrm flipH="1">
            <a:off x="9192344" y="4797152"/>
            <a:ext cx="227248" cy="244186"/>
          </a:xfrm>
          <a:prstGeom prst="ellipse">
            <a:avLst/>
          </a:prstGeom>
          <a:solidFill>
            <a:srgbClr val="FF99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15</a:t>
            </a:r>
          </a:p>
        </p:txBody>
      </p:sp>
      <p:sp>
        <p:nvSpPr>
          <p:cNvPr id="291" name="Line 30"/>
          <p:cNvSpPr>
            <a:spLocks noChangeShapeType="1"/>
          </p:cNvSpPr>
          <p:nvPr/>
        </p:nvSpPr>
        <p:spPr bwMode="auto">
          <a:xfrm flipH="1" flipV="1">
            <a:off x="9408369" y="5013176"/>
            <a:ext cx="270745" cy="1412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e-IL" sz="14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/>
          <a:lstStyle/>
          <a:p>
            <a:pPr algn="ctr" eaLnBrk="1" hangingPunct="1"/>
            <a:r>
              <a:rPr lang="he-IL" sz="3200" u="sng" dirty="0"/>
              <a:t>אלגוריתם ההוצאה</a:t>
            </a:r>
            <a:endParaRPr lang="en-US" sz="3200" u="sng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8" name="מלבן 7"/>
          <p:cNvSpPr/>
          <p:nvPr/>
        </p:nvSpPr>
        <p:spPr>
          <a:xfrm>
            <a:off x="5807969" y="4230088"/>
            <a:ext cx="4588015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  <a:defRPr/>
            </a:pPr>
            <a:r>
              <a:rPr lang="he-IL" u="sng" dirty="0">
                <a:latin typeface="Times New Roman" pitchFamily="18" charset="0"/>
              </a:rPr>
              <a:t>סיבוכיות זמן</a:t>
            </a:r>
          </a:p>
          <a:p>
            <a:pPr algn="r" rtl="1"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הוצאה כרגיל מעץ חיפוש בינארי	</a:t>
            </a:r>
            <a:r>
              <a:rPr lang="en-US" dirty="0">
                <a:latin typeface="Times New Roman" pitchFamily="18" charset="0"/>
              </a:rPr>
              <a:t>Θ(</a:t>
            </a:r>
            <a:r>
              <a:rPr lang="en-US" i="1" dirty="0">
                <a:latin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</a:rPr>
              <a:t>)</a:t>
            </a:r>
            <a:endParaRPr lang="he-IL" dirty="0">
              <a:latin typeface="Times New Roman" pitchFamily="18" charset="0"/>
            </a:endParaRPr>
          </a:p>
          <a:p>
            <a:pPr algn="r" rtl="1">
              <a:spcAft>
                <a:spcPts val="600"/>
              </a:spcAft>
              <a:defRPr/>
            </a:pPr>
            <a:r>
              <a:rPr lang="he-IL" dirty="0">
                <a:latin typeface="Times New Roman" pitchFamily="18" charset="0"/>
              </a:rPr>
              <a:t>לכל היותר גלגול אחד בכל רמה	</a:t>
            </a:r>
            <a:r>
              <a:rPr lang="en-US" dirty="0">
                <a:latin typeface="Times New Roman" pitchFamily="18" charset="0"/>
              </a:rPr>
              <a:t>    </a:t>
            </a:r>
            <a:r>
              <a:rPr lang="he-IL" u="sng" dirty="0">
                <a:latin typeface="Times New Roman" pitchFamily="18" charset="0"/>
              </a:rPr>
              <a:t>	</a:t>
            </a:r>
            <a:r>
              <a:rPr lang="en-US" u="sng" dirty="0">
                <a:latin typeface="Times New Roman" pitchFamily="18" charset="0"/>
              </a:rPr>
              <a:t>Θ(</a:t>
            </a:r>
            <a:r>
              <a:rPr lang="en-US" i="1" u="sng" dirty="0">
                <a:latin typeface="Times New Roman" pitchFamily="18" charset="0"/>
              </a:rPr>
              <a:t>h</a:t>
            </a:r>
            <a:r>
              <a:rPr lang="en-US" u="sng" dirty="0">
                <a:latin typeface="Times New Roman" pitchFamily="18" charset="0"/>
              </a:rPr>
              <a:t>)</a:t>
            </a:r>
            <a:endParaRPr lang="he-IL" u="sng" dirty="0"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dirty="0">
                <a:latin typeface="Times New Roman" pitchFamily="18" charset="0"/>
              </a:rPr>
              <a:t>      Θ(</a:t>
            </a:r>
            <a:r>
              <a:rPr lang="en-US" i="1" dirty="0">
                <a:latin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</a:rPr>
              <a:t>) = Θ(</a:t>
            </a:r>
            <a:r>
              <a:rPr lang="en-US" dirty="0" err="1">
                <a:latin typeface="Times New Roman" pitchFamily="18" charset="0"/>
              </a:rPr>
              <a:t>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endParaRPr lang="he-IL" u="sng" dirty="0">
              <a:latin typeface="Times New Roman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693573" y="692696"/>
            <a:ext cx="8856984" cy="3152650"/>
          </a:xfrm>
          <a:prstGeom prst="rect">
            <a:avLst/>
          </a:prstGeom>
          <a:solidFill>
            <a:srgbClr val="EAEAEA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126000" tIns="82800" rIns="126000" bIns="82800">
            <a:spAutoFit/>
          </a:bodyPr>
          <a:lstStyle/>
          <a:p>
            <a:pPr algn="r" rtl="1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u="sng" dirty="0">
                <a:latin typeface="Times New Roman" pitchFamily="18" charset="0"/>
              </a:rPr>
              <a:t>AVL-Delete(</a:t>
            </a:r>
            <a:r>
              <a:rPr lang="en-US" i="1" u="sng" dirty="0">
                <a:latin typeface="Times New Roman" pitchFamily="18" charset="0"/>
              </a:rPr>
              <a:t>T</a:t>
            </a:r>
            <a:r>
              <a:rPr lang="en-US" u="sng" dirty="0">
                <a:latin typeface="Times New Roman" pitchFamily="18" charset="0"/>
              </a:rPr>
              <a:t>, </a:t>
            </a:r>
            <a:r>
              <a:rPr lang="en-US" i="1" u="sng" dirty="0">
                <a:latin typeface="Times New Roman" pitchFamily="18" charset="0"/>
              </a:rPr>
              <a:t>z</a:t>
            </a:r>
            <a:r>
              <a:rPr lang="en-US" u="sng" dirty="0">
                <a:latin typeface="Times New Roman" pitchFamily="18" charset="0"/>
              </a:rPr>
              <a:t>)</a:t>
            </a:r>
            <a:endParaRPr lang="he-IL" i="1" u="sng" dirty="0">
              <a:latin typeface="Times New Roman" pitchFamily="18" charset="0"/>
            </a:endParaRPr>
          </a:p>
          <a:p>
            <a:pPr marL="342900" indent="-342900" algn="r" defTabSz="384175" rtl="1">
              <a:spcBef>
                <a:spcPct val="50000"/>
              </a:spcBef>
              <a:buAutoNum type="arabicPeriod"/>
              <a:defRPr/>
            </a:pPr>
            <a:r>
              <a:rPr lang="he-IL" dirty="0">
                <a:latin typeface="Times New Roman" pitchFamily="18" charset="0"/>
              </a:rPr>
              <a:t>הוצא את </a:t>
            </a:r>
            <a:r>
              <a:rPr lang="en-US" i="1" dirty="0">
                <a:latin typeface="Times New Roman" pitchFamily="18" charset="0"/>
              </a:rPr>
              <a:t>z</a:t>
            </a:r>
            <a:r>
              <a:rPr lang="he-IL" dirty="0">
                <a:latin typeface="Times New Roman" pitchFamily="18" charset="0"/>
              </a:rPr>
              <a:t> כרגיל (כמו בעץ חיפוש בינארי). יהי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he-IL" i="1" dirty="0">
                <a:latin typeface="Times New Roman" pitchFamily="18" charset="0"/>
              </a:rPr>
              <a:t> </a:t>
            </a:r>
            <a:r>
              <a:rPr lang="he-IL" dirty="0">
                <a:latin typeface="Times New Roman" pitchFamily="18" charset="0"/>
              </a:rPr>
              <a:t>אביו של הצומת שנמחק </a:t>
            </a:r>
            <a:r>
              <a:rPr lang="he-IL" u="sng" dirty="0">
                <a:latin typeface="Times New Roman" pitchFamily="18" charset="0"/>
              </a:rPr>
              <a:t>בפועל</a:t>
            </a:r>
            <a:endParaRPr lang="he-IL" dirty="0">
              <a:latin typeface="Times New Roman" pitchFamily="18" charset="0"/>
            </a:endParaRPr>
          </a:p>
          <a:p>
            <a:pPr marL="342900" indent="-342900" algn="r" defTabSz="384175" rtl="1">
              <a:spcBef>
                <a:spcPct val="50000"/>
              </a:spcBef>
              <a:buAutoNum type="arabicPeriod"/>
              <a:defRPr/>
            </a:pPr>
            <a:r>
              <a:rPr lang="he-IL" dirty="0">
                <a:latin typeface="Times New Roman" pitchFamily="18" charset="0"/>
              </a:rPr>
              <a:t>כל עוד  </a:t>
            </a:r>
            <a:r>
              <a:rPr lang="en-US" i="1" dirty="0">
                <a:latin typeface="Times New Roman" pitchFamily="18" charset="0"/>
              </a:rPr>
              <a:t>y </a:t>
            </a:r>
            <a:r>
              <a:rPr lang="en-US" dirty="0">
                <a:latin typeface="Times New Roman" pitchFamily="18" charset="0"/>
                <a:sym typeface="Symbol"/>
              </a:rPr>
              <a:t></a:t>
            </a:r>
            <a:r>
              <a:rPr lang="en-US" i="1" dirty="0">
                <a:latin typeface="Times New Roman" pitchFamily="18" charset="0"/>
                <a:sym typeface="Symbol"/>
              </a:rPr>
              <a:t> </a:t>
            </a:r>
            <a:r>
              <a:rPr lang="en-US" dirty="0">
                <a:latin typeface="Times New Roman" pitchFamily="18" charset="0"/>
              </a:rPr>
              <a:t>Nil</a:t>
            </a:r>
            <a:r>
              <a:rPr lang="he-IL" dirty="0">
                <a:latin typeface="Times New Roman" pitchFamily="18" charset="0"/>
              </a:rPr>
              <a:t> בצע:</a:t>
            </a: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2.1.  חשב את </a:t>
            </a:r>
            <a:r>
              <a:rPr lang="en-US" dirty="0">
                <a:latin typeface="Times New Roman" pitchFamily="18" charset="0"/>
              </a:rPr>
              <a:t>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</a:t>
            </a:r>
            <a:r>
              <a:rPr lang="he-IL" dirty="0">
                <a:latin typeface="Times New Roman" pitchFamily="18" charset="0"/>
              </a:rPr>
              <a:t> </a:t>
            </a:r>
            <a:r>
              <a:rPr lang="he-IL" baseline="30000" dirty="0">
                <a:latin typeface="Times New Roman" pitchFamily="18" charset="0"/>
              </a:rPr>
              <a:t>*</a:t>
            </a:r>
            <a:endParaRPr lang="he-IL" dirty="0">
              <a:latin typeface="Times New Roman" pitchFamily="18" charset="0"/>
            </a:endParaRP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2.2.  אם </a:t>
            </a:r>
            <a:r>
              <a:rPr lang="en-US" dirty="0">
                <a:latin typeface="Times New Roman" pitchFamily="18" charset="0"/>
              </a:rPr>
              <a:t>| 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 | &lt;2</a:t>
            </a:r>
            <a:r>
              <a:rPr lang="he-IL" dirty="0">
                <a:latin typeface="Times New Roman" pitchFamily="18" charset="0"/>
              </a:rPr>
              <a:t> וגובהו של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he-IL" dirty="0">
                <a:latin typeface="Times New Roman" pitchFamily="18" charset="0"/>
              </a:rPr>
              <a:t> לא השתנה – סיים</a:t>
            </a: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2.3.  אחרת אם </a:t>
            </a:r>
            <a:r>
              <a:rPr lang="en-US" dirty="0">
                <a:latin typeface="Times New Roman" pitchFamily="18" charset="0"/>
              </a:rPr>
              <a:t>| 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 | &lt;2 </a:t>
            </a:r>
            <a:r>
              <a:rPr lang="he-IL" dirty="0">
                <a:latin typeface="Times New Roman" pitchFamily="18" charset="0"/>
              </a:rPr>
              <a:t> וגובהו של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he-IL" dirty="0">
                <a:latin typeface="Times New Roman" pitchFamily="18" charset="0"/>
              </a:rPr>
              <a:t> השתנה, עבור </a:t>
            </a:r>
            <a:r>
              <a:rPr lang="he-IL" dirty="0" err="1">
                <a:latin typeface="Times New Roman" pitchFamily="18" charset="0"/>
              </a:rPr>
              <a:t>לאיטרציה</a:t>
            </a:r>
            <a:r>
              <a:rPr lang="he-IL" dirty="0">
                <a:latin typeface="Times New Roman" pitchFamily="18" charset="0"/>
              </a:rPr>
              <a:t> הבאה עם אביו של </a:t>
            </a:r>
            <a:r>
              <a:rPr lang="en-US" i="1" dirty="0">
                <a:latin typeface="Times New Roman" pitchFamily="18" charset="0"/>
              </a:rPr>
              <a:t>y</a:t>
            </a:r>
            <a:endParaRPr lang="he-IL" dirty="0">
              <a:latin typeface="Times New Roman" pitchFamily="18" charset="0"/>
            </a:endParaRPr>
          </a:p>
          <a:p>
            <a:pPr marL="474663" lvl="1" algn="r" defTabSz="384175" rtl="1">
              <a:spcBef>
                <a:spcPct val="50000"/>
              </a:spcBef>
              <a:defRPr/>
            </a:pPr>
            <a:r>
              <a:rPr lang="he-IL" dirty="0">
                <a:latin typeface="Times New Roman" pitchFamily="18" charset="0"/>
              </a:rPr>
              <a:t>2.4.  אחרת (כאן </a:t>
            </a:r>
            <a:r>
              <a:rPr lang="en-US" dirty="0">
                <a:latin typeface="Times New Roman" pitchFamily="18" charset="0"/>
              </a:rPr>
              <a:t>| BF[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] | =2</a:t>
            </a:r>
            <a:r>
              <a:rPr lang="he-IL" dirty="0">
                <a:latin typeface="Times New Roman" pitchFamily="18" charset="0"/>
              </a:rPr>
              <a:t>) בצע גלגול מתאים וסיים ועבור </a:t>
            </a:r>
            <a:r>
              <a:rPr lang="he-IL" dirty="0" err="1">
                <a:latin typeface="Times New Roman" pitchFamily="18" charset="0"/>
              </a:rPr>
              <a:t>לאיטרציה</a:t>
            </a:r>
            <a:r>
              <a:rPr lang="he-IL" dirty="0">
                <a:latin typeface="Times New Roman" pitchFamily="18" charset="0"/>
              </a:rPr>
              <a:t> הבאה עם אביו של </a:t>
            </a:r>
            <a:r>
              <a:rPr lang="en-US" i="1">
                <a:latin typeface="Times New Roman" pitchFamily="18" charset="0"/>
              </a:rPr>
              <a:t>y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9" name="כפל 8"/>
          <p:cNvSpPr/>
          <p:nvPr/>
        </p:nvSpPr>
        <p:spPr>
          <a:xfrm>
            <a:off x="5303913" y="3236785"/>
            <a:ext cx="504056" cy="648072"/>
          </a:xfrm>
          <a:prstGeom prst="mathMultiply">
            <a:avLst>
              <a:gd name="adj1" fmla="val 0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AA11E3-17A1-EB7A-5E8C-F40A61EB4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עצי </a:t>
            </a:r>
            <a:r>
              <a:rPr lang="en-US" dirty="0"/>
              <a:t>AVL</a:t>
            </a:r>
            <a:r>
              <a:rPr lang="he-IL" dirty="0"/>
              <a:t>- הדגמות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8063339-63DD-3E5C-646E-F30ED2C7B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FFB5CDD-0D7B-8EB2-70DC-824FD271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888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מחבר חץ ישר 3">
            <a:extLst>
              <a:ext uri="{FF2B5EF4-FFF2-40B4-BE49-F238E27FC236}">
                <a16:creationId xmlns:a16="http://schemas.microsoft.com/office/drawing/2014/main" id="{5A0309EF-A631-7C27-FDEF-43E9E70B702A}"/>
              </a:ext>
            </a:extLst>
          </p:cNvPr>
          <p:cNvCxnSpPr>
            <a:cxnSpLocks/>
          </p:cNvCxnSpPr>
          <p:nvPr/>
        </p:nvCxnSpPr>
        <p:spPr>
          <a:xfrm>
            <a:off x="6881720" y="2074681"/>
            <a:ext cx="19212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B3D10345-DDBD-A17C-D7FD-6CB9C30A3E00}"/>
              </a:ext>
            </a:extLst>
          </p:cNvPr>
          <p:cNvCxnSpPr>
            <a:cxnSpLocks/>
          </p:cNvCxnSpPr>
          <p:nvPr/>
        </p:nvCxnSpPr>
        <p:spPr>
          <a:xfrm flipV="1">
            <a:off x="3311099" y="3613732"/>
            <a:ext cx="0" cy="509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754B5F5B-9FC3-04B5-FDBC-3E1AC7762001}"/>
              </a:ext>
            </a:extLst>
          </p:cNvPr>
          <p:cNvCxnSpPr>
            <a:cxnSpLocks/>
          </p:cNvCxnSpPr>
          <p:nvPr/>
        </p:nvCxnSpPr>
        <p:spPr>
          <a:xfrm flipV="1">
            <a:off x="2605590" y="4114921"/>
            <a:ext cx="0" cy="509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5893B24B-8BE2-370F-57EA-9C86E2EC793F}"/>
              </a:ext>
            </a:extLst>
          </p:cNvPr>
          <p:cNvCxnSpPr>
            <a:cxnSpLocks/>
          </p:cNvCxnSpPr>
          <p:nvPr/>
        </p:nvCxnSpPr>
        <p:spPr>
          <a:xfrm>
            <a:off x="4028900" y="4115122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51673508-91DD-D5AF-8F94-5C0B74BE56A9}"/>
              </a:ext>
            </a:extLst>
          </p:cNvPr>
          <p:cNvCxnSpPr>
            <a:cxnSpLocks/>
          </p:cNvCxnSpPr>
          <p:nvPr/>
        </p:nvCxnSpPr>
        <p:spPr>
          <a:xfrm>
            <a:off x="8918161" y="3579226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26D2C753-E1BD-426A-B588-30207D837296}"/>
              </a:ext>
            </a:extLst>
          </p:cNvPr>
          <p:cNvCxnSpPr>
            <a:cxnSpLocks/>
          </p:cNvCxnSpPr>
          <p:nvPr/>
        </p:nvCxnSpPr>
        <p:spPr>
          <a:xfrm>
            <a:off x="9568892" y="4126623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>
            <a:extLst>
              <a:ext uri="{FF2B5EF4-FFF2-40B4-BE49-F238E27FC236}">
                <a16:creationId xmlns:a16="http://schemas.microsoft.com/office/drawing/2014/main" id="{6722DA92-9AD1-81A6-3BFB-F5246C81182A}"/>
              </a:ext>
            </a:extLst>
          </p:cNvPr>
          <p:cNvCxnSpPr>
            <a:cxnSpLocks/>
          </p:cNvCxnSpPr>
          <p:nvPr/>
        </p:nvCxnSpPr>
        <p:spPr>
          <a:xfrm>
            <a:off x="8157873" y="4116257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421BABCF-528A-339A-54C3-28520354DDE3}"/>
              </a:ext>
            </a:extLst>
          </p:cNvPr>
          <p:cNvCxnSpPr>
            <a:cxnSpLocks/>
          </p:cNvCxnSpPr>
          <p:nvPr/>
        </p:nvCxnSpPr>
        <p:spPr>
          <a:xfrm flipV="1">
            <a:off x="5916632" y="2491216"/>
            <a:ext cx="0" cy="2405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קבוצה 11">
            <a:extLst>
              <a:ext uri="{FF2B5EF4-FFF2-40B4-BE49-F238E27FC236}">
                <a16:creationId xmlns:a16="http://schemas.microsoft.com/office/drawing/2014/main" id="{DA44A15E-0F91-031E-F83A-9E7A7D512BF1}"/>
              </a:ext>
            </a:extLst>
          </p:cNvPr>
          <p:cNvGrpSpPr/>
          <p:nvPr/>
        </p:nvGrpSpPr>
        <p:grpSpPr>
          <a:xfrm>
            <a:off x="4813663" y="427311"/>
            <a:ext cx="2112645" cy="599772"/>
            <a:chOff x="1931303" y="0"/>
            <a:chExt cx="2112645" cy="599772"/>
          </a:xfrm>
        </p:grpSpPr>
        <p:sp>
          <p:nvSpPr>
            <p:cNvPr id="13" name="מלבן 12">
              <a:extLst>
                <a:ext uri="{FF2B5EF4-FFF2-40B4-BE49-F238E27FC236}">
                  <a16:creationId xmlns:a16="http://schemas.microsoft.com/office/drawing/2014/main" id="{81CB19D0-ED5D-BF27-8A5B-42F0F04E5141}"/>
                </a:ext>
              </a:extLst>
            </p:cNvPr>
            <p:cNvSpPr/>
            <p:nvPr/>
          </p:nvSpPr>
          <p:spPr>
            <a:xfrm>
              <a:off x="1931303" y="0"/>
              <a:ext cx="2112645" cy="599772"/>
            </a:xfrm>
            <a:prstGeom prst="rect">
              <a:avLst/>
            </a:prstGeom>
            <a:ln w="28575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F4CEA939-A351-6B58-EABC-D088D6681C65}"/>
                </a:ext>
              </a:extLst>
            </p:cNvPr>
            <p:cNvSpPr txBox="1"/>
            <p:nvPr/>
          </p:nvSpPr>
          <p:spPr>
            <a:xfrm>
              <a:off x="1931303" y="0"/>
              <a:ext cx="2112645" cy="599772"/>
            </a:xfrm>
            <a:prstGeom prst="rect">
              <a:avLst/>
            </a:prstGeom>
            <a:ln w="28575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400" kern="1200" dirty="0">
                  <a:cs typeface="Adama" pitchFamily="2" charset="-79"/>
                </a:rPr>
                <a:t>נכניס את הצומת החדש לעץ על פי אלגוריתם הכנסה ל-</a:t>
              </a:r>
              <a:r>
                <a:rPr lang="en-US" sz="1400" kern="1200" dirty="0">
                  <a:cs typeface="Adama" pitchFamily="2" charset="-79"/>
                </a:rPr>
                <a:t>BST</a:t>
              </a:r>
              <a:endParaRPr lang="he-IL" sz="1400" kern="1200" dirty="0">
                <a:cs typeface="Adama" pitchFamily="2" charset="-79"/>
              </a:endParaRPr>
            </a:p>
          </p:txBody>
        </p:sp>
      </p:grp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13A71A1A-38B2-B329-C21B-DCC3A71D2E59}"/>
              </a:ext>
            </a:extLst>
          </p:cNvPr>
          <p:cNvGrpSpPr/>
          <p:nvPr/>
        </p:nvGrpSpPr>
        <p:grpSpPr>
          <a:xfrm>
            <a:off x="4626556" y="1245751"/>
            <a:ext cx="2486852" cy="494077"/>
            <a:chOff x="1745335" y="726624"/>
            <a:chExt cx="2486852" cy="494077"/>
          </a:xfrm>
        </p:grpSpPr>
        <p:sp>
          <p:nvSpPr>
            <p:cNvPr id="16" name="מלבן 15">
              <a:extLst>
                <a:ext uri="{FF2B5EF4-FFF2-40B4-BE49-F238E27FC236}">
                  <a16:creationId xmlns:a16="http://schemas.microsoft.com/office/drawing/2014/main" id="{4AE7A5C8-DF72-4DB0-8216-33FA3C2D2F8E}"/>
                </a:ext>
              </a:extLst>
            </p:cNvPr>
            <p:cNvSpPr/>
            <p:nvPr/>
          </p:nvSpPr>
          <p:spPr>
            <a:xfrm>
              <a:off x="1745335" y="726624"/>
              <a:ext cx="2486852" cy="494077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17" name="תיבת טקסט 16">
              <a:extLst>
                <a:ext uri="{FF2B5EF4-FFF2-40B4-BE49-F238E27FC236}">
                  <a16:creationId xmlns:a16="http://schemas.microsoft.com/office/drawing/2014/main" id="{AA5FC39D-3030-DE79-3A71-9A91BD404245}"/>
                </a:ext>
              </a:extLst>
            </p:cNvPr>
            <p:cNvSpPr txBox="1"/>
            <p:nvPr/>
          </p:nvSpPr>
          <p:spPr>
            <a:xfrm>
              <a:off x="1745335" y="726624"/>
              <a:ext cx="2486852" cy="494077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200" kern="1200" dirty="0">
                  <a:cs typeface="Adama" pitchFamily="2" charset="-79"/>
                </a:rPr>
                <a:t>נעלה במסלול ההכנסה בחיפוש אחר צומת עם גורם איזון שאינו תקין</a:t>
              </a:r>
            </a:p>
          </p:txBody>
        </p:sp>
      </p:grpSp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8B1CCC1D-11F5-2899-BB41-24B3D4A76948}"/>
              </a:ext>
            </a:extLst>
          </p:cNvPr>
          <p:cNvGrpSpPr/>
          <p:nvPr/>
        </p:nvGrpSpPr>
        <p:grpSpPr>
          <a:xfrm>
            <a:off x="8802990" y="1145041"/>
            <a:ext cx="934025" cy="1420943"/>
            <a:chOff x="4332956" y="1348884"/>
            <a:chExt cx="934025" cy="821953"/>
          </a:xfrm>
        </p:grpSpPr>
        <p:sp>
          <p:nvSpPr>
            <p:cNvPr id="19" name="מלבן 18">
              <a:extLst>
                <a:ext uri="{FF2B5EF4-FFF2-40B4-BE49-F238E27FC236}">
                  <a16:creationId xmlns:a16="http://schemas.microsoft.com/office/drawing/2014/main" id="{61351BE7-F538-5BB6-3E42-35DD67715589}"/>
                </a:ext>
              </a:extLst>
            </p:cNvPr>
            <p:cNvSpPr/>
            <p:nvPr/>
          </p:nvSpPr>
          <p:spPr>
            <a:xfrm>
              <a:off x="4332956" y="1348884"/>
              <a:ext cx="934025" cy="821953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20" name="תיבת טקסט 19">
              <a:extLst>
                <a:ext uri="{FF2B5EF4-FFF2-40B4-BE49-F238E27FC236}">
                  <a16:creationId xmlns:a16="http://schemas.microsoft.com/office/drawing/2014/main" id="{761BC782-8EA3-7A88-98D0-7157D9DF71A4}"/>
                </a:ext>
              </a:extLst>
            </p:cNvPr>
            <p:cNvSpPr txBox="1"/>
            <p:nvPr/>
          </p:nvSpPr>
          <p:spPr>
            <a:xfrm>
              <a:off x="4332956" y="1348884"/>
              <a:ext cx="934025" cy="821953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600" kern="1200" dirty="0">
                  <a:cs typeface="Adama" pitchFamily="2" charset="-79"/>
                </a:rPr>
                <a:t>מצאנו צומת שגובהו זהה לגובהו לפני ההכנסה, נסיים.</a:t>
              </a:r>
            </a:p>
          </p:txBody>
        </p:sp>
      </p:grp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4DAADE9F-04E3-1516-A59A-418AB8BE8620}"/>
              </a:ext>
            </a:extLst>
          </p:cNvPr>
          <p:cNvGrpSpPr/>
          <p:nvPr/>
        </p:nvGrpSpPr>
        <p:grpSpPr>
          <a:xfrm>
            <a:off x="5056154" y="1940014"/>
            <a:ext cx="1627647" cy="717033"/>
            <a:chOff x="520614" y="1399500"/>
            <a:chExt cx="1627647" cy="717033"/>
          </a:xfrm>
        </p:grpSpPr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5041B6E0-5907-EB3E-3024-D771820CAD34}"/>
                </a:ext>
              </a:extLst>
            </p:cNvPr>
            <p:cNvSpPr/>
            <p:nvPr/>
          </p:nvSpPr>
          <p:spPr>
            <a:xfrm>
              <a:off x="520614" y="1399500"/>
              <a:ext cx="1627647" cy="717033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F62CCC87-C895-0278-F7CD-34FDEBE6BA71}"/>
                </a:ext>
              </a:extLst>
            </p:cNvPr>
            <p:cNvSpPr txBox="1"/>
            <p:nvPr/>
          </p:nvSpPr>
          <p:spPr>
            <a:xfrm>
              <a:off x="520614" y="1399500"/>
              <a:ext cx="1627647" cy="717033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200" kern="1200" dirty="0">
                  <a:cs typeface="Adama" pitchFamily="2" charset="-79"/>
                </a:rPr>
                <a:t>מצאנו צומת </a:t>
              </a:r>
              <a:r>
                <a:rPr lang="en-US" sz="1200" kern="1200" dirty="0">
                  <a:cs typeface="Adama" pitchFamily="2" charset="-79"/>
                </a:rPr>
                <a:t>x</a:t>
              </a:r>
              <a:r>
                <a:rPr lang="he-IL" sz="1200" kern="1200" dirty="0">
                  <a:cs typeface="Adama" pitchFamily="2" charset="-79"/>
                </a:rPr>
                <a:t> (אב קדמון של הצומת החדש) עם גורם איזון 2+/2-</a:t>
              </a:r>
            </a:p>
          </p:txBody>
        </p:sp>
      </p:grpSp>
      <p:grpSp>
        <p:nvGrpSpPr>
          <p:cNvPr id="24" name="קבוצה 23">
            <a:extLst>
              <a:ext uri="{FF2B5EF4-FFF2-40B4-BE49-F238E27FC236}">
                <a16:creationId xmlns:a16="http://schemas.microsoft.com/office/drawing/2014/main" id="{7E2CB66B-07BB-FA2F-922B-EE83C9007C6D}"/>
              </a:ext>
            </a:extLst>
          </p:cNvPr>
          <p:cNvGrpSpPr/>
          <p:nvPr/>
        </p:nvGrpSpPr>
        <p:grpSpPr>
          <a:xfrm>
            <a:off x="2327582" y="2965309"/>
            <a:ext cx="1718643" cy="387711"/>
            <a:chOff x="2741643" y="2781941"/>
            <a:chExt cx="1702586" cy="316144"/>
          </a:xfrm>
        </p:grpSpPr>
        <p:sp>
          <p:nvSpPr>
            <p:cNvPr id="25" name="מלבן 24">
              <a:extLst>
                <a:ext uri="{FF2B5EF4-FFF2-40B4-BE49-F238E27FC236}">
                  <a16:creationId xmlns:a16="http://schemas.microsoft.com/office/drawing/2014/main" id="{74158C58-E86D-9F9A-CA3A-9E9B25BB5B0E}"/>
                </a:ext>
              </a:extLst>
            </p:cNvPr>
            <p:cNvSpPr/>
            <p:nvPr/>
          </p:nvSpPr>
          <p:spPr>
            <a:xfrm>
              <a:off x="2907875" y="2781941"/>
              <a:ext cx="1426546" cy="293547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תיבת טקסט 25">
                  <a:extLst>
                    <a:ext uri="{FF2B5EF4-FFF2-40B4-BE49-F238E27FC236}">
                      <a16:creationId xmlns:a16="http://schemas.microsoft.com/office/drawing/2014/main" id="{0686864F-B2E3-48B2-BC8B-DE1982FB06DC}"/>
                    </a:ext>
                  </a:extLst>
                </p:cNvPr>
                <p:cNvSpPr txBox="1"/>
                <p:nvPr/>
              </p:nvSpPr>
              <p:spPr>
                <a:xfrm>
                  <a:off x="2741643" y="2804534"/>
                  <a:ext cx="1702586" cy="293547"/>
                </a:xfrm>
                <a:prstGeom prst="rect">
                  <a:avLst/>
                </a:prstGeom>
                <a:ln w="19050"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6985" tIns="6985" rIns="6985" bIns="6985" numCol="1" spcCol="1270" anchor="ctr" anchorCtr="0">
                  <a:noAutofit/>
                </a:bodyPr>
                <a:lstStyle/>
                <a:p>
                  <a:pPr marL="0" lvl="0" indent="0" algn="ctr" defTabSz="488950" rtl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b="1" kern="1200" dirty="0">
                      <a:cs typeface="Adama" pitchFamily="2" charset="-79"/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US" b="1" i="1" kern="1200">
                          <a:latin typeface="Cambria Math" panose="02040503050406030204" pitchFamily="18" charset="0"/>
                        </a:rPr>
                        <m:t>𝑩𝑭</m:t>
                      </m:r>
                      <m:d>
                        <m:dPr>
                          <m:ctrlPr>
                            <a:rPr lang="en-US" b="1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kern="120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kern="1200">
                          <a:latin typeface="Cambria Math" panose="02040503050406030204" pitchFamily="18" charset="0"/>
                        </a:rPr>
                        <m:t>=+</m:t>
                      </m:r>
                      <m:r>
                        <a:rPr lang="en-US" b="1" i="1" kern="120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en-US" b="1" kern="1200" dirty="0">
                      <a:cs typeface="Adama" pitchFamily="2" charset="-79"/>
                    </a:rPr>
                    <a:t>   </a:t>
                  </a:r>
                  <a:endParaRPr lang="he-IL" b="1" kern="1200" dirty="0">
                    <a:cs typeface="Adama" pitchFamily="2" charset="-79"/>
                  </a:endParaRPr>
                </a:p>
              </p:txBody>
            </p:sp>
          </mc:Choice>
          <mc:Fallback xmlns="">
            <p:sp>
              <p:nvSpPr>
                <p:cNvPr id="26" name="תיבת טקסט 25">
                  <a:extLst>
                    <a:ext uri="{FF2B5EF4-FFF2-40B4-BE49-F238E27FC236}">
                      <a16:creationId xmlns:a16="http://schemas.microsoft.com/office/drawing/2014/main" id="{0686864F-B2E3-48B2-BC8B-DE1982FB0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1643" y="2804534"/>
                  <a:ext cx="1702586" cy="29354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C9498CAC-C0E5-7DD5-B4D7-61FA56F43BB5}"/>
              </a:ext>
            </a:extLst>
          </p:cNvPr>
          <p:cNvGrpSpPr/>
          <p:nvPr/>
        </p:nvGrpSpPr>
        <p:grpSpPr>
          <a:xfrm>
            <a:off x="2057923" y="3534857"/>
            <a:ext cx="2412000" cy="540000"/>
            <a:chOff x="3323328" y="3222796"/>
            <a:chExt cx="1569308" cy="236453"/>
          </a:xfrm>
        </p:grpSpPr>
        <p:sp>
          <p:nvSpPr>
            <p:cNvPr id="28" name="מלבן 27">
              <a:extLst>
                <a:ext uri="{FF2B5EF4-FFF2-40B4-BE49-F238E27FC236}">
                  <a16:creationId xmlns:a16="http://schemas.microsoft.com/office/drawing/2014/main" id="{D489EB86-A02A-1676-20A7-F80D270DF2C9}"/>
                </a:ext>
              </a:extLst>
            </p:cNvPr>
            <p:cNvSpPr/>
            <p:nvPr/>
          </p:nvSpPr>
          <p:spPr>
            <a:xfrm>
              <a:off x="3323328" y="3222796"/>
              <a:ext cx="1569308" cy="236453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29" name="תיבת טקסט 28">
              <a:extLst>
                <a:ext uri="{FF2B5EF4-FFF2-40B4-BE49-F238E27FC236}">
                  <a16:creationId xmlns:a16="http://schemas.microsoft.com/office/drawing/2014/main" id="{FEED3350-526A-1C29-6AEA-4BF53EEDF7BA}"/>
                </a:ext>
              </a:extLst>
            </p:cNvPr>
            <p:cNvSpPr txBox="1"/>
            <p:nvPr/>
          </p:nvSpPr>
          <p:spPr>
            <a:xfrm>
              <a:off x="3323328" y="3222796"/>
              <a:ext cx="1569308" cy="236453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300" kern="1200" dirty="0">
                  <a:cs typeface="Adama" pitchFamily="2" charset="-79"/>
                </a:rPr>
                <a:t>החלק העמוק יותר נמצא בתת עץ שמאלי לכן נבדוק את בנו השמאלי של </a:t>
              </a:r>
              <a:r>
                <a:rPr lang="en-US" sz="1300" kern="1200" dirty="0">
                  <a:cs typeface="Adama" pitchFamily="2" charset="-79"/>
                </a:rPr>
                <a:t>x</a:t>
              </a:r>
              <a:endParaRPr lang="he-IL" sz="1300" kern="1200" dirty="0">
                <a:cs typeface="Adama" pitchFamily="2" charset="-79"/>
              </a:endParaRPr>
            </a:p>
          </p:txBody>
        </p:sp>
      </p:grpSp>
      <p:grpSp>
        <p:nvGrpSpPr>
          <p:cNvPr id="30" name="קבוצה 29">
            <a:extLst>
              <a:ext uri="{FF2B5EF4-FFF2-40B4-BE49-F238E27FC236}">
                <a16:creationId xmlns:a16="http://schemas.microsoft.com/office/drawing/2014/main" id="{25567AC8-F4A2-D221-351A-A72FBD595441}"/>
              </a:ext>
            </a:extLst>
          </p:cNvPr>
          <p:cNvGrpSpPr/>
          <p:nvPr/>
        </p:nvGrpSpPr>
        <p:grpSpPr>
          <a:xfrm>
            <a:off x="792418" y="4188062"/>
            <a:ext cx="2412004" cy="2071606"/>
            <a:chOff x="3457982" y="4194123"/>
            <a:chExt cx="2412004" cy="2071606"/>
          </a:xfrm>
        </p:grpSpPr>
        <p:cxnSp>
          <p:nvCxnSpPr>
            <p:cNvPr id="31" name="מחבר ישר 30">
              <a:extLst>
                <a:ext uri="{FF2B5EF4-FFF2-40B4-BE49-F238E27FC236}">
                  <a16:creationId xmlns:a16="http://schemas.microsoft.com/office/drawing/2014/main" id="{B5C21C5B-5DC6-5CB8-C3C0-0140282F40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4288" y="4730030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קבוצה 31">
              <a:extLst>
                <a:ext uri="{FF2B5EF4-FFF2-40B4-BE49-F238E27FC236}">
                  <a16:creationId xmlns:a16="http://schemas.microsoft.com/office/drawing/2014/main" id="{0FFFA791-035E-5E23-0089-752E55037665}"/>
                </a:ext>
              </a:extLst>
            </p:cNvPr>
            <p:cNvGrpSpPr/>
            <p:nvPr/>
          </p:nvGrpSpPr>
          <p:grpSpPr>
            <a:xfrm>
              <a:off x="3457982" y="4194123"/>
              <a:ext cx="2412004" cy="540001"/>
              <a:chOff x="4280985" y="4103949"/>
              <a:chExt cx="1305746" cy="478390"/>
            </a:xfrm>
          </p:grpSpPr>
          <p:sp>
            <p:nvSpPr>
              <p:cNvPr id="40" name="מלבן 39">
                <a:extLst>
                  <a:ext uri="{FF2B5EF4-FFF2-40B4-BE49-F238E27FC236}">
                    <a16:creationId xmlns:a16="http://schemas.microsoft.com/office/drawing/2014/main" id="{1D4A595F-8E12-1A69-2B7D-4AF993C43A10}"/>
                  </a:ext>
                </a:extLst>
              </p:cNvPr>
              <p:cNvSpPr/>
              <p:nvPr/>
            </p:nvSpPr>
            <p:spPr>
              <a:xfrm>
                <a:off x="4280985" y="4103949"/>
                <a:ext cx="1305744" cy="478389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תיבת טקסט 40">
                    <a:extLst>
                      <a:ext uri="{FF2B5EF4-FFF2-40B4-BE49-F238E27FC236}">
                        <a16:creationId xmlns:a16="http://schemas.microsoft.com/office/drawing/2014/main" id="{2EF758AB-4E1A-1FE6-143D-45997C3EC88C}"/>
                      </a:ext>
                    </a:extLst>
                  </p:cNvPr>
                  <p:cNvSpPr txBox="1"/>
                  <p:nvPr/>
                </p:nvSpPr>
                <p:spPr>
                  <a:xfrm>
                    <a:off x="4280987" y="4103950"/>
                    <a:ext cx="1305744" cy="478389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marL="0" lvl="0" indent="0" algn="ctr" defTabSz="488950" rtl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he-IL" sz="1200" kern="1200" dirty="0">
                        <a:cs typeface="Adama" pitchFamily="2" charset="-79"/>
                      </a:rPr>
                      <a:t> </a:t>
                    </a:r>
                  </a:p>
                  <a:p>
                    <a:pPr marL="0" lvl="0" indent="0" algn="ctr" defTabSz="488950" rtl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kern="1200">
                              <a:latin typeface="Cambria Math" panose="02040503050406030204" pitchFamily="18" charset="0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sz="2000" b="0" i="1" kern="1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kern="120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kern="12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kern="1200"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e>
                          </m:d>
                          <m:r>
                            <a:rPr lang="en-US" sz="2000" b="0" i="1" kern="1200">
                              <a:latin typeface="Cambria Math" panose="02040503050406030204" pitchFamily="18" charset="0"/>
                            </a:rPr>
                            <m:t>=+</m:t>
                          </m:r>
                          <m:r>
                            <a:rPr lang="en-US" sz="2000" b="0" i="1" kern="12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he-IL" sz="2000" kern="1200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41" name="תיבת טקסט 40">
                    <a:extLst>
                      <a:ext uri="{FF2B5EF4-FFF2-40B4-BE49-F238E27FC236}">
                        <a16:creationId xmlns:a16="http://schemas.microsoft.com/office/drawing/2014/main" id="{2EF758AB-4E1A-1FE6-143D-45997C3EC8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0987" y="4103950"/>
                    <a:ext cx="1305744" cy="47838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9101" b="-5618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קבוצה 32">
              <a:extLst>
                <a:ext uri="{FF2B5EF4-FFF2-40B4-BE49-F238E27FC236}">
                  <a16:creationId xmlns:a16="http://schemas.microsoft.com/office/drawing/2014/main" id="{B751B317-AE9A-433B-E573-1D377B6BBBE7}"/>
                </a:ext>
              </a:extLst>
            </p:cNvPr>
            <p:cNvGrpSpPr/>
            <p:nvPr/>
          </p:nvGrpSpPr>
          <p:grpSpPr>
            <a:xfrm>
              <a:off x="4285373" y="4830417"/>
              <a:ext cx="720000" cy="720000"/>
              <a:chOff x="4586265" y="5142229"/>
              <a:chExt cx="696615" cy="696616"/>
            </a:xfrm>
          </p:grpSpPr>
          <p:sp>
            <p:nvSpPr>
              <p:cNvPr id="38" name="מלבן 37">
                <a:extLst>
                  <a:ext uri="{FF2B5EF4-FFF2-40B4-BE49-F238E27FC236}">
                    <a16:creationId xmlns:a16="http://schemas.microsoft.com/office/drawing/2014/main" id="{E7F5DC92-3073-7380-97F2-0577E2C0AE48}"/>
                  </a:ext>
                </a:extLst>
              </p:cNvPr>
              <p:cNvSpPr/>
              <p:nvPr/>
            </p:nvSpPr>
            <p:spPr>
              <a:xfrm>
                <a:off x="4586265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C20019F7-E4A7-1FEA-031F-23B8BBB50FFA}"/>
                  </a:ext>
                </a:extLst>
              </p:cNvPr>
              <p:cNvSpPr txBox="1"/>
              <p:nvPr/>
            </p:nvSpPr>
            <p:spPr>
              <a:xfrm>
                <a:off x="4586265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dirty="0">
                    <a:cs typeface="Adama" pitchFamily="2" charset="-79"/>
                  </a:rPr>
                  <a:t>המקרה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dirty="0">
                    <a:cs typeface="Adama" pitchFamily="2" charset="-79"/>
                  </a:rPr>
                  <a:t>LL</a:t>
                </a:r>
                <a:endParaRPr lang="he-IL" b="1" dirty="0">
                  <a:cs typeface="Adama" pitchFamily="2" charset="-79"/>
                </a:endParaRPr>
              </a:p>
            </p:txBody>
          </p:sp>
        </p:grpSp>
        <p:grpSp>
          <p:nvGrpSpPr>
            <p:cNvPr id="34" name="קבוצה 33">
              <a:extLst>
                <a:ext uri="{FF2B5EF4-FFF2-40B4-BE49-F238E27FC236}">
                  <a16:creationId xmlns:a16="http://schemas.microsoft.com/office/drawing/2014/main" id="{8A139D01-3BA8-293C-A146-79CC6E2802B5}"/>
                </a:ext>
              </a:extLst>
            </p:cNvPr>
            <p:cNvGrpSpPr/>
            <p:nvPr/>
          </p:nvGrpSpPr>
          <p:grpSpPr>
            <a:xfrm>
              <a:off x="4199857" y="5632471"/>
              <a:ext cx="891031" cy="633258"/>
              <a:chOff x="4487941" y="6270167"/>
              <a:chExt cx="891031" cy="633258"/>
            </a:xfrm>
          </p:grpSpPr>
          <p:sp>
            <p:nvSpPr>
              <p:cNvPr id="35" name="מלבן 34">
                <a:extLst>
                  <a:ext uri="{FF2B5EF4-FFF2-40B4-BE49-F238E27FC236}">
                    <a16:creationId xmlns:a16="http://schemas.microsoft.com/office/drawing/2014/main" id="{4178B566-E6EF-1B0D-316E-267E6DA723C0}"/>
                  </a:ext>
                </a:extLst>
              </p:cNvPr>
              <p:cNvSpPr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56A2A343-C681-6114-649D-A331C95A0EB0}"/>
                  </a:ext>
                </a:extLst>
              </p:cNvPr>
              <p:cNvSpPr txBox="1"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גלגול ימינה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על </a:t>
                </a:r>
                <a:r>
                  <a:rPr lang="en-US" sz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grpSp>
        <p:nvGrpSpPr>
          <p:cNvPr id="42" name="קבוצה 41">
            <a:extLst>
              <a:ext uri="{FF2B5EF4-FFF2-40B4-BE49-F238E27FC236}">
                <a16:creationId xmlns:a16="http://schemas.microsoft.com/office/drawing/2014/main" id="{DC1D516A-0449-19F6-1532-B02348A75438}"/>
              </a:ext>
            </a:extLst>
          </p:cNvPr>
          <p:cNvGrpSpPr/>
          <p:nvPr/>
        </p:nvGrpSpPr>
        <p:grpSpPr>
          <a:xfrm>
            <a:off x="3409437" y="4185701"/>
            <a:ext cx="2412000" cy="2504938"/>
            <a:chOff x="851923" y="4194121"/>
            <a:chExt cx="2412000" cy="2504938"/>
          </a:xfrm>
        </p:grpSpPr>
        <p:cxnSp>
          <p:nvCxnSpPr>
            <p:cNvPr id="43" name="מחבר ישר 42">
              <a:extLst>
                <a:ext uri="{FF2B5EF4-FFF2-40B4-BE49-F238E27FC236}">
                  <a16:creationId xmlns:a16="http://schemas.microsoft.com/office/drawing/2014/main" id="{78F82707-67F7-46FD-57CA-D9C50E3700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922" y="4690736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קבוצה 43">
              <a:extLst>
                <a:ext uri="{FF2B5EF4-FFF2-40B4-BE49-F238E27FC236}">
                  <a16:creationId xmlns:a16="http://schemas.microsoft.com/office/drawing/2014/main" id="{8C0E2901-660C-E63A-2B34-B971B62DD63B}"/>
                </a:ext>
              </a:extLst>
            </p:cNvPr>
            <p:cNvGrpSpPr/>
            <p:nvPr/>
          </p:nvGrpSpPr>
          <p:grpSpPr>
            <a:xfrm>
              <a:off x="851923" y="4194121"/>
              <a:ext cx="2412000" cy="540000"/>
              <a:chOff x="3009859" y="3700933"/>
              <a:chExt cx="733499" cy="1343392"/>
            </a:xfrm>
          </p:grpSpPr>
          <p:sp>
            <p:nvSpPr>
              <p:cNvPr id="51" name="מלבן 50">
                <a:extLst>
                  <a:ext uri="{FF2B5EF4-FFF2-40B4-BE49-F238E27FC236}">
                    <a16:creationId xmlns:a16="http://schemas.microsoft.com/office/drawing/2014/main" id="{0ACDE9AF-8035-B379-CC9E-0FB629BADBC6}"/>
                  </a:ext>
                </a:extLst>
              </p:cNvPr>
              <p:cNvSpPr/>
              <p:nvPr/>
            </p:nvSpPr>
            <p:spPr>
              <a:xfrm>
                <a:off x="3009859" y="3700933"/>
                <a:ext cx="733499" cy="1343392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51">
                    <a:extLst>
                      <a:ext uri="{FF2B5EF4-FFF2-40B4-BE49-F238E27FC236}">
                        <a16:creationId xmlns:a16="http://schemas.microsoft.com/office/drawing/2014/main" id="{4122593C-119A-9914-F377-8C1103DCD523}"/>
                      </a:ext>
                    </a:extLst>
                  </p:cNvPr>
                  <p:cNvSpPr txBox="1"/>
                  <p:nvPr/>
                </p:nvSpPr>
                <p:spPr>
                  <a:xfrm>
                    <a:off x="3009859" y="3700933"/>
                    <a:ext cx="733499" cy="1343392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algn="ctr" defTabSz="4889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he-IL" sz="600" dirty="0">
                      <a:cs typeface="Adama" pitchFamily="2" charset="-79"/>
                    </a:endParaRPr>
                  </a:p>
                  <a:p>
                    <a:pPr marL="0" lvl="0" indent="0" algn="ctr" defTabSz="488950" rtl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𝑥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.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𝑙𝑒𝑓𝑡</m:t>
                              </m:r>
                            </m:e>
                          </m:d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=−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1</m:t>
                          </m:r>
                        </m:oMath>
                      </m:oMathPara>
                    </a14:m>
                    <a:endParaRPr lang="he-IL" sz="2000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51">
                    <a:extLst>
                      <a:ext uri="{FF2B5EF4-FFF2-40B4-BE49-F238E27FC236}">
                        <a16:creationId xmlns:a16="http://schemas.microsoft.com/office/drawing/2014/main" id="{4122593C-119A-9914-F377-8C1103DCD5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9859" y="3700933"/>
                    <a:ext cx="733499" cy="134339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5" name="קבוצה 44">
              <a:extLst>
                <a:ext uri="{FF2B5EF4-FFF2-40B4-BE49-F238E27FC236}">
                  <a16:creationId xmlns:a16="http://schemas.microsoft.com/office/drawing/2014/main" id="{A8BC128E-CE68-6775-3E17-E6797383F3FE}"/>
                </a:ext>
              </a:extLst>
            </p:cNvPr>
            <p:cNvGrpSpPr/>
            <p:nvPr/>
          </p:nvGrpSpPr>
          <p:grpSpPr>
            <a:xfrm>
              <a:off x="1697922" y="4830417"/>
              <a:ext cx="720002" cy="720000"/>
              <a:chOff x="3265567" y="6021536"/>
              <a:chExt cx="695567" cy="695565"/>
            </a:xfrm>
          </p:grpSpPr>
          <p:sp>
            <p:nvSpPr>
              <p:cNvPr id="49" name="מלבן 48">
                <a:extLst>
                  <a:ext uri="{FF2B5EF4-FFF2-40B4-BE49-F238E27FC236}">
                    <a16:creationId xmlns:a16="http://schemas.microsoft.com/office/drawing/2014/main" id="{91E362B4-067D-8793-7A89-A33A2789CCE4}"/>
                  </a:ext>
                </a:extLst>
              </p:cNvPr>
              <p:cNvSpPr/>
              <p:nvPr/>
            </p:nvSpPr>
            <p:spPr>
              <a:xfrm>
                <a:off x="3265567" y="6021536"/>
                <a:ext cx="695565" cy="695565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50" name="תיבת טקסט 49">
                <a:extLst>
                  <a:ext uri="{FF2B5EF4-FFF2-40B4-BE49-F238E27FC236}">
                    <a16:creationId xmlns:a16="http://schemas.microsoft.com/office/drawing/2014/main" id="{A750962F-F076-FC2B-8904-B05D8E9AE50A}"/>
                  </a:ext>
                </a:extLst>
              </p:cNvPr>
              <p:cNvSpPr txBox="1"/>
              <p:nvPr/>
            </p:nvSpPr>
            <p:spPr>
              <a:xfrm>
                <a:off x="3265569" y="6021536"/>
                <a:ext cx="695565" cy="695565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dirty="0">
                    <a:cs typeface="Adama" pitchFamily="2" charset="-79"/>
                  </a:rPr>
                  <a:t>המקרה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dirty="0">
                    <a:cs typeface="Adama" pitchFamily="2" charset="-79"/>
                  </a:rPr>
                  <a:t>LR</a:t>
                </a:r>
                <a:endParaRPr lang="he-IL" b="1" dirty="0">
                  <a:cs typeface="Adama" pitchFamily="2" charset="-79"/>
                </a:endParaRPr>
              </a:p>
            </p:txBody>
          </p:sp>
        </p:grpSp>
        <p:grpSp>
          <p:nvGrpSpPr>
            <p:cNvPr id="46" name="קבוצה 45">
              <a:extLst>
                <a:ext uri="{FF2B5EF4-FFF2-40B4-BE49-F238E27FC236}">
                  <a16:creationId xmlns:a16="http://schemas.microsoft.com/office/drawing/2014/main" id="{E485747C-B65B-790A-F192-D95F18359EF2}"/>
                </a:ext>
              </a:extLst>
            </p:cNvPr>
            <p:cNvGrpSpPr/>
            <p:nvPr/>
          </p:nvGrpSpPr>
          <p:grpSpPr>
            <a:xfrm>
              <a:off x="1481923" y="5619059"/>
              <a:ext cx="1152000" cy="1080000"/>
              <a:chOff x="3195100" y="7220418"/>
              <a:chExt cx="1173771" cy="867576"/>
            </a:xfrm>
          </p:grpSpPr>
          <p:sp>
            <p:nvSpPr>
              <p:cNvPr id="47" name="מלבן 46">
                <a:extLst>
                  <a:ext uri="{FF2B5EF4-FFF2-40B4-BE49-F238E27FC236}">
                    <a16:creationId xmlns:a16="http://schemas.microsoft.com/office/drawing/2014/main" id="{4C6AB468-FBDB-57A7-F5E1-E57FCC2755BC}"/>
                  </a:ext>
                </a:extLst>
              </p:cNvPr>
              <p:cNvSpPr/>
              <p:nvPr/>
            </p:nvSpPr>
            <p:spPr>
              <a:xfrm>
                <a:off x="3195100" y="7220418"/>
                <a:ext cx="1173771" cy="867576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48" name="תיבת טקסט 47">
                <a:extLst>
                  <a:ext uri="{FF2B5EF4-FFF2-40B4-BE49-F238E27FC236}">
                    <a16:creationId xmlns:a16="http://schemas.microsoft.com/office/drawing/2014/main" id="{4D4004C7-9B2F-CFEA-9E31-006BBE94C699}"/>
                  </a:ext>
                </a:extLst>
              </p:cNvPr>
              <p:cNvSpPr txBox="1"/>
              <p:nvPr/>
            </p:nvSpPr>
            <p:spPr>
              <a:xfrm>
                <a:off x="3195100" y="7220418"/>
                <a:ext cx="1173771" cy="86757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1. גלגול שמאלה על בנו השמאלי של </a:t>
                </a:r>
                <a:r>
                  <a:rPr lang="en-US" sz="1200" kern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2. גלגול ימינה על </a:t>
                </a:r>
                <a:r>
                  <a:rPr lang="en-US" sz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sp>
        <p:nvSpPr>
          <p:cNvPr id="54" name="מלבן 53">
            <a:extLst>
              <a:ext uri="{FF2B5EF4-FFF2-40B4-BE49-F238E27FC236}">
                <a16:creationId xmlns:a16="http://schemas.microsoft.com/office/drawing/2014/main" id="{986D3F49-49B6-CB1A-3855-A4F6689F2772}"/>
              </a:ext>
            </a:extLst>
          </p:cNvPr>
          <p:cNvSpPr/>
          <p:nvPr/>
        </p:nvSpPr>
        <p:spPr>
          <a:xfrm>
            <a:off x="8202861" y="2958824"/>
            <a:ext cx="1440000" cy="360873"/>
          </a:xfrm>
          <a:prstGeom prst="rect">
            <a:avLst/>
          </a:prstGeom>
          <a:ln w="19050"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/>
          </a:p>
        </p:txBody>
      </p:sp>
      <p:grpSp>
        <p:nvGrpSpPr>
          <p:cNvPr id="56" name="קבוצה 55">
            <a:extLst>
              <a:ext uri="{FF2B5EF4-FFF2-40B4-BE49-F238E27FC236}">
                <a16:creationId xmlns:a16="http://schemas.microsoft.com/office/drawing/2014/main" id="{49890BB5-1F48-3F2C-E8D4-BD37955D772D}"/>
              </a:ext>
            </a:extLst>
          </p:cNvPr>
          <p:cNvGrpSpPr/>
          <p:nvPr/>
        </p:nvGrpSpPr>
        <p:grpSpPr>
          <a:xfrm>
            <a:off x="7631431" y="3499710"/>
            <a:ext cx="2412002" cy="569091"/>
            <a:chOff x="752572" y="3353987"/>
            <a:chExt cx="1985586" cy="340450"/>
          </a:xfrm>
        </p:grpSpPr>
        <p:sp>
          <p:nvSpPr>
            <p:cNvPr id="57" name="מלבן 56">
              <a:extLst>
                <a:ext uri="{FF2B5EF4-FFF2-40B4-BE49-F238E27FC236}">
                  <a16:creationId xmlns:a16="http://schemas.microsoft.com/office/drawing/2014/main" id="{76EC557A-F7B0-5AD3-2D5A-96B29A5F530A}"/>
                </a:ext>
              </a:extLst>
            </p:cNvPr>
            <p:cNvSpPr/>
            <p:nvPr/>
          </p:nvSpPr>
          <p:spPr>
            <a:xfrm>
              <a:off x="752572" y="3371390"/>
              <a:ext cx="1985586" cy="323047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58" name="תיבת טקסט 57">
              <a:extLst>
                <a:ext uri="{FF2B5EF4-FFF2-40B4-BE49-F238E27FC236}">
                  <a16:creationId xmlns:a16="http://schemas.microsoft.com/office/drawing/2014/main" id="{F5D605B4-AA0B-6BC7-AD91-462915D9495D}"/>
                </a:ext>
              </a:extLst>
            </p:cNvPr>
            <p:cNvSpPr txBox="1"/>
            <p:nvPr/>
          </p:nvSpPr>
          <p:spPr>
            <a:xfrm>
              <a:off x="752572" y="3353987"/>
              <a:ext cx="1985586" cy="323047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300" kern="1200" dirty="0">
                  <a:cs typeface="Adama" pitchFamily="2" charset="-79"/>
                </a:rPr>
                <a:t>החלק העמוק יותר נמצא בתת עץ ימני לכן נבדוק את בנו הימני של </a:t>
              </a:r>
              <a:r>
                <a:rPr lang="en-US" sz="1300" kern="1200" dirty="0">
                  <a:cs typeface="Adama" pitchFamily="2" charset="-79"/>
                </a:rPr>
                <a:t>x</a:t>
              </a:r>
              <a:endParaRPr lang="he-IL" sz="1300" kern="1200" dirty="0">
                <a:cs typeface="Adama" pitchFamily="2" charset="-79"/>
              </a:endParaRPr>
            </a:p>
          </p:txBody>
        </p:sp>
      </p:grpSp>
      <p:grpSp>
        <p:nvGrpSpPr>
          <p:cNvPr id="59" name="קבוצה 58">
            <a:extLst>
              <a:ext uri="{FF2B5EF4-FFF2-40B4-BE49-F238E27FC236}">
                <a16:creationId xmlns:a16="http://schemas.microsoft.com/office/drawing/2014/main" id="{C57A7BEF-348D-49AF-646A-AC775F937DB5}"/>
              </a:ext>
            </a:extLst>
          </p:cNvPr>
          <p:cNvGrpSpPr/>
          <p:nvPr/>
        </p:nvGrpSpPr>
        <p:grpSpPr>
          <a:xfrm>
            <a:off x="6336051" y="4185701"/>
            <a:ext cx="2412000" cy="2467020"/>
            <a:chOff x="8772471" y="4188060"/>
            <a:chExt cx="2412000" cy="2467020"/>
          </a:xfrm>
        </p:grpSpPr>
        <p:cxnSp>
          <p:nvCxnSpPr>
            <p:cNvPr id="60" name="מחבר ישר 59">
              <a:extLst>
                <a:ext uri="{FF2B5EF4-FFF2-40B4-BE49-F238E27FC236}">
                  <a16:creationId xmlns:a16="http://schemas.microsoft.com/office/drawing/2014/main" id="{51156BC4-305A-A60C-3193-DC998C482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3471" y="4690736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קבוצה 60">
              <a:extLst>
                <a:ext uri="{FF2B5EF4-FFF2-40B4-BE49-F238E27FC236}">
                  <a16:creationId xmlns:a16="http://schemas.microsoft.com/office/drawing/2014/main" id="{1A51E31E-EA27-25A8-C03C-246C6F7B7D85}"/>
                </a:ext>
              </a:extLst>
            </p:cNvPr>
            <p:cNvGrpSpPr/>
            <p:nvPr/>
          </p:nvGrpSpPr>
          <p:grpSpPr>
            <a:xfrm>
              <a:off x="8772471" y="4188060"/>
              <a:ext cx="2412000" cy="540000"/>
              <a:chOff x="1093031" y="4796123"/>
              <a:chExt cx="1194621" cy="465760"/>
            </a:xfrm>
          </p:grpSpPr>
          <p:sp>
            <p:nvSpPr>
              <p:cNvPr id="68" name="מלבן 67">
                <a:extLst>
                  <a:ext uri="{FF2B5EF4-FFF2-40B4-BE49-F238E27FC236}">
                    <a16:creationId xmlns:a16="http://schemas.microsoft.com/office/drawing/2014/main" id="{37DD6472-9B10-37D9-A39E-CD5873073243}"/>
                  </a:ext>
                </a:extLst>
              </p:cNvPr>
              <p:cNvSpPr/>
              <p:nvPr/>
            </p:nvSpPr>
            <p:spPr>
              <a:xfrm>
                <a:off x="1093031" y="4796123"/>
                <a:ext cx="1194621" cy="465760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תיבת טקסט 68">
                    <a:extLst>
                      <a:ext uri="{FF2B5EF4-FFF2-40B4-BE49-F238E27FC236}">
                        <a16:creationId xmlns:a16="http://schemas.microsoft.com/office/drawing/2014/main" id="{A00B0639-FA0C-0EF2-8C1B-64040DB32C30}"/>
                      </a:ext>
                    </a:extLst>
                  </p:cNvPr>
                  <p:cNvSpPr txBox="1"/>
                  <p:nvPr/>
                </p:nvSpPr>
                <p:spPr>
                  <a:xfrm>
                    <a:off x="1093031" y="4796123"/>
                    <a:ext cx="1194621" cy="465760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algn="ctr" defTabSz="488950">
                      <a:lnSpc>
                        <a:spcPct val="15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𝑟𝑖𝑔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=+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he-IL" sz="2000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69" name="תיבת טקסט 68">
                    <a:extLst>
                      <a:ext uri="{FF2B5EF4-FFF2-40B4-BE49-F238E27FC236}">
                        <a16:creationId xmlns:a16="http://schemas.microsoft.com/office/drawing/2014/main" id="{A00B0639-FA0C-0EF2-8C1B-64040DB32C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3031" y="4796123"/>
                    <a:ext cx="1194621" cy="46576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קבוצה 61">
              <a:extLst>
                <a:ext uri="{FF2B5EF4-FFF2-40B4-BE49-F238E27FC236}">
                  <a16:creationId xmlns:a16="http://schemas.microsoft.com/office/drawing/2014/main" id="{CAC76CAD-81F9-F9B0-CD2C-23EC0D6076A7}"/>
                </a:ext>
              </a:extLst>
            </p:cNvPr>
            <p:cNvGrpSpPr/>
            <p:nvPr/>
          </p:nvGrpSpPr>
          <p:grpSpPr>
            <a:xfrm>
              <a:off x="9535596" y="4819331"/>
              <a:ext cx="720000" cy="720000"/>
              <a:chOff x="1172539" y="5845823"/>
              <a:chExt cx="976171" cy="790025"/>
            </a:xfrm>
          </p:grpSpPr>
          <p:sp>
            <p:nvSpPr>
              <p:cNvPr id="66" name="מלבן 65">
                <a:extLst>
                  <a:ext uri="{FF2B5EF4-FFF2-40B4-BE49-F238E27FC236}">
                    <a16:creationId xmlns:a16="http://schemas.microsoft.com/office/drawing/2014/main" id="{A2905ED6-9B3E-6438-E2F9-A84F7EB3C218}"/>
                  </a:ext>
                </a:extLst>
              </p:cNvPr>
              <p:cNvSpPr/>
              <p:nvPr/>
            </p:nvSpPr>
            <p:spPr>
              <a:xfrm>
                <a:off x="1172539" y="5845823"/>
                <a:ext cx="976171" cy="790025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67" name="תיבת טקסט 66">
                <a:extLst>
                  <a:ext uri="{FF2B5EF4-FFF2-40B4-BE49-F238E27FC236}">
                    <a16:creationId xmlns:a16="http://schemas.microsoft.com/office/drawing/2014/main" id="{DBE23CAC-A652-B77C-E16E-41870EBC923D}"/>
                  </a:ext>
                </a:extLst>
              </p:cNvPr>
              <p:cNvSpPr txBox="1"/>
              <p:nvPr/>
            </p:nvSpPr>
            <p:spPr>
              <a:xfrm>
                <a:off x="1172539" y="5845823"/>
                <a:ext cx="976171" cy="790025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kern="1200" dirty="0">
                    <a:cs typeface="Adama" pitchFamily="2" charset="-79"/>
                  </a:rPr>
                  <a:t>המקרה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kern="1200" dirty="0">
                    <a:cs typeface="Adama" pitchFamily="2" charset="-79"/>
                  </a:rPr>
                  <a:t> </a:t>
                </a:r>
                <a:r>
                  <a:rPr lang="en-US" b="1" kern="1200" dirty="0">
                    <a:cs typeface="Adama" pitchFamily="2" charset="-79"/>
                  </a:rPr>
                  <a:t>RL</a:t>
                </a:r>
                <a:endParaRPr lang="he-IL" sz="1400" b="1" kern="1200" dirty="0">
                  <a:cs typeface="Adama" pitchFamily="2" charset="-79"/>
                </a:endParaRPr>
              </a:p>
            </p:txBody>
          </p:sp>
        </p:grpSp>
        <p:grpSp>
          <p:nvGrpSpPr>
            <p:cNvPr id="63" name="קבוצה 62">
              <a:extLst>
                <a:ext uri="{FF2B5EF4-FFF2-40B4-BE49-F238E27FC236}">
                  <a16:creationId xmlns:a16="http://schemas.microsoft.com/office/drawing/2014/main" id="{C770F6BC-437A-C619-13A4-D8FF227A488F}"/>
                </a:ext>
              </a:extLst>
            </p:cNvPr>
            <p:cNvGrpSpPr/>
            <p:nvPr/>
          </p:nvGrpSpPr>
          <p:grpSpPr>
            <a:xfrm>
              <a:off x="9318140" y="5575080"/>
              <a:ext cx="1152000" cy="1080000"/>
              <a:chOff x="996043" y="6723527"/>
              <a:chExt cx="1205947" cy="1324406"/>
            </a:xfrm>
          </p:grpSpPr>
          <p:sp>
            <p:nvSpPr>
              <p:cNvPr id="64" name="מלבן 63">
                <a:extLst>
                  <a:ext uri="{FF2B5EF4-FFF2-40B4-BE49-F238E27FC236}">
                    <a16:creationId xmlns:a16="http://schemas.microsoft.com/office/drawing/2014/main" id="{F3D91122-E760-003B-A034-A852BF52B9B4}"/>
                  </a:ext>
                </a:extLst>
              </p:cNvPr>
              <p:cNvSpPr/>
              <p:nvPr/>
            </p:nvSpPr>
            <p:spPr>
              <a:xfrm>
                <a:off x="996043" y="6763588"/>
                <a:ext cx="1205947" cy="1245545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65" name="תיבת טקסט 64">
                <a:extLst>
                  <a:ext uri="{FF2B5EF4-FFF2-40B4-BE49-F238E27FC236}">
                    <a16:creationId xmlns:a16="http://schemas.microsoft.com/office/drawing/2014/main" id="{E9BE1D84-B12D-0213-6298-48C2D04B35A8}"/>
                  </a:ext>
                </a:extLst>
              </p:cNvPr>
              <p:cNvSpPr txBox="1"/>
              <p:nvPr/>
            </p:nvSpPr>
            <p:spPr>
              <a:xfrm>
                <a:off x="996043" y="6723527"/>
                <a:ext cx="1205947" cy="132440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1. גלגול ימינה על  בנו הימני של </a:t>
                </a:r>
                <a:r>
                  <a:rPr lang="en-US" sz="1200" kern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2. גלגול שמאלה על </a:t>
                </a:r>
                <a:r>
                  <a:rPr lang="en-US" sz="1200" kern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grpSp>
        <p:nvGrpSpPr>
          <p:cNvPr id="70" name="קבוצה 69">
            <a:extLst>
              <a:ext uri="{FF2B5EF4-FFF2-40B4-BE49-F238E27FC236}">
                <a16:creationId xmlns:a16="http://schemas.microsoft.com/office/drawing/2014/main" id="{F79BBC04-B7EF-51C3-5664-B7C23C924ED3}"/>
              </a:ext>
            </a:extLst>
          </p:cNvPr>
          <p:cNvGrpSpPr/>
          <p:nvPr/>
        </p:nvGrpSpPr>
        <p:grpSpPr>
          <a:xfrm>
            <a:off x="8953070" y="4188673"/>
            <a:ext cx="2412000" cy="2071608"/>
            <a:chOff x="6166412" y="4188060"/>
            <a:chExt cx="2412000" cy="2071608"/>
          </a:xfrm>
        </p:grpSpPr>
        <p:cxnSp>
          <p:nvCxnSpPr>
            <p:cNvPr id="71" name="מחבר ישר 70">
              <a:extLst>
                <a:ext uri="{FF2B5EF4-FFF2-40B4-BE49-F238E27FC236}">
                  <a16:creationId xmlns:a16="http://schemas.microsoft.com/office/drawing/2014/main" id="{E618CB97-4ACD-C9E1-EB5D-CF764F0AD6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0709" y="4730030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קבוצה 71">
              <a:extLst>
                <a:ext uri="{FF2B5EF4-FFF2-40B4-BE49-F238E27FC236}">
                  <a16:creationId xmlns:a16="http://schemas.microsoft.com/office/drawing/2014/main" id="{EE83550B-9DFD-1CD1-324B-994F70F9945B}"/>
                </a:ext>
              </a:extLst>
            </p:cNvPr>
            <p:cNvGrpSpPr/>
            <p:nvPr/>
          </p:nvGrpSpPr>
          <p:grpSpPr>
            <a:xfrm>
              <a:off x="6166412" y="4188060"/>
              <a:ext cx="2412000" cy="540004"/>
              <a:chOff x="59798" y="4479211"/>
              <a:chExt cx="634976" cy="400877"/>
            </a:xfrm>
          </p:grpSpPr>
          <p:sp>
            <p:nvSpPr>
              <p:cNvPr id="79" name="מלבן 78">
                <a:extLst>
                  <a:ext uri="{FF2B5EF4-FFF2-40B4-BE49-F238E27FC236}">
                    <a16:creationId xmlns:a16="http://schemas.microsoft.com/office/drawing/2014/main" id="{180AA2FB-3B43-0491-CBCD-98D28D82D277}"/>
                  </a:ext>
                </a:extLst>
              </p:cNvPr>
              <p:cNvSpPr/>
              <p:nvPr/>
            </p:nvSpPr>
            <p:spPr>
              <a:xfrm>
                <a:off x="59798" y="4479211"/>
                <a:ext cx="634976" cy="400874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תיבת טקסט 79">
                    <a:extLst>
                      <a:ext uri="{FF2B5EF4-FFF2-40B4-BE49-F238E27FC236}">
                        <a16:creationId xmlns:a16="http://schemas.microsoft.com/office/drawing/2014/main" id="{000E618C-AC51-0A29-1065-62E1E692DBD9}"/>
                      </a:ext>
                    </a:extLst>
                  </p:cNvPr>
                  <p:cNvSpPr txBox="1"/>
                  <p:nvPr/>
                </p:nvSpPr>
                <p:spPr>
                  <a:xfrm>
                    <a:off x="59798" y="4479214"/>
                    <a:ext cx="634976" cy="400874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algn="ctr" defTabSz="4889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𝑥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.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𝑟𝑖𝑔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h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=−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1</m:t>
                          </m:r>
                        </m:oMath>
                      </m:oMathPara>
                    </a14:m>
                    <a:endParaRPr lang="he-IL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80" name="תיבת טקסט 79">
                    <a:extLst>
                      <a:ext uri="{FF2B5EF4-FFF2-40B4-BE49-F238E27FC236}">
                        <a16:creationId xmlns:a16="http://schemas.microsoft.com/office/drawing/2014/main" id="{000E618C-AC51-0A29-1065-62E1E692DB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98" y="4479214"/>
                    <a:ext cx="634976" cy="40087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קבוצה 72">
              <a:extLst>
                <a:ext uri="{FF2B5EF4-FFF2-40B4-BE49-F238E27FC236}">
                  <a16:creationId xmlns:a16="http://schemas.microsoft.com/office/drawing/2014/main" id="{15A784D8-64F7-D45E-1607-C0484E6D8AB2}"/>
                </a:ext>
              </a:extLst>
            </p:cNvPr>
            <p:cNvGrpSpPr/>
            <p:nvPr/>
          </p:nvGrpSpPr>
          <p:grpSpPr>
            <a:xfrm>
              <a:off x="7012411" y="4824356"/>
              <a:ext cx="720001" cy="720000"/>
              <a:chOff x="4586264" y="5142229"/>
              <a:chExt cx="696616" cy="696616"/>
            </a:xfrm>
          </p:grpSpPr>
          <p:sp>
            <p:nvSpPr>
              <p:cNvPr id="77" name="מלבן 76">
                <a:extLst>
                  <a:ext uri="{FF2B5EF4-FFF2-40B4-BE49-F238E27FC236}">
                    <a16:creationId xmlns:a16="http://schemas.microsoft.com/office/drawing/2014/main" id="{46CC909A-8E88-8676-87CC-3A8E1E601B9F}"/>
                  </a:ext>
                </a:extLst>
              </p:cNvPr>
              <p:cNvSpPr/>
              <p:nvPr/>
            </p:nvSpPr>
            <p:spPr>
              <a:xfrm>
                <a:off x="4586265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78" name="תיבת טקסט 77">
                <a:extLst>
                  <a:ext uri="{FF2B5EF4-FFF2-40B4-BE49-F238E27FC236}">
                    <a16:creationId xmlns:a16="http://schemas.microsoft.com/office/drawing/2014/main" id="{40D606B9-B014-78ED-7143-449B2934161E}"/>
                  </a:ext>
                </a:extLst>
              </p:cNvPr>
              <p:cNvSpPr txBox="1"/>
              <p:nvPr/>
            </p:nvSpPr>
            <p:spPr>
              <a:xfrm>
                <a:off x="4586264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dirty="0">
                    <a:cs typeface="Adama" pitchFamily="2" charset="-79"/>
                  </a:rPr>
                  <a:t>המקרה הוא</a:t>
                </a:r>
                <a:r>
                  <a:rPr lang="he-IL" sz="1100" kern="1200" dirty="0">
                    <a:cs typeface="Adama" pitchFamily="2" charset="-79"/>
                  </a:rPr>
                  <a:t>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dirty="0">
                    <a:cs typeface="Adama" pitchFamily="2" charset="-79"/>
                  </a:rPr>
                  <a:t>RR</a:t>
                </a:r>
                <a:endParaRPr lang="he-IL" b="1" dirty="0">
                  <a:cs typeface="Adama" pitchFamily="2" charset="-79"/>
                </a:endParaRPr>
              </a:p>
            </p:txBody>
          </p:sp>
        </p:grpSp>
        <p:grpSp>
          <p:nvGrpSpPr>
            <p:cNvPr id="74" name="קבוצה 73">
              <a:extLst>
                <a:ext uri="{FF2B5EF4-FFF2-40B4-BE49-F238E27FC236}">
                  <a16:creationId xmlns:a16="http://schemas.microsoft.com/office/drawing/2014/main" id="{F4BD34BD-A509-4B96-026F-C862DFBA607D}"/>
                </a:ext>
              </a:extLst>
            </p:cNvPr>
            <p:cNvGrpSpPr/>
            <p:nvPr/>
          </p:nvGrpSpPr>
          <p:grpSpPr>
            <a:xfrm>
              <a:off x="6926896" y="5626410"/>
              <a:ext cx="891031" cy="633258"/>
              <a:chOff x="4487941" y="6270167"/>
              <a:chExt cx="891031" cy="633258"/>
            </a:xfrm>
          </p:grpSpPr>
          <p:sp>
            <p:nvSpPr>
              <p:cNvPr id="75" name="מלבן 74">
                <a:extLst>
                  <a:ext uri="{FF2B5EF4-FFF2-40B4-BE49-F238E27FC236}">
                    <a16:creationId xmlns:a16="http://schemas.microsoft.com/office/drawing/2014/main" id="{7FE18050-FE82-1B72-C1AD-3387C05E8C8A}"/>
                  </a:ext>
                </a:extLst>
              </p:cNvPr>
              <p:cNvSpPr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76" name="תיבת טקסט 75">
                <a:extLst>
                  <a:ext uri="{FF2B5EF4-FFF2-40B4-BE49-F238E27FC236}">
                    <a16:creationId xmlns:a16="http://schemas.microsoft.com/office/drawing/2014/main" id="{1EED3648-A866-DD0C-9C01-A1431FEB351D}"/>
                  </a:ext>
                </a:extLst>
              </p:cNvPr>
              <p:cNvSpPr txBox="1"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גלגול </a:t>
                </a:r>
                <a:r>
                  <a:rPr lang="he-IL" sz="1200" dirty="0">
                    <a:cs typeface="Adama" pitchFamily="2" charset="-79"/>
                  </a:rPr>
                  <a:t>שמאלה </a:t>
                </a:r>
                <a:r>
                  <a:rPr lang="he-IL" sz="1200" kern="1200" dirty="0">
                    <a:cs typeface="Adama" pitchFamily="2" charset="-79"/>
                  </a:rPr>
                  <a:t>על </a:t>
                </a:r>
                <a:r>
                  <a:rPr lang="en-US" sz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cxnSp>
        <p:nvCxnSpPr>
          <p:cNvPr id="81" name="מחבר חץ ישר 80">
            <a:extLst>
              <a:ext uri="{FF2B5EF4-FFF2-40B4-BE49-F238E27FC236}">
                <a16:creationId xmlns:a16="http://schemas.microsoft.com/office/drawing/2014/main" id="{FDC493BC-AA71-52EB-9B6C-16C09C2514AA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flipH="1">
            <a:off x="5869982" y="1027083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מחבר חץ ישר 81">
            <a:extLst>
              <a:ext uri="{FF2B5EF4-FFF2-40B4-BE49-F238E27FC236}">
                <a16:creationId xmlns:a16="http://schemas.microsoft.com/office/drawing/2014/main" id="{97C96E78-F6DC-967A-EE9F-9FEB021AE820}"/>
              </a:ext>
            </a:extLst>
          </p:cNvPr>
          <p:cNvCxnSpPr/>
          <p:nvPr/>
        </p:nvCxnSpPr>
        <p:spPr>
          <a:xfrm flipH="1">
            <a:off x="5869978" y="1728176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מחבר חץ ישר 82">
            <a:extLst>
              <a:ext uri="{FF2B5EF4-FFF2-40B4-BE49-F238E27FC236}">
                <a16:creationId xmlns:a16="http://schemas.microsoft.com/office/drawing/2014/main" id="{BC01C19D-5DFA-BFF1-D45E-440880E96BA3}"/>
              </a:ext>
            </a:extLst>
          </p:cNvPr>
          <p:cNvCxnSpPr/>
          <p:nvPr/>
        </p:nvCxnSpPr>
        <p:spPr>
          <a:xfrm flipH="1">
            <a:off x="3219523" y="2733974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מחבר ישר 83">
            <a:extLst>
              <a:ext uri="{FF2B5EF4-FFF2-40B4-BE49-F238E27FC236}">
                <a16:creationId xmlns:a16="http://schemas.microsoft.com/office/drawing/2014/main" id="{DD107B0C-F4C3-3867-4CBC-DF17FB29E8ED}"/>
              </a:ext>
            </a:extLst>
          </p:cNvPr>
          <p:cNvCxnSpPr>
            <a:cxnSpLocks/>
          </p:cNvCxnSpPr>
          <p:nvPr/>
        </p:nvCxnSpPr>
        <p:spPr>
          <a:xfrm flipV="1">
            <a:off x="3215386" y="2720175"/>
            <a:ext cx="5707475" cy="115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מחבר חץ ישר 84">
            <a:extLst>
              <a:ext uri="{FF2B5EF4-FFF2-40B4-BE49-F238E27FC236}">
                <a16:creationId xmlns:a16="http://schemas.microsoft.com/office/drawing/2014/main" id="{9D262CA0-BB33-514B-B37D-4585F9C92D62}"/>
              </a:ext>
            </a:extLst>
          </p:cNvPr>
          <p:cNvCxnSpPr/>
          <p:nvPr/>
        </p:nvCxnSpPr>
        <p:spPr>
          <a:xfrm flipH="1">
            <a:off x="8922861" y="2732063"/>
            <a:ext cx="4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מחבר חץ ישר 85">
            <a:extLst>
              <a:ext uri="{FF2B5EF4-FFF2-40B4-BE49-F238E27FC236}">
                <a16:creationId xmlns:a16="http://schemas.microsoft.com/office/drawing/2014/main" id="{3D7AB64B-B5ED-B721-1DB5-6D41A7155B03}"/>
              </a:ext>
            </a:extLst>
          </p:cNvPr>
          <p:cNvCxnSpPr/>
          <p:nvPr/>
        </p:nvCxnSpPr>
        <p:spPr>
          <a:xfrm flipH="1">
            <a:off x="8922861" y="3318361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מחבר חץ ישר 86">
            <a:extLst>
              <a:ext uri="{FF2B5EF4-FFF2-40B4-BE49-F238E27FC236}">
                <a16:creationId xmlns:a16="http://schemas.microsoft.com/office/drawing/2014/main" id="{9981A08E-2C6A-DC26-B91D-1D3334935EF8}"/>
              </a:ext>
            </a:extLst>
          </p:cNvPr>
          <p:cNvCxnSpPr/>
          <p:nvPr/>
        </p:nvCxnSpPr>
        <p:spPr>
          <a:xfrm flipH="1">
            <a:off x="3215382" y="3313795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מחבר ישר 87">
            <a:extLst>
              <a:ext uri="{FF2B5EF4-FFF2-40B4-BE49-F238E27FC236}">
                <a16:creationId xmlns:a16="http://schemas.microsoft.com/office/drawing/2014/main" id="{B1D9990B-57A3-4235-3935-F7DF8042143A}"/>
              </a:ext>
            </a:extLst>
          </p:cNvPr>
          <p:cNvCxnSpPr>
            <a:cxnSpLocks/>
          </p:cNvCxnSpPr>
          <p:nvPr/>
        </p:nvCxnSpPr>
        <p:spPr>
          <a:xfrm>
            <a:off x="8157873" y="4125588"/>
            <a:ext cx="14110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מחבר ישר 88">
            <a:extLst>
              <a:ext uri="{FF2B5EF4-FFF2-40B4-BE49-F238E27FC236}">
                <a16:creationId xmlns:a16="http://schemas.microsoft.com/office/drawing/2014/main" id="{F6845FCD-F734-00C4-650E-502483FD0E2C}"/>
              </a:ext>
            </a:extLst>
          </p:cNvPr>
          <p:cNvCxnSpPr>
            <a:cxnSpLocks/>
          </p:cNvCxnSpPr>
          <p:nvPr/>
        </p:nvCxnSpPr>
        <p:spPr>
          <a:xfrm>
            <a:off x="2605590" y="4125588"/>
            <a:ext cx="14110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תיבת טקסט 89">
            <a:extLst>
              <a:ext uri="{FF2B5EF4-FFF2-40B4-BE49-F238E27FC236}">
                <a16:creationId xmlns:a16="http://schemas.microsoft.com/office/drawing/2014/main" id="{6F47D968-7B14-29F1-A4D3-A9AF87EFD6F7}"/>
              </a:ext>
            </a:extLst>
          </p:cNvPr>
          <p:cNvSpPr txBox="1"/>
          <p:nvPr/>
        </p:nvSpPr>
        <p:spPr>
          <a:xfrm>
            <a:off x="10167367" y="307233"/>
            <a:ext cx="1636701" cy="1420943"/>
          </a:xfrm>
          <a:prstGeom prst="rect">
            <a:avLst/>
          </a:prstGeom>
          <a:ln w="19050"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36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dama" pitchFamily="2" charset="-79"/>
              </a:rPr>
              <a:t>הכנסה לעץ </a:t>
            </a:r>
            <a:r>
              <a:rPr lang="en-US" sz="36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dama" pitchFamily="2" charset="-79"/>
              </a:rPr>
              <a:t>AVL</a:t>
            </a:r>
            <a:endParaRPr lang="he-IL" sz="3600" kern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dama" pitchFamily="2" charset="-79"/>
            </a:endParaRPr>
          </a:p>
        </p:txBody>
      </p:sp>
      <p:cxnSp>
        <p:nvCxnSpPr>
          <p:cNvPr id="92" name="מחבר ישר 91">
            <a:extLst>
              <a:ext uri="{FF2B5EF4-FFF2-40B4-BE49-F238E27FC236}">
                <a16:creationId xmlns:a16="http://schemas.microsoft.com/office/drawing/2014/main" id="{4C576DD9-D191-6612-53B4-C185DCCEB4C4}"/>
              </a:ext>
            </a:extLst>
          </p:cNvPr>
          <p:cNvCxnSpPr/>
          <p:nvPr/>
        </p:nvCxnSpPr>
        <p:spPr>
          <a:xfrm>
            <a:off x="6881720" y="1742031"/>
            <a:ext cx="0" cy="324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90DB034D-86EB-6CD5-8F4C-A26E5DF1C711}"/>
                  </a:ext>
                </a:extLst>
              </p:cNvPr>
              <p:cNvSpPr txBox="1"/>
              <p:nvPr/>
            </p:nvSpPr>
            <p:spPr>
              <a:xfrm>
                <a:off x="8018372" y="2980731"/>
                <a:ext cx="1718643" cy="359999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kern="1200" dirty="0">
                    <a:cs typeface="Adama" pitchFamily="2" charset="-79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1" i="1" kern="1200">
                        <a:latin typeface="Cambria Math" panose="02040503050406030204" pitchFamily="18" charset="0"/>
                      </a:rPr>
                      <m:t>𝑩𝑭</m:t>
                    </m:r>
                    <m:d>
                      <m:dPr>
                        <m:ctrlPr>
                          <a:rPr lang="en-US" b="1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kern="12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kern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kern="12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kern="120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kern="1200" dirty="0">
                    <a:cs typeface="Adama" pitchFamily="2" charset="-79"/>
                  </a:rPr>
                  <a:t>   </a:t>
                </a:r>
                <a:endParaRPr lang="he-IL" b="1" kern="1200" dirty="0">
                  <a:cs typeface="Adama" pitchFamily="2" charset="-79"/>
                </a:endParaRPr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90DB034D-86EB-6CD5-8F4C-A26E5DF1C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8372" y="2980731"/>
                <a:ext cx="1718643" cy="359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8861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21DFD3-CFDA-F3FF-230E-0BD559A4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דוגמא להכנסת צמתים לעץ </a:t>
            </a:r>
            <a:r>
              <a:rPr lang="en-US" dirty="0"/>
              <a:t>AVL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45431A-8125-DF4A-DACE-7EE1B031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>
                <a:cs typeface="+mj-cs"/>
              </a:rPr>
              <a:t>ציירי את העץ המתקבל מהכנסת הערכים לפי סדר לעץ </a:t>
            </a:r>
            <a:r>
              <a:rPr lang="en-US" dirty="0">
                <a:cs typeface="+mj-cs"/>
              </a:rPr>
              <a:t>AVL</a:t>
            </a:r>
            <a:r>
              <a:rPr lang="he-IL" dirty="0">
                <a:cs typeface="+mj-cs"/>
              </a:rPr>
              <a:t>:</a:t>
            </a:r>
          </a:p>
          <a:p>
            <a:pPr lvl="1"/>
            <a:r>
              <a:rPr lang="he-IL" dirty="0">
                <a:cs typeface="+mj-cs"/>
              </a:rPr>
              <a:t>28</a:t>
            </a:r>
          </a:p>
          <a:p>
            <a:pPr lvl="1"/>
            <a:r>
              <a:rPr lang="he-IL" dirty="0">
                <a:cs typeface="+mj-cs"/>
              </a:rPr>
              <a:t>23</a:t>
            </a:r>
          </a:p>
          <a:p>
            <a:pPr lvl="1"/>
            <a:r>
              <a:rPr lang="he-IL" dirty="0">
                <a:cs typeface="+mj-cs"/>
              </a:rPr>
              <a:t>70</a:t>
            </a:r>
          </a:p>
          <a:p>
            <a:pPr lvl="1"/>
            <a:r>
              <a:rPr lang="he-IL" dirty="0">
                <a:cs typeface="+mj-cs"/>
              </a:rPr>
              <a:t>50</a:t>
            </a:r>
          </a:p>
          <a:p>
            <a:pPr lvl="1"/>
            <a:r>
              <a:rPr lang="he-IL" dirty="0">
                <a:cs typeface="+mj-cs"/>
              </a:rPr>
              <a:t>35</a:t>
            </a:r>
          </a:p>
          <a:p>
            <a:pPr lvl="1"/>
            <a:r>
              <a:rPr lang="he-IL" dirty="0">
                <a:cs typeface="+mj-cs"/>
              </a:rPr>
              <a:t>49</a:t>
            </a:r>
          </a:p>
          <a:p>
            <a:pPr lvl="1"/>
            <a:r>
              <a:rPr lang="he-IL" dirty="0">
                <a:cs typeface="+mj-cs"/>
              </a:rPr>
              <a:t>74</a:t>
            </a:r>
          </a:p>
          <a:p>
            <a:pPr lvl="1"/>
            <a:r>
              <a:rPr lang="he-IL" dirty="0">
                <a:cs typeface="+mj-cs"/>
              </a:rPr>
              <a:t>99</a:t>
            </a:r>
          </a:p>
          <a:p>
            <a:pPr lvl="1"/>
            <a:r>
              <a:rPr lang="he-IL" dirty="0">
                <a:cs typeface="+mj-cs"/>
              </a:rPr>
              <a:t>89</a:t>
            </a:r>
          </a:p>
          <a:p>
            <a:pPr lvl="1"/>
            <a:endParaRPr lang="he-IL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724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1FDED3-052C-FAAA-3E01-8057667C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72665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שלבי פתרון:</a:t>
            </a:r>
          </a:p>
        </p:txBody>
      </p:sp>
    </p:spTree>
    <p:extLst>
      <p:ext uri="{BB962C8B-B14F-4D97-AF65-F5344CB8AC3E}">
        <p14:creationId xmlns:p14="http://schemas.microsoft.com/office/powerpoint/2010/main" val="2122677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3D08E2-0290-9F0A-79AD-90DD7CF7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3200" dirty="0"/>
              <a:t>תוצאה לאחר ההכנסות:</a:t>
            </a:r>
          </a:p>
        </p:txBody>
      </p:sp>
      <p:pic>
        <p:nvPicPr>
          <p:cNvPr id="11" name="מציין מיקום תוכן 10">
            <a:extLst>
              <a:ext uri="{FF2B5EF4-FFF2-40B4-BE49-F238E27FC236}">
                <a16:creationId xmlns:a16="http://schemas.microsoft.com/office/drawing/2014/main" id="{56D3AAFE-F74E-6DBE-BBC1-E185D80CD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275" y="1999458"/>
            <a:ext cx="10296525" cy="2409825"/>
          </a:xfrm>
        </p:spPr>
      </p:pic>
    </p:spTree>
    <p:extLst>
      <p:ext uri="{BB962C8B-B14F-4D97-AF65-F5344CB8AC3E}">
        <p14:creationId xmlns:p14="http://schemas.microsoft.com/office/powerpoint/2010/main" val="1628392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128A4E89-4C11-6480-395F-817C3B95D7E4}"/>
              </a:ext>
            </a:extLst>
          </p:cNvPr>
          <p:cNvCxnSpPr>
            <a:cxnSpLocks/>
          </p:cNvCxnSpPr>
          <p:nvPr/>
        </p:nvCxnSpPr>
        <p:spPr>
          <a:xfrm flipV="1">
            <a:off x="10239839" y="5695446"/>
            <a:ext cx="0" cy="11163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2DC08BF3-D132-9765-31DF-74014E18FD61}"/>
              </a:ext>
            </a:extLst>
          </p:cNvPr>
          <p:cNvCxnSpPr>
            <a:cxnSpLocks/>
          </p:cNvCxnSpPr>
          <p:nvPr/>
        </p:nvCxnSpPr>
        <p:spPr>
          <a:xfrm flipV="1">
            <a:off x="7608713" y="5620349"/>
            <a:ext cx="0" cy="11163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57310002-8A4E-CE07-A8A6-BB7E5738378B}"/>
              </a:ext>
            </a:extLst>
          </p:cNvPr>
          <p:cNvCxnSpPr>
            <a:cxnSpLocks/>
          </p:cNvCxnSpPr>
          <p:nvPr/>
        </p:nvCxnSpPr>
        <p:spPr>
          <a:xfrm>
            <a:off x="552609" y="5895325"/>
            <a:ext cx="12855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4AB79AC1-E42F-8AAF-6A8C-08314FCCDF06}"/>
              </a:ext>
            </a:extLst>
          </p:cNvPr>
          <p:cNvCxnSpPr>
            <a:cxnSpLocks/>
          </p:cNvCxnSpPr>
          <p:nvPr/>
        </p:nvCxnSpPr>
        <p:spPr>
          <a:xfrm flipV="1">
            <a:off x="3311099" y="3613732"/>
            <a:ext cx="0" cy="509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75F7F30F-8731-1020-03CD-A8485C697BCC}"/>
              </a:ext>
            </a:extLst>
          </p:cNvPr>
          <p:cNvCxnSpPr>
            <a:cxnSpLocks/>
          </p:cNvCxnSpPr>
          <p:nvPr/>
        </p:nvCxnSpPr>
        <p:spPr>
          <a:xfrm flipV="1">
            <a:off x="2605590" y="4114921"/>
            <a:ext cx="0" cy="509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>
            <a:extLst>
              <a:ext uri="{FF2B5EF4-FFF2-40B4-BE49-F238E27FC236}">
                <a16:creationId xmlns:a16="http://schemas.microsoft.com/office/drawing/2014/main" id="{AE0DC338-A5AA-E73D-E592-4A75E56CA4E6}"/>
              </a:ext>
            </a:extLst>
          </p:cNvPr>
          <p:cNvCxnSpPr>
            <a:cxnSpLocks/>
          </p:cNvCxnSpPr>
          <p:nvPr/>
        </p:nvCxnSpPr>
        <p:spPr>
          <a:xfrm>
            <a:off x="4028900" y="4115122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6F23215C-D6AD-0734-C88B-3F144C6FF2B4}"/>
              </a:ext>
            </a:extLst>
          </p:cNvPr>
          <p:cNvCxnSpPr>
            <a:cxnSpLocks/>
          </p:cNvCxnSpPr>
          <p:nvPr/>
        </p:nvCxnSpPr>
        <p:spPr>
          <a:xfrm>
            <a:off x="8918161" y="3579226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ישר 11">
            <a:extLst>
              <a:ext uri="{FF2B5EF4-FFF2-40B4-BE49-F238E27FC236}">
                <a16:creationId xmlns:a16="http://schemas.microsoft.com/office/drawing/2014/main" id="{9D7EBC72-C8D7-EF4F-7990-30B71EDD3C54}"/>
              </a:ext>
            </a:extLst>
          </p:cNvPr>
          <p:cNvCxnSpPr>
            <a:cxnSpLocks/>
          </p:cNvCxnSpPr>
          <p:nvPr/>
        </p:nvCxnSpPr>
        <p:spPr>
          <a:xfrm>
            <a:off x="9568892" y="4126623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DDB7C1E2-E515-27B2-8923-493DF8B03D81}"/>
              </a:ext>
            </a:extLst>
          </p:cNvPr>
          <p:cNvCxnSpPr>
            <a:cxnSpLocks/>
          </p:cNvCxnSpPr>
          <p:nvPr/>
        </p:nvCxnSpPr>
        <p:spPr>
          <a:xfrm>
            <a:off x="8157873" y="4116257"/>
            <a:ext cx="0" cy="546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ישר 13">
            <a:extLst>
              <a:ext uri="{FF2B5EF4-FFF2-40B4-BE49-F238E27FC236}">
                <a16:creationId xmlns:a16="http://schemas.microsoft.com/office/drawing/2014/main" id="{6C40AC6C-6713-19B5-E8B4-BC095BCEA4F7}"/>
              </a:ext>
            </a:extLst>
          </p:cNvPr>
          <p:cNvCxnSpPr>
            <a:cxnSpLocks/>
          </p:cNvCxnSpPr>
          <p:nvPr/>
        </p:nvCxnSpPr>
        <p:spPr>
          <a:xfrm flipV="1">
            <a:off x="5916632" y="2491216"/>
            <a:ext cx="0" cy="2405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3BE18DD7-7C4D-9EAB-DE32-8460C5D25DF7}"/>
              </a:ext>
            </a:extLst>
          </p:cNvPr>
          <p:cNvGrpSpPr/>
          <p:nvPr/>
        </p:nvGrpSpPr>
        <p:grpSpPr>
          <a:xfrm>
            <a:off x="4813663" y="427311"/>
            <a:ext cx="2112645" cy="599772"/>
            <a:chOff x="1931303" y="0"/>
            <a:chExt cx="2112645" cy="599772"/>
          </a:xfrm>
        </p:grpSpPr>
        <p:sp>
          <p:nvSpPr>
            <p:cNvPr id="16" name="מלבן 15">
              <a:extLst>
                <a:ext uri="{FF2B5EF4-FFF2-40B4-BE49-F238E27FC236}">
                  <a16:creationId xmlns:a16="http://schemas.microsoft.com/office/drawing/2014/main" id="{7FBE5808-C3C1-C91A-85F1-1753044697D0}"/>
                </a:ext>
              </a:extLst>
            </p:cNvPr>
            <p:cNvSpPr/>
            <p:nvPr/>
          </p:nvSpPr>
          <p:spPr>
            <a:xfrm>
              <a:off x="1931303" y="0"/>
              <a:ext cx="2112645" cy="599772"/>
            </a:xfrm>
            <a:prstGeom prst="rect">
              <a:avLst/>
            </a:prstGeom>
            <a:ln w="28575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17" name="תיבת טקסט 16">
              <a:extLst>
                <a:ext uri="{FF2B5EF4-FFF2-40B4-BE49-F238E27FC236}">
                  <a16:creationId xmlns:a16="http://schemas.microsoft.com/office/drawing/2014/main" id="{26861AFF-FDB1-4F5D-9045-64ACC9B1ECAD}"/>
                </a:ext>
              </a:extLst>
            </p:cNvPr>
            <p:cNvSpPr txBox="1"/>
            <p:nvPr/>
          </p:nvSpPr>
          <p:spPr>
            <a:xfrm>
              <a:off x="1931303" y="0"/>
              <a:ext cx="2112645" cy="599772"/>
            </a:xfrm>
            <a:prstGeom prst="rect">
              <a:avLst/>
            </a:prstGeom>
            <a:ln w="28575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400" kern="1200" dirty="0">
                  <a:cs typeface="Adama" pitchFamily="2" charset="-79"/>
                </a:rPr>
                <a:t>נמחק את הצומת מהעץ על פי אלגוריתם מחיקה מ-</a:t>
              </a:r>
              <a:r>
                <a:rPr lang="en-US" sz="1400" kern="1200" dirty="0">
                  <a:cs typeface="Adama" pitchFamily="2" charset="-79"/>
                </a:rPr>
                <a:t>BST</a:t>
              </a:r>
              <a:endParaRPr lang="he-IL" sz="1400" kern="1200" dirty="0">
                <a:cs typeface="Adama" pitchFamily="2" charset="-79"/>
              </a:endParaRPr>
            </a:p>
          </p:txBody>
        </p:sp>
      </p:grpSp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EBE5DD6E-BBCA-4CEA-980D-B3F1B2947406}"/>
              </a:ext>
            </a:extLst>
          </p:cNvPr>
          <p:cNvGrpSpPr/>
          <p:nvPr/>
        </p:nvGrpSpPr>
        <p:grpSpPr>
          <a:xfrm>
            <a:off x="4626556" y="1245751"/>
            <a:ext cx="2486852" cy="494077"/>
            <a:chOff x="1745335" y="726624"/>
            <a:chExt cx="2486852" cy="494077"/>
          </a:xfrm>
        </p:grpSpPr>
        <p:sp>
          <p:nvSpPr>
            <p:cNvPr id="19" name="מלבן 18">
              <a:extLst>
                <a:ext uri="{FF2B5EF4-FFF2-40B4-BE49-F238E27FC236}">
                  <a16:creationId xmlns:a16="http://schemas.microsoft.com/office/drawing/2014/main" id="{60567B39-2416-E9E2-A16E-1A1A5D6A9EB7}"/>
                </a:ext>
              </a:extLst>
            </p:cNvPr>
            <p:cNvSpPr/>
            <p:nvPr/>
          </p:nvSpPr>
          <p:spPr>
            <a:xfrm>
              <a:off x="1745335" y="726624"/>
              <a:ext cx="2486852" cy="494077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20" name="תיבת טקסט 19">
              <a:extLst>
                <a:ext uri="{FF2B5EF4-FFF2-40B4-BE49-F238E27FC236}">
                  <a16:creationId xmlns:a16="http://schemas.microsoft.com/office/drawing/2014/main" id="{A1FB4667-1617-D491-E79D-54DD076EE945}"/>
                </a:ext>
              </a:extLst>
            </p:cNvPr>
            <p:cNvSpPr txBox="1"/>
            <p:nvPr/>
          </p:nvSpPr>
          <p:spPr>
            <a:xfrm>
              <a:off x="1745335" y="726624"/>
              <a:ext cx="2486852" cy="494077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200" kern="1200" dirty="0">
                  <a:cs typeface="Adama" pitchFamily="2" charset="-79"/>
                </a:rPr>
                <a:t>כל עוד לא הגענו לשורש, נעלה החל מהצומת שנמחק בפועל בחיפוש אחר צומת עם גורם איזון שאינו תקין</a:t>
              </a:r>
            </a:p>
          </p:txBody>
        </p:sp>
      </p:grp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AC9D7916-1DE5-9841-EF70-EA04B5686B7A}"/>
              </a:ext>
            </a:extLst>
          </p:cNvPr>
          <p:cNvGrpSpPr/>
          <p:nvPr/>
        </p:nvGrpSpPr>
        <p:grpSpPr>
          <a:xfrm>
            <a:off x="8802990" y="1145041"/>
            <a:ext cx="934025" cy="1420943"/>
            <a:chOff x="4332956" y="1348884"/>
            <a:chExt cx="934025" cy="821953"/>
          </a:xfrm>
        </p:grpSpPr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383D5999-F20F-788B-BACC-073F101308AC}"/>
                </a:ext>
              </a:extLst>
            </p:cNvPr>
            <p:cNvSpPr/>
            <p:nvPr/>
          </p:nvSpPr>
          <p:spPr>
            <a:xfrm>
              <a:off x="4332956" y="1348884"/>
              <a:ext cx="934025" cy="821953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18DA9EEC-5AEE-66A1-8B2D-C4A3C06A6EBF}"/>
                </a:ext>
              </a:extLst>
            </p:cNvPr>
            <p:cNvSpPr txBox="1"/>
            <p:nvPr/>
          </p:nvSpPr>
          <p:spPr>
            <a:xfrm>
              <a:off x="4332956" y="1348884"/>
              <a:ext cx="934025" cy="821953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600" kern="1200" dirty="0">
                  <a:cs typeface="Adama" pitchFamily="2" charset="-79"/>
                </a:rPr>
                <a:t>מצאנו צומת שגובהו זהה לגובהו לפני המחיקה, נסיים.</a:t>
              </a:r>
            </a:p>
          </p:txBody>
        </p:sp>
      </p:grpSp>
      <p:grpSp>
        <p:nvGrpSpPr>
          <p:cNvPr id="24" name="קבוצה 23">
            <a:extLst>
              <a:ext uri="{FF2B5EF4-FFF2-40B4-BE49-F238E27FC236}">
                <a16:creationId xmlns:a16="http://schemas.microsoft.com/office/drawing/2014/main" id="{65BE1B4A-1262-6EB1-168A-4AB917AD9DF8}"/>
              </a:ext>
            </a:extLst>
          </p:cNvPr>
          <p:cNvGrpSpPr/>
          <p:nvPr/>
        </p:nvGrpSpPr>
        <p:grpSpPr>
          <a:xfrm>
            <a:off x="5056154" y="1940014"/>
            <a:ext cx="1627647" cy="717033"/>
            <a:chOff x="520614" y="1399500"/>
            <a:chExt cx="1627647" cy="717033"/>
          </a:xfrm>
        </p:grpSpPr>
        <p:sp>
          <p:nvSpPr>
            <p:cNvPr id="25" name="מלבן 24">
              <a:extLst>
                <a:ext uri="{FF2B5EF4-FFF2-40B4-BE49-F238E27FC236}">
                  <a16:creationId xmlns:a16="http://schemas.microsoft.com/office/drawing/2014/main" id="{3D92107C-2937-FF46-E4A3-7581229C943E}"/>
                </a:ext>
              </a:extLst>
            </p:cNvPr>
            <p:cNvSpPr/>
            <p:nvPr/>
          </p:nvSpPr>
          <p:spPr>
            <a:xfrm>
              <a:off x="520614" y="1399500"/>
              <a:ext cx="1627647" cy="717033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58537365-9A22-33D0-EF13-DA14B0970582}"/>
                </a:ext>
              </a:extLst>
            </p:cNvPr>
            <p:cNvSpPr txBox="1"/>
            <p:nvPr/>
          </p:nvSpPr>
          <p:spPr>
            <a:xfrm>
              <a:off x="520614" y="1399500"/>
              <a:ext cx="1627647" cy="717033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200" kern="1200" dirty="0">
                  <a:cs typeface="Adama" pitchFamily="2" charset="-79"/>
                </a:rPr>
                <a:t>מצאנו צומת </a:t>
              </a:r>
              <a:r>
                <a:rPr lang="en-US" sz="1200" kern="1200" dirty="0">
                  <a:cs typeface="Adama" pitchFamily="2" charset="-79"/>
                </a:rPr>
                <a:t>x</a:t>
              </a:r>
              <a:r>
                <a:rPr lang="he-IL" sz="1200" kern="1200" dirty="0">
                  <a:cs typeface="Adama" pitchFamily="2" charset="-79"/>
                </a:rPr>
                <a:t> (אב קדמון של הצומת שהוסר) עם גורם איזון 2+/2-</a:t>
              </a:r>
            </a:p>
          </p:txBody>
        </p:sp>
      </p:grp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14BF6C04-8739-1149-83C7-355D0BF8BD0A}"/>
              </a:ext>
            </a:extLst>
          </p:cNvPr>
          <p:cNvGrpSpPr/>
          <p:nvPr/>
        </p:nvGrpSpPr>
        <p:grpSpPr>
          <a:xfrm>
            <a:off x="2291449" y="2965318"/>
            <a:ext cx="1760026" cy="386753"/>
            <a:chOff x="2705843" y="2781941"/>
            <a:chExt cx="1743582" cy="315362"/>
          </a:xfrm>
        </p:grpSpPr>
        <p:sp>
          <p:nvSpPr>
            <p:cNvPr id="28" name="מלבן 27">
              <a:extLst>
                <a:ext uri="{FF2B5EF4-FFF2-40B4-BE49-F238E27FC236}">
                  <a16:creationId xmlns:a16="http://schemas.microsoft.com/office/drawing/2014/main" id="{855D2914-1850-5B65-6F21-DC3087760B1E}"/>
                </a:ext>
              </a:extLst>
            </p:cNvPr>
            <p:cNvSpPr/>
            <p:nvPr/>
          </p:nvSpPr>
          <p:spPr>
            <a:xfrm>
              <a:off x="2907875" y="2781941"/>
              <a:ext cx="1426546" cy="293547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תיבת טקסט 28">
                  <a:extLst>
                    <a:ext uri="{FF2B5EF4-FFF2-40B4-BE49-F238E27FC236}">
                      <a16:creationId xmlns:a16="http://schemas.microsoft.com/office/drawing/2014/main" id="{1D0D596D-D374-465D-95EA-6546A2B193DB}"/>
                    </a:ext>
                  </a:extLst>
                </p:cNvPr>
                <p:cNvSpPr txBox="1"/>
                <p:nvPr/>
              </p:nvSpPr>
              <p:spPr>
                <a:xfrm>
                  <a:off x="2705843" y="2803756"/>
                  <a:ext cx="1743582" cy="293547"/>
                </a:xfrm>
                <a:prstGeom prst="rect">
                  <a:avLst/>
                </a:prstGeom>
                <a:ln w="19050"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6985" tIns="6985" rIns="6985" bIns="6985" numCol="1" spcCol="1270" anchor="ctr" anchorCtr="0">
                  <a:noAutofit/>
                </a:bodyPr>
                <a:lstStyle/>
                <a:p>
                  <a:pPr marL="0" lvl="0" indent="0" algn="ctr" defTabSz="488950" rtl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b="1" kern="1200" dirty="0">
                      <a:cs typeface="Adama" pitchFamily="2" charset="-79"/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US" b="1" i="1" kern="1200">
                          <a:latin typeface="Cambria Math" panose="02040503050406030204" pitchFamily="18" charset="0"/>
                        </a:rPr>
                        <m:t>𝑩𝑭</m:t>
                      </m:r>
                      <m:d>
                        <m:dPr>
                          <m:ctrlPr>
                            <a:rPr lang="en-US" b="1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kern="120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kern="1200">
                          <a:latin typeface="Cambria Math" panose="02040503050406030204" pitchFamily="18" charset="0"/>
                        </a:rPr>
                        <m:t>=+</m:t>
                      </m:r>
                      <m:r>
                        <a:rPr lang="en-US" b="1" i="1" kern="120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en-US" b="1" kern="1200" dirty="0">
                      <a:cs typeface="Adama" pitchFamily="2" charset="-79"/>
                    </a:rPr>
                    <a:t>   </a:t>
                  </a:r>
                  <a:endParaRPr lang="he-IL" b="1" kern="1200" dirty="0">
                    <a:cs typeface="Adama" pitchFamily="2" charset="-79"/>
                  </a:endParaRPr>
                </a:p>
              </p:txBody>
            </p:sp>
          </mc:Choice>
          <mc:Fallback xmlns="">
            <p:sp>
              <p:nvSpPr>
                <p:cNvPr id="29" name="תיבת טקסט 28">
                  <a:extLst>
                    <a:ext uri="{FF2B5EF4-FFF2-40B4-BE49-F238E27FC236}">
                      <a16:creationId xmlns:a16="http://schemas.microsoft.com/office/drawing/2014/main" id="{1D0D596D-D374-465D-95EA-6546A2B19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5843" y="2803756"/>
                  <a:ext cx="1743582" cy="29354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קבוצה 29">
            <a:extLst>
              <a:ext uri="{FF2B5EF4-FFF2-40B4-BE49-F238E27FC236}">
                <a16:creationId xmlns:a16="http://schemas.microsoft.com/office/drawing/2014/main" id="{41B771E4-5259-FFE0-E6EF-2CDC00578EE6}"/>
              </a:ext>
            </a:extLst>
          </p:cNvPr>
          <p:cNvGrpSpPr/>
          <p:nvPr/>
        </p:nvGrpSpPr>
        <p:grpSpPr>
          <a:xfrm>
            <a:off x="2057923" y="3534857"/>
            <a:ext cx="2412000" cy="540000"/>
            <a:chOff x="3323328" y="3222796"/>
            <a:chExt cx="1569308" cy="236453"/>
          </a:xfrm>
        </p:grpSpPr>
        <p:sp>
          <p:nvSpPr>
            <p:cNvPr id="31" name="מלבן 30">
              <a:extLst>
                <a:ext uri="{FF2B5EF4-FFF2-40B4-BE49-F238E27FC236}">
                  <a16:creationId xmlns:a16="http://schemas.microsoft.com/office/drawing/2014/main" id="{A8CC6F30-2179-B521-1A9F-B3AF9B0F5989}"/>
                </a:ext>
              </a:extLst>
            </p:cNvPr>
            <p:cNvSpPr/>
            <p:nvPr/>
          </p:nvSpPr>
          <p:spPr>
            <a:xfrm>
              <a:off x="3323328" y="3222796"/>
              <a:ext cx="1569308" cy="236453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32" name="תיבת טקסט 31">
              <a:extLst>
                <a:ext uri="{FF2B5EF4-FFF2-40B4-BE49-F238E27FC236}">
                  <a16:creationId xmlns:a16="http://schemas.microsoft.com/office/drawing/2014/main" id="{C8504805-6213-9220-BAEF-C0635B7DAD50}"/>
                </a:ext>
              </a:extLst>
            </p:cNvPr>
            <p:cNvSpPr txBox="1"/>
            <p:nvPr/>
          </p:nvSpPr>
          <p:spPr>
            <a:xfrm>
              <a:off x="3323328" y="3222796"/>
              <a:ext cx="1569308" cy="236453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300" kern="1200" dirty="0">
                  <a:cs typeface="Adama" pitchFamily="2" charset="-79"/>
                </a:rPr>
                <a:t>החלק העמוק יותר נמצא בתת עץ שמאלי לכן נבדוק את בנו השמאלי של </a:t>
              </a:r>
              <a:r>
                <a:rPr lang="en-US" sz="1300" kern="1200" dirty="0">
                  <a:cs typeface="Adama" pitchFamily="2" charset="-79"/>
                </a:rPr>
                <a:t>x</a:t>
              </a:r>
              <a:endParaRPr lang="he-IL" sz="1300" kern="1200" dirty="0">
                <a:cs typeface="Adama" pitchFamily="2" charset="-79"/>
              </a:endParaRPr>
            </a:p>
          </p:txBody>
        </p:sp>
      </p:grpSp>
      <p:grpSp>
        <p:nvGrpSpPr>
          <p:cNvPr id="33" name="קבוצה 32">
            <a:extLst>
              <a:ext uri="{FF2B5EF4-FFF2-40B4-BE49-F238E27FC236}">
                <a16:creationId xmlns:a16="http://schemas.microsoft.com/office/drawing/2014/main" id="{295BA564-BBCB-91D9-EE85-3739B3C05AAE}"/>
              </a:ext>
            </a:extLst>
          </p:cNvPr>
          <p:cNvGrpSpPr/>
          <p:nvPr/>
        </p:nvGrpSpPr>
        <p:grpSpPr>
          <a:xfrm>
            <a:off x="792418" y="4188062"/>
            <a:ext cx="2412004" cy="2071606"/>
            <a:chOff x="3457982" y="4194123"/>
            <a:chExt cx="2412004" cy="2071606"/>
          </a:xfrm>
        </p:grpSpPr>
        <p:cxnSp>
          <p:nvCxnSpPr>
            <p:cNvPr id="34" name="מחבר ישר 33">
              <a:extLst>
                <a:ext uri="{FF2B5EF4-FFF2-40B4-BE49-F238E27FC236}">
                  <a16:creationId xmlns:a16="http://schemas.microsoft.com/office/drawing/2014/main" id="{3B298B85-369B-43DE-4B4F-CC6376873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4288" y="4730030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קבוצה 34">
              <a:extLst>
                <a:ext uri="{FF2B5EF4-FFF2-40B4-BE49-F238E27FC236}">
                  <a16:creationId xmlns:a16="http://schemas.microsoft.com/office/drawing/2014/main" id="{54E485B7-248C-155E-F23F-5A0035C525EE}"/>
                </a:ext>
              </a:extLst>
            </p:cNvPr>
            <p:cNvGrpSpPr/>
            <p:nvPr/>
          </p:nvGrpSpPr>
          <p:grpSpPr>
            <a:xfrm>
              <a:off x="3457982" y="4194123"/>
              <a:ext cx="2412004" cy="540001"/>
              <a:chOff x="4280985" y="4103949"/>
              <a:chExt cx="1305746" cy="478390"/>
            </a:xfrm>
          </p:grpSpPr>
          <p:sp>
            <p:nvSpPr>
              <p:cNvPr id="43" name="מלבן 42">
                <a:extLst>
                  <a:ext uri="{FF2B5EF4-FFF2-40B4-BE49-F238E27FC236}">
                    <a16:creationId xmlns:a16="http://schemas.microsoft.com/office/drawing/2014/main" id="{8D2C9407-2BC0-CC63-FB5F-829374762E9F}"/>
                  </a:ext>
                </a:extLst>
              </p:cNvPr>
              <p:cNvSpPr/>
              <p:nvPr/>
            </p:nvSpPr>
            <p:spPr>
              <a:xfrm>
                <a:off x="4280985" y="4103949"/>
                <a:ext cx="1305744" cy="478389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תיבת טקסט 43">
                    <a:extLst>
                      <a:ext uri="{FF2B5EF4-FFF2-40B4-BE49-F238E27FC236}">
                        <a16:creationId xmlns:a16="http://schemas.microsoft.com/office/drawing/2014/main" id="{7D65F69E-CC5A-1A27-5035-0F540405413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0987" y="4103950"/>
                    <a:ext cx="1305744" cy="478389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marL="0" lvl="0" indent="0" algn="ctr" defTabSz="488950" rtl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he-IL" sz="1200" kern="1200" dirty="0">
                        <a:cs typeface="Adama" pitchFamily="2" charset="-79"/>
                      </a:rPr>
                      <a:t> </a:t>
                    </a:r>
                  </a:p>
                  <a:p>
                    <a:pPr marL="0" lvl="0" indent="0" algn="ctr" defTabSz="488950" rtl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kern="1200">
                              <a:latin typeface="Cambria Math" panose="02040503050406030204" pitchFamily="18" charset="0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sz="2000" b="0" i="1" kern="1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kern="120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kern="12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kern="1200"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e>
                          </m:d>
                          <m:r>
                            <a:rPr lang="en-US" sz="2000" b="0" i="1" kern="1200">
                              <a:latin typeface="Cambria Math" panose="02040503050406030204" pitchFamily="18" charset="0"/>
                            </a:rPr>
                            <m:t>=+</m:t>
                          </m:r>
                          <m:r>
                            <a:rPr lang="en-US" sz="2000" b="0" i="1" kern="12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he-IL" sz="2000" kern="1200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44" name="תיבת טקסט 43">
                    <a:extLst>
                      <a:ext uri="{FF2B5EF4-FFF2-40B4-BE49-F238E27FC236}">
                        <a16:creationId xmlns:a16="http://schemas.microsoft.com/office/drawing/2014/main" id="{7D65F69E-CC5A-1A27-5035-0F54040541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0987" y="4103950"/>
                    <a:ext cx="1305744" cy="47838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9101" b="-5618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קבוצה 35">
              <a:extLst>
                <a:ext uri="{FF2B5EF4-FFF2-40B4-BE49-F238E27FC236}">
                  <a16:creationId xmlns:a16="http://schemas.microsoft.com/office/drawing/2014/main" id="{7AB21AAC-9BF7-20A3-A9D1-4EE475D1C638}"/>
                </a:ext>
              </a:extLst>
            </p:cNvPr>
            <p:cNvGrpSpPr/>
            <p:nvPr/>
          </p:nvGrpSpPr>
          <p:grpSpPr>
            <a:xfrm>
              <a:off x="4285373" y="4830417"/>
              <a:ext cx="720000" cy="720000"/>
              <a:chOff x="4586265" y="5142229"/>
              <a:chExt cx="696615" cy="696616"/>
            </a:xfrm>
          </p:grpSpPr>
          <p:sp>
            <p:nvSpPr>
              <p:cNvPr id="41" name="מלבן 40">
                <a:extLst>
                  <a:ext uri="{FF2B5EF4-FFF2-40B4-BE49-F238E27FC236}">
                    <a16:creationId xmlns:a16="http://schemas.microsoft.com/office/drawing/2014/main" id="{CDD0A660-1AE4-AB36-959E-16DE613732F6}"/>
                  </a:ext>
                </a:extLst>
              </p:cNvPr>
              <p:cNvSpPr/>
              <p:nvPr/>
            </p:nvSpPr>
            <p:spPr>
              <a:xfrm>
                <a:off x="4586265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42" name="תיבת טקסט 41">
                <a:extLst>
                  <a:ext uri="{FF2B5EF4-FFF2-40B4-BE49-F238E27FC236}">
                    <a16:creationId xmlns:a16="http://schemas.microsoft.com/office/drawing/2014/main" id="{D9F31227-A7DB-5EC5-3AD5-7590DB8DE670}"/>
                  </a:ext>
                </a:extLst>
              </p:cNvPr>
              <p:cNvSpPr txBox="1"/>
              <p:nvPr/>
            </p:nvSpPr>
            <p:spPr>
              <a:xfrm>
                <a:off x="4586265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dirty="0">
                    <a:cs typeface="Adama" pitchFamily="2" charset="-79"/>
                  </a:rPr>
                  <a:t>המקרה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dirty="0">
                    <a:cs typeface="Adama" pitchFamily="2" charset="-79"/>
                  </a:rPr>
                  <a:t>LL</a:t>
                </a:r>
                <a:endParaRPr lang="he-IL" b="1" dirty="0">
                  <a:cs typeface="Adama" pitchFamily="2" charset="-79"/>
                </a:endParaRPr>
              </a:p>
            </p:txBody>
          </p:sp>
        </p:grpSp>
        <p:grpSp>
          <p:nvGrpSpPr>
            <p:cNvPr id="37" name="קבוצה 36">
              <a:extLst>
                <a:ext uri="{FF2B5EF4-FFF2-40B4-BE49-F238E27FC236}">
                  <a16:creationId xmlns:a16="http://schemas.microsoft.com/office/drawing/2014/main" id="{9CACA842-D1D7-659B-32DA-D063AC6A2B22}"/>
                </a:ext>
              </a:extLst>
            </p:cNvPr>
            <p:cNvGrpSpPr/>
            <p:nvPr/>
          </p:nvGrpSpPr>
          <p:grpSpPr>
            <a:xfrm>
              <a:off x="4199857" y="5632471"/>
              <a:ext cx="891031" cy="633258"/>
              <a:chOff x="4487941" y="6270167"/>
              <a:chExt cx="891031" cy="633258"/>
            </a:xfrm>
          </p:grpSpPr>
          <p:sp>
            <p:nvSpPr>
              <p:cNvPr id="38" name="מלבן 37">
                <a:extLst>
                  <a:ext uri="{FF2B5EF4-FFF2-40B4-BE49-F238E27FC236}">
                    <a16:creationId xmlns:a16="http://schemas.microsoft.com/office/drawing/2014/main" id="{B3F3489D-C59E-D47C-BBDD-B4B621BEC2A5}"/>
                  </a:ext>
                </a:extLst>
              </p:cNvPr>
              <p:cNvSpPr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8DDF9928-C112-2251-2C3F-B5FE02F4F99F}"/>
                  </a:ext>
                </a:extLst>
              </p:cNvPr>
              <p:cNvSpPr txBox="1"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גלגול ימינה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על </a:t>
                </a:r>
                <a:r>
                  <a:rPr lang="en-US" sz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grpSp>
        <p:nvGrpSpPr>
          <p:cNvPr id="45" name="קבוצה 44">
            <a:extLst>
              <a:ext uri="{FF2B5EF4-FFF2-40B4-BE49-F238E27FC236}">
                <a16:creationId xmlns:a16="http://schemas.microsoft.com/office/drawing/2014/main" id="{AECF9F2A-61BA-92B3-A2F6-65FB78D06C8E}"/>
              </a:ext>
            </a:extLst>
          </p:cNvPr>
          <p:cNvGrpSpPr/>
          <p:nvPr/>
        </p:nvGrpSpPr>
        <p:grpSpPr>
          <a:xfrm>
            <a:off x="3409437" y="4185701"/>
            <a:ext cx="2412000" cy="2504938"/>
            <a:chOff x="851923" y="4194121"/>
            <a:chExt cx="2412000" cy="2504938"/>
          </a:xfrm>
        </p:grpSpPr>
        <p:cxnSp>
          <p:nvCxnSpPr>
            <p:cNvPr id="46" name="מחבר ישר 45">
              <a:extLst>
                <a:ext uri="{FF2B5EF4-FFF2-40B4-BE49-F238E27FC236}">
                  <a16:creationId xmlns:a16="http://schemas.microsoft.com/office/drawing/2014/main" id="{9B3C6599-4536-C838-24F8-F4A18029C6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922" y="4690736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4726C1B7-E7BA-8484-A776-79EC99FB1A48}"/>
                </a:ext>
              </a:extLst>
            </p:cNvPr>
            <p:cNvGrpSpPr/>
            <p:nvPr/>
          </p:nvGrpSpPr>
          <p:grpSpPr>
            <a:xfrm>
              <a:off x="851923" y="4194121"/>
              <a:ext cx="2412000" cy="540000"/>
              <a:chOff x="3009859" y="3700933"/>
              <a:chExt cx="733499" cy="1343392"/>
            </a:xfrm>
          </p:grpSpPr>
          <p:sp>
            <p:nvSpPr>
              <p:cNvPr id="54" name="מלבן 53">
                <a:extLst>
                  <a:ext uri="{FF2B5EF4-FFF2-40B4-BE49-F238E27FC236}">
                    <a16:creationId xmlns:a16="http://schemas.microsoft.com/office/drawing/2014/main" id="{6D4AB28A-4C33-76D6-23C5-5D2AA79A8A53}"/>
                  </a:ext>
                </a:extLst>
              </p:cNvPr>
              <p:cNvSpPr/>
              <p:nvPr/>
            </p:nvSpPr>
            <p:spPr>
              <a:xfrm>
                <a:off x="3009859" y="3700933"/>
                <a:ext cx="733499" cy="1343392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תיבת טקסט 54">
                    <a:extLst>
                      <a:ext uri="{FF2B5EF4-FFF2-40B4-BE49-F238E27FC236}">
                        <a16:creationId xmlns:a16="http://schemas.microsoft.com/office/drawing/2014/main" id="{1E1FF68F-B181-F0CF-BF56-837E4C2BA5FD}"/>
                      </a:ext>
                    </a:extLst>
                  </p:cNvPr>
                  <p:cNvSpPr txBox="1"/>
                  <p:nvPr/>
                </p:nvSpPr>
                <p:spPr>
                  <a:xfrm>
                    <a:off x="3009859" y="3700933"/>
                    <a:ext cx="733499" cy="1343392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algn="ctr" defTabSz="4889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he-IL" sz="1200" dirty="0">
                      <a:cs typeface="Adama" pitchFamily="2" charset="-79"/>
                    </a:endParaRPr>
                  </a:p>
                  <a:p>
                    <a:pPr marL="0" lvl="0" indent="0" algn="ctr" defTabSz="488950" rtl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𝑥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.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𝑙𝑒𝑓𝑡</m:t>
                              </m:r>
                            </m:e>
                          </m:d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=−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1</m:t>
                          </m:r>
                        </m:oMath>
                      </m:oMathPara>
                    </a14:m>
                    <a:endParaRPr lang="he-IL" sz="2000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55" name="תיבת טקסט 54">
                    <a:extLst>
                      <a:ext uri="{FF2B5EF4-FFF2-40B4-BE49-F238E27FC236}">
                        <a16:creationId xmlns:a16="http://schemas.microsoft.com/office/drawing/2014/main" id="{1E1FF68F-B181-F0CF-BF56-837E4C2BA5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9859" y="3700933"/>
                    <a:ext cx="733499" cy="134339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5682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קבוצה 47">
              <a:extLst>
                <a:ext uri="{FF2B5EF4-FFF2-40B4-BE49-F238E27FC236}">
                  <a16:creationId xmlns:a16="http://schemas.microsoft.com/office/drawing/2014/main" id="{FB382599-D2A2-E460-E4C6-38F82C95EC36}"/>
                </a:ext>
              </a:extLst>
            </p:cNvPr>
            <p:cNvGrpSpPr/>
            <p:nvPr/>
          </p:nvGrpSpPr>
          <p:grpSpPr>
            <a:xfrm>
              <a:off x="1697922" y="4830417"/>
              <a:ext cx="720002" cy="720000"/>
              <a:chOff x="3265567" y="6021536"/>
              <a:chExt cx="695567" cy="695565"/>
            </a:xfrm>
          </p:grpSpPr>
          <p:sp>
            <p:nvSpPr>
              <p:cNvPr id="52" name="מלבן 51">
                <a:extLst>
                  <a:ext uri="{FF2B5EF4-FFF2-40B4-BE49-F238E27FC236}">
                    <a16:creationId xmlns:a16="http://schemas.microsoft.com/office/drawing/2014/main" id="{AE96FD45-7811-A8DE-F58B-E52EE54260BA}"/>
                  </a:ext>
                </a:extLst>
              </p:cNvPr>
              <p:cNvSpPr/>
              <p:nvPr/>
            </p:nvSpPr>
            <p:spPr>
              <a:xfrm>
                <a:off x="3265567" y="6021536"/>
                <a:ext cx="695565" cy="695565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53" name="תיבת טקסט 52">
                <a:extLst>
                  <a:ext uri="{FF2B5EF4-FFF2-40B4-BE49-F238E27FC236}">
                    <a16:creationId xmlns:a16="http://schemas.microsoft.com/office/drawing/2014/main" id="{7956EDB3-1153-614D-10C3-97A8F4D482A4}"/>
                  </a:ext>
                </a:extLst>
              </p:cNvPr>
              <p:cNvSpPr txBox="1"/>
              <p:nvPr/>
            </p:nvSpPr>
            <p:spPr>
              <a:xfrm>
                <a:off x="3265569" y="6021536"/>
                <a:ext cx="695565" cy="695565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dirty="0">
                    <a:cs typeface="Adama" pitchFamily="2" charset="-79"/>
                  </a:rPr>
                  <a:t>המקרה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dirty="0">
                    <a:cs typeface="Adama" pitchFamily="2" charset="-79"/>
                  </a:rPr>
                  <a:t>LR</a:t>
                </a:r>
                <a:endParaRPr lang="he-IL" b="1" dirty="0">
                  <a:cs typeface="Adama" pitchFamily="2" charset="-79"/>
                </a:endParaRPr>
              </a:p>
            </p:txBody>
          </p:sp>
        </p:grpSp>
        <p:grpSp>
          <p:nvGrpSpPr>
            <p:cNvPr id="49" name="קבוצה 48">
              <a:extLst>
                <a:ext uri="{FF2B5EF4-FFF2-40B4-BE49-F238E27FC236}">
                  <a16:creationId xmlns:a16="http://schemas.microsoft.com/office/drawing/2014/main" id="{3B53C425-5592-1C64-D4FE-A9101967DC6C}"/>
                </a:ext>
              </a:extLst>
            </p:cNvPr>
            <p:cNvGrpSpPr/>
            <p:nvPr/>
          </p:nvGrpSpPr>
          <p:grpSpPr>
            <a:xfrm>
              <a:off x="1481923" y="5619059"/>
              <a:ext cx="1152000" cy="1080000"/>
              <a:chOff x="3195100" y="7220418"/>
              <a:chExt cx="1173771" cy="86757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3A674F97-929C-93E6-7226-8259E236FB97}"/>
                  </a:ext>
                </a:extLst>
              </p:cNvPr>
              <p:cNvSpPr/>
              <p:nvPr/>
            </p:nvSpPr>
            <p:spPr>
              <a:xfrm>
                <a:off x="3195100" y="7220418"/>
                <a:ext cx="1173771" cy="867576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51" name="תיבת טקסט 50">
                <a:extLst>
                  <a:ext uri="{FF2B5EF4-FFF2-40B4-BE49-F238E27FC236}">
                    <a16:creationId xmlns:a16="http://schemas.microsoft.com/office/drawing/2014/main" id="{9E9FB55D-0E87-8E9E-B7D0-085DD4DF4958}"/>
                  </a:ext>
                </a:extLst>
              </p:cNvPr>
              <p:cNvSpPr txBox="1"/>
              <p:nvPr/>
            </p:nvSpPr>
            <p:spPr>
              <a:xfrm>
                <a:off x="3195100" y="7220418"/>
                <a:ext cx="1173771" cy="86757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1. גלגול שמאלה על בנו השמאלי של </a:t>
                </a:r>
                <a:r>
                  <a:rPr lang="en-US" sz="1200" kern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2. גלגול ימינה על </a:t>
                </a:r>
                <a:r>
                  <a:rPr lang="en-US" sz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grpSp>
        <p:nvGrpSpPr>
          <p:cNvPr id="56" name="קבוצה 55">
            <a:extLst>
              <a:ext uri="{FF2B5EF4-FFF2-40B4-BE49-F238E27FC236}">
                <a16:creationId xmlns:a16="http://schemas.microsoft.com/office/drawing/2014/main" id="{566E11F6-8FA7-B1F5-C4EB-6EB354A5ED56}"/>
              </a:ext>
            </a:extLst>
          </p:cNvPr>
          <p:cNvGrpSpPr/>
          <p:nvPr/>
        </p:nvGrpSpPr>
        <p:grpSpPr>
          <a:xfrm>
            <a:off x="8060954" y="3032824"/>
            <a:ext cx="1604856" cy="382126"/>
            <a:chOff x="402" y="2761050"/>
            <a:chExt cx="1284470" cy="360873"/>
          </a:xfrm>
        </p:grpSpPr>
        <p:sp>
          <p:nvSpPr>
            <p:cNvPr id="57" name="מלבן 56">
              <a:extLst>
                <a:ext uri="{FF2B5EF4-FFF2-40B4-BE49-F238E27FC236}">
                  <a16:creationId xmlns:a16="http://schemas.microsoft.com/office/drawing/2014/main" id="{ECA3B50D-212D-10BB-20B6-D8B508ABA4F0}"/>
                </a:ext>
              </a:extLst>
            </p:cNvPr>
            <p:cNvSpPr/>
            <p:nvPr/>
          </p:nvSpPr>
          <p:spPr>
            <a:xfrm>
              <a:off x="402" y="2761050"/>
              <a:ext cx="1284470" cy="360873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תיבת טקסט 57">
                  <a:extLst>
                    <a:ext uri="{FF2B5EF4-FFF2-40B4-BE49-F238E27FC236}">
                      <a16:creationId xmlns:a16="http://schemas.microsoft.com/office/drawing/2014/main" id="{91B7D73A-5A37-9ED0-B95F-516E9FA8D85C}"/>
                    </a:ext>
                  </a:extLst>
                </p:cNvPr>
                <p:cNvSpPr txBox="1"/>
                <p:nvPr/>
              </p:nvSpPr>
              <p:spPr>
                <a:xfrm>
                  <a:off x="402" y="2761050"/>
                  <a:ext cx="1284470" cy="360873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6985" tIns="6985" rIns="6985" bIns="6985" numCol="1" spcCol="1270" anchor="ctr" anchorCtr="0">
                  <a:noAutofit/>
                </a:bodyPr>
                <a:lstStyle>
                  <a:defPPr>
                    <a:defRPr lang="en-US"/>
                  </a:defPPr>
                  <a:lvl1pPr lvl="0" indent="0" algn="ctr" defTabSz="488950" rtl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  <a:defRPr b="1">
                      <a:cs typeface="Adama" pitchFamily="2" charset="-79"/>
                    </a:defRPr>
                  </a:lvl1pPr>
                </a:lstStyle>
                <a:p>
                  <a:r>
                    <a:rPr lang="he-IL" dirty="0"/>
                    <a:t>     </a:t>
                  </a:r>
                  <a14:m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𝑩𝑭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58" name="תיבת טקסט 57">
                  <a:extLst>
                    <a:ext uri="{FF2B5EF4-FFF2-40B4-BE49-F238E27FC236}">
                      <a16:creationId xmlns:a16="http://schemas.microsoft.com/office/drawing/2014/main" id="{91B7D73A-5A37-9ED0-B95F-516E9FA8D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" y="2761050"/>
                  <a:ext cx="1284470" cy="360873"/>
                </a:xfrm>
                <a:prstGeom prst="rect">
                  <a:avLst/>
                </a:prstGeom>
                <a:blipFill>
                  <a:blip r:embed="rId5"/>
                  <a:stretch>
                    <a:fillRect l="-749" t="-7692" r="-4494" b="-18462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קבוצה 58">
            <a:extLst>
              <a:ext uri="{FF2B5EF4-FFF2-40B4-BE49-F238E27FC236}">
                <a16:creationId xmlns:a16="http://schemas.microsoft.com/office/drawing/2014/main" id="{C72620D8-73FE-F04C-A44A-23437EE2AADB}"/>
              </a:ext>
            </a:extLst>
          </p:cNvPr>
          <p:cNvGrpSpPr/>
          <p:nvPr/>
        </p:nvGrpSpPr>
        <p:grpSpPr>
          <a:xfrm>
            <a:off x="7631431" y="3499710"/>
            <a:ext cx="2412002" cy="569091"/>
            <a:chOff x="752572" y="3353987"/>
            <a:chExt cx="1985586" cy="340450"/>
          </a:xfrm>
        </p:grpSpPr>
        <p:sp>
          <p:nvSpPr>
            <p:cNvPr id="60" name="מלבן 59">
              <a:extLst>
                <a:ext uri="{FF2B5EF4-FFF2-40B4-BE49-F238E27FC236}">
                  <a16:creationId xmlns:a16="http://schemas.microsoft.com/office/drawing/2014/main" id="{67AE9568-F60E-1A5D-24C4-4EEB0CC0C226}"/>
                </a:ext>
              </a:extLst>
            </p:cNvPr>
            <p:cNvSpPr/>
            <p:nvPr/>
          </p:nvSpPr>
          <p:spPr>
            <a:xfrm>
              <a:off x="752572" y="3371390"/>
              <a:ext cx="1985586" cy="323047"/>
            </a:xfrm>
            <a:prstGeom prst="rect">
              <a:avLst/>
            </a:prstGeom>
            <a:ln w="19050"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he-IL"/>
            </a:p>
          </p:txBody>
        </p:sp>
        <p:sp>
          <p:nvSpPr>
            <p:cNvPr id="61" name="תיבת טקסט 60">
              <a:extLst>
                <a:ext uri="{FF2B5EF4-FFF2-40B4-BE49-F238E27FC236}">
                  <a16:creationId xmlns:a16="http://schemas.microsoft.com/office/drawing/2014/main" id="{976A63C8-E4A3-E2A0-95AD-9401032565FC}"/>
                </a:ext>
              </a:extLst>
            </p:cNvPr>
            <p:cNvSpPr txBox="1"/>
            <p:nvPr/>
          </p:nvSpPr>
          <p:spPr>
            <a:xfrm>
              <a:off x="752572" y="3353987"/>
              <a:ext cx="1985586" cy="323047"/>
            </a:xfrm>
            <a:prstGeom prst="rect">
              <a:avLst/>
            </a:prstGeom>
            <a:ln w="1905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1300" kern="1200" dirty="0">
                  <a:cs typeface="Adama" pitchFamily="2" charset="-79"/>
                </a:rPr>
                <a:t>החלק העמוק יותר נמצא בתת עץ ימני לכן נבדוק את בנו הימני של </a:t>
              </a:r>
              <a:r>
                <a:rPr lang="en-US" sz="1300" kern="1200" dirty="0">
                  <a:cs typeface="Adama" pitchFamily="2" charset="-79"/>
                </a:rPr>
                <a:t>x</a:t>
              </a:r>
              <a:endParaRPr lang="he-IL" sz="1300" kern="1200" dirty="0">
                <a:cs typeface="Adama" pitchFamily="2" charset="-79"/>
              </a:endParaRPr>
            </a:p>
          </p:txBody>
        </p:sp>
      </p:grpSp>
      <p:grpSp>
        <p:nvGrpSpPr>
          <p:cNvPr id="62" name="קבוצה 61">
            <a:extLst>
              <a:ext uri="{FF2B5EF4-FFF2-40B4-BE49-F238E27FC236}">
                <a16:creationId xmlns:a16="http://schemas.microsoft.com/office/drawing/2014/main" id="{1AF08B20-11BF-AE94-7930-894BEF92D834}"/>
              </a:ext>
            </a:extLst>
          </p:cNvPr>
          <p:cNvGrpSpPr/>
          <p:nvPr/>
        </p:nvGrpSpPr>
        <p:grpSpPr>
          <a:xfrm>
            <a:off x="6336051" y="4185701"/>
            <a:ext cx="2412000" cy="2467020"/>
            <a:chOff x="8772471" y="4188060"/>
            <a:chExt cx="2412000" cy="2467020"/>
          </a:xfrm>
        </p:grpSpPr>
        <p:cxnSp>
          <p:nvCxnSpPr>
            <p:cNvPr id="63" name="מחבר ישר 62">
              <a:extLst>
                <a:ext uri="{FF2B5EF4-FFF2-40B4-BE49-F238E27FC236}">
                  <a16:creationId xmlns:a16="http://schemas.microsoft.com/office/drawing/2014/main" id="{F9604EFF-ABB1-BE6C-366A-77743C8209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3471" y="4690736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קבוצה 63">
              <a:extLst>
                <a:ext uri="{FF2B5EF4-FFF2-40B4-BE49-F238E27FC236}">
                  <a16:creationId xmlns:a16="http://schemas.microsoft.com/office/drawing/2014/main" id="{BF6A1C5C-B8DC-F8AA-1CE7-68921FE005EC}"/>
                </a:ext>
              </a:extLst>
            </p:cNvPr>
            <p:cNvGrpSpPr/>
            <p:nvPr/>
          </p:nvGrpSpPr>
          <p:grpSpPr>
            <a:xfrm>
              <a:off x="8772471" y="4188060"/>
              <a:ext cx="2412000" cy="540000"/>
              <a:chOff x="1093031" y="4796123"/>
              <a:chExt cx="1194621" cy="465760"/>
            </a:xfrm>
          </p:grpSpPr>
          <p:sp>
            <p:nvSpPr>
              <p:cNvPr id="71" name="מלבן 70">
                <a:extLst>
                  <a:ext uri="{FF2B5EF4-FFF2-40B4-BE49-F238E27FC236}">
                    <a16:creationId xmlns:a16="http://schemas.microsoft.com/office/drawing/2014/main" id="{0C956ED3-F21F-64F7-6CC7-8775218AA5A1}"/>
                  </a:ext>
                </a:extLst>
              </p:cNvPr>
              <p:cNvSpPr/>
              <p:nvPr/>
            </p:nvSpPr>
            <p:spPr>
              <a:xfrm>
                <a:off x="1093031" y="4796123"/>
                <a:ext cx="1194621" cy="465760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תיבת טקסט 71">
                    <a:extLst>
                      <a:ext uri="{FF2B5EF4-FFF2-40B4-BE49-F238E27FC236}">
                        <a16:creationId xmlns:a16="http://schemas.microsoft.com/office/drawing/2014/main" id="{CB562127-D0A8-3B22-4BCE-000CDE3CF50E}"/>
                      </a:ext>
                    </a:extLst>
                  </p:cNvPr>
                  <p:cNvSpPr txBox="1"/>
                  <p:nvPr/>
                </p:nvSpPr>
                <p:spPr>
                  <a:xfrm>
                    <a:off x="1093031" y="4796123"/>
                    <a:ext cx="1194621" cy="465760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algn="ctr" defTabSz="4889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he-IL" sz="1100" dirty="0">
                      <a:cs typeface="Adama" pitchFamily="2" charset="-79"/>
                    </a:endParaRPr>
                  </a:p>
                  <a:p>
                    <a:pPr algn="ctr" defTabSz="4889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𝑟𝑖𝑔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=+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he-IL" sz="2000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72" name="תיבת טקסט 71">
                    <a:extLst>
                      <a:ext uri="{FF2B5EF4-FFF2-40B4-BE49-F238E27FC236}">
                        <a16:creationId xmlns:a16="http://schemas.microsoft.com/office/drawing/2014/main" id="{CB562127-D0A8-3B22-4BCE-000CDE3CF5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3031" y="4796123"/>
                    <a:ext cx="1194621" cy="46576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409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קבוצה 64">
              <a:extLst>
                <a:ext uri="{FF2B5EF4-FFF2-40B4-BE49-F238E27FC236}">
                  <a16:creationId xmlns:a16="http://schemas.microsoft.com/office/drawing/2014/main" id="{03521535-1955-BFFE-E328-27328EE470ED}"/>
                </a:ext>
              </a:extLst>
            </p:cNvPr>
            <p:cNvGrpSpPr/>
            <p:nvPr/>
          </p:nvGrpSpPr>
          <p:grpSpPr>
            <a:xfrm>
              <a:off x="9535596" y="4819331"/>
              <a:ext cx="720000" cy="720000"/>
              <a:chOff x="1172539" y="5845823"/>
              <a:chExt cx="976171" cy="790025"/>
            </a:xfrm>
          </p:grpSpPr>
          <p:sp>
            <p:nvSpPr>
              <p:cNvPr id="69" name="מלבן 68">
                <a:extLst>
                  <a:ext uri="{FF2B5EF4-FFF2-40B4-BE49-F238E27FC236}">
                    <a16:creationId xmlns:a16="http://schemas.microsoft.com/office/drawing/2014/main" id="{47FAB1D4-1B18-7635-ED2C-5FC35C25F2CD}"/>
                  </a:ext>
                </a:extLst>
              </p:cNvPr>
              <p:cNvSpPr/>
              <p:nvPr/>
            </p:nvSpPr>
            <p:spPr>
              <a:xfrm>
                <a:off x="1172539" y="5845823"/>
                <a:ext cx="976171" cy="790025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70" name="תיבת טקסט 69">
                <a:extLst>
                  <a:ext uri="{FF2B5EF4-FFF2-40B4-BE49-F238E27FC236}">
                    <a16:creationId xmlns:a16="http://schemas.microsoft.com/office/drawing/2014/main" id="{D8AA38B1-D46E-0CC5-9630-6A18A446042B}"/>
                  </a:ext>
                </a:extLst>
              </p:cNvPr>
              <p:cNvSpPr txBox="1"/>
              <p:nvPr/>
            </p:nvSpPr>
            <p:spPr>
              <a:xfrm>
                <a:off x="1172539" y="5845823"/>
                <a:ext cx="976171" cy="790025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kern="1200" dirty="0">
                    <a:cs typeface="Adama" pitchFamily="2" charset="-79"/>
                  </a:rPr>
                  <a:t>המקרה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kern="1200" dirty="0">
                    <a:cs typeface="Adama" pitchFamily="2" charset="-79"/>
                  </a:rPr>
                  <a:t> </a:t>
                </a:r>
                <a:r>
                  <a:rPr lang="en-US" b="1" kern="1200" dirty="0">
                    <a:cs typeface="Adama" pitchFamily="2" charset="-79"/>
                  </a:rPr>
                  <a:t>RL</a:t>
                </a:r>
                <a:endParaRPr lang="he-IL" sz="1400" b="1" kern="1200" dirty="0">
                  <a:cs typeface="Adama" pitchFamily="2" charset="-79"/>
                </a:endParaRPr>
              </a:p>
            </p:txBody>
          </p:sp>
        </p:grpSp>
        <p:grpSp>
          <p:nvGrpSpPr>
            <p:cNvPr id="66" name="קבוצה 65">
              <a:extLst>
                <a:ext uri="{FF2B5EF4-FFF2-40B4-BE49-F238E27FC236}">
                  <a16:creationId xmlns:a16="http://schemas.microsoft.com/office/drawing/2014/main" id="{5E0F9FBF-405F-4109-AE5A-C6AE3EE277DC}"/>
                </a:ext>
              </a:extLst>
            </p:cNvPr>
            <p:cNvGrpSpPr/>
            <p:nvPr/>
          </p:nvGrpSpPr>
          <p:grpSpPr>
            <a:xfrm>
              <a:off x="9318140" y="5575080"/>
              <a:ext cx="1152000" cy="1080000"/>
              <a:chOff x="996043" y="6723527"/>
              <a:chExt cx="1205947" cy="1324406"/>
            </a:xfrm>
          </p:grpSpPr>
          <p:sp>
            <p:nvSpPr>
              <p:cNvPr id="67" name="מלבן 66">
                <a:extLst>
                  <a:ext uri="{FF2B5EF4-FFF2-40B4-BE49-F238E27FC236}">
                    <a16:creationId xmlns:a16="http://schemas.microsoft.com/office/drawing/2014/main" id="{9C87CCF1-D88F-5BB0-2461-BD31CDA1B441}"/>
                  </a:ext>
                </a:extLst>
              </p:cNvPr>
              <p:cNvSpPr/>
              <p:nvPr/>
            </p:nvSpPr>
            <p:spPr>
              <a:xfrm>
                <a:off x="996043" y="6763588"/>
                <a:ext cx="1205947" cy="1245545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68" name="תיבת טקסט 67">
                <a:extLst>
                  <a:ext uri="{FF2B5EF4-FFF2-40B4-BE49-F238E27FC236}">
                    <a16:creationId xmlns:a16="http://schemas.microsoft.com/office/drawing/2014/main" id="{2DCDA119-CD17-2C2A-7226-FA26610F5262}"/>
                  </a:ext>
                </a:extLst>
              </p:cNvPr>
              <p:cNvSpPr txBox="1"/>
              <p:nvPr/>
            </p:nvSpPr>
            <p:spPr>
              <a:xfrm>
                <a:off x="996043" y="6723527"/>
                <a:ext cx="1205947" cy="132440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1. גלגול ימינה על  בנו הימני של </a:t>
                </a:r>
                <a:r>
                  <a:rPr lang="en-US" sz="1200" kern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2. גלגול שמאלה על </a:t>
                </a:r>
                <a:r>
                  <a:rPr lang="en-US" sz="1200" kern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grpSp>
        <p:nvGrpSpPr>
          <p:cNvPr id="73" name="קבוצה 72">
            <a:extLst>
              <a:ext uri="{FF2B5EF4-FFF2-40B4-BE49-F238E27FC236}">
                <a16:creationId xmlns:a16="http://schemas.microsoft.com/office/drawing/2014/main" id="{E8745727-595E-70D6-3D00-66B0F3EF7A8F}"/>
              </a:ext>
            </a:extLst>
          </p:cNvPr>
          <p:cNvGrpSpPr/>
          <p:nvPr/>
        </p:nvGrpSpPr>
        <p:grpSpPr>
          <a:xfrm>
            <a:off x="8953070" y="4188673"/>
            <a:ext cx="2412000" cy="2071608"/>
            <a:chOff x="6166412" y="4188060"/>
            <a:chExt cx="2412000" cy="2071608"/>
          </a:xfrm>
        </p:grpSpPr>
        <p:cxnSp>
          <p:nvCxnSpPr>
            <p:cNvPr id="74" name="מחבר ישר 73">
              <a:extLst>
                <a:ext uri="{FF2B5EF4-FFF2-40B4-BE49-F238E27FC236}">
                  <a16:creationId xmlns:a16="http://schemas.microsoft.com/office/drawing/2014/main" id="{E8149805-D74B-A4E7-B1FD-8736A200B3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0709" y="4730030"/>
              <a:ext cx="0" cy="12130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קבוצה 74">
              <a:extLst>
                <a:ext uri="{FF2B5EF4-FFF2-40B4-BE49-F238E27FC236}">
                  <a16:creationId xmlns:a16="http://schemas.microsoft.com/office/drawing/2014/main" id="{F832F52A-0C1E-239A-5204-ADA73C3DF9BB}"/>
                </a:ext>
              </a:extLst>
            </p:cNvPr>
            <p:cNvGrpSpPr/>
            <p:nvPr/>
          </p:nvGrpSpPr>
          <p:grpSpPr>
            <a:xfrm>
              <a:off x="6166412" y="4188060"/>
              <a:ext cx="2412000" cy="540004"/>
              <a:chOff x="59798" y="4479211"/>
              <a:chExt cx="634976" cy="400877"/>
            </a:xfrm>
          </p:grpSpPr>
          <p:sp>
            <p:nvSpPr>
              <p:cNvPr id="82" name="מלבן 81">
                <a:extLst>
                  <a:ext uri="{FF2B5EF4-FFF2-40B4-BE49-F238E27FC236}">
                    <a16:creationId xmlns:a16="http://schemas.microsoft.com/office/drawing/2014/main" id="{633293D8-0BD2-1247-E9A9-A423576F697F}"/>
                  </a:ext>
                </a:extLst>
              </p:cNvPr>
              <p:cNvSpPr/>
              <p:nvPr/>
            </p:nvSpPr>
            <p:spPr>
              <a:xfrm>
                <a:off x="59798" y="4479211"/>
                <a:ext cx="634976" cy="400874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תיבת טקסט 82">
                    <a:extLst>
                      <a:ext uri="{FF2B5EF4-FFF2-40B4-BE49-F238E27FC236}">
                        <a16:creationId xmlns:a16="http://schemas.microsoft.com/office/drawing/2014/main" id="{E3464DE0-D295-7A27-EE45-61738E96E284}"/>
                      </a:ext>
                    </a:extLst>
                  </p:cNvPr>
                  <p:cNvSpPr txBox="1"/>
                  <p:nvPr/>
                </p:nvSpPr>
                <p:spPr>
                  <a:xfrm>
                    <a:off x="59798" y="4479214"/>
                    <a:ext cx="634976" cy="400874"/>
                  </a:xfrm>
                  <a:prstGeom prst="rect">
                    <a:avLst/>
                  </a:prstGeom>
                  <a:ln w="19050"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985" tIns="6985" rIns="6985" bIns="6985" numCol="1" spcCol="1270" anchor="ctr" anchorCtr="0">
                    <a:noAutofit/>
                  </a:bodyPr>
                  <a:lstStyle/>
                  <a:p>
                    <a:pPr algn="ctr" defTabSz="4889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he-IL" sz="1100" dirty="0">
                      <a:cs typeface="Adama" pitchFamily="2" charset="-79"/>
                    </a:endParaRPr>
                  </a:p>
                  <a:p>
                    <a:pPr algn="ctr" defTabSz="4889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𝐵𝐹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𝑥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.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𝑟𝑖𝑔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dama" pitchFamily="2" charset="-79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=−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dama" pitchFamily="2" charset="-79"/>
                            </a:rPr>
                            <m:t>1</m:t>
                          </m:r>
                        </m:oMath>
                      </m:oMathPara>
                    </a14:m>
                    <a:endParaRPr lang="he-IL" sz="2000" dirty="0">
                      <a:cs typeface="Adama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83" name="תיבת טקסט 82">
                    <a:extLst>
                      <a:ext uri="{FF2B5EF4-FFF2-40B4-BE49-F238E27FC236}">
                        <a16:creationId xmlns:a16="http://schemas.microsoft.com/office/drawing/2014/main" id="{E3464DE0-D295-7A27-EE45-61738E96E2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98" y="4479214"/>
                    <a:ext cx="634976" cy="40087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3371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קבוצה 75">
              <a:extLst>
                <a:ext uri="{FF2B5EF4-FFF2-40B4-BE49-F238E27FC236}">
                  <a16:creationId xmlns:a16="http://schemas.microsoft.com/office/drawing/2014/main" id="{399061AE-96C4-2FF1-5902-43C09098B5DA}"/>
                </a:ext>
              </a:extLst>
            </p:cNvPr>
            <p:cNvGrpSpPr/>
            <p:nvPr/>
          </p:nvGrpSpPr>
          <p:grpSpPr>
            <a:xfrm>
              <a:off x="7012411" y="4824356"/>
              <a:ext cx="720001" cy="720000"/>
              <a:chOff x="4586264" y="5142229"/>
              <a:chExt cx="696616" cy="696616"/>
            </a:xfrm>
          </p:grpSpPr>
          <p:sp>
            <p:nvSpPr>
              <p:cNvPr id="80" name="מלבן 79">
                <a:extLst>
                  <a:ext uri="{FF2B5EF4-FFF2-40B4-BE49-F238E27FC236}">
                    <a16:creationId xmlns:a16="http://schemas.microsoft.com/office/drawing/2014/main" id="{0DF3FED7-527A-68DB-77DB-D3690A0B7BEC}"/>
                  </a:ext>
                </a:extLst>
              </p:cNvPr>
              <p:cNvSpPr/>
              <p:nvPr/>
            </p:nvSpPr>
            <p:spPr>
              <a:xfrm>
                <a:off x="4586265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81" name="תיבת טקסט 80">
                <a:extLst>
                  <a:ext uri="{FF2B5EF4-FFF2-40B4-BE49-F238E27FC236}">
                    <a16:creationId xmlns:a16="http://schemas.microsoft.com/office/drawing/2014/main" id="{295ACBFC-7982-266D-E78A-C47F9778E5E4}"/>
                  </a:ext>
                </a:extLst>
              </p:cNvPr>
              <p:cNvSpPr txBox="1"/>
              <p:nvPr/>
            </p:nvSpPr>
            <p:spPr>
              <a:xfrm>
                <a:off x="4586264" y="5142229"/>
                <a:ext cx="696615" cy="696616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400" b="1" dirty="0">
                    <a:cs typeface="Adama" pitchFamily="2" charset="-79"/>
                  </a:rPr>
                  <a:t>המקרה הוא</a:t>
                </a:r>
                <a:r>
                  <a:rPr lang="he-IL" sz="1100" kern="1200" dirty="0">
                    <a:cs typeface="Adama" pitchFamily="2" charset="-79"/>
                  </a:rPr>
                  <a:t>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dirty="0">
                    <a:cs typeface="Adama" pitchFamily="2" charset="-79"/>
                  </a:rPr>
                  <a:t>RR</a:t>
                </a:r>
                <a:endParaRPr lang="he-IL" b="1" dirty="0">
                  <a:cs typeface="Adama" pitchFamily="2" charset="-79"/>
                </a:endParaRPr>
              </a:p>
            </p:txBody>
          </p:sp>
        </p:grpSp>
        <p:grpSp>
          <p:nvGrpSpPr>
            <p:cNvPr id="77" name="קבוצה 76">
              <a:extLst>
                <a:ext uri="{FF2B5EF4-FFF2-40B4-BE49-F238E27FC236}">
                  <a16:creationId xmlns:a16="http://schemas.microsoft.com/office/drawing/2014/main" id="{E9C16741-1870-4FE8-A340-D835EAF156D1}"/>
                </a:ext>
              </a:extLst>
            </p:cNvPr>
            <p:cNvGrpSpPr/>
            <p:nvPr/>
          </p:nvGrpSpPr>
          <p:grpSpPr>
            <a:xfrm>
              <a:off x="6926896" y="5626410"/>
              <a:ext cx="891031" cy="633258"/>
              <a:chOff x="4487941" y="6270167"/>
              <a:chExt cx="891031" cy="633258"/>
            </a:xfrm>
          </p:grpSpPr>
          <p:sp>
            <p:nvSpPr>
              <p:cNvPr id="78" name="מלבן 77">
                <a:extLst>
                  <a:ext uri="{FF2B5EF4-FFF2-40B4-BE49-F238E27FC236}">
                    <a16:creationId xmlns:a16="http://schemas.microsoft.com/office/drawing/2014/main" id="{9CF89677-E6E9-94EB-DDEC-F732374AC5DF}"/>
                  </a:ext>
                </a:extLst>
              </p:cNvPr>
              <p:cNvSpPr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he-IL"/>
              </a:p>
            </p:txBody>
          </p:sp>
          <p:sp>
            <p:nvSpPr>
              <p:cNvPr id="79" name="תיבת טקסט 78">
                <a:extLst>
                  <a:ext uri="{FF2B5EF4-FFF2-40B4-BE49-F238E27FC236}">
                    <a16:creationId xmlns:a16="http://schemas.microsoft.com/office/drawing/2014/main" id="{08C8F462-5DEA-59C3-EF9A-3E3FD6128BF9}"/>
                  </a:ext>
                </a:extLst>
              </p:cNvPr>
              <p:cNvSpPr txBox="1"/>
              <p:nvPr/>
            </p:nvSpPr>
            <p:spPr>
              <a:xfrm>
                <a:off x="4487941" y="6270167"/>
                <a:ext cx="891031" cy="633258"/>
              </a:xfrm>
              <a:prstGeom prst="rect">
                <a:avLst/>
              </a:prstGeom>
              <a:ln w="1905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5" tIns="6985" rIns="6985" bIns="6985" numCol="1" spcCol="1270" anchor="ctr" anchorCtr="0">
                <a:noAutofit/>
              </a:bodyPr>
              <a:lstStyle/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התיקון הוא:</a:t>
                </a:r>
              </a:p>
              <a:p>
                <a:pPr marL="0" lvl="0" indent="0" algn="ctr" defTabSz="48895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e-IL" sz="1200" kern="1200" dirty="0">
                    <a:cs typeface="Adama" pitchFamily="2" charset="-79"/>
                  </a:rPr>
                  <a:t>גלגול </a:t>
                </a:r>
                <a:r>
                  <a:rPr lang="he-IL" sz="1200" dirty="0">
                    <a:cs typeface="Adama" pitchFamily="2" charset="-79"/>
                  </a:rPr>
                  <a:t>שמאלה </a:t>
                </a:r>
                <a:r>
                  <a:rPr lang="he-IL" sz="1200" kern="1200" dirty="0">
                    <a:cs typeface="Adama" pitchFamily="2" charset="-79"/>
                  </a:rPr>
                  <a:t>על </a:t>
                </a:r>
                <a:r>
                  <a:rPr lang="en-US" sz="1200" dirty="0">
                    <a:cs typeface="Adama" pitchFamily="2" charset="-79"/>
                  </a:rPr>
                  <a:t>x</a:t>
                </a:r>
                <a:endParaRPr lang="he-IL" sz="1200" kern="1200" dirty="0">
                  <a:cs typeface="Adama" pitchFamily="2" charset="-79"/>
                </a:endParaRPr>
              </a:p>
            </p:txBody>
          </p:sp>
        </p:grpSp>
      </p:grpSp>
      <p:cxnSp>
        <p:nvCxnSpPr>
          <p:cNvPr id="84" name="מחבר חץ ישר 83">
            <a:extLst>
              <a:ext uri="{FF2B5EF4-FFF2-40B4-BE49-F238E27FC236}">
                <a16:creationId xmlns:a16="http://schemas.microsoft.com/office/drawing/2014/main" id="{39DDD041-AB2E-6468-296D-442708A3A93C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 flipH="1">
            <a:off x="5869982" y="1027083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מחבר חץ ישר 84">
            <a:extLst>
              <a:ext uri="{FF2B5EF4-FFF2-40B4-BE49-F238E27FC236}">
                <a16:creationId xmlns:a16="http://schemas.microsoft.com/office/drawing/2014/main" id="{1242CC02-20DA-5C0E-22BD-D22FE153BCB4}"/>
              </a:ext>
            </a:extLst>
          </p:cNvPr>
          <p:cNvCxnSpPr/>
          <p:nvPr/>
        </p:nvCxnSpPr>
        <p:spPr>
          <a:xfrm flipH="1">
            <a:off x="5869978" y="1728176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מחבר חץ ישר 85">
            <a:extLst>
              <a:ext uri="{FF2B5EF4-FFF2-40B4-BE49-F238E27FC236}">
                <a16:creationId xmlns:a16="http://schemas.microsoft.com/office/drawing/2014/main" id="{1E133790-F11E-BDB1-FB5D-52BEBF075E95}"/>
              </a:ext>
            </a:extLst>
          </p:cNvPr>
          <p:cNvCxnSpPr/>
          <p:nvPr/>
        </p:nvCxnSpPr>
        <p:spPr>
          <a:xfrm flipH="1">
            <a:off x="3219523" y="2733974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מחבר ישר 86">
            <a:extLst>
              <a:ext uri="{FF2B5EF4-FFF2-40B4-BE49-F238E27FC236}">
                <a16:creationId xmlns:a16="http://schemas.microsoft.com/office/drawing/2014/main" id="{C89D892F-09AD-7BE8-16D9-EFE660158FE1}"/>
              </a:ext>
            </a:extLst>
          </p:cNvPr>
          <p:cNvCxnSpPr>
            <a:cxnSpLocks/>
          </p:cNvCxnSpPr>
          <p:nvPr/>
        </p:nvCxnSpPr>
        <p:spPr>
          <a:xfrm flipV="1">
            <a:off x="3215386" y="2720175"/>
            <a:ext cx="5707475" cy="115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מחבר חץ ישר 87">
            <a:extLst>
              <a:ext uri="{FF2B5EF4-FFF2-40B4-BE49-F238E27FC236}">
                <a16:creationId xmlns:a16="http://schemas.microsoft.com/office/drawing/2014/main" id="{332A2922-CB6F-0030-E3CE-B6C64490D8E3}"/>
              </a:ext>
            </a:extLst>
          </p:cNvPr>
          <p:cNvCxnSpPr/>
          <p:nvPr/>
        </p:nvCxnSpPr>
        <p:spPr>
          <a:xfrm flipH="1">
            <a:off x="8922861" y="2732063"/>
            <a:ext cx="4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מחבר חץ ישר 88">
            <a:extLst>
              <a:ext uri="{FF2B5EF4-FFF2-40B4-BE49-F238E27FC236}">
                <a16:creationId xmlns:a16="http://schemas.microsoft.com/office/drawing/2014/main" id="{019B1085-B6B2-7C56-AD63-9A7C6394C7F9}"/>
              </a:ext>
            </a:extLst>
          </p:cNvPr>
          <p:cNvCxnSpPr/>
          <p:nvPr/>
        </p:nvCxnSpPr>
        <p:spPr>
          <a:xfrm flipH="1">
            <a:off x="8922861" y="3318361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מחבר חץ ישר 89">
            <a:extLst>
              <a:ext uri="{FF2B5EF4-FFF2-40B4-BE49-F238E27FC236}">
                <a16:creationId xmlns:a16="http://schemas.microsoft.com/office/drawing/2014/main" id="{FE468FE6-4002-0224-21C9-4518DD712920}"/>
              </a:ext>
            </a:extLst>
          </p:cNvPr>
          <p:cNvCxnSpPr/>
          <p:nvPr/>
        </p:nvCxnSpPr>
        <p:spPr>
          <a:xfrm flipH="1">
            <a:off x="3215382" y="3313795"/>
            <a:ext cx="4" cy="2186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מחבר ישר 90">
            <a:extLst>
              <a:ext uri="{FF2B5EF4-FFF2-40B4-BE49-F238E27FC236}">
                <a16:creationId xmlns:a16="http://schemas.microsoft.com/office/drawing/2014/main" id="{1E651207-E6ED-55EA-34BA-31F89EF7B62F}"/>
              </a:ext>
            </a:extLst>
          </p:cNvPr>
          <p:cNvCxnSpPr>
            <a:cxnSpLocks/>
          </p:cNvCxnSpPr>
          <p:nvPr/>
        </p:nvCxnSpPr>
        <p:spPr>
          <a:xfrm>
            <a:off x="8157873" y="4125588"/>
            <a:ext cx="14110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מחבר ישר 91">
            <a:extLst>
              <a:ext uri="{FF2B5EF4-FFF2-40B4-BE49-F238E27FC236}">
                <a16:creationId xmlns:a16="http://schemas.microsoft.com/office/drawing/2014/main" id="{9A81F868-B770-86EF-DBF7-B41FD20333E6}"/>
              </a:ext>
            </a:extLst>
          </p:cNvPr>
          <p:cNvCxnSpPr>
            <a:cxnSpLocks/>
          </p:cNvCxnSpPr>
          <p:nvPr/>
        </p:nvCxnSpPr>
        <p:spPr>
          <a:xfrm>
            <a:off x="2605590" y="4125588"/>
            <a:ext cx="14110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תיבת טקסט 92">
            <a:extLst>
              <a:ext uri="{FF2B5EF4-FFF2-40B4-BE49-F238E27FC236}">
                <a16:creationId xmlns:a16="http://schemas.microsoft.com/office/drawing/2014/main" id="{77BA2188-DF21-E92E-5059-1AAABC3BCA2D}"/>
              </a:ext>
            </a:extLst>
          </p:cNvPr>
          <p:cNvSpPr txBox="1"/>
          <p:nvPr/>
        </p:nvSpPr>
        <p:spPr>
          <a:xfrm>
            <a:off x="10167367" y="307233"/>
            <a:ext cx="1636701" cy="1420943"/>
          </a:xfrm>
          <a:prstGeom prst="rect">
            <a:avLst/>
          </a:prstGeom>
          <a:ln w="19050"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36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dama" pitchFamily="2" charset="-79"/>
              </a:rPr>
              <a:t>מחיקה מעץ </a:t>
            </a:r>
            <a:r>
              <a:rPr lang="en-US" sz="36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dama" pitchFamily="2" charset="-79"/>
              </a:rPr>
              <a:t>AVL</a:t>
            </a:r>
            <a:endParaRPr lang="he-IL" sz="3600" kern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dama" pitchFamily="2" charset="-79"/>
            </a:endParaRPr>
          </a:p>
        </p:txBody>
      </p:sp>
      <p:cxnSp>
        <p:nvCxnSpPr>
          <p:cNvPr id="94" name="מחבר ישר 93">
            <a:extLst>
              <a:ext uri="{FF2B5EF4-FFF2-40B4-BE49-F238E27FC236}">
                <a16:creationId xmlns:a16="http://schemas.microsoft.com/office/drawing/2014/main" id="{E647A893-025D-3229-6F9E-F91E9F979613}"/>
              </a:ext>
            </a:extLst>
          </p:cNvPr>
          <p:cNvCxnSpPr>
            <a:cxnSpLocks/>
          </p:cNvCxnSpPr>
          <p:nvPr/>
        </p:nvCxnSpPr>
        <p:spPr>
          <a:xfrm>
            <a:off x="552609" y="1492789"/>
            <a:ext cx="40739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F9FAC6C8-6D02-3FE7-86DB-260A4F906DC5}"/>
              </a:ext>
            </a:extLst>
          </p:cNvPr>
          <p:cNvCxnSpPr>
            <a:cxnSpLocks/>
          </p:cNvCxnSpPr>
          <p:nvPr/>
        </p:nvCxnSpPr>
        <p:spPr>
          <a:xfrm flipV="1">
            <a:off x="552609" y="1474240"/>
            <a:ext cx="0" cy="5327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2A6AF245-093F-3D84-7DE3-EACC285FCBF0}"/>
              </a:ext>
            </a:extLst>
          </p:cNvPr>
          <p:cNvCxnSpPr>
            <a:cxnSpLocks/>
          </p:cNvCxnSpPr>
          <p:nvPr/>
        </p:nvCxnSpPr>
        <p:spPr>
          <a:xfrm>
            <a:off x="552609" y="6374296"/>
            <a:ext cx="34762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מחבר חץ ישר 96">
            <a:extLst>
              <a:ext uri="{FF2B5EF4-FFF2-40B4-BE49-F238E27FC236}">
                <a16:creationId xmlns:a16="http://schemas.microsoft.com/office/drawing/2014/main" id="{27ED3924-68AE-1926-1D70-4A5918264F27}"/>
              </a:ext>
            </a:extLst>
          </p:cNvPr>
          <p:cNvCxnSpPr>
            <a:cxnSpLocks/>
          </p:cNvCxnSpPr>
          <p:nvPr/>
        </p:nvCxnSpPr>
        <p:spPr>
          <a:xfrm>
            <a:off x="2472924" y="1496215"/>
            <a:ext cx="21536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מחבר ישר 97">
            <a:extLst>
              <a:ext uri="{FF2B5EF4-FFF2-40B4-BE49-F238E27FC236}">
                <a16:creationId xmlns:a16="http://schemas.microsoft.com/office/drawing/2014/main" id="{EB990DAA-CFDB-96A8-422E-40D1CCB97489}"/>
              </a:ext>
            </a:extLst>
          </p:cNvPr>
          <p:cNvCxnSpPr>
            <a:cxnSpLocks/>
          </p:cNvCxnSpPr>
          <p:nvPr/>
        </p:nvCxnSpPr>
        <p:spPr>
          <a:xfrm>
            <a:off x="552609" y="6732559"/>
            <a:ext cx="70561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מחבר ישר 98">
            <a:extLst>
              <a:ext uri="{FF2B5EF4-FFF2-40B4-BE49-F238E27FC236}">
                <a16:creationId xmlns:a16="http://schemas.microsoft.com/office/drawing/2014/main" id="{51F1F415-0606-D710-3B59-B5405E90B298}"/>
              </a:ext>
            </a:extLst>
          </p:cNvPr>
          <p:cNvCxnSpPr>
            <a:cxnSpLocks/>
          </p:cNvCxnSpPr>
          <p:nvPr/>
        </p:nvCxnSpPr>
        <p:spPr>
          <a:xfrm>
            <a:off x="552609" y="6802014"/>
            <a:ext cx="96872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תיבת טקסט 99">
            <a:extLst>
              <a:ext uri="{FF2B5EF4-FFF2-40B4-BE49-F238E27FC236}">
                <a16:creationId xmlns:a16="http://schemas.microsoft.com/office/drawing/2014/main" id="{6B918650-9E09-BDBB-6B8A-A6F3FE182704}"/>
              </a:ext>
            </a:extLst>
          </p:cNvPr>
          <p:cNvSpPr txBox="1"/>
          <p:nvPr/>
        </p:nvSpPr>
        <p:spPr>
          <a:xfrm>
            <a:off x="413808" y="1111612"/>
            <a:ext cx="2412002" cy="540000"/>
          </a:xfrm>
          <a:prstGeom prst="rect">
            <a:avLst/>
          </a:prstGeom>
          <a:ln w="19050"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marL="0" lvl="0" indent="0" algn="ctr" defTabSz="4889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300" kern="1200" dirty="0">
                <a:solidFill>
                  <a:srgbClr val="FF0000"/>
                </a:solidFill>
                <a:cs typeface="Adama" pitchFamily="2" charset="-79"/>
              </a:rPr>
              <a:t>יתכן ויש צורך בגלגולים נוספים</a:t>
            </a:r>
          </a:p>
        </p:txBody>
      </p:sp>
      <p:cxnSp>
        <p:nvCxnSpPr>
          <p:cNvPr id="2" name="מחבר חץ ישר 1">
            <a:extLst>
              <a:ext uri="{FF2B5EF4-FFF2-40B4-BE49-F238E27FC236}">
                <a16:creationId xmlns:a16="http://schemas.microsoft.com/office/drawing/2014/main" id="{08F4967C-660A-FD38-5AF6-24744B463BD0}"/>
              </a:ext>
            </a:extLst>
          </p:cNvPr>
          <p:cNvCxnSpPr>
            <a:cxnSpLocks/>
          </p:cNvCxnSpPr>
          <p:nvPr/>
        </p:nvCxnSpPr>
        <p:spPr>
          <a:xfrm>
            <a:off x="6881720" y="2074681"/>
            <a:ext cx="19212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E8986C68-F8A0-E3E8-5BA6-EF9B75C9BFA8}"/>
              </a:ext>
            </a:extLst>
          </p:cNvPr>
          <p:cNvCxnSpPr/>
          <p:nvPr/>
        </p:nvCxnSpPr>
        <p:spPr>
          <a:xfrm>
            <a:off x="6881720" y="1742031"/>
            <a:ext cx="0" cy="324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638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21DFD3-CFDA-F3FF-230E-0BD559A4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דוגמא למחיקת צמתים מעץ </a:t>
            </a:r>
            <a:r>
              <a:rPr lang="en-US" dirty="0"/>
              <a:t>AVL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C460415-9FB0-5CF9-DE3B-281B8507F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ציירי את העץ המתקבל לאחר מחיקת הערכים:</a:t>
            </a:r>
          </a:p>
          <a:p>
            <a:pPr lvl="1"/>
            <a:r>
              <a:rPr lang="he-IL" dirty="0"/>
              <a:t> 35</a:t>
            </a:r>
          </a:p>
          <a:p>
            <a:pPr lvl="1"/>
            <a:r>
              <a:rPr lang="he-IL" dirty="0"/>
              <a:t>28</a:t>
            </a:r>
          </a:p>
          <a:p>
            <a:pPr lvl="1"/>
            <a:r>
              <a:rPr lang="he-IL" dirty="0"/>
              <a:t>89</a:t>
            </a:r>
          </a:p>
          <a:p>
            <a:pPr lvl="1"/>
            <a:endParaRPr lang="he-IL" dirty="0"/>
          </a:p>
          <a:p>
            <a:pPr lvl="1"/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38CE0D3-9100-2D81-35D7-A7D8F29B3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3762375"/>
            <a:ext cx="1029652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73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74F3E5-9218-5885-84EF-B15AC56A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שלבי הפתרון:</a:t>
            </a:r>
          </a:p>
        </p:txBody>
      </p:sp>
    </p:spTree>
    <p:extLst>
      <p:ext uri="{BB962C8B-B14F-4D97-AF65-F5344CB8AC3E}">
        <p14:creationId xmlns:p14="http://schemas.microsoft.com/office/powerpoint/2010/main" val="34214874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כותרת 1">
            <a:extLst>
              <a:ext uri="{FF2B5EF4-FFF2-40B4-BE49-F238E27FC236}">
                <a16:creationId xmlns:a16="http://schemas.microsoft.com/office/drawing/2014/main" id="{EEC7B33B-A627-9284-D524-1EFE759D4B01}"/>
              </a:ext>
            </a:extLst>
          </p:cNvPr>
          <p:cNvSpPr txBox="1">
            <a:spLocks/>
          </p:cNvSpPr>
          <p:nvPr/>
        </p:nvSpPr>
        <p:spPr>
          <a:xfrm>
            <a:off x="953181" y="442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200" dirty="0"/>
              <a:t>תוצאה לאחר מחיקה: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5D6A347-8D10-7E9A-C5ED-D16CBFA73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509837"/>
            <a:ext cx="104394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53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621728-EBE6-F695-4A74-82073D02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עצי </a:t>
            </a:r>
            <a:r>
              <a:rPr lang="en-US" dirty="0"/>
              <a:t>AVL</a:t>
            </a:r>
            <a:r>
              <a:rPr lang="he-IL" dirty="0"/>
              <a:t>- תרגילים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12F5C5E-43F1-3514-1E00-67FE56406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4D851A4-AB1B-D55C-6351-1744A2DC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39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981200" y="130175"/>
            <a:ext cx="82296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rtl="1" eaLnBrk="1" hangingPunct="1">
              <a:defRPr/>
            </a:pPr>
            <a:r>
              <a:rPr lang="he-IL" sz="3200" u="sng" dirty="0">
                <a:latin typeface="+mj-lt"/>
                <a:ea typeface="+mj-ea"/>
              </a:rPr>
              <a:t>שאלות חזרה</a:t>
            </a:r>
            <a:endParaRPr lang="en-US" sz="3600" dirty="0">
              <a:latin typeface="+mj-lt"/>
              <a:ea typeface="+mj-ea"/>
            </a:endParaRPr>
          </a:p>
        </p:txBody>
      </p:sp>
      <p:sp>
        <p:nvSpPr>
          <p:cNvPr id="41988" name="מלבן 5"/>
          <p:cNvSpPr>
            <a:spLocks noChangeArrowheads="1"/>
          </p:cNvSpPr>
          <p:nvPr/>
        </p:nvSpPr>
        <p:spPr bwMode="auto">
          <a:xfrm>
            <a:off x="1476941" y="1368557"/>
            <a:ext cx="9010667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 rtl="1"/>
            <a:r>
              <a:rPr lang="en-US" dirty="0">
                <a:latin typeface="Times New Roman" pitchFamily="18" charset="0"/>
              </a:rPr>
              <a:t>1</a:t>
            </a:r>
            <a:r>
              <a:rPr lang="he-IL" dirty="0">
                <a:latin typeface="Times New Roman" pitchFamily="18" charset="0"/>
              </a:rPr>
              <a:t>.   </a:t>
            </a:r>
            <a:r>
              <a:rPr lang="he-IL" sz="2400" dirty="0">
                <a:latin typeface="Times New Roman" pitchFamily="18" charset="0"/>
              </a:rPr>
              <a:t>הסבירו: כאשר גורם איזון של צומת משתנה </a:t>
            </a:r>
            <a:r>
              <a:rPr lang="he-IL" sz="2400" u="sng" dirty="0">
                <a:latin typeface="Times New Roman" pitchFamily="18" charset="0"/>
              </a:rPr>
              <a:t>בעקבות הכנסה</a:t>
            </a:r>
            <a:r>
              <a:rPr lang="he-IL" sz="2400" dirty="0">
                <a:latin typeface="Times New Roman" pitchFamily="18" charset="0"/>
              </a:rPr>
              <a:t> מ- </a:t>
            </a:r>
            <a:r>
              <a:rPr lang="en-US" sz="2400" dirty="0">
                <a:latin typeface="Times New Roman" pitchFamily="18" charset="0"/>
              </a:rPr>
              <a:t>±1</a:t>
            </a:r>
            <a:r>
              <a:rPr lang="he-IL" sz="2400" dirty="0">
                <a:latin typeface="Times New Roman" pitchFamily="18" charset="0"/>
              </a:rPr>
              <a:t> ל- 0 אז גובהו לא משתנה. האם ניתן לטעון זאת גם בעקבות הוצאה?</a:t>
            </a:r>
          </a:p>
          <a:p>
            <a:pPr marL="630238" indent="-630238" algn="just" rtl="1"/>
            <a:endParaRPr lang="he-IL" sz="2400" dirty="0">
              <a:latin typeface="Times New Roman" pitchFamily="18" charset="0"/>
            </a:endParaRPr>
          </a:p>
          <a:p>
            <a:pPr marL="342900" indent="-342900" algn="just" rtl="1"/>
            <a:r>
              <a:rPr lang="en-US" sz="2400" dirty="0">
                <a:latin typeface="Times New Roman" pitchFamily="18" charset="0"/>
              </a:rPr>
              <a:t>2</a:t>
            </a:r>
            <a:r>
              <a:rPr lang="he-IL" sz="2400" dirty="0">
                <a:latin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</a:rPr>
              <a:t>	</a:t>
            </a:r>
            <a:r>
              <a:rPr lang="he-IL" sz="2400" dirty="0">
                <a:latin typeface="Times New Roman" pitchFamily="18" charset="0"/>
              </a:rPr>
              <a:t>כפי שראינו, בעקבות הוצאת צומת מעץ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 יכול להתקבל מצב (זמני, לפני התיקון), שבו יש צומת עם גורם איזון </a:t>
            </a:r>
            <a:r>
              <a:rPr lang="en-US" sz="2400" dirty="0">
                <a:latin typeface="Times New Roman" pitchFamily="18" charset="0"/>
              </a:rPr>
              <a:t>+2</a:t>
            </a:r>
            <a:r>
              <a:rPr lang="he-IL" sz="2400" dirty="0">
                <a:latin typeface="Times New Roman" pitchFamily="18" charset="0"/>
              </a:rPr>
              <a:t>, ולו בן שמאלי עם גורם איזון 0. </a:t>
            </a:r>
          </a:p>
          <a:p>
            <a:pPr marL="342900" indent="-342900" algn="just" rtl="1"/>
            <a:r>
              <a:rPr lang="he-IL" sz="2400" dirty="0">
                <a:latin typeface="Times New Roman" pitchFamily="18" charset="0"/>
              </a:rPr>
              <a:t>    </a:t>
            </a:r>
            <a:r>
              <a:rPr lang="en-US" sz="2400" dirty="0">
                <a:latin typeface="Times New Roman" pitchFamily="18" charset="0"/>
              </a:rPr>
              <a:t>	</a:t>
            </a:r>
            <a:r>
              <a:rPr lang="he-IL" sz="2400" dirty="0">
                <a:latin typeface="Times New Roman" pitchFamily="18" charset="0"/>
              </a:rPr>
              <a:t>הסבירו מדוע מצב כזה לא ייתכן בעקבות הכנסת צומת לעץ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</a:endParaRPr>
          </a:p>
          <a:p>
            <a:pPr marL="342900" indent="-342900" algn="just" rtl="1"/>
            <a:endParaRPr lang="en-US" sz="2400" dirty="0">
              <a:latin typeface="Times New Roman" pitchFamily="18" charset="0"/>
            </a:endParaRPr>
          </a:p>
          <a:p>
            <a:pPr marL="342900" indent="-342900" algn="just" rtl="1"/>
            <a:r>
              <a:rPr lang="en-US" sz="2400" dirty="0">
                <a:latin typeface="Times New Roman" pitchFamily="18" charset="0"/>
              </a:rPr>
              <a:t>3</a:t>
            </a:r>
            <a:r>
              <a:rPr lang="he-IL" sz="2400" dirty="0">
                <a:latin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</a:rPr>
              <a:t>	</a:t>
            </a:r>
            <a:r>
              <a:rPr lang="he-IL" sz="2400" dirty="0">
                <a:latin typeface="Times New Roman" pitchFamily="18" charset="0"/>
              </a:rPr>
              <a:t>רוצים לבנות 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 עם השלמים בין 1 ל- 7. הציעו סדר הכנסה כזה, שלא יצריך ביצוע אף גלגול. הציעו סדר הכנסה שיצריך כמות </a:t>
            </a:r>
            <a:r>
              <a:rPr lang="he-IL" sz="2400" dirty="0" err="1">
                <a:latin typeface="Times New Roman" pitchFamily="18" charset="0"/>
              </a:rPr>
              <a:t>מקסימלית</a:t>
            </a:r>
            <a:r>
              <a:rPr lang="he-IL" sz="2400" dirty="0">
                <a:latin typeface="Times New Roman" pitchFamily="18" charset="0"/>
              </a:rPr>
              <a:t> של גלגולים.</a:t>
            </a:r>
          </a:p>
          <a:p>
            <a:pPr marL="342900" indent="-342900" algn="just" rtl="1"/>
            <a:endParaRPr lang="he-IL" sz="2400" dirty="0">
              <a:latin typeface="Times New Roman" pitchFamily="18" charset="0"/>
            </a:endParaRPr>
          </a:p>
          <a:p>
            <a:pPr marL="342900" indent="-342900" algn="just" rtl="1"/>
            <a:r>
              <a:rPr lang="en-US" sz="2400" dirty="0">
                <a:latin typeface="Times New Roman" pitchFamily="18" charset="0"/>
              </a:rPr>
              <a:t>4</a:t>
            </a:r>
            <a:r>
              <a:rPr lang="he-IL" sz="2400" dirty="0">
                <a:latin typeface="Times New Roman" pitchFamily="18" charset="0"/>
              </a:rPr>
              <a:t>.	מה צורתו של העץ המתקבל מהכנסת המספרים 1 עד 7 לפי הסדר לעץ </a:t>
            </a:r>
            <a:r>
              <a:rPr lang="en-US" sz="2400" dirty="0">
                <a:latin typeface="Times New Roman" pitchFamily="18" charset="0"/>
              </a:rPr>
              <a:t>AVL</a:t>
            </a:r>
            <a:r>
              <a:rPr lang="he-IL" sz="2400" dirty="0">
                <a:latin typeface="Times New Roman" pitchFamily="18" charset="0"/>
              </a:rPr>
              <a:t>?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981200" y="130175"/>
            <a:ext cx="82296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rtl="1" eaLnBrk="1" hangingPunct="1">
              <a:defRPr/>
            </a:pPr>
            <a:r>
              <a:rPr lang="he-IL" sz="3200" u="sng" dirty="0">
                <a:latin typeface="+mj-lt"/>
                <a:ea typeface="+mj-ea"/>
              </a:rPr>
              <a:t>תשובות לשאלות חזרה</a:t>
            </a:r>
            <a:endParaRPr lang="en-US" sz="3600" dirty="0">
              <a:latin typeface="+mj-lt"/>
              <a:ea typeface="+mj-ea"/>
            </a:endParaRPr>
          </a:p>
        </p:txBody>
      </p:sp>
      <p:sp>
        <p:nvSpPr>
          <p:cNvPr id="41988" name="מלבן 5"/>
          <p:cNvSpPr>
            <a:spLocks noChangeArrowheads="1"/>
          </p:cNvSpPr>
          <p:nvPr/>
        </p:nvSpPr>
        <p:spPr bwMode="auto">
          <a:xfrm>
            <a:off x="531845" y="746579"/>
            <a:ext cx="1088192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rtl="1"/>
            <a:r>
              <a:rPr lang="en-US" dirty="0">
                <a:latin typeface="Times New Roman" pitchFamily="18" charset="0"/>
              </a:rPr>
              <a:t>1</a:t>
            </a:r>
            <a:r>
              <a:rPr lang="he-IL" sz="2400" dirty="0">
                <a:latin typeface="Times New Roman" pitchFamily="18" charset="0"/>
              </a:rPr>
              <a:t>.	אם גורם האיזון של צומת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he-IL" sz="2400" dirty="0">
                <a:latin typeface="Times New Roman" pitchFamily="18" charset="0"/>
              </a:rPr>
              <a:t> משתנה בעקבות הכנסה מ- </a:t>
            </a:r>
            <a:r>
              <a:rPr lang="en-US" sz="2400" dirty="0">
                <a:latin typeface="Times New Roman" pitchFamily="18" charset="0"/>
              </a:rPr>
              <a:t>+1</a:t>
            </a:r>
            <a:r>
              <a:rPr lang="he-IL" sz="2400" dirty="0">
                <a:latin typeface="Times New Roman" pitchFamily="18" charset="0"/>
              </a:rPr>
              <a:t> ל- 0, אז הצומת החדש הוכנס לתת-העץ הימני, וכעת גובהו שווה לגובהו של תת-העץ השמאלי. לכן הגובה של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he-IL" sz="2400" dirty="0">
                <a:latin typeface="Times New Roman" pitchFamily="18" charset="0"/>
              </a:rPr>
              <a:t> לא משתנה. באופן סימטרי, הטענה נכונה גם עבור המצב השני.</a:t>
            </a:r>
          </a:p>
          <a:p>
            <a:pPr marL="342900" indent="-342900" algn="r" rtl="1"/>
            <a:r>
              <a:rPr lang="he-IL" sz="2400" dirty="0">
                <a:latin typeface="Times New Roman" pitchFamily="18" charset="0"/>
              </a:rPr>
              <a:t>	בהוצאה המצב הפוך – דווקא שינוי של גורם האיזון מ- 0 ל- </a:t>
            </a:r>
            <a:r>
              <a:rPr lang="en-US" sz="2400" dirty="0">
                <a:latin typeface="Times New Roman" pitchFamily="18" charset="0"/>
              </a:rPr>
              <a:t>±1</a:t>
            </a:r>
            <a:r>
              <a:rPr lang="he-IL" sz="2400" dirty="0">
                <a:latin typeface="Times New Roman" pitchFamily="18" charset="0"/>
              </a:rPr>
              <a:t> מעיד על אי-שינוי בגובה.</a:t>
            </a:r>
          </a:p>
          <a:p>
            <a:pPr marL="342900" indent="-342900" algn="r" rtl="1"/>
            <a:endParaRPr lang="he-IL" sz="2400" dirty="0">
              <a:latin typeface="Times New Roman" pitchFamily="18" charset="0"/>
            </a:endParaRPr>
          </a:p>
          <a:p>
            <a:pPr marL="342900" indent="-342900" algn="r" rtl="1"/>
            <a:r>
              <a:rPr lang="en-US" sz="2400" dirty="0">
                <a:latin typeface="Times New Roman" pitchFamily="18" charset="0"/>
              </a:rPr>
              <a:t>2</a:t>
            </a:r>
            <a:r>
              <a:rPr lang="he-IL" sz="2400" dirty="0">
                <a:latin typeface="Times New Roman" pitchFamily="18" charset="0"/>
              </a:rPr>
              <a:t>. 	אם בעקבות הכנסה לצומת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he-IL" sz="2400" dirty="0">
                <a:latin typeface="Times New Roman" pitchFamily="18" charset="0"/>
              </a:rPr>
              <a:t> יש גורם איזון </a:t>
            </a:r>
            <a:r>
              <a:rPr lang="en-US" sz="2400" dirty="0">
                <a:latin typeface="Times New Roman" pitchFamily="18" charset="0"/>
              </a:rPr>
              <a:t>+2</a:t>
            </a:r>
            <a:r>
              <a:rPr lang="he-IL" sz="2400" dirty="0">
                <a:latin typeface="Times New Roman" pitchFamily="18" charset="0"/>
              </a:rPr>
              <a:t>, הדבר מעיד על כך שההכנסה בוצעה בתת-העץ השמאלי שלו. אם לבנו השמאלי של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he-IL" sz="2400" dirty="0">
                <a:latin typeface="Times New Roman" pitchFamily="18" charset="0"/>
              </a:rPr>
              <a:t> גורם איזון 0, אז לפני ההכנסה הוא היה </a:t>
            </a:r>
            <a:r>
              <a:rPr lang="en-US" sz="2400" dirty="0">
                <a:latin typeface="Times New Roman" pitchFamily="18" charset="0"/>
              </a:rPr>
              <a:t>+1</a:t>
            </a:r>
            <a:r>
              <a:rPr lang="he-IL" sz="2400" dirty="0">
                <a:latin typeface="Times New Roman" pitchFamily="18" charset="0"/>
              </a:rPr>
              <a:t> או </a:t>
            </a:r>
            <a:r>
              <a:rPr lang="en-US" sz="2400" dirty="0">
                <a:latin typeface="Times New Roman" pitchFamily="18" charset="0"/>
              </a:rPr>
              <a:t>-1</a:t>
            </a:r>
            <a:r>
              <a:rPr lang="he-IL" sz="2400" dirty="0">
                <a:latin typeface="Times New Roman" pitchFamily="18" charset="0"/>
              </a:rPr>
              <a:t> (אם היה 0 אז הוא לא השתנה בעקבות ההכנסה, ולכן גם גורם האיזון של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he-IL" sz="2400" dirty="0">
                <a:latin typeface="Times New Roman" pitchFamily="18" charset="0"/>
              </a:rPr>
              <a:t> גם לא היה אמור להשתנות). </a:t>
            </a:r>
          </a:p>
          <a:p>
            <a:pPr marL="342900" indent="-342900" algn="r" rtl="1"/>
            <a:r>
              <a:rPr lang="he-IL" sz="2400" dirty="0">
                <a:latin typeface="Times New Roman" pitchFamily="18" charset="0"/>
              </a:rPr>
              <a:t>	לפי שאלה 2, גובהו של הבן השמאלי לא השתנה בעקבות ההכנסה, ולכן גם גורם האיזון של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he-IL" sz="2400" dirty="0">
                <a:latin typeface="Times New Roman" pitchFamily="18" charset="0"/>
              </a:rPr>
              <a:t> לא היה יכול להשתנות.</a:t>
            </a:r>
          </a:p>
          <a:p>
            <a:pPr marL="342900" indent="-342900" algn="r" rtl="1"/>
            <a:endParaRPr lang="he-IL" sz="2400" dirty="0">
              <a:latin typeface="Times New Roman" pitchFamily="18" charset="0"/>
            </a:endParaRPr>
          </a:p>
          <a:p>
            <a:pPr marL="342900" indent="-342900" algn="r" rtl="1"/>
            <a:r>
              <a:rPr lang="en-US" sz="2400" dirty="0">
                <a:latin typeface="Times New Roman" pitchFamily="18" charset="0"/>
              </a:rPr>
              <a:t>3</a:t>
            </a:r>
            <a:r>
              <a:rPr lang="he-IL" sz="2400" dirty="0">
                <a:latin typeface="Times New Roman" pitchFamily="18" charset="0"/>
              </a:rPr>
              <a:t>. 	ללא גלגולים, למשל (משמאל לימין):	</a:t>
            </a:r>
            <a:r>
              <a:rPr lang="en-US" sz="2400" dirty="0">
                <a:latin typeface="Times New Roman" pitchFamily="18" charset="0"/>
              </a:rPr>
              <a:t>4, 2, 6, 1, 3, 5, 7</a:t>
            </a:r>
            <a:endParaRPr lang="he-IL" sz="2400" dirty="0">
              <a:latin typeface="Times New Roman" pitchFamily="18" charset="0"/>
            </a:endParaRPr>
          </a:p>
          <a:p>
            <a:pPr marL="342900" indent="-342900" algn="r" rtl="1"/>
            <a:r>
              <a:rPr lang="he-IL" sz="2400" dirty="0">
                <a:latin typeface="Times New Roman" pitchFamily="18" charset="0"/>
              </a:rPr>
              <a:t>	מקסימום גלגולים – סדר ממוין או ממוין הפוך (4 גלגולים).</a:t>
            </a:r>
          </a:p>
          <a:p>
            <a:pPr marL="342900" indent="-342900" algn="r" rtl="1"/>
            <a:endParaRPr lang="he-IL" sz="2400" dirty="0">
              <a:latin typeface="Times New Roman" pitchFamily="18" charset="0"/>
            </a:endParaRPr>
          </a:p>
          <a:p>
            <a:pPr marL="342900" indent="-342900" algn="r" rtl="1"/>
            <a:r>
              <a:rPr lang="en-US" sz="2400" dirty="0">
                <a:latin typeface="Times New Roman" pitchFamily="18" charset="0"/>
              </a:rPr>
              <a:t>4</a:t>
            </a:r>
            <a:r>
              <a:rPr lang="he-IL" sz="2400" dirty="0">
                <a:latin typeface="Times New Roman" pitchFamily="18" charset="0"/>
              </a:rPr>
              <a:t>.	עץ שלם.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582CF5-838F-4F02-9549-7CC1CBBA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תרגיל 1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9208DC-D69A-41E6-AD51-DF831FC3B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sz="2800" dirty="0">
                <a:latin typeface="Times New Roman" pitchFamily="18" charset="0"/>
              </a:rPr>
              <a:t>תארו אלגוריתם ליניארי לבניית עץ </a:t>
            </a:r>
            <a:r>
              <a:rPr lang="en-US" sz="2800" dirty="0">
                <a:latin typeface="Times New Roman" pitchFamily="18" charset="0"/>
              </a:rPr>
              <a:t>AVL</a:t>
            </a:r>
            <a:r>
              <a:rPr lang="he-IL" sz="2800" dirty="0">
                <a:latin typeface="Times New Roman" pitchFamily="18" charset="0"/>
              </a:rPr>
              <a:t> ממערך </a:t>
            </a:r>
            <a:r>
              <a:rPr lang="he-IL" sz="2800" u="sng" dirty="0">
                <a:latin typeface="Times New Roman" pitchFamily="18" charset="0"/>
              </a:rPr>
              <a:t>ממוין</a:t>
            </a:r>
            <a:r>
              <a:rPr lang="he-IL" sz="2800" dirty="0">
                <a:latin typeface="Times New Roman" pitchFamily="18" charset="0"/>
              </a:rPr>
              <a:t> </a:t>
            </a:r>
            <a:r>
              <a:rPr lang="en-US" sz="2800" i="1" dirty="0">
                <a:latin typeface="Times New Roman" pitchFamily="18" charset="0"/>
              </a:rPr>
              <a:t>A</a:t>
            </a:r>
            <a:r>
              <a:rPr lang="he-IL" sz="2800" dirty="0">
                <a:latin typeface="Times New Roman" pitchFamily="18" charset="0"/>
              </a:rPr>
              <a:t> בעל </a:t>
            </a:r>
            <a:r>
              <a:rPr lang="en-US" sz="2800" i="1" dirty="0">
                <a:latin typeface="Times New Roman" pitchFamily="18" charset="0"/>
              </a:rPr>
              <a:t>n</a:t>
            </a:r>
            <a:r>
              <a:rPr lang="he-IL" sz="2800" dirty="0">
                <a:latin typeface="Times New Roman" pitchFamily="18" charset="0"/>
              </a:rPr>
              <a:t> איברים.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2755363-2F5A-492A-9A79-6710A886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199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919536" y="44624"/>
            <a:ext cx="8496944" cy="1438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lnSpc>
                <a:spcPct val="150000"/>
              </a:lnSpc>
            </a:pPr>
            <a:r>
              <a:rPr lang="he-IL" sz="2000" u="sng" dirty="0">
                <a:latin typeface="Times New Roman" pitchFamily="18" charset="0"/>
              </a:rPr>
              <a:t>פתרון 1 – דרך א'</a:t>
            </a:r>
          </a:p>
          <a:p>
            <a:pPr algn="r" rtl="1" eaLnBrk="1" hangingPunct="1">
              <a:lnSpc>
                <a:spcPct val="150000"/>
              </a:lnSpc>
            </a:pPr>
            <a:r>
              <a:rPr lang="he-IL" sz="2000" dirty="0">
                <a:latin typeface="Times New Roman" pitchFamily="18" charset="0"/>
              </a:rPr>
              <a:t>נקצה צומת לשורש, ובו נאחסן את המפתח במיקום האמצעי של המערך (שהוא גם החציון). אח"כ נבנה שני תת-עצים באופן רקורסיבי ונחבר אותם לשורש.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847528" y="1772815"/>
            <a:ext cx="6336704" cy="3103406"/>
          </a:xfrm>
          <a:prstGeom prst="rect">
            <a:avLst/>
          </a:prstGeom>
          <a:solidFill>
            <a:srgbClr val="EAEAEA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126000" tIns="82800" rIns="126000" bIns="82800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Sorted-Array-2-AVL(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	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►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first call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=1,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 &gt; 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return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nil</a:t>
            </a: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Create 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 		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►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new node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 (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  <a:sym typeface="Symbol"/>
              </a:rPr>
              <a:t>p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)/2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key[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 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mid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left[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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Sorted-Array-2-AVL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right[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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Sorted-Array-2-AVL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►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AVL includes pointers to parents, update this info too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return 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6" name="מלבן 5"/>
          <p:cNvSpPr/>
          <p:nvPr/>
        </p:nvSpPr>
        <p:spPr>
          <a:xfrm>
            <a:off x="1231641" y="5085185"/>
            <a:ext cx="9148327" cy="51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</a:pPr>
            <a:r>
              <a:rPr lang="he-IL" sz="2000" dirty="0">
                <a:latin typeface="Times New Roman" pitchFamily="18" charset="0"/>
              </a:rPr>
              <a:t>נוסחת הנסיגה המתאימה לזמן הריצה היא  </a:t>
            </a:r>
            <a:r>
              <a:rPr lang="en-US" sz="2000" i="1" dirty="0">
                <a:latin typeface="Times New Roman" pitchFamily="18" charset="0"/>
              </a:rPr>
              <a:t>t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i="1" dirty="0">
                <a:latin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</a:rPr>
              <a:t>) = 2</a:t>
            </a:r>
            <a:r>
              <a:rPr lang="en-US" sz="2000" i="1" dirty="0">
                <a:latin typeface="Times New Roman" pitchFamily="18" charset="0"/>
              </a:rPr>
              <a:t>t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i="1" dirty="0">
                <a:latin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</a:rPr>
              <a:t>/2) + </a:t>
            </a:r>
            <a:r>
              <a:rPr lang="el-GR" sz="2000" dirty="0">
                <a:latin typeface="Times New Roman"/>
                <a:cs typeface="Times New Roman"/>
              </a:rPr>
              <a:t>Θ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 pitchFamily="18" charset="0"/>
              </a:rPr>
              <a:t>1)</a:t>
            </a:r>
            <a:r>
              <a:rPr lang="he-IL" sz="2000" dirty="0">
                <a:latin typeface="Times New Roman" pitchFamily="18" charset="0"/>
              </a:rPr>
              <a:t> ופתרונה </a:t>
            </a:r>
            <a:r>
              <a:rPr lang="he-IL" sz="2000" dirty="0" err="1">
                <a:latin typeface="Times New Roman" pitchFamily="18" charset="0"/>
              </a:rPr>
              <a:t>האסימפטוטי</a:t>
            </a:r>
            <a:r>
              <a:rPr lang="he-IL" sz="2000" dirty="0">
                <a:latin typeface="Times New Roman" pitchFamily="18" charset="0"/>
              </a:rPr>
              <a:t> </a:t>
            </a:r>
            <a:r>
              <a:rPr lang="el-GR" sz="2000" dirty="0">
                <a:latin typeface="Times New Roman"/>
                <a:cs typeface="Times New Roman"/>
              </a:rPr>
              <a:t>Θ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i="1" dirty="0">
                <a:latin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</a:rPr>
              <a:t>)</a:t>
            </a:r>
            <a:r>
              <a:rPr lang="he-IL" sz="2000" dirty="0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919536" y="44625"/>
            <a:ext cx="8496944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lnSpc>
                <a:spcPct val="150000"/>
              </a:lnSpc>
            </a:pPr>
            <a:r>
              <a:rPr lang="he-IL" u="sng" dirty="0">
                <a:latin typeface="Times New Roman" pitchFamily="18" charset="0"/>
              </a:rPr>
              <a:t>פתרון 1 – דרך ב'</a:t>
            </a:r>
          </a:p>
          <a:p>
            <a:pPr algn="r" rtl="1" eaLnBrk="1" hangingPunct="1">
              <a:lnSpc>
                <a:spcPct val="150000"/>
              </a:lnSpc>
            </a:pPr>
            <a:r>
              <a:rPr lang="he-IL" dirty="0">
                <a:latin typeface="Times New Roman" pitchFamily="18" charset="0"/>
              </a:rPr>
              <a:t>נבנה עץ (כמעט) שלם, שהוא כידוע עץ </a:t>
            </a:r>
            <a:r>
              <a:rPr lang="en-US" dirty="0">
                <a:latin typeface="Times New Roman" pitchFamily="18" charset="0"/>
              </a:rPr>
              <a:t>AVL</a:t>
            </a:r>
            <a:r>
              <a:rPr lang="he-IL" dirty="0">
                <a:latin typeface="Times New Roman" pitchFamily="18" charset="0"/>
              </a:rPr>
              <a:t> חוקי (גורם האיזון של כל הצמתים הוא 0 או 1).</a:t>
            </a:r>
          </a:p>
          <a:p>
            <a:pPr algn="r" rtl="1" eaLnBrk="1" hangingPunct="1">
              <a:lnSpc>
                <a:spcPct val="150000"/>
              </a:lnSpc>
            </a:pPr>
            <a:endParaRPr lang="he-IL" dirty="0">
              <a:latin typeface="Times New Roman" pitchFamily="18" charset="0"/>
            </a:endParaRPr>
          </a:p>
          <a:p>
            <a:pPr algn="r" rtl="1" eaLnBrk="1" hangingPunct="1">
              <a:lnSpc>
                <a:spcPct val="150000"/>
              </a:lnSpc>
            </a:pPr>
            <a:r>
              <a:rPr lang="he-IL" dirty="0">
                <a:latin typeface="Times New Roman" pitchFamily="18" charset="0"/>
              </a:rPr>
              <a:t>נעשה זאת כך: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>
                <a:latin typeface="Times New Roman" pitchFamily="18" charset="0"/>
              </a:rPr>
              <a:t>נבנה "שלד" של עץ (כמעט) שלם, ללא ערכים בצמתים, למשל ברקורסיה: נקצה צומת עבור השורש, ואח"כ נבנה רקורסיבית את תת-העץ השמאלי והימני, אם הם צריכים להיות קיימים (כלומר אם האינדקס של השורש שלהם אינו גדול מ- 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he-IL" dirty="0">
                <a:latin typeface="Times New Roman" pitchFamily="18" charset="0"/>
              </a:rPr>
              <a:t>)</a:t>
            </a:r>
          </a:p>
          <a:p>
            <a:pPr marL="228600" indent="-228600" algn="r" rtl="1">
              <a:lnSpc>
                <a:spcPct val="150000"/>
              </a:lnSpc>
              <a:buFontTx/>
              <a:buChar char="-"/>
            </a:pPr>
            <a:endParaRPr lang="he-IL" dirty="0">
              <a:latin typeface="Times New Roman" pitchFamily="18" charset="0"/>
            </a:endParaRPr>
          </a:p>
          <a:p>
            <a:pPr marL="228600" indent="-228600" algn="r" rtl="1">
              <a:lnSpc>
                <a:spcPct val="150000"/>
              </a:lnSpc>
              <a:buFontTx/>
              <a:buChar char="-"/>
            </a:pPr>
            <a:endParaRPr lang="he-IL" dirty="0">
              <a:latin typeface="Times New Roman" pitchFamily="18" charset="0"/>
            </a:endParaRPr>
          </a:p>
          <a:p>
            <a:pPr marL="228600" indent="-228600" algn="r" rtl="1">
              <a:lnSpc>
                <a:spcPct val="150000"/>
              </a:lnSpc>
              <a:buFontTx/>
              <a:buChar char="-"/>
            </a:pPr>
            <a:endParaRPr lang="he-IL" dirty="0">
              <a:latin typeface="Times New Roman" pitchFamily="18" charset="0"/>
            </a:endParaRPr>
          </a:p>
          <a:p>
            <a:pPr marL="228600" indent="-228600" algn="r" rtl="1">
              <a:lnSpc>
                <a:spcPct val="150000"/>
              </a:lnSpc>
              <a:buFontTx/>
              <a:buChar char="-"/>
            </a:pPr>
            <a:endParaRPr lang="he-IL" dirty="0">
              <a:latin typeface="Times New Roman" pitchFamily="18" charset="0"/>
            </a:endParaRPr>
          </a:p>
          <a:p>
            <a:pPr marL="228600" indent="-228600" algn="r" rtl="1">
              <a:lnSpc>
                <a:spcPct val="150000"/>
              </a:lnSpc>
              <a:buFontTx/>
              <a:buChar char="-"/>
            </a:pPr>
            <a:endParaRPr lang="he-IL" dirty="0">
              <a:latin typeface="Times New Roman" pitchFamily="18" charset="0"/>
            </a:endParaRPr>
          </a:p>
          <a:p>
            <a:pPr marL="228600" indent="-228600" algn="r" rtl="1">
              <a:lnSpc>
                <a:spcPct val="150000"/>
              </a:lnSpc>
            </a:pPr>
            <a:r>
              <a:rPr lang="he-IL" dirty="0">
                <a:latin typeface="Times New Roman" pitchFamily="18" charset="0"/>
              </a:rPr>
              <a:t>	</a:t>
            </a:r>
          </a:p>
          <a:p>
            <a:pPr marL="342900" indent="-342900" algn="r" rtl="1">
              <a:lnSpc>
                <a:spcPct val="150000"/>
              </a:lnSpc>
              <a:buAutoNum type="arabicPeriod" startAt="2"/>
            </a:pPr>
            <a:r>
              <a:rPr lang="he-IL" dirty="0">
                <a:latin typeface="Times New Roman" pitchFamily="18" charset="0"/>
              </a:rPr>
              <a:t>נעבור על המערך, תוך כדי סיור </a:t>
            </a:r>
            <a:r>
              <a:rPr lang="en-US" dirty="0" err="1">
                <a:latin typeface="Times New Roman" pitchFamily="18" charset="0"/>
              </a:rPr>
              <a:t>inorder</a:t>
            </a:r>
            <a:r>
              <a:rPr lang="he-IL" dirty="0">
                <a:latin typeface="Times New Roman" pitchFamily="18" charset="0"/>
              </a:rPr>
              <a:t> בעץ. הפעולה </a:t>
            </a:r>
            <a:r>
              <a:rPr lang="en-US" dirty="0">
                <a:latin typeface="Times New Roman" pitchFamily="18" charset="0"/>
              </a:rPr>
              <a:t>Visit</a:t>
            </a:r>
            <a:r>
              <a:rPr lang="he-IL" dirty="0">
                <a:latin typeface="Times New Roman" pitchFamily="18" charset="0"/>
              </a:rPr>
              <a:t> תתורגם לכתיבה של האיבר מהמערך לצומת בעץ.</a:t>
            </a:r>
          </a:p>
          <a:p>
            <a:pPr marL="342900" indent="-342900" algn="r" rtl="1">
              <a:lnSpc>
                <a:spcPct val="150000"/>
              </a:lnSpc>
            </a:pPr>
            <a:r>
              <a:rPr lang="he-IL" dirty="0">
                <a:latin typeface="Times New Roman" pitchFamily="18" charset="0"/>
              </a:rPr>
              <a:t>גם כאן סיבוכיות הזמן </a:t>
            </a:r>
            <a:r>
              <a:rPr lang="el-GR" dirty="0">
                <a:latin typeface="Times New Roman"/>
                <a:cs typeface="Times New Roman"/>
              </a:rPr>
              <a:t>Θ</a:t>
            </a:r>
            <a:r>
              <a:rPr lang="en-US" dirty="0">
                <a:latin typeface="Times New Roman"/>
                <a:cs typeface="Times New Roman"/>
              </a:rPr>
              <a:t>(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91544" y="2996952"/>
            <a:ext cx="6264696" cy="2438608"/>
          </a:xfrm>
          <a:prstGeom prst="rect">
            <a:avLst/>
          </a:prstGeom>
          <a:solidFill>
            <a:srgbClr val="EAEAEA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lIns="126000" tIns="82800" rIns="126000" bIns="82800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Build-Empty-AVL(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	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►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first call 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return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nil</a:t>
            </a: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Create 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 		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►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new node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left[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  Build-Empty-AVL(2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right[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  Build-Empty-AVL(2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+1,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►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AVL includes pointers to parents, update this info too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return 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DA5A4F-D5DC-4433-A0B5-5D0349507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תרגיל 2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AEB9C3-5627-416F-BD5F-096A6B4CD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rtl="1">
              <a:spcBef>
                <a:spcPct val="50000"/>
              </a:spcBef>
              <a:buNone/>
            </a:pPr>
            <a:r>
              <a:rPr lang="he-IL" sz="2800" dirty="0">
                <a:latin typeface="Times New Roman" pitchFamily="18" charset="0"/>
              </a:rPr>
              <a:t>נתונים שני עצי </a:t>
            </a:r>
            <a:r>
              <a:rPr lang="en-US" sz="2800" dirty="0">
                <a:latin typeface="Times New Roman" pitchFamily="18" charset="0"/>
              </a:rPr>
              <a:t>AVL</a:t>
            </a:r>
            <a:r>
              <a:rPr lang="he-IL" sz="2800" dirty="0">
                <a:latin typeface="Times New Roman" pitchFamily="18" charset="0"/>
              </a:rPr>
              <a:t>, כל אחד בעל </a:t>
            </a:r>
            <a:r>
              <a:rPr lang="en-US" sz="2800" i="1" dirty="0">
                <a:latin typeface="Times New Roman" pitchFamily="18" charset="0"/>
              </a:rPr>
              <a:t>n</a:t>
            </a:r>
            <a:r>
              <a:rPr lang="he-IL" sz="2800" dirty="0">
                <a:latin typeface="Times New Roman" pitchFamily="18" charset="0"/>
              </a:rPr>
              <a:t> צמתים.</a:t>
            </a:r>
          </a:p>
          <a:p>
            <a:pPr marL="0" indent="0" algn="just" rtl="1">
              <a:spcBef>
                <a:spcPct val="50000"/>
              </a:spcBef>
              <a:buNone/>
            </a:pPr>
            <a:r>
              <a:rPr lang="he-IL" sz="2800" dirty="0">
                <a:latin typeface="Times New Roman" pitchFamily="18" charset="0"/>
              </a:rPr>
              <a:t>תארו אלגוריתם יעיל ככל האפשר למיזוג שני העצים לעץ </a:t>
            </a:r>
            <a:r>
              <a:rPr lang="en-US" sz="2800" dirty="0">
                <a:latin typeface="Times New Roman" pitchFamily="18" charset="0"/>
              </a:rPr>
              <a:t>AVL</a:t>
            </a:r>
            <a:r>
              <a:rPr lang="he-IL" sz="2800" dirty="0">
                <a:latin typeface="Times New Roman" pitchFamily="18" charset="0"/>
              </a:rPr>
              <a:t> אחד.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F195012-AC0B-4593-A76A-DB8403F5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70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847528" y="882918"/>
            <a:ext cx="8496944" cy="4500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he-IL" u="sng" dirty="0">
                <a:latin typeface="Times New Roman" pitchFamily="18" charset="0"/>
              </a:rPr>
              <a:t>פתרון נאיבי:</a:t>
            </a:r>
            <a:r>
              <a:rPr lang="he-IL" dirty="0">
                <a:latin typeface="Times New Roman" pitchFamily="18" charset="0"/>
              </a:rPr>
              <a:t> עוברים על כל אברי אחד העצים, ומכניסים אותם לעץ השני אחד אחד.</a:t>
            </a:r>
          </a:p>
          <a:p>
            <a:pPr marL="444500" lvl="1" algn="r" rtl="1">
              <a:spcBef>
                <a:spcPct val="50000"/>
              </a:spcBef>
            </a:pPr>
            <a:r>
              <a:rPr lang="he-IL" u="sng" dirty="0">
                <a:latin typeface="Times New Roman" pitchFamily="18" charset="0"/>
              </a:rPr>
              <a:t>סיבוכיות</a:t>
            </a:r>
            <a:r>
              <a:rPr lang="he-IL" dirty="0">
                <a:latin typeface="Times New Roman" pitchFamily="18" charset="0"/>
              </a:rPr>
              <a:t>: מכניסים 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he-IL" dirty="0">
                <a:latin typeface="Times New Roman" pitchFamily="18" charset="0"/>
              </a:rPr>
              <a:t> פעמים איבר לעץ </a:t>
            </a:r>
            <a:r>
              <a:rPr lang="en-US" dirty="0">
                <a:latin typeface="Times New Roman" pitchFamily="18" charset="0"/>
              </a:rPr>
              <a:t>AVL</a:t>
            </a:r>
            <a:r>
              <a:rPr lang="he-IL" dirty="0">
                <a:latin typeface="Times New Roman" pitchFamily="18" charset="0"/>
              </a:rPr>
              <a:t>, שגודלו ההתחלתי 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he-IL" dirty="0">
                <a:latin typeface="Times New Roman" pitchFamily="18" charset="0"/>
              </a:rPr>
              <a:t> וגודלו הסופי </a:t>
            </a:r>
            <a:r>
              <a:rPr lang="en-US" dirty="0">
                <a:latin typeface="Times New Roman" pitchFamily="18" charset="0"/>
              </a:rPr>
              <a:t>2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he-IL" dirty="0">
                <a:latin typeface="Times New Roman" pitchFamily="18" charset="0"/>
              </a:rPr>
              <a:t>. </a:t>
            </a:r>
          </a:p>
          <a:p>
            <a:pPr marL="1308100" lvl="1" algn="r" rtl="1">
              <a:spcBef>
                <a:spcPct val="50000"/>
              </a:spcBef>
            </a:pPr>
            <a:r>
              <a:rPr lang="he-IL" dirty="0">
                <a:latin typeface="Times New Roman" pitchFamily="18" charset="0"/>
              </a:rPr>
              <a:t>כלומר כל הכנסה מתבצעת ב-  </a:t>
            </a:r>
            <a:r>
              <a:rPr lang="en-US" dirty="0">
                <a:latin typeface="Times New Roman" pitchFamily="18" charset="0"/>
                <a:sym typeface="Euclid Symbol" pitchFamily="18" charset="2"/>
              </a:rPr>
              <a:t>O</a:t>
            </a:r>
            <a:r>
              <a:rPr lang="en-US" dirty="0">
                <a:latin typeface="Times New Roman" pitchFamily="18" charset="0"/>
              </a:rPr>
              <a:t>(log2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 </a:t>
            </a:r>
            <a:r>
              <a:rPr lang="he-IL" dirty="0" err="1">
                <a:latin typeface="Times New Roman" pitchFamily="18" charset="0"/>
              </a:rPr>
              <a:t>וב</a:t>
            </a:r>
            <a:r>
              <a:rPr lang="he-IL" dirty="0">
                <a:latin typeface="Times New Roman" pitchFamily="18" charset="0"/>
              </a:rPr>
              <a:t>- </a:t>
            </a:r>
            <a:r>
              <a:rPr lang="el-GR" dirty="0">
                <a:latin typeface="Times New Roman" pitchFamily="18" charset="0"/>
                <a:sym typeface="Euclid Symbol" pitchFamily="18" charset="2"/>
              </a:rPr>
              <a:t>Ω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, כלומר ב- </a:t>
            </a:r>
            <a:r>
              <a:rPr lang="el-GR" dirty="0">
                <a:latin typeface="Times New Roman" pitchFamily="18" charset="0"/>
              </a:rPr>
              <a:t>Θ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. </a:t>
            </a:r>
          </a:p>
          <a:p>
            <a:pPr marL="1308100" lvl="1" algn="r" rtl="1">
              <a:spcBef>
                <a:spcPct val="50000"/>
              </a:spcBef>
            </a:pPr>
            <a:r>
              <a:rPr lang="he-IL" dirty="0">
                <a:latin typeface="Times New Roman" pitchFamily="18" charset="0"/>
              </a:rPr>
              <a:t>סה"כ  </a:t>
            </a:r>
            <a:r>
              <a:rPr lang="el-GR" dirty="0">
                <a:latin typeface="Times New Roman" pitchFamily="18" charset="0"/>
                <a:sym typeface="Euclid Symbol" pitchFamily="18" charset="2"/>
              </a:rPr>
              <a:t>Θ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 err="1">
                <a:latin typeface="Times New Roman" pitchFamily="18" charset="0"/>
              </a:rPr>
              <a:t>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.</a:t>
            </a:r>
          </a:p>
          <a:p>
            <a:pPr marL="444500" lvl="1" algn="r" rtl="1">
              <a:spcBef>
                <a:spcPct val="50000"/>
              </a:spcBef>
            </a:pPr>
            <a:r>
              <a:rPr lang="he-IL" dirty="0">
                <a:latin typeface="Times New Roman" pitchFamily="18" charset="0"/>
              </a:rPr>
              <a:t>		</a:t>
            </a:r>
          </a:p>
          <a:p>
            <a:pPr algn="r" rtl="1">
              <a:spcBef>
                <a:spcPct val="50000"/>
              </a:spcBef>
            </a:pPr>
            <a:endParaRPr lang="he-IL" dirty="0">
              <a:latin typeface="Times New Roman" pitchFamily="18" charset="0"/>
            </a:endParaRPr>
          </a:p>
          <a:p>
            <a:pPr algn="r" rtl="1">
              <a:spcBef>
                <a:spcPct val="50000"/>
              </a:spcBef>
            </a:pPr>
            <a:r>
              <a:rPr lang="he-IL" u="sng" dirty="0">
                <a:latin typeface="Times New Roman" pitchFamily="18" charset="0"/>
              </a:rPr>
              <a:t>פתרון יעיל יותר:</a:t>
            </a:r>
            <a:r>
              <a:rPr lang="he-IL" dirty="0">
                <a:latin typeface="Times New Roman" pitchFamily="18" charset="0"/>
              </a:rPr>
              <a:t> </a:t>
            </a:r>
          </a:p>
          <a:p>
            <a:pPr marL="444500" lvl="1" algn="r" rtl="1">
              <a:lnSpc>
                <a:spcPct val="8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he-IL" dirty="0">
                <a:latin typeface="Times New Roman" pitchFamily="18" charset="0"/>
              </a:rPr>
              <a:t> נבצע סיור </a:t>
            </a:r>
            <a:r>
              <a:rPr lang="en-US" dirty="0" err="1">
                <a:latin typeface="Times New Roman" pitchFamily="18" charset="0"/>
              </a:rPr>
              <a:t>inorder</a:t>
            </a:r>
            <a:r>
              <a:rPr lang="he-IL" dirty="0">
                <a:latin typeface="Times New Roman" pitchFamily="18" charset="0"/>
              </a:rPr>
              <a:t> על כל אחד מהעצים ונכתוב את אבריו לתוך מערך.</a:t>
            </a:r>
            <a:endParaRPr lang="en-US" dirty="0">
              <a:latin typeface="Times New Roman" pitchFamily="18" charset="0"/>
            </a:endParaRPr>
          </a:p>
          <a:p>
            <a:pPr marL="444500" lvl="1" algn="r" rtl="1">
              <a:lnSpc>
                <a:spcPct val="8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he-IL" dirty="0">
                <a:latin typeface="Times New Roman" pitchFamily="18" charset="0"/>
              </a:rPr>
              <a:t> נמזג את שני המערכים (שימו לב שהמערכים ממוינים).</a:t>
            </a:r>
          </a:p>
          <a:p>
            <a:pPr marL="444500" lvl="1" algn="r" rtl="1">
              <a:lnSpc>
                <a:spcPct val="8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he-IL" dirty="0">
                <a:latin typeface="Times New Roman" pitchFamily="18" charset="0"/>
              </a:rPr>
              <a:t> נבנה מהמערך הממוזג, שגודלו  </a:t>
            </a:r>
            <a:r>
              <a:rPr lang="en-US" dirty="0">
                <a:latin typeface="Times New Roman" pitchFamily="18" charset="0"/>
              </a:rPr>
              <a:t>2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he-IL" dirty="0">
                <a:latin typeface="Times New Roman" pitchFamily="18" charset="0"/>
              </a:rPr>
              <a:t>, עץ </a:t>
            </a:r>
            <a:r>
              <a:rPr lang="en-US" dirty="0">
                <a:latin typeface="Times New Roman" pitchFamily="18" charset="0"/>
              </a:rPr>
              <a:t>AVL</a:t>
            </a:r>
            <a:r>
              <a:rPr lang="he-IL" dirty="0">
                <a:latin typeface="Times New Roman" pitchFamily="18" charset="0"/>
              </a:rPr>
              <a:t> בשיטה המתוארת בשאלה קודמת.</a:t>
            </a:r>
            <a:endParaRPr lang="he-IL" u="sng" dirty="0">
              <a:latin typeface="Times New Roman" pitchFamily="18" charset="0"/>
            </a:endParaRPr>
          </a:p>
          <a:p>
            <a:pPr marL="444500" lvl="1" algn="r" rtl="1">
              <a:lnSpc>
                <a:spcPct val="150000"/>
              </a:lnSpc>
              <a:spcBef>
                <a:spcPct val="50000"/>
              </a:spcBef>
            </a:pPr>
            <a:r>
              <a:rPr lang="he-IL" u="sng" dirty="0">
                <a:latin typeface="Times New Roman" pitchFamily="18" charset="0"/>
              </a:rPr>
              <a:t>סיבוכיות</a:t>
            </a:r>
            <a:r>
              <a:rPr lang="he-IL" dirty="0">
                <a:latin typeface="Times New Roman" pitchFamily="18" charset="0"/>
              </a:rPr>
              <a:t>: כל השלבים רצים בזמן ליניארי, כלומר </a:t>
            </a:r>
            <a:r>
              <a:rPr lang="el-GR" dirty="0">
                <a:latin typeface="Times New Roman" pitchFamily="18" charset="0"/>
                <a:sym typeface="Euclid Symbol" pitchFamily="18" charset="2"/>
              </a:rPr>
              <a:t>Θ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43A736-863E-4AD2-BFB9-2F3FE3E0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תרגיל 3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DE3855E-2BB5-4429-BB5C-C67C00D06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8479" y="2322576"/>
            <a:ext cx="11709647" cy="4050792"/>
          </a:xfrm>
        </p:spPr>
        <p:txBody>
          <a:bodyPr/>
          <a:lstStyle/>
          <a:p>
            <a:pPr marL="0" indent="0" algn="just" rtl="1">
              <a:lnSpc>
                <a:spcPct val="150000"/>
              </a:lnSpc>
              <a:spcBef>
                <a:spcPct val="50000"/>
              </a:spcBef>
              <a:buNone/>
            </a:pPr>
            <a:r>
              <a:rPr lang="he-IL" sz="2400" dirty="0">
                <a:latin typeface="Times New Roman" pitchFamily="18" charset="0"/>
              </a:rPr>
              <a:t>נתונים 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he-IL" sz="2400" dirty="0">
                <a:latin typeface="Times New Roman" pitchFamily="18" charset="0"/>
              </a:rPr>
              <a:t> איברים כלשהם. לכל איבר יש מפתח, וידוע שישנם רק  </a:t>
            </a:r>
            <a:r>
              <a:rPr lang="he-IL" sz="2400" dirty="0">
                <a:latin typeface="Times New Roman" pitchFamily="18" charset="0"/>
                <a:sym typeface="Symbol"/>
              </a:rPr>
              <a:t></a:t>
            </a:r>
            <a:r>
              <a:rPr lang="en-US" sz="2400" dirty="0" err="1">
                <a:latin typeface="Times New Roman" pitchFamily="18" charset="0"/>
              </a:rPr>
              <a:t>log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he-IL" sz="2400" dirty="0">
                <a:latin typeface="Times New Roman" pitchFamily="18" charset="0"/>
                <a:sym typeface="Symbol"/>
              </a:rPr>
              <a:t></a:t>
            </a:r>
            <a:r>
              <a:rPr lang="he-IL" sz="2400" dirty="0">
                <a:latin typeface="Times New Roman" pitchFamily="18" charset="0"/>
              </a:rPr>
              <a:t> מפתחות שונים.</a:t>
            </a:r>
          </a:p>
          <a:p>
            <a:pPr marL="0" indent="0" algn="just" rtl="1">
              <a:lnSpc>
                <a:spcPct val="150000"/>
              </a:lnSpc>
              <a:spcBef>
                <a:spcPct val="50000"/>
              </a:spcBef>
              <a:buNone/>
            </a:pPr>
            <a:r>
              <a:rPr lang="he-IL" sz="2400" dirty="0">
                <a:latin typeface="Times New Roman" pitchFamily="18" charset="0"/>
              </a:rPr>
              <a:t>הציעו אלגוריתם למיון האיברים ע"פ המפתחות שלהם, שרץ בזמן </a:t>
            </a:r>
            <a:r>
              <a:rPr lang="el-GR" sz="2400" dirty="0">
                <a:latin typeface="Times New Roman" pitchFamily="18" charset="0"/>
              </a:rPr>
              <a:t>Θ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en-US" sz="2400" dirty="0" err="1">
                <a:latin typeface="Times New Roman" pitchFamily="18" charset="0"/>
              </a:rPr>
              <a:t>loglog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)</a:t>
            </a:r>
            <a:r>
              <a:rPr lang="he-IL" sz="2400" dirty="0">
                <a:latin typeface="Times New Roman" pitchFamily="18" charset="0"/>
              </a:rPr>
              <a:t>.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B2989E7-315A-49F3-B591-90AD28B4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269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847528" y="474345"/>
            <a:ext cx="849694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he-IL" u="sng" dirty="0">
                <a:latin typeface="Times New Roman" pitchFamily="18" charset="0"/>
              </a:rPr>
              <a:t>מבנה הנתונים</a:t>
            </a:r>
            <a:r>
              <a:rPr lang="he-IL" dirty="0">
                <a:latin typeface="Times New Roman" pitchFamily="18" charset="0"/>
              </a:rPr>
              <a:t>:</a:t>
            </a:r>
          </a:p>
          <a:p>
            <a:pPr algn="r" rtl="1">
              <a:spcBef>
                <a:spcPct val="50000"/>
              </a:spcBef>
            </a:pPr>
            <a:r>
              <a:rPr lang="he-IL" dirty="0">
                <a:latin typeface="Times New Roman" pitchFamily="18" charset="0"/>
              </a:rPr>
              <a:t>נחזיק עץ </a:t>
            </a:r>
            <a:r>
              <a:rPr lang="en-US" dirty="0">
                <a:latin typeface="Times New Roman" pitchFamily="18" charset="0"/>
              </a:rPr>
              <a:t>AVL</a:t>
            </a:r>
            <a:r>
              <a:rPr lang="he-IL" dirty="0">
                <a:latin typeface="Times New Roman" pitchFamily="18" charset="0"/>
              </a:rPr>
              <a:t> עם השינויים הבאים: בכל צומת בעץ יהיה מפתח, ורשימה מקושרת של האיברים בעלי מפתח זה.</a:t>
            </a:r>
          </a:p>
          <a:p>
            <a:pPr algn="r" rtl="1">
              <a:spcBef>
                <a:spcPct val="50000"/>
              </a:spcBef>
            </a:pPr>
            <a:r>
              <a:rPr lang="he-IL" u="sng" dirty="0">
                <a:latin typeface="Times New Roman" pitchFamily="18" charset="0"/>
              </a:rPr>
              <a:t>האלגוריתם</a:t>
            </a:r>
            <a:r>
              <a:rPr lang="he-IL" dirty="0">
                <a:latin typeface="Times New Roman" pitchFamily="18" charset="0"/>
              </a:rPr>
              <a:t>:</a:t>
            </a:r>
          </a:p>
          <a:p>
            <a:pPr algn="r" rtl="1">
              <a:spcBef>
                <a:spcPct val="50000"/>
              </a:spcBef>
              <a:buFontTx/>
              <a:buChar char="-"/>
            </a:pPr>
            <a:r>
              <a:rPr lang="he-IL" dirty="0">
                <a:latin typeface="Times New Roman" pitchFamily="18" charset="0"/>
              </a:rPr>
              <a:t>   נעבור על הקלט, ונכניס את האיברים בזה אחר זה לעץ עם השינויים הבאים: </a:t>
            </a:r>
          </a:p>
          <a:p>
            <a:pPr marL="571500" indent="-342900" algn="r" rtl="1">
              <a:spcBef>
                <a:spcPct val="50000"/>
              </a:spcBef>
              <a:buAutoNum type="arabicPeriod"/>
            </a:pPr>
            <a:r>
              <a:rPr lang="he-IL" dirty="0">
                <a:latin typeface="Times New Roman" pitchFamily="18" charset="0"/>
              </a:rPr>
              <a:t>עבור איבר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he-IL" dirty="0">
                <a:latin typeface="Times New Roman" pitchFamily="18" charset="0"/>
              </a:rPr>
              <a:t> בעל מפתח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he-IL" dirty="0">
                <a:latin typeface="Times New Roman" pitchFamily="18" charset="0"/>
              </a:rPr>
              <a:t>, אם לא קיים עדיין בעץ צומת עם המפתח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he-IL" dirty="0">
                <a:latin typeface="Times New Roman" pitchFamily="18" charset="0"/>
              </a:rPr>
              <a:t>, נוסיף צומת כזה ונאתחל מצביע ממנו לרשימה מקושרת ריקה. אחרת אין צורך להוסיף צומת.</a:t>
            </a:r>
          </a:p>
          <a:p>
            <a:pPr marL="571500" indent="-342900" algn="r" rtl="1">
              <a:spcBef>
                <a:spcPct val="50000"/>
              </a:spcBef>
              <a:buAutoNum type="arabicPeriod"/>
            </a:pPr>
            <a:r>
              <a:rPr lang="he-IL" dirty="0">
                <a:latin typeface="Times New Roman" pitchFamily="18" charset="0"/>
              </a:rPr>
              <a:t>נכניס את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he-IL" dirty="0">
                <a:latin typeface="Times New Roman" pitchFamily="18" charset="0"/>
              </a:rPr>
              <a:t> לראש הרשימה המקושרת של הצומת המתאים.</a:t>
            </a:r>
          </a:p>
          <a:p>
            <a:pPr marL="228600" indent="-228600" algn="r" rtl="1">
              <a:spcBef>
                <a:spcPct val="50000"/>
              </a:spcBef>
              <a:buFontTx/>
              <a:buChar char="-"/>
            </a:pPr>
            <a:r>
              <a:rPr lang="he-IL" dirty="0">
                <a:latin typeface="Times New Roman" pitchFamily="18" charset="0"/>
              </a:rPr>
              <a:t>לבסוף נסייר בעץ סיור </a:t>
            </a:r>
            <a:r>
              <a:rPr lang="en-US" dirty="0" err="1">
                <a:latin typeface="Times New Roman" pitchFamily="18" charset="0"/>
              </a:rPr>
              <a:t>inorder</a:t>
            </a:r>
            <a:r>
              <a:rPr lang="he-IL" dirty="0">
                <a:latin typeface="Times New Roman" pitchFamily="18" charset="0"/>
              </a:rPr>
              <a:t>, כאשר בכל צומת נעבור על הרשימה שלו ונוציא לפלט את האיברים שנמצאים בו.</a:t>
            </a:r>
          </a:p>
          <a:p>
            <a:pPr algn="r" rtl="1">
              <a:spcBef>
                <a:spcPct val="50000"/>
              </a:spcBef>
              <a:buFontTx/>
              <a:buChar char="-"/>
            </a:pPr>
            <a:endParaRPr lang="he-IL" dirty="0">
              <a:latin typeface="Times New Roman" pitchFamily="18" charset="0"/>
            </a:endParaRPr>
          </a:p>
          <a:p>
            <a:pPr algn="r" rtl="1">
              <a:spcBef>
                <a:spcPct val="50000"/>
              </a:spcBef>
            </a:pPr>
            <a:r>
              <a:rPr lang="he-IL" u="sng" dirty="0">
                <a:latin typeface="Times New Roman" pitchFamily="18" charset="0"/>
              </a:rPr>
              <a:t>סיבוכיות זמן</a:t>
            </a:r>
            <a:r>
              <a:rPr lang="he-IL" dirty="0">
                <a:latin typeface="Times New Roman" pitchFamily="18" charset="0"/>
              </a:rPr>
              <a:t>:</a:t>
            </a:r>
          </a:p>
          <a:p>
            <a:pPr algn="r" rtl="1">
              <a:spcBef>
                <a:spcPct val="50000"/>
              </a:spcBef>
            </a:pPr>
            <a:r>
              <a:rPr lang="he-IL" dirty="0">
                <a:latin typeface="Times New Roman" pitchFamily="18" charset="0"/>
              </a:rPr>
              <a:t>כידוע, הכנסה לעץ </a:t>
            </a:r>
            <a:r>
              <a:rPr lang="en-US" dirty="0">
                <a:latin typeface="Times New Roman" pitchFamily="18" charset="0"/>
              </a:rPr>
              <a:t>AVL</a:t>
            </a:r>
            <a:r>
              <a:rPr lang="he-IL" dirty="0">
                <a:latin typeface="Times New Roman" pitchFamily="18" charset="0"/>
              </a:rPr>
              <a:t> מתבצעת בזמן ליניארי בגובהו. במקרה שלפנינו העץ הולך וגדל, אבל גודלו הסופי הוא  </a:t>
            </a:r>
            <a:r>
              <a:rPr lang="he-IL" dirty="0">
                <a:latin typeface="Times New Roman" pitchFamily="18" charset="0"/>
                <a:sym typeface="Symbol"/>
              </a:rPr>
              <a:t></a:t>
            </a:r>
            <a:r>
              <a:rPr lang="en-US" dirty="0" err="1">
                <a:latin typeface="Times New Roman" pitchFamily="18" charset="0"/>
              </a:rPr>
              <a:t>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he-IL" dirty="0">
                <a:latin typeface="Times New Roman" pitchFamily="18" charset="0"/>
                <a:sym typeface="Symbol"/>
              </a:rPr>
              <a:t></a:t>
            </a:r>
            <a:r>
              <a:rPr lang="he-IL" dirty="0">
                <a:latin typeface="Times New Roman" pitchFamily="18" charset="0"/>
              </a:rPr>
              <a:t>  צמתים, ולכן כל הכנסה תתבצע בזמן </a:t>
            </a:r>
            <a:r>
              <a:rPr lang="en-US" dirty="0">
                <a:latin typeface="Times New Roman" pitchFamily="18" charset="0"/>
              </a:rPr>
              <a:t>O(</a:t>
            </a:r>
            <a:r>
              <a:rPr lang="en-US" dirty="0" err="1">
                <a:latin typeface="Times New Roman" pitchFamily="18" charset="0"/>
              </a:rPr>
              <a:t>loglog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, וכל ההכנסות בזמן </a:t>
            </a:r>
            <a:r>
              <a:rPr lang="en-US" dirty="0">
                <a:latin typeface="Times New Roman" pitchFamily="18" charset="0"/>
              </a:rPr>
              <a:t>O(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 err="1">
                <a:latin typeface="Times New Roman" pitchFamily="18" charset="0"/>
              </a:rPr>
              <a:t>loglog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. הסיור בסוף כולל המעברים על הרשימות יתבצע בזמן </a:t>
            </a:r>
            <a:r>
              <a:rPr lang="el-GR" dirty="0">
                <a:latin typeface="Times New Roman"/>
                <a:cs typeface="Times New Roman"/>
              </a:rPr>
              <a:t>Θ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</a:rPr>
              <a:t>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 + 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 </a:t>
            </a:r>
            <a:r>
              <a:rPr lang="en-US" i="1" dirty="0">
                <a:latin typeface="Times New Roman" pitchFamily="18" charset="0"/>
              </a:rPr>
              <a:t>=</a:t>
            </a:r>
            <a:r>
              <a:rPr lang="el-GR" dirty="0">
                <a:latin typeface="Times New Roman"/>
                <a:cs typeface="Times New Roman"/>
              </a:rPr>
              <a:t> Θ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.</a:t>
            </a:r>
          </a:p>
          <a:p>
            <a:pPr algn="r" rtl="1">
              <a:spcBef>
                <a:spcPct val="50000"/>
              </a:spcBef>
            </a:pPr>
            <a:r>
              <a:rPr lang="he-IL" dirty="0">
                <a:latin typeface="Times New Roman" pitchFamily="18" charset="0"/>
              </a:rPr>
              <a:t>סה"כ </a:t>
            </a:r>
            <a:r>
              <a:rPr lang="en-US" dirty="0">
                <a:latin typeface="Times New Roman" pitchFamily="18" charset="0"/>
              </a:rPr>
              <a:t>O(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 err="1">
                <a:latin typeface="Times New Roman" pitchFamily="18" charset="0"/>
              </a:rPr>
              <a:t>loglog</a:t>
            </a:r>
            <a:r>
              <a:rPr lang="en-US" i="1" dirty="0" err="1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he-IL" dirty="0">
                <a:latin typeface="Times New Roman" pitchFamily="18" charset="0"/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Amir Rubinstein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28787A-64A2-4ED3-B2F0-DA7A0BD8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תרגיל 5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E34004C-8031-471F-86FD-A2AD1CA6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52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66E2890-127E-41F6-A180-037C64E2F8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7" t="28420" r="23386" b="49149"/>
          <a:stretch/>
        </p:blipFill>
        <p:spPr bwMode="auto">
          <a:xfrm>
            <a:off x="2115895" y="2731049"/>
            <a:ext cx="8332787" cy="274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2792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8" t="54131" r="31485" b="12707"/>
          <a:stretch/>
        </p:blipFill>
        <p:spPr bwMode="auto">
          <a:xfrm>
            <a:off x="877078" y="298206"/>
            <a:ext cx="5506581" cy="324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1" t="28227" r="24903" b="39033"/>
          <a:stretch/>
        </p:blipFill>
        <p:spPr bwMode="auto">
          <a:xfrm>
            <a:off x="774442" y="3429000"/>
            <a:ext cx="6034370" cy="3082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כותרת 3">
            <a:extLst>
              <a:ext uri="{FF2B5EF4-FFF2-40B4-BE49-F238E27FC236}">
                <a16:creationId xmlns:a16="http://schemas.microsoft.com/office/drawing/2014/main" id="{7AA6F496-EC6D-43AA-B8F9-157E6FD6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3249" y="88777"/>
            <a:ext cx="10058400" cy="1609344"/>
          </a:xfrm>
        </p:spPr>
        <p:txBody>
          <a:bodyPr/>
          <a:lstStyle/>
          <a:p>
            <a:pPr algn="ctr"/>
            <a:r>
              <a:rPr lang="he-IL" dirty="0"/>
              <a:t>פתרון 5</a:t>
            </a:r>
          </a:p>
        </p:txBody>
      </p:sp>
    </p:spTree>
    <p:extLst>
      <p:ext uri="{BB962C8B-B14F-4D97-AF65-F5344CB8AC3E}">
        <p14:creationId xmlns:p14="http://schemas.microsoft.com/office/powerpoint/2010/main" val="3191106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2" t="22668" r="22765" b="21895"/>
          <a:stretch/>
        </p:blipFill>
        <p:spPr bwMode="auto">
          <a:xfrm>
            <a:off x="1429306" y="696751"/>
            <a:ext cx="6994427" cy="563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8578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סוג עץ">
  <a:themeElements>
    <a:clrScheme name="התאמה אישית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F8D1C3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TM03090434[[fn=סוג עץ]]</Template>
  <TotalTime>5349</TotalTime>
  <Words>3634</Words>
  <Application>Microsoft Office PowerPoint</Application>
  <PresentationFormat>מסך רחב</PresentationFormat>
  <Paragraphs>990</Paragraphs>
  <Slides>54</Slides>
  <Notes>25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10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54</vt:i4>
      </vt:variant>
    </vt:vector>
  </HeadingPairs>
  <TitlesOfParts>
    <vt:vector size="65" baseType="lpstr">
      <vt:lpstr>Arial</vt:lpstr>
      <vt:lpstr>Calibri</vt:lpstr>
      <vt:lpstr>Cambria Math</vt:lpstr>
      <vt:lpstr>Comic Sans MS</vt:lpstr>
      <vt:lpstr>Courier New</vt:lpstr>
      <vt:lpstr>David</vt:lpstr>
      <vt:lpstr>Rockwell</vt:lpstr>
      <vt:lpstr>Rockwell Condensed</vt:lpstr>
      <vt:lpstr>Times New Roman</vt:lpstr>
      <vt:lpstr>Wingdings</vt:lpstr>
      <vt:lpstr>סוג עץ</vt:lpstr>
      <vt:lpstr>עצי חיפוש בינריים-עצי AVL</vt:lpstr>
      <vt:lpstr>תזכורת משיעור קודם</vt:lpstr>
      <vt:lpstr>גובה העץ</vt:lpstr>
      <vt:lpstr>המוטיבציה- איזון</vt:lpstr>
      <vt:lpstr>תזכורת- גובה של צומת</vt:lpstr>
      <vt:lpstr>תרגיל</vt:lpstr>
      <vt:lpstr>תרגיל</vt:lpstr>
      <vt:lpstr>הגדרה רקורסיבית של גובה</vt:lpstr>
      <vt:lpstr>שדה חדש- גובה</vt:lpstr>
      <vt:lpstr>עצי AVL</vt:lpstr>
      <vt:lpstr>חסם לגובה עץ AVL</vt:lpstr>
      <vt:lpstr>חסם לגובה עץ AVL</vt:lpstr>
      <vt:lpstr>חסם לגובה עץ AVL</vt:lpstr>
      <vt:lpstr>חסם לגובה עץ AVL</vt:lpstr>
      <vt:lpstr>חסם לגובה עץ AVL</vt:lpstr>
      <vt:lpstr>מצגת של PowerPoint‏</vt:lpstr>
      <vt:lpstr>מצגת של PowerPoint‏</vt:lpstr>
      <vt:lpstr>מצגת של PowerPoint‏</vt:lpstr>
      <vt:lpstr>תיקון לאחר הכנסה- אבחנות</vt:lpstr>
      <vt:lpstr>תיקון לאחר הכנסה- אבחנות</vt:lpstr>
      <vt:lpstr>תיקון לאחר הכנסה- גלגולים</vt:lpstr>
      <vt:lpstr>תיקון לאחר הכנסה- גלגולים</vt:lpstr>
      <vt:lpstr>תיקון לאחר הכנסה - גלגולים</vt:lpstr>
      <vt:lpstr>גלגול LL</vt:lpstr>
      <vt:lpstr>גלגול LL</vt:lpstr>
      <vt:lpstr>גלגול LR</vt:lpstr>
      <vt:lpstr>גלגול LR</vt:lpstr>
      <vt:lpstr>תיקון לאחר הכנסה</vt:lpstr>
      <vt:lpstr>אלגוריתם ההכנסה</vt:lpstr>
      <vt:lpstr>תיקון לאחר הוצאה</vt:lpstr>
      <vt:lpstr>תיקון לאחר הוצאה</vt:lpstr>
      <vt:lpstr>אלגוריתם ההוצאה</vt:lpstr>
      <vt:lpstr>עצי AVL- הדגמות</vt:lpstr>
      <vt:lpstr>מצגת של PowerPoint‏</vt:lpstr>
      <vt:lpstr>דוגמא להכנסת צמתים לעץ AVL</vt:lpstr>
      <vt:lpstr>שלבי פתרון:</vt:lpstr>
      <vt:lpstr>תוצאה לאחר ההכנסות:</vt:lpstr>
      <vt:lpstr>מצגת של PowerPoint‏</vt:lpstr>
      <vt:lpstr>דוגמא למחיקת צמתים מעץ AVL</vt:lpstr>
      <vt:lpstr>שלבי הפתרון:</vt:lpstr>
      <vt:lpstr>מצגת של PowerPoint‏</vt:lpstr>
      <vt:lpstr>עצי AVL- תרגילים</vt:lpstr>
      <vt:lpstr>מצגת של PowerPoint‏</vt:lpstr>
      <vt:lpstr>מצגת של PowerPoint‏</vt:lpstr>
      <vt:lpstr>תרגיל 1</vt:lpstr>
      <vt:lpstr>מצגת של PowerPoint‏</vt:lpstr>
      <vt:lpstr>מצגת של PowerPoint‏</vt:lpstr>
      <vt:lpstr>תרגיל 2</vt:lpstr>
      <vt:lpstr>מצגת של PowerPoint‏</vt:lpstr>
      <vt:lpstr>תרגיל 3</vt:lpstr>
      <vt:lpstr>מצגת של PowerPoint‏</vt:lpstr>
      <vt:lpstr>תרגיל 5</vt:lpstr>
      <vt:lpstr>פתרון 5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מבני נתונים בסיסיים</dc:title>
  <dc:creator>User</dc:creator>
  <cp:lastModifiedBy>רבקה וינגרטן</cp:lastModifiedBy>
  <cp:revision>81</cp:revision>
  <cp:lastPrinted>2020-10-11T20:20:43Z</cp:lastPrinted>
  <dcterms:created xsi:type="dcterms:W3CDTF">2020-09-01T12:37:47Z</dcterms:created>
  <dcterms:modified xsi:type="dcterms:W3CDTF">2023-08-27T19:51:17Z</dcterms:modified>
</cp:coreProperties>
</file>