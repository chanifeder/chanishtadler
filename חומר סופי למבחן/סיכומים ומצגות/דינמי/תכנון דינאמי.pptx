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72" r:id="rId10"/>
    <p:sldId id="273" r:id="rId11"/>
    <p:sldId id="263" r:id="rId12"/>
    <p:sldId id="264" r:id="rId13"/>
    <p:sldId id="274" r:id="rId14"/>
    <p:sldId id="265" r:id="rId15"/>
    <p:sldId id="266" r:id="rId16"/>
    <p:sldId id="269" r:id="rId17"/>
    <p:sldId id="270" r:id="rId18"/>
    <p:sldId id="276" r:id="rId19"/>
    <p:sldId id="275" r:id="rId20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162BA-297A-4553-A0F7-82118D97CDA4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8ED7A83-F9F5-4A97-B4E1-B518FDE83185}" type="slidenum">
              <a:rPr lang="he-IL" smtClean="0"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marL="457200" indent="-342900">
              <a:defRPr lang="en-US" sz="32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342900" lvl="0" indent="-228600" algn="r" defTabSz="914400" rtl="1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</a:pPr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162BA-297A-4553-A0F7-82118D97CDA4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7A83-F9F5-4A97-B4E1-B518FDE83185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162BA-297A-4553-A0F7-82118D97CDA4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7A83-F9F5-4A97-B4E1-B518FDE83185}" type="slidenum">
              <a:rPr lang="he-IL" smtClean="0"/>
              <a:t>‹#›</a:t>
            </a:fld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162BA-297A-4553-A0F7-82118D97CDA4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7A83-F9F5-4A97-B4E1-B518FDE83185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162BA-297A-4553-A0F7-82118D97CDA4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7A83-F9F5-4A97-B4E1-B518FDE83185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162BA-297A-4553-A0F7-82118D97CDA4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7A83-F9F5-4A97-B4E1-B518FDE83185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162BA-297A-4553-A0F7-82118D97CDA4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7A83-F9F5-4A97-B4E1-B518FDE83185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162BA-297A-4553-A0F7-82118D97CDA4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7A83-F9F5-4A97-B4E1-B518FDE83185}" type="slidenum">
              <a:rPr lang="he-IL" smtClean="0"/>
              <a:t>‹#›</a:t>
            </a:fld>
            <a:endParaRPr lang="he-IL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162BA-297A-4553-A0F7-82118D97CDA4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7A83-F9F5-4A97-B4E1-B518FDE83185}" type="slidenum">
              <a:rPr lang="he-IL" smtClean="0"/>
              <a:t>‹#›</a:t>
            </a:fld>
            <a:endParaRPr lang="he-IL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162BA-297A-4553-A0F7-82118D97CDA4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7A83-F9F5-4A97-B4E1-B518FDE83185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162BA-297A-4553-A0F7-82118D97CDA4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D7A83-F9F5-4A97-B4E1-B518FDE83185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4000"/>
            <a:duotone>
              <a:schemeClr val="bg1">
                <a:tint val="70000"/>
                <a:satMod val="170000"/>
              </a:schemeClr>
              <a:schemeClr val="bg1">
                <a:shade val="70000"/>
                <a:satMod val="130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C71162BA-297A-4553-A0F7-82118D97CDA4}" type="datetimeFigureOut">
              <a:rPr lang="he-IL" smtClean="0"/>
              <a:t>י"ד/חשון/תשפ"ו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8ED7A83-F9F5-4A97-B4E1-B518FDE83185}" type="slidenum">
              <a:rPr lang="he-IL" smtClean="0"/>
              <a:t>‹#›</a:t>
            </a:fld>
            <a:endParaRPr lang="he-IL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r" defTabSz="914400" rtl="1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r" defTabSz="914400" rtl="1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r" defTabSz="914400" rtl="1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r" defTabSz="914400" rtl="1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r" defTabSz="914400" rtl="1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r" defTabSz="914400" rtl="1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r" defTabSz="914400" rtl="1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r" defTabSz="914400" rtl="1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r" defTabSz="914400" rtl="1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182880" indent="0">
              <a:buNone/>
            </a:pPr>
            <a:r>
              <a:rPr lang="he-IL" b="1" dirty="0">
                <a:cs typeface="+mn-cs"/>
              </a:rPr>
              <a:t>תכנון דינאמי</a:t>
            </a:r>
          </a:p>
        </p:txBody>
      </p:sp>
    </p:spTree>
    <p:extLst>
      <p:ext uri="{BB962C8B-B14F-4D97-AF65-F5344CB8AC3E}">
        <p14:creationId xmlns:p14="http://schemas.microsoft.com/office/powerpoint/2010/main" val="55947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הגדרה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79512" y="1595933"/>
            <a:ext cx="8507288" cy="5001419"/>
          </a:xfrm>
        </p:spPr>
        <p:txBody>
          <a:bodyPr>
            <a:normAutofit fontScale="92500" lnSpcReduction="20000"/>
          </a:bodyPr>
          <a:lstStyle/>
          <a:p>
            <a:r>
              <a:rPr lang="he-IL" dirty="0"/>
              <a:t>במדעי המחשב, שיטת </a:t>
            </a:r>
            <a:r>
              <a:rPr lang="he-IL" b="1" dirty="0"/>
              <a:t>התכנון הדינמי</a:t>
            </a:r>
            <a:r>
              <a:rPr lang="he-IL" dirty="0"/>
              <a:t> לבניית אלגוריתם משמשת לפתרון בעיות שאינן ניתנות לפתרון יעיל בשיטת הפרד ומשול נאיבית. (הפותרת בעיה על ידי חלוקתה לתת-בעיות הנפתרות בתורן על ידי חלוקתן לתת-בעיות קטנות אף יותר, עד שמתקבלות בעיות קטנות מספיק שיהיה ניתן לפתור אותן באופן ישיר).</a:t>
            </a:r>
          </a:p>
          <a:p>
            <a:r>
              <a:rPr lang="he-IL" dirty="0"/>
              <a:t>בעיות אלה מתאפיינות בכך שלאחר שחולקו למספר תת-בעיות, יש לתת-בעיות שונות חלקים משותפים. פתרון המבוסס על הפרד ומשול נאיבי פותר את החלקים המשותפים מספר פעמים, פעם אחת עבור כל תת-בעיה, מה שעלול לגרום לכך שהפתרון יתבצע בסיבוכיות גבוהה מאוד.</a:t>
            </a:r>
          </a:p>
          <a:p>
            <a:r>
              <a:rPr lang="he-IL" dirty="0"/>
              <a:t>האלטרנטיבה שמציעה שיטת התכנון הדינמי היא פתרון של כל תת-הבעיות בזו אחר זו, כאשר פתרון כל אחת מתת-הבעיות מאוחסן לשימוש עתידי.</a:t>
            </a:r>
          </a:p>
          <a:p>
            <a:r>
              <a:rPr lang="he-IL" dirty="0"/>
              <a:t>מקורם של אלגוריתמים בשיטת התכנון הדינמי הוא בבעיות שיש להן פתרון רקורסיבי, אך הפתרון הרקורסיבי הישיר אינו יעיל, מאחר שהוא דורש פתרון אותן תת-בעיות שוב ושוב. אם מספר תת-הבעיות הקיימות הוא "קטן יחסית", כלומר פולינומי, ניתן לפתור את הבעיה באמצעות תכנון דינמי.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33482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טור </a:t>
            </a:r>
            <a:r>
              <a:rPr lang="he-IL" dirty="0" err="1"/>
              <a:t>פיבונאצ'י</a:t>
            </a:r>
            <a:r>
              <a:rPr lang="he-IL" dirty="0"/>
              <a:t> - תזכורת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altLang="he-IL" dirty="0"/>
              <a:t>הסדרה:  </a:t>
            </a:r>
            <a:r>
              <a:rPr lang="en-US" altLang="he-IL" dirty="0"/>
              <a:t>1,1,2,3,5,8,13,21,34,…</a:t>
            </a:r>
            <a:r>
              <a:rPr lang="he-IL" altLang="he-IL" dirty="0"/>
              <a:t> היא סדרה מפורסמת במתמטיקה.</a:t>
            </a:r>
          </a:p>
          <a:p>
            <a:r>
              <a:rPr lang="he-IL" altLang="he-IL" dirty="0"/>
              <a:t>היא קרויה סדרת </a:t>
            </a:r>
            <a:r>
              <a:rPr lang="he-IL" altLang="he-IL" dirty="0" err="1"/>
              <a:t>פיבונאצ'י</a:t>
            </a:r>
            <a:r>
              <a:rPr lang="he-IL" altLang="he-IL" dirty="0"/>
              <a:t> (</a:t>
            </a:r>
            <a:r>
              <a:rPr lang="en-US" altLang="he-IL" dirty="0"/>
              <a:t>Fibonacci Sequence</a:t>
            </a:r>
            <a:r>
              <a:rPr lang="he-IL" altLang="he-IL" dirty="0"/>
              <a:t>), על שם המתמטיקאי האיטלקי, ליאונרדו </a:t>
            </a:r>
            <a:r>
              <a:rPr lang="he-IL" altLang="he-IL" dirty="0" err="1"/>
              <a:t>פיבונאצ'י</a:t>
            </a:r>
            <a:r>
              <a:rPr lang="he-IL" altLang="he-IL" dirty="0"/>
              <a:t>, שחי במאות ה-12-13 בעיר פיזה.</a:t>
            </a:r>
          </a:p>
          <a:p>
            <a:r>
              <a:rPr lang="he-IL" altLang="he-IL" dirty="0"/>
              <a:t>אם נסמן את האיבר ה-</a:t>
            </a:r>
            <a:r>
              <a:rPr lang="en-US" altLang="he-IL" dirty="0"/>
              <a:t>n</a:t>
            </a:r>
            <a:r>
              <a:rPr lang="he-IL" altLang="he-IL" dirty="0"/>
              <a:t>-י בסדרה על-ידי </a:t>
            </a:r>
            <a:r>
              <a:rPr lang="en-US" altLang="he-IL" dirty="0" err="1"/>
              <a:t>F</a:t>
            </a:r>
            <a:r>
              <a:rPr lang="en-US" altLang="he-IL" baseline="-25000" dirty="0" err="1"/>
              <a:t>n</a:t>
            </a:r>
            <a:r>
              <a:rPr lang="he-IL" altLang="he-IL" dirty="0"/>
              <a:t>,</a:t>
            </a:r>
            <a:br>
              <a:rPr lang="en-US" altLang="he-IL" dirty="0"/>
            </a:br>
            <a:r>
              <a:rPr lang="he-IL" altLang="he-IL" dirty="0"/>
              <a:t>אז הסדרה מקיימת את נוסחת הרקורסיה: </a:t>
            </a:r>
            <a:r>
              <a:rPr lang="en-US" altLang="he-IL" dirty="0"/>
              <a:t>F</a:t>
            </a:r>
            <a:r>
              <a:rPr lang="en-US" altLang="he-IL" baseline="-25000" dirty="0"/>
              <a:t>n-2</a:t>
            </a:r>
            <a:r>
              <a:rPr lang="he-IL" altLang="he-IL" baseline="-25000" dirty="0"/>
              <a:t> </a:t>
            </a:r>
            <a:r>
              <a:rPr lang="he-IL" altLang="he-IL" dirty="0"/>
              <a:t>+</a:t>
            </a:r>
            <a:r>
              <a:rPr lang="he-IL" altLang="he-IL" baseline="-25000" dirty="0"/>
              <a:t> 1-</a:t>
            </a:r>
            <a:r>
              <a:rPr lang="en-US" altLang="he-IL" dirty="0" err="1"/>
              <a:t>F</a:t>
            </a:r>
            <a:r>
              <a:rPr lang="en-US" altLang="he-IL" baseline="-25000" dirty="0" err="1"/>
              <a:t>n</a:t>
            </a:r>
            <a:r>
              <a:rPr lang="he-IL" altLang="he-IL" baseline="-25000" dirty="0"/>
              <a:t>  </a:t>
            </a:r>
            <a:r>
              <a:rPr lang="he-IL" altLang="he-IL" dirty="0"/>
              <a:t>= </a:t>
            </a:r>
            <a:r>
              <a:rPr lang="en-US" altLang="he-IL" dirty="0" err="1"/>
              <a:t>F</a:t>
            </a:r>
            <a:r>
              <a:rPr lang="en-US" altLang="he-IL" baseline="-25000" dirty="0" err="1"/>
              <a:t>n</a:t>
            </a:r>
            <a:r>
              <a:rPr lang="he-IL" altLang="he-IL" baseline="-25000" dirty="0"/>
              <a:t> </a:t>
            </a:r>
            <a:r>
              <a:rPr lang="he-IL" altLang="he-IL" dirty="0"/>
              <a:t>.</a:t>
            </a:r>
          </a:p>
          <a:p>
            <a:r>
              <a:rPr lang="he-IL" altLang="he-IL" dirty="0"/>
              <a:t>מקרה הבסיס הוא 1 = </a:t>
            </a:r>
            <a:r>
              <a:rPr lang="en-US" altLang="he-IL" dirty="0"/>
              <a:t>F</a:t>
            </a:r>
            <a:r>
              <a:rPr lang="en-US" altLang="he-IL" baseline="-25000" dirty="0"/>
              <a:t>1</a:t>
            </a:r>
            <a:r>
              <a:rPr lang="he-IL" altLang="he-IL" baseline="-25000" dirty="0"/>
              <a:t> </a:t>
            </a:r>
            <a:r>
              <a:rPr lang="he-IL" altLang="he-IL" dirty="0"/>
              <a:t>,</a:t>
            </a:r>
            <a:r>
              <a:rPr lang="he-IL" altLang="he-IL" baseline="-25000" dirty="0"/>
              <a:t>        </a:t>
            </a:r>
            <a:r>
              <a:rPr lang="he-IL" altLang="he-IL" dirty="0"/>
              <a:t>1 = </a:t>
            </a:r>
            <a:r>
              <a:rPr lang="en-US" altLang="he-IL" dirty="0"/>
              <a:t>F</a:t>
            </a:r>
            <a:r>
              <a:rPr lang="en-US" altLang="he-IL" baseline="-25000" dirty="0"/>
              <a:t>2</a:t>
            </a:r>
            <a:r>
              <a:rPr lang="he-IL" altLang="he-IL" dirty="0"/>
              <a:t> 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02647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2800" dirty="0"/>
              <a:t>פונקציה המחזירה את האיבר ה-</a:t>
            </a:r>
            <a:r>
              <a:rPr lang="en-US" sz="2800" dirty="0"/>
              <a:t>n</a:t>
            </a:r>
            <a:r>
              <a:rPr lang="he-IL" sz="2800" dirty="0"/>
              <a:t> בטור </a:t>
            </a:r>
            <a:r>
              <a:rPr lang="he-IL" sz="2800" dirty="0" err="1"/>
              <a:t>פיבונאצ'י</a:t>
            </a:r>
            <a:endParaRPr lang="he-IL" sz="2800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l" rtl="0">
              <a:buSzPct val="60000"/>
              <a:buNone/>
            </a:pPr>
            <a:r>
              <a:rPr lang="en-US" altLang="he-IL" sz="2400" b="1" dirty="0"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altLang="he-IL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he-IL" sz="2400" dirty="0">
                <a:latin typeface="Courier New" pitchFamily="49" charset="0"/>
                <a:cs typeface="Courier New" pitchFamily="49" charset="0"/>
              </a:rPr>
              <a:t> fib (</a:t>
            </a:r>
            <a:r>
              <a:rPr lang="en-US" altLang="he-IL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he-IL" sz="2400" dirty="0">
                <a:latin typeface="Courier New" pitchFamily="49" charset="0"/>
                <a:cs typeface="Courier New" pitchFamily="49" charset="0"/>
              </a:rPr>
              <a:t> n)</a:t>
            </a:r>
          </a:p>
          <a:p>
            <a:pPr lvl="1" algn="l" rtl="0">
              <a:buSzPct val="60000"/>
              <a:buNone/>
            </a:pPr>
            <a:r>
              <a:rPr lang="en-US" altLang="he-IL" dirty="0">
                <a:latin typeface="Courier New" pitchFamily="49" charset="0"/>
              </a:rPr>
              <a:t>/* </a:t>
            </a:r>
            <a:r>
              <a:rPr lang="he-IL" altLang="he-IL" dirty="0">
                <a:latin typeface="Courier New" pitchFamily="49" charset="0"/>
              </a:rPr>
              <a:t> מספר טבעי</a:t>
            </a:r>
            <a:r>
              <a:rPr lang="en-US" altLang="he-IL" dirty="0">
                <a:latin typeface="Courier New" pitchFamily="49" charset="0"/>
              </a:rPr>
              <a:t>n </a:t>
            </a:r>
            <a:r>
              <a:rPr lang="he-IL" altLang="he-IL" dirty="0">
                <a:latin typeface="Courier New" pitchFamily="49" charset="0"/>
              </a:rPr>
              <a:t>טענת כניסה:</a:t>
            </a:r>
            <a:r>
              <a:rPr lang="en-US" altLang="he-IL" dirty="0">
                <a:latin typeface="Courier New" pitchFamily="49" charset="0"/>
              </a:rPr>
              <a:t> */</a:t>
            </a:r>
          </a:p>
          <a:p>
            <a:pPr lvl="1" algn="l" rtl="0">
              <a:buSzPct val="60000"/>
              <a:buNone/>
            </a:pPr>
            <a:r>
              <a:rPr lang="en-US" altLang="he-IL" dirty="0">
                <a:latin typeface="Courier New" pitchFamily="49" charset="0"/>
              </a:rPr>
              <a:t>/* </a:t>
            </a:r>
            <a:r>
              <a:rPr lang="he-IL" altLang="he-IL" dirty="0">
                <a:latin typeface="Courier New" pitchFamily="49" charset="0"/>
              </a:rPr>
              <a:t>י בסדרת </a:t>
            </a:r>
            <a:r>
              <a:rPr lang="he-IL" altLang="he-IL" dirty="0" err="1">
                <a:latin typeface="Courier New" pitchFamily="49" charset="0"/>
              </a:rPr>
              <a:t>פיבונצ'י</a:t>
            </a:r>
            <a:r>
              <a:rPr lang="en-US" altLang="he-IL" dirty="0">
                <a:latin typeface="Courier New" pitchFamily="49" charset="0"/>
              </a:rPr>
              <a:t>-n</a:t>
            </a:r>
            <a:r>
              <a:rPr lang="he-IL" altLang="he-IL" dirty="0">
                <a:latin typeface="Courier New" pitchFamily="49" charset="0"/>
              </a:rPr>
              <a:t>טענת יציאה: הפונקציה מחזירה את המס' ה-</a:t>
            </a:r>
            <a:r>
              <a:rPr lang="en-US" altLang="he-IL" dirty="0">
                <a:latin typeface="Courier New" pitchFamily="49" charset="0"/>
              </a:rPr>
              <a:t> */</a:t>
            </a:r>
          </a:p>
          <a:p>
            <a:pPr lvl="1" algn="l" rtl="0">
              <a:buSzPct val="60000"/>
              <a:buNone/>
            </a:pPr>
            <a:r>
              <a:rPr lang="en-US" altLang="he-IL" sz="2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 algn="l" rtl="0">
              <a:buSzPct val="60000"/>
              <a:buNone/>
            </a:pPr>
            <a:r>
              <a:rPr lang="en-US" altLang="he-IL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he-IL" sz="2400" b="1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he-IL" sz="2400" dirty="0">
                <a:latin typeface="Courier New" pitchFamily="49" charset="0"/>
                <a:cs typeface="Courier New" pitchFamily="49" charset="0"/>
              </a:rPr>
              <a:t> (n == 1 || n == 2) </a:t>
            </a:r>
          </a:p>
          <a:p>
            <a:pPr lvl="1" algn="l" rtl="0">
              <a:buSzPct val="60000"/>
              <a:buNone/>
            </a:pPr>
            <a:r>
              <a:rPr lang="en-US" altLang="he-IL" sz="2400" b="1" dirty="0">
                <a:latin typeface="Courier New" pitchFamily="49" charset="0"/>
                <a:cs typeface="Courier New" pitchFamily="49" charset="0"/>
              </a:rPr>
              <a:t>			return</a:t>
            </a:r>
            <a:r>
              <a:rPr lang="en-US" altLang="he-IL" sz="2400" dirty="0">
                <a:latin typeface="Courier New" pitchFamily="49" charset="0"/>
                <a:cs typeface="Courier New" pitchFamily="49" charset="0"/>
              </a:rPr>
              <a:t> 1;</a:t>
            </a:r>
          </a:p>
          <a:p>
            <a:pPr lvl="1" algn="l" rtl="0">
              <a:buSzPct val="60000"/>
              <a:buNone/>
            </a:pPr>
            <a:r>
              <a:rPr lang="en-US" altLang="he-IL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he-IL" sz="2400" b="1" dirty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he-IL" sz="2400" dirty="0">
                <a:latin typeface="Courier New" pitchFamily="49" charset="0"/>
                <a:cs typeface="Courier New" pitchFamily="49" charset="0"/>
              </a:rPr>
              <a:t> fib(n-1)+fib(n-2);</a:t>
            </a:r>
          </a:p>
          <a:p>
            <a:pPr lvl="1" algn="l" rtl="0">
              <a:buSzPct val="60000"/>
              <a:buNone/>
            </a:pPr>
            <a:r>
              <a:rPr lang="en-US" altLang="he-IL" sz="24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80858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מעקב...</a:t>
            </a:r>
          </a:p>
        </p:txBody>
      </p:sp>
      <p:pic>
        <p:nvPicPr>
          <p:cNvPr id="4" name="מציין מיקום תוכן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6" t="5924" r="29884" b="43549"/>
          <a:stretch/>
        </p:blipFill>
        <p:spPr>
          <a:xfrm>
            <a:off x="251520" y="1484784"/>
            <a:ext cx="8712968" cy="5198651"/>
          </a:xfrm>
        </p:spPr>
      </p:pic>
      <p:pic>
        <p:nvPicPr>
          <p:cNvPr id="5" name="מציין מיקום תוכן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95" t="7388" r="7663" b="76633"/>
          <a:stretch/>
        </p:blipFill>
        <p:spPr>
          <a:xfrm>
            <a:off x="302089" y="260648"/>
            <a:ext cx="3363192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23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החיסכון </a:t>
            </a:r>
            <a:r>
              <a:rPr lang="he-IL"/>
              <a:t>של התכנון </a:t>
            </a:r>
            <a:r>
              <a:rPr lang="he-IL" dirty="0"/>
              <a:t>הדינאמי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בכל שלב שבו חושבה תת בעיה, הפתרון שלה יאוחסן לצורך שליפה בעתיד, כאשר נתבקש לפתור </a:t>
            </a:r>
            <a:r>
              <a:rPr lang="he-IL" b="1" dirty="0"/>
              <a:t>את אותה </a:t>
            </a:r>
            <a:r>
              <a:rPr lang="he-IL" dirty="0"/>
              <a:t>תת בעיה.</a:t>
            </a:r>
          </a:p>
          <a:p>
            <a:r>
              <a:rPr lang="he-IL" dirty="0"/>
              <a:t>לדוגמא, בבעיית האיבר ה-</a:t>
            </a:r>
            <a:r>
              <a:rPr lang="en-US" dirty="0"/>
              <a:t>n</a:t>
            </a:r>
            <a:r>
              <a:rPr lang="he-IL" dirty="0"/>
              <a:t> בטור </a:t>
            </a:r>
            <a:r>
              <a:rPr lang="he-IL" dirty="0" err="1"/>
              <a:t>פיבונאצ'י</a:t>
            </a:r>
            <a:r>
              <a:rPr lang="he-IL" dirty="0"/>
              <a:t>, במימוש רקורסיבי אנו חוזרות ומחשבות שוב ושוב איברי טור נמוכים, שחושבו כבר בעבר.</a:t>
            </a:r>
          </a:p>
          <a:p>
            <a:r>
              <a:rPr lang="he-IL" dirty="0"/>
              <a:t>על מנת לחסוך, נאחסן את אברי הטור, החל מהאיבר הנמוך ביותר, ועד האיבר ה-</a:t>
            </a:r>
            <a:r>
              <a:rPr lang="en-US" dirty="0"/>
              <a:t>n</a:t>
            </a:r>
            <a:r>
              <a:rPr lang="he-IL" dirty="0"/>
              <a:t> שאותו בקשנו למצוא.</a:t>
            </a:r>
          </a:p>
          <a:p>
            <a:r>
              <a:rPr lang="he-IL" dirty="0"/>
              <a:t>תהליך הבניה של הפתרון בשיטת התכנות הדינאמי יעשה החל מבסיס הבעיה, ועד לפתרון הבעיה הכללית.</a:t>
            </a:r>
          </a:p>
        </p:txBody>
      </p:sp>
    </p:spTree>
    <p:extLst>
      <p:ext uri="{BB962C8B-B14F-4D97-AF65-F5344CB8AC3E}">
        <p14:creationId xmlns:p14="http://schemas.microsoft.com/office/powerpoint/2010/main" val="1063254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z="2800" dirty="0"/>
              <a:t>פתרון לבעיית האיבר ה-</a:t>
            </a:r>
            <a:r>
              <a:rPr lang="en-US" sz="2800" dirty="0"/>
              <a:t>n</a:t>
            </a:r>
            <a:r>
              <a:rPr lang="he-IL" sz="2800" dirty="0"/>
              <a:t> בטור </a:t>
            </a:r>
            <a:r>
              <a:rPr lang="he-IL" sz="2800" dirty="0" err="1"/>
              <a:t>פיבונאצ'י</a:t>
            </a:r>
            <a:r>
              <a:rPr lang="he-IL" sz="2800" dirty="0"/>
              <a:t> </a:t>
            </a:r>
            <a:br>
              <a:rPr lang="en-US" sz="2800" dirty="0"/>
            </a:br>
            <a:r>
              <a:rPr lang="he-IL" sz="2800" dirty="0"/>
              <a:t>בשיטת התכנון הדינאמי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 algn="l" rtl="0">
              <a:buNone/>
            </a:pPr>
            <a:r>
              <a:rPr lang="en-US" dirty="0">
                <a:latin typeface="+mj-lt"/>
              </a:rPr>
              <a:t>public static 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fibo</a:t>
            </a:r>
            <a:r>
              <a:rPr lang="en-US" dirty="0">
                <a:latin typeface="+mj-lt"/>
              </a:rPr>
              <a:t>(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n)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{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[]</a:t>
            </a:r>
            <a:r>
              <a:rPr lang="en-US" dirty="0" err="1">
                <a:latin typeface="+mj-lt"/>
              </a:rPr>
              <a:t>arr</a:t>
            </a:r>
            <a:r>
              <a:rPr lang="en-US" dirty="0">
                <a:latin typeface="+mj-lt"/>
              </a:rPr>
              <a:t>=new 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[n];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</a:t>
            </a:r>
            <a:r>
              <a:rPr lang="en-US" dirty="0" err="1">
                <a:latin typeface="+mj-lt"/>
              </a:rPr>
              <a:t>arr</a:t>
            </a:r>
            <a:r>
              <a:rPr lang="en-US" dirty="0">
                <a:latin typeface="+mj-lt"/>
              </a:rPr>
              <a:t>[0]=</a:t>
            </a:r>
            <a:r>
              <a:rPr lang="en-US" dirty="0" err="1">
                <a:latin typeface="+mj-lt"/>
              </a:rPr>
              <a:t>arr</a:t>
            </a:r>
            <a:r>
              <a:rPr lang="en-US" dirty="0">
                <a:latin typeface="+mj-lt"/>
              </a:rPr>
              <a:t>[1]=1;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for(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=2;  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&lt;n; 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++)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	</a:t>
            </a:r>
            <a:r>
              <a:rPr lang="en-US" dirty="0" err="1">
                <a:latin typeface="+mj-lt"/>
              </a:rPr>
              <a:t>arr</a:t>
            </a:r>
            <a:r>
              <a:rPr lang="en-US" dirty="0">
                <a:latin typeface="+mj-lt"/>
              </a:rPr>
              <a:t>[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]=</a:t>
            </a:r>
            <a:r>
              <a:rPr lang="en-US" dirty="0" err="1">
                <a:latin typeface="+mj-lt"/>
              </a:rPr>
              <a:t>arr</a:t>
            </a:r>
            <a:r>
              <a:rPr lang="en-US" dirty="0">
                <a:latin typeface="+mj-lt"/>
              </a:rPr>
              <a:t>[i-1]+</a:t>
            </a:r>
            <a:r>
              <a:rPr lang="en-US" dirty="0" err="1">
                <a:latin typeface="+mj-lt"/>
              </a:rPr>
              <a:t>arr</a:t>
            </a:r>
            <a:r>
              <a:rPr lang="en-US" dirty="0">
                <a:latin typeface="+mj-lt"/>
              </a:rPr>
              <a:t>[i-2];</a:t>
            </a:r>
          </a:p>
          <a:p>
            <a:pPr marL="685800" lvl="2" indent="0" algn="l" rtl="0">
              <a:buNone/>
            </a:pPr>
            <a:r>
              <a:rPr lang="en-US" sz="2400" dirty="0">
                <a:latin typeface="+mj-lt"/>
              </a:rPr>
              <a:t>   return </a:t>
            </a:r>
            <a:r>
              <a:rPr lang="en-US" sz="2400" dirty="0" err="1">
                <a:latin typeface="+mj-lt"/>
              </a:rPr>
              <a:t>arr</a:t>
            </a:r>
            <a:r>
              <a:rPr lang="en-US" sz="2400" dirty="0">
                <a:latin typeface="+mj-lt"/>
              </a:rPr>
              <a:t>[n-1];</a:t>
            </a:r>
          </a:p>
          <a:p>
            <a:pPr marL="136525" lvl="2" indent="0" algn="l" rtl="0">
              <a:buNone/>
              <a:tabLst>
                <a:tab pos="365125" algn="l"/>
              </a:tabLst>
            </a:pPr>
            <a:r>
              <a:rPr lang="en-US" sz="2400" dirty="0">
                <a:latin typeface="+mj-lt"/>
              </a:rPr>
              <a:t>}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604374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בעיית העניבות בגרסה ראשונית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200" dirty="0"/>
              <a:t>נתונות עניבות בצבעים אדום וצהוב, בכמות בלתי מוגבלת.</a:t>
            </a:r>
          </a:p>
          <a:p>
            <a:r>
              <a:rPr lang="he-IL" sz="2200" dirty="0"/>
              <a:t>מעוניינים לסדר בשורה של </a:t>
            </a:r>
            <a:r>
              <a:rPr lang="en-US" sz="2200" dirty="0"/>
              <a:t>n</a:t>
            </a:r>
            <a:r>
              <a:rPr lang="he-IL" sz="2200" dirty="0"/>
              <a:t> כסאות תלמידות שתענובנה את העניבות הנ"ל..</a:t>
            </a:r>
          </a:p>
          <a:p>
            <a:r>
              <a:rPr lang="he-IL" sz="2200" dirty="0"/>
              <a:t>מה מספר האפשרויות בהן ניתן לסדר את התלמידות?</a:t>
            </a:r>
          </a:p>
          <a:p>
            <a:endParaRPr lang="he-IL" sz="2200" dirty="0"/>
          </a:p>
          <a:p>
            <a:r>
              <a:rPr lang="en-US" sz="2200" dirty="0"/>
              <a:t>n=1 </a:t>
            </a:r>
            <a:r>
              <a:rPr lang="he-IL" sz="2200" dirty="0"/>
              <a:t>    2 אפשרויות</a:t>
            </a:r>
          </a:p>
          <a:p>
            <a:r>
              <a:rPr lang="en-US" sz="2200" dirty="0"/>
              <a:t> </a:t>
            </a:r>
            <a:r>
              <a:rPr lang="he-IL" sz="2200" dirty="0"/>
              <a:t>מכאן והלאה, פעמיים מספר האפשרויות הקיימות בסידור </a:t>
            </a:r>
            <a:r>
              <a:rPr lang="en-US" sz="2200" dirty="0"/>
              <a:t>n-1</a:t>
            </a:r>
            <a:r>
              <a:rPr lang="he-IL" sz="2200" dirty="0"/>
              <a:t> הכיסאות..</a:t>
            </a:r>
          </a:p>
        </p:txBody>
      </p:sp>
    </p:spTree>
    <p:extLst>
      <p:ext uri="{BB962C8B-B14F-4D97-AF65-F5344CB8AC3E}">
        <p14:creationId xmlns:p14="http://schemas.microsoft.com/office/powerpoint/2010/main" val="3559141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בעיית העניבות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נתונות עניבות בצבעים אדום וצהוב, בכמות בלתי מוגבלת.</a:t>
            </a:r>
          </a:p>
          <a:p>
            <a:r>
              <a:rPr lang="he-IL" dirty="0"/>
              <a:t>מעוניינים לסדר בשורה של </a:t>
            </a:r>
            <a:r>
              <a:rPr lang="en-US" dirty="0"/>
              <a:t>n</a:t>
            </a:r>
            <a:r>
              <a:rPr lang="he-IL" dirty="0"/>
              <a:t> כסאות תלמידות שתענובנה את העניבות הנ"ל..</a:t>
            </a:r>
          </a:p>
          <a:p>
            <a:r>
              <a:rPr lang="he-IL" dirty="0"/>
              <a:t>מה מספר האפשרויות בהן ניתן לסדר את התלמידות,</a:t>
            </a:r>
            <a:br>
              <a:rPr lang="en-US" dirty="0"/>
            </a:br>
            <a:r>
              <a:rPr lang="he-IL" dirty="0"/>
              <a:t>כך ששתי תלמידות העונבות עניבה אדומה לא תשבנה בסמיכות האחת </a:t>
            </a:r>
            <a:r>
              <a:rPr lang="he-IL" dirty="0" err="1"/>
              <a:t>לשניה</a:t>
            </a:r>
            <a:r>
              <a:rPr lang="he-IL" dirty="0"/>
              <a:t>?</a:t>
            </a:r>
          </a:p>
          <a:p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269282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בעיית העניבות</a:t>
            </a:r>
          </a:p>
        </p:txBody>
      </p:sp>
      <p:pic>
        <p:nvPicPr>
          <p:cNvPr id="4" name="Picture 2" descr="G:\מסמכים\חומרי הוראה\קמאטק\Algorithmic Toolbox - coursera\חומרים נוספים\תכנון דינאמי\IMG_0282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59" b="12506"/>
          <a:stretch/>
        </p:blipFill>
        <p:spPr bwMode="auto">
          <a:xfrm>
            <a:off x="825988" y="1752600"/>
            <a:ext cx="7492024" cy="437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710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בעיית צביעת הבניין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יש לצבוע בניין בעל </a:t>
            </a:r>
            <a:r>
              <a:rPr lang="en-US" dirty="0"/>
              <a:t>n </a:t>
            </a:r>
            <a:r>
              <a:rPr lang="he-IL" dirty="0"/>
              <a:t> קומות.</a:t>
            </a:r>
            <a:br>
              <a:rPr lang="en-US" dirty="0"/>
            </a:br>
            <a:r>
              <a:rPr lang="he-IL" dirty="0"/>
              <a:t>כל קומה תצבע בצבע ירוק או אדום.</a:t>
            </a:r>
          </a:p>
          <a:p>
            <a:endParaRPr lang="he-IL" dirty="0"/>
          </a:p>
          <a:p>
            <a:r>
              <a:rPr lang="he-IL" dirty="0"/>
              <a:t>אסור לצבוע 2 קומות סמוכות באדום. </a:t>
            </a:r>
          </a:p>
          <a:p>
            <a:r>
              <a:rPr lang="he-IL" dirty="0"/>
              <a:t>אסור לצבוע 3 קומות סמוכות בירוק .</a:t>
            </a:r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בכמה אפשרויות ניתן לצבוע את הבניין ?</a:t>
            </a:r>
          </a:p>
        </p:txBody>
      </p:sp>
    </p:spTree>
    <p:extLst>
      <p:ext uri="{BB962C8B-B14F-4D97-AF65-F5344CB8AC3E}">
        <p14:creationId xmlns:p14="http://schemas.microsoft.com/office/powerpoint/2010/main" val="219184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ניתוח הבעיה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אם ארצה שהקומה ה-</a:t>
            </a:r>
            <a:r>
              <a:rPr lang="en-US" dirty="0"/>
              <a:t>n</a:t>
            </a:r>
            <a:r>
              <a:rPr lang="he-IL" dirty="0"/>
              <a:t> תצבע באדום, על איזה בניין אפשר להוסיף אותה??</a:t>
            </a:r>
          </a:p>
          <a:p>
            <a:r>
              <a:rPr lang="he-IL" dirty="0"/>
              <a:t>כמובן, על בניין שמסתיים בירוק בלבד, והוא בן </a:t>
            </a:r>
            <a:r>
              <a:rPr lang="en-US" dirty="0"/>
              <a:t>n-1</a:t>
            </a:r>
            <a:r>
              <a:rPr lang="he-IL" dirty="0"/>
              <a:t> קומות.</a:t>
            </a:r>
          </a:p>
          <a:p>
            <a:endParaRPr lang="he-IL" dirty="0"/>
          </a:p>
          <a:p>
            <a:r>
              <a:rPr lang="he-IL" dirty="0"/>
              <a:t>אם ארצה שהקומה ה-</a:t>
            </a:r>
            <a:r>
              <a:rPr lang="en-US" dirty="0"/>
              <a:t>n</a:t>
            </a:r>
            <a:r>
              <a:rPr lang="he-IL" dirty="0"/>
              <a:t> תצבע בירוק, על איזה בניין אפשר להוסיף אותה?</a:t>
            </a:r>
          </a:p>
          <a:p>
            <a:r>
              <a:rPr lang="he-IL" dirty="0"/>
              <a:t>או על בניין בן </a:t>
            </a:r>
            <a:r>
              <a:rPr lang="en-US" dirty="0"/>
              <a:t>n-1</a:t>
            </a:r>
            <a:r>
              <a:rPr lang="he-IL" dirty="0"/>
              <a:t> קומות המסתיים באדום,</a:t>
            </a:r>
          </a:p>
          <a:p>
            <a:r>
              <a:rPr lang="he-IL" dirty="0"/>
              <a:t>או על בניין בן </a:t>
            </a:r>
            <a:r>
              <a:rPr lang="en-US" dirty="0"/>
              <a:t>n-2</a:t>
            </a:r>
            <a:r>
              <a:rPr lang="he-IL" dirty="0"/>
              <a:t> קומות המסתיים אף הוא באדום.</a:t>
            </a:r>
          </a:p>
          <a:p>
            <a:endParaRPr lang="he-IL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7254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הדגמה</a:t>
            </a:r>
          </a:p>
        </p:txBody>
      </p:sp>
      <p:sp>
        <p:nvSpPr>
          <p:cNvPr id="4" name="מלבן 3"/>
          <p:cNvSpPr/>
          <p:nvPr/>
        </p:nvSpPr>
        <p:spPr>
          <a:xfrm>
            <a:off x="1664900" y="2464430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מלבן 6"/>
          <p:cNvSpPr/>
          <p:nvPr/>
        </p:nvSpPr>
        <p:spPr>
          <a:xfrm>
            <a:off x="789246" y="2460305"/>
            <a:ext cx="792088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TextBox 7"/>
          <p:cNvSpPr txBox="1"/>
          <p:nvPr/>
        </p:nvSpPr>
        <p:spPr>
          <a:xfrm>
            <a:off x="1223628" y="1916832"/>
            <a:ext cx="82809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n=1</a:t>
            </a:r>
            <a:endParaRPr lang="he-IL" dirty="0"/>
          </a:p>
        </p:txBody>
      </p:sp>
      <p:sp>
        <p:nvSpPr>
          <p:cNvPr id="9" name="מלבן 8"/>
          <p:cNvSpPr/>
          <p:nvPr/>
        </p:nvSpPr>
        <p:spPr>
          <a:xfrm>
            <a:off x="4909909" y="2473694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9"/>
          <p:cNvSpPr/>
          <p:nvPr/>
        </p:nvSpPr>
        <p:spPr>
          <a:xfrm>
            <a:off x="3203848" y="2473694"/>
            <a:ext cx="792088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TextBox 10"/>
          <p:cNvSpPr txBox="1"/>
          <p:nvPr/>
        </p:nvSpPr>
        <p:spPr>
          <a:xfrm>
            <a:off x="3887924" y="1916832"/>
            <a:ext cx="82809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n=2</a:t>
            </a:r>
            <a:endParaRPr lang="he-IL" dirty="0"/>
          </a:p>
        </p:txBody>
      </p:sp>
      <p:sp>
        <p:nvSpPr>
          <p:cNvPr id="12" name="מלבן 11"/>
          <p:cNvSpPr/>
          <p:nvPr/>
        </p:nvSpPr>
        <p:spPr>
          <a:xfrm>
            <a:off x="4909909" y="2852936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מלבן 12"/>
          <p:cNvSpPr/>
          <p:nvPr/>
        </p:nvSpPr>
        <p:spPr>
          <a:xfrm>
            <a:off x="4053430" y="2464430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מלבן 13"/>
          <p:cNvSpPr/>
          <p:nvPr/>
        </p:nvSpPr>
        <p:spPr>
          <a:xfrm>
            <a:off x="4053430" y="2838422"/>
            <a:ext cx="792088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מלבן 15"/>
          <p:cNvSpPr/>
          <p:nvPr/>
        </p:nvSpPr>
        <p:spPr>
          <a:xfrm>
            <a:off x="3203848" y="2848811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TextBox 18"/>
          <p:cNvSpPr txBox="1"/>
          <p:nvPr/>
        </p:nvSpPr>
        <p:spPr>
          <a:xfrm>
            <a:off x="1583668" y="3645024"/>
            <a:ext cx="82809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n=3</a:t>
            </a:r>
            <a:endParaRPr lang="he-IL" dirty="0"/>
          </a:p>
        </p:txBody>
      </p:sp>
      <p:sp>
        <p:nvSpPr>
          <p:cNvPr id="25" name="מלבן 24"/>
          <p:cNvSpPr/>
          <p:nvPr/>
        </p:nvSpPr>
        <p:spPr>
          <a:xfrm>
            <a:off x="789246" y="4077072"/>
            <a:ext cx="792088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מציין מיקום תוכן 2"/>
          <p:cNvSpPr>
            <a:spLocks noGrp="1"/>
          </p:cNvSpPr>
          <p:nvPr>
            <p:ph idx="1"/>
          </p:nvPr>
        </p:nvSpPr>
        <p:spPr>
          <a:xfrm>
            <a:off x="5727700" y="1752601"/>
            <a:ext cx="3416300" cy="2514600"/>
          </a:xfrm>
        </p:spPr>
        <p:txBody>
          <a:bodyPr>
            <a:normAutofit fontScale="62500" lnSpcReduction="20000"/>
          </a:bodyPr>
          <a:lstStyle/>
          <a:p>
            <a:r>
              <a:rPr lang="he-IL" dirty="0"/>
              <a:t>אם ארצה שהקומה ה-</a:t>
            </a:r>
            <a:r>
              <a:rPr lang="en-US" dirty="0"/>
              <a:t>n</a:t>
            </a:r>
            <a:r>
              <a:rPr lang="he-IL" dirty="0"/>
              <a:t> תצבע באדום, על איזה בניין אפשר להוסיף אותה??</a:t>
            </a:r>
          </a:p>
          <a:p>
            <a:r>
              <a:rPr lang="he-IL" dirty="0"/>
              <a:t>כמובן, על בניין שמסתיים בירוק בלבד, והוא בן </a:t>
            </a:r>
            <a:r>
              <a:rPr lang="en-US" dirty="0"/>
              <a:t>n-1</a:t>
            </a:r>
            <a:r>
              <a:rPr lang="he-IL" dirty="0"/>
              <a:t> קומות.</a:t>
            </a:r>
          </a:p>
          <a:p>
            <a:endParaRPr lang="he-IL" dirty="0"/>
          </a:p>
          <a:p>
            <a:r>
              <a:rPr lang="he-IL" dirty="0"/>
              <a:t>אם ארצה שהקומה ה-</a:t>
            </a:r>
            <a:r>
              <a:rPr lang="en-US" dirty="0"/>
              <a:t>n</a:t>
            </a:r>
            <a:r>
              <a:rPr lang="he-IL" dirty="0"/>
              <a:t> תצבע בירוק, על איזה בניין אפשר להוסיף אותה?</a:t>
            </a:r>
          </a:p>
          <a:p>
            <a:r>
              <a:rPr lang="he-IL" dirty="0"/>
              <a:t>או על בניין בן </a:t>
            </a:r>
            <a:r>
              <a:rPr lang="en-US" dirty="0"/>
              <a:t>n-1</a:t>
            </a:r>
            <a:r>
              <a:rPr lang="he-IL" dirty="0"/>
              <a:t> קומות המסתיים באדום,</a:t>
            </a:r>
          </a:p>
          <a:p>
            <a:r>
              <a:rPr lang="he-IL" dirty="0"/>
              <a:t>או על בניין בן </a:t>
            </a:r>
            <a:r>
              <a:rPr lang="en-US" dirty="0"/>
              <a:t>n-2</a:t>
            </a:r>
            <a:r>
              <a:rPr lang="he-IL" dirty="0"/>
              <a:t> קומות המסתיים אף הוא באדום.</a:t>
            </a:r>
          </a:p>
          <a:p>
            <a:endParaRPr lang="he-IL" dirty="0"/>
          </a:p>
          <a:p>
            <a:endParaRPr lang="he-IL" dirty="0"/>
          </a:p>
        </p:txBody>
      </p:sp>
      <p:sp>
        <p:nvSpPr>
          <p:cNvPr id="30" name="מלבן 29"/>
          <p:cNvSpPr/>
          <p:nvPr/>
        </p:nvSpPr>
        <p:spPr>
          <a:xfrm>
            <a:off x="1653580" y="4483666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מלבן 30"/>
          <p:cNvSpPr/>
          <p:nvPr/>
        </p:nvSpPr>
        <p:spPr>
          <a:xfrm>
            <a:off x="1653580" y="4862908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2" name="מלבן 31"/>
          <p:cNvSpPr/>
          <p:nvPr/>
        </p:nvSpPr>
        <p:spPr>
          <a:xfrm>
            <a:off x="797101" y="4474402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3" name="מלבן 32"/>
          <p:cNvSpPr/>
          <p:nvPr/>
        </p:nvSpPr>
        <p:spPr>
          <a:xfrm>
            <a:off x="797101" y="4848394"/>
            <a:ext cx="792088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4" name="מלבן 33"/>
          <p:cNvSpPr/>
          <p:nvPr/>
        </p:nvSpPr>
        <p:spPr>
          <a:xfrm>
            <a:off x="1653580" y="4089772"/>
            <a:ext cx="792088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5" name="מלבן 34"/>
          <p:cNvSpPr/>
          <p:nvPr/>
        </p:nvSpPr>
        <p:spPr>
          <a:xfrm>
            <a:off x="2538884" y="4102472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6" name="מלבן 35"/>
          <p:cNvSpPr/>
          <p:nvPr/>
        </p:nvSpPr>
        <p:spPr>
          <a:xfrm>
            <a:off x="2543076" y="4479283"/>
            <a:ext cx="792088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7" name="מלבן 36"/>
          <p:cNvSpPr/>
          <p:nvPr/>
        </p:nvSpPr>
        <p:spPr>
          <a:xfrm>
            <a:off x="2543076" y="4854400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8" name="מלבן 37"/>
          <p:cNvSpPr/>
          <p:nvPr/>
        </p:nvSpPr>
        <p:spPr>
          <a:xfrm>
            <a:off x="3407172" y="4110980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9" name="מלבן 38"/>
          <p:cNvSpPr/>
          <p:nvPr/>
        </p:nvSpPr>
        <p:spPr>
          <a:xfrm>
            <a:off x="3407172" y="4490222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0" name="מלבן 39"/>
          <p:cNvSpPr/>
          <p:nvPr/>
        </p:nvSpPr>
        <p:spPr>
          <a:xfrm>
            <a:off x="3407172" y="4845892"/>
            <a:ext cx="792088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1" name="TextBox 40"/>
          <p:cNvSpPr txBox="1"/>
          <p:nvPr/>
        </p:nvSpPr>
        <p:spPr>
          <a:xfrm>
            <a:off x="5510438" y="4119364"/>
            <a:ext cx="82809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n=4</a:t>
            </a:r>
            <a:endParaRPr lang="he-IL" dirty="0"/>
          </a:p>
        </p:txBody>
      </p:sp>
      <p:sp>
        <p:nvSpPr>
          <p:cNvPr id="42" name="מלבן 41"/>
          <p:cNvSpPr/>
          <p:nvPr/>
        </p:nvSpPr>
        <p:spPr>
          <a:xfrm>
            <a:off x="4716016" y="4551412"/>
            <a:ext cx="792088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7" name="מלבן 46"/>
          <p:cNvSpPr/>
          <p:nvPr/>
        </p:nvSpPr>
        <p:spPr>
          <a:xfrm>
            <a:off x="5580350" y="4564112"/>
            <a:ext cx="792088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8" name="מלבן 47"/>
          <p:cNvSpPr/>
          <p:nvPr/>
        </p:nvSpPr>
        <p:spPr>
          <a:xfrm>
            <a:off x="4720332" y="4941168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9" name="מלבן 48"/>
          <p:cNvSpPr/>
          <p:nvPr/>
        </p:nvSpPr>
        <p:spPr>
          <a:xfrm>
            <a:off x="4724524" y="5317979"/>
            <a:ext cx="792088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0" name="מלבן 49"/>
          <p:cNvSpPr/>
          <p:nvPr/>
        </p:nvSpPr>
        <p:spPr>
          <a:xfrm>
            <a:off x="4724524" y="5693096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1" name="מלבן 50"/>
          <p:cNvSpPr/>
          <p:nvPr/>
        </p:nvSpPr>
        <p:spPr>
          <a:xfrm>
            <a:off x="5588620" y="4949676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2" name="מלבן 51"/>
          <p:cNvSpPr/>
          <p:nvPr/>
        </p:nvSpPr>
        <p:spPr>
          <a:xfrm>
            <a:off x="5588620" y="5328918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3" name="מלבן 52"/>
          <p:cNvSpPr/>
          <p:nvPr/>
        </p:nvSpPr>
        <p:spPr>
          <a:xfrm>
            <a:off x="5588620" y="5684588"/>
            <a:ext cx="792088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1" name="מלבן 60"/>
          <p:cNvSpPr/>
          <p:nvPr/>
        </p:nvSpPr>
        <p:spPr>
          <a:xfrm>
            <a:off x="6452716" y="4566792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2" name="מלבן 61"/>
          <p:cNvSpPr/>
          <p:nvPr/>
        </p:nvSpPr>
        <p:spPr>
          <a:xfrm>
            <a:off x="6443970" y="4936852"/>
            <a:ext cx="792088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3" name="מלבן 62"/>
          <p:cNvSpPr/>
          <p:nvPr/>
        </p:nvSpPr>
        <p:spPr>
          <a:xfrm>
            <a:off x="7308304" y="5318046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4" name="מלבן 63"/>
          <p:cNvSpPr/>
          <p:nvPr/>
        </p:nvSpPr>
        <p:spPr>
          <a:xfrm>
            <a:off x="7308304" y="5697288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5" name="מלבן 64"/>
          <p:cNvSpPr/>
          <p:nvPr/>
        </p:nvSpPr>
        <p:spPr>
          <a:xfrm>
            <a:off x="6451825" y="5308782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6" name="מלבן 65"/>
          <p:cNvSpPr/>
          <p:nvPr/>
        </p:nvSpPr>
        <p:spPr>
          <a:xfrm>
            <a:off x="6451825" y="5682774"/>
            <a:ext cx="792088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7" name="מלבן 66"/>
          <p:cNvSpPr/>
          <p:nvPr/>
        </p:nvSpPr>
        <p:spPr>
          <a:xfrm>
            <a:off x="7308304" y="4949552"/>
            <a:ext cx="792088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8" name="מלבן 67"/>
          <p:cNvSpPr/>
          <p:nvPr/>
        </p:nvSpPr>
        <p:spPr>
          <a:xfrm>
            <a:off x="7308304" y="4581128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9" name="מלבן 68"/>
          <p:cNvSpPr/>
          <p:nvPr/>
        </p:nvSpPr>
        <p:spPr>
          <a:xfrm>
            <a:off x="8172400" y="4585266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0" name="מלבן 69"/>
          <p:cNvSpPr/>
          <p:nvPr/>
        </p:nvSpPr>
        <p:spPr>
          <a:xfrm>
            <a:off x="8172400" y="4964508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1" name="מלבן 70"/>
          <p:cNvSpPr/>
          <p:nvPr/>
        </p:nvSpPr>
        <p:spPr>
          <a:xfrm>
            <a:off x="8172400" y="5322171"/>
            <a:ext cx="792088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2" name="מלבן 71"/>
          <p:cNvSpPr/>
          <p:nvPr/>
        </p:nvSpPr>
        <p:spPr>
          <a:xfrm>
            <a:off x="8172400" y="5697288"/>
            <a:ext cx="792088" cy="32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2963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הגדרה רקורסיבית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628728"/>
          </a:xfrm>
        </p:spPr>
        <p:txBody>
          <a:bodyPr>
            <a:normAutofit fontScale="85000" lnSpcReduction="20000"/>
          </a:bodyPr>
          <a:lstStyle/>
          <a:p>
            <a:pPr marL="114300" indent="0" algn="l" rtl="0">
              <a:buNone/>
            </a:pPr>
            <a:r>
              <a:rPr lang="en-US" dirty="0">
                <a:latin typeface="+mj-lt"/>
              </a:rPr>
              <a:t>public static 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Red(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n)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{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if(n==1)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     return 1;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return Green(n-1);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}</a:t>
            </a:r>
          </a:p>
          <a:p>
            <a:pPr marL="114300" indent="0" algn="l" rtl="0">
              <a:buNone/>
            </a:pPr>
            <a:endParaRPr lang="en-US" dirty="0">
              <a:latin typeface="+mj-lt"/>
            </a:endParaRP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public static 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Green(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n)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{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if(n==1)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     return 1;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if(n==2)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     return 2;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return Red(n-1)+Red(n-2);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}</a:t>
            </a:r>
          </a:p>
          <a:p>
            <a:pPr marL="114300" indent="0" algn="l" rtl="0">
              <a:buNone/>
            </a:pPr>
            <a:endParaRPr lang="he-IL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39849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פתרון בשיטת התכנון הדינאמי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628728"/>
          </a:xfrm>
        </p:spPr>
        <p:txBody>
          <a:bodyPr>
            <a:normAutofit fontScale="92500" lnSpcReduction="10000"/>
          </a:bodyPr>
          <a:lstStyle/>
          <a:p>
            <a:pPr marL="114300" indent="0" algn="l" rtl="0">
              <a:buNone/>
            </a:pPr>
            <a:r>
              <a:rPr lang="en-US" dirty="0">
                <a:latin typeface="+mj-lt"/>
              </a:rPr>
              <a:t>public static 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fun1(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n)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{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[]mat =new 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[n][2];  //</a:t>
            </a:r>
            <a:r>
              <a:rPr lang="he-IL" sz="2000" dirty="0">
                <a:latin typeface="+mj-lt"/>
              </a:rPr>
              <a:t>עמודה 0 אדום עמודה 1 ירוק</a:t>
            </a:r>
            <a:endParaRPr lang="en-US" sz="2000" dirty="0">
              <a:latin typeface="+mj-lt"/>
            </a:endParaRP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mat[0][0]=mat[0][1]=1;  //</a:t>
            </a:r>
            <a:r>
              <a:rPr lang="he-IL" sz="2000" dirty="0">
                <a:latin typeface="+mj-lt"/>
              </a:rPr>
              <a:t>בניין בעל קומה אחת</a:t>
            </a:r>
            <a:endParaRPr lang="en-US" dirty="0">
              <a:latin typeface="+mj-lt"/>
            </a:endParaRP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mat[1][0]=1;  mat[1][1]=2;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for(</a:t>
            </a:r>
            <a:r>
              <a:rPr lang="en-US" dirty="0" err="1">
                <a:latin typeface="+mj-lt"/>
              </a:rPr>
              <a:t>int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=2; 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&lt;n; 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++)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{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	mat[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][0]=mat[i-1][1];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	mat[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][1]=mat[i-1][0]+mat[i-2][0];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}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	return mat[n-1][0]+mat[n-1][1];</a:t>
            </a:r>
          </a:p>
          <a:p>
            <a:pPr marL="114300" indent="0" algn="l" rtl="0">
              <a:buNone/>
            </a:pPr>
            <a:r>
              <a:rPr lang="en-US" dirty="0">
                <a:latin typeface="+mj-l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17064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בעיית הלבנים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נתונים לבנים באורך 2 מטר וברוחב מטר</a:t>
            </a:r>
          </a:p>
          <a:p>
            <a:r>
              <a:rPr lang="he-IL" dirty="0"/>
              <a:t>בכמה אפשרויות ניתן לסדר את הלבנים בגדר בגובה 2 מטר באורך </a:t>
            </a:r>
            <a:r>
              <a:rPr lang="en-US" dirty="0"/>
              <a:t>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09004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בעיית המוטות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נתונים 3 מקלות בצבעים אדום באורך מטר כחול באורך מטר וצהוב באורך 2 מטר</a:t>
            </a:r>
          </a:p>
          <a:p>
            <a:r>
              <a:rPr lang="he-IL" dirty="0"/>
              <a:t>בכמה אפשרויות ניתן לסדר את המוטות באורך של </a:t>
            </a:r>
            <a:r>
              <a:rPr lang="en-US" dirty="0"/>
              <a:t>N</a:t>
            </a:r>
            <a:r>
              <a:rPr lang="he-IL" dirty="0"/>
              <a:t> מטר?</a:t>
            </a:r>
          </a:p>
        </p:txBody>
      </p:sp>
    </p:spTree>
    <p:extLst>
      <p:ext uri="{BB962C8B-B14F-4D97-AF65-F5344CB8AC3E}">
        <p14:creationId xmlns:p14="http://schemas.microsoft.com/office/powerpoint/2010/main" val="4004936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40E2AD9-AE99-4A13-AFF5-F841E6898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פתרון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C25108D-0BC9-4DB9-9732-BAC4E3261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הגדרת תתי בעיות : להגדיל את אורך המוטות בעוד מטר עבור כל </a:t>
            </a:r>
            <a:r>
              <a:rPr lang="en-US" dirty="0" err="1"/>
              <a:t>i</a:t>
            </a:r>
            <a:r>
              <a:rPr lang="he-IL" dirty="0"/>
              <a:t>, כאשר </a:t>
            </a:r>
            <a:r>
              <a:rPr lang="en-US" dirty="0"/>
              <a:t>0&lt;</a:t>
            </a:r>
            <a:r>
              <a:rPr lang="en-US" dirty="0" err="1"/>
              <a:t>i</a:t>
            </a:r>
            <a:r>
              <a:rPr lang="en-US" dirty="0"/>
              <a:t>&lt;=n</a:t>
            </a:r>
            <a:endParaRPr lang="he-IL" dirty="0"/>
          </a:p>
          <a:p>
            <a:r>
              <a:rPr lang="he-IL" dirty="0"/>
              <a:t>נוסחת הרקורסיה: </a:t>
            </a:r>
            <a:r>
              <a:rPr lang="en-US" dirty="0"/>
              <a:t>F(</a:t>
            </a:r>
            <a:r>
              <a:rPr lang="en-US" dirty="0" err="1"/>
              <a:t>i</a:t>
            </a:r>
            <a:r>
              <a:rPr lang="en-US" dirty="0"/>
              <a:t>)=2*F(i-1)+F(i-2)</a:t>
            </a:r>
            <a:r>
              <a:rPr lang="he-IL" dirty="0"/>
              <a:t> , </a:t>
            </a:r>
            <a:r>
              <a:rPr lang="en-US" dirty="0"/>
              <a:t>F(1)=2, F(2)=5</a:t>
            </a:r>
            <a:endParaRPr lang="he-IL" dirty="0"/>
          </a:p>
          <a:p>
            <a:r>
              <a:rPr lang="he-IL" dirty="0"/>
              <a:t>הקצאת מערך בגודל </a:t>
            </a:r>
            <a:r>
              <a:rPr lang="en-US" dirty="0"/>
              <a:t>n</a:t>
            </a:r>
            <a:r>
              <a:rPr lang="he-IL" dirty="0"/>
              <a:t> ומילוי כמו נוסחת הרקורסיה</a:t>
            </a:r>
          </a:p>
          <a:p>
            <a:r>
              <a:rPr lang="he-IL" dirty="0"/>
              <a:t>החזרת האיבר האחרון במערך</a:t>
            </a:r>
          </a:p>
          <a:p>
            <a:r>
              <a:rPr lang="he-IL" dirty="0"/>
              <a:t>ניתוח סיבוכיות: גודל הטבלה:</a:t>
            </a:r>
            <a:r>
              <a:rPr lang="en-US" dirty="0"/>
              <a:t>O(n)</a:t>
            </a:r>
            <a:r>
              <a:rPr lang="he-IL" dirty="0"/>
              <a:t> זמן הריצה עבור כל תא </a:t>
            </a:r>
            <a:r>
              <a:rPr lang="en-US" dirty="0"/>
              <a:t>O(1)</a:t>
            </a:r>
            <a:r>
              <a:rPr lang="he-IL" dirty="0"/>
              <a:t> סה"כ: </a:t>
            </a:r>
            <a:r>
              <a:rPr lang="en-US" dirty="0"/>
              <a:t>O(n)*O(1)=O(n)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40119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AD85998-65A5-4E84-9AEB-A66857CA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סדר פתרון בעיות בתכנון דינאמי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E5FEFF2-4C83-4FB6-A5F8-6C5A3EE90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הגדרת תתי בעיות</a:t>
            </a:r>
          </a:p>
          <a:p>
            <a:r>
              <a:rPr lang="he-IL" dirty="0"/>
              <a:t>הגדרת נוסחת הרקורסיה</a:t>
            </a:r>
          </a:p>
          <a:p>
            <a:r>
              <a:rPr lang="he-IL" dirty="0"/>
              <a:t>הקצאת טבלה ומילויה</a:t>
            </a:r>
          </a:p>
          <a:p>
            <a:r>
              <a:rPr lang="he-IL" dirty="0"/>
              <a:t>חילוץ הפתרון (לפעמים גם את הדרך)</a:t>
            </a:r>
          </a:p>
          <a:p>
            <a:r>
              <a:rPr lang="he-IL" dirty="0"/>
              <a:t>כתיבת קוד (רק אם מתבקש)</a:t>
            </a:r>
          </a:p>
          <a:p>
            <a:r>
              <a:rPr lang="he-IL" dirty="0"/>
              <a:t>ניתוח זמן הריצה</a:t>
            </a:r>
          </a:p>
        </p:txBody>
      </p:sp>
    </p:spTree>
    <p:extLst>
      <p:ext uri="{BB962C8B-B14F-4D97-AF65-F5344CB8AC3E}">
        <p14:creationId xmlns:p14="http://schemas.microsoft.com/office/powerpoint/2010/main" val="5300897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רוקחות">
  <a:themeElements>
    <a:clrScheme name="רוקחות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רוקחות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רוקחות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346</TotalTime>
  <Words>1148</Words>
  <Application>Microsoft Office PowerPoint</Application>
  <PresentationFormat>‫הצגה על המסך (4:3)</PresentationFormat>
  <Paragraphs>117</Paragraphs>
  <Slides>19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19</vt:i4>
      </vt:variant>
    </vt:vector>
  </HeadingPairs>
  <TitlesOfParts>
    <vt:vector size="24" baseType="lpstr">
      <vt:lpstr>Arial</vt:lpstr>
      <vt:lpstr>Book Antiqua</vt:lpstr>
      <vt:lpstr>Century Gothic</vt:lpstr>
      <vt:lpstr>Courier New</vt:lpstr>
      <vt:lpstr>רוקחות</vt:lpstr>
      <vt:lpstr>תכנון דינאמי</vt:lpstr>
      <vt:lpstr>הגדרה</vt:lpstr>
      <vt:lpstr>טור פיבונאצ'י - תזכורת</vt:lpstr>
      <vt:lpstr>פונקציה המחזירה את האיבר ה-n בטור פיבונאצ'י</vt:lpstr>
      <vt:lpstr>מעקב...</vt:lpstr>
      <vt:lpstr>החיסכון של התכנון הדינאמי</vt:lpstr>
      <vt:lpstr>פתרון לבעיית האיבר ה-n בטור פיבונאצ'י  בשיטת התכנון הדינאמי</vt:lpstr>
      <vt:lpstr>בעיית העניבות בגרסה ראשונית</vt:lpstr>
      <vt:lpstr>בעיית העניבות</vt:lpstr>
      <vt:lpstr>בעיית העניבות</vt:lpstr>
      <vt:lpstr>בעיית צביעת הבניין</vt:lpstr>
      <vt:lpstr>ניתוח הבעיה</vt:lpstr>
      <vt:lpstr>הדגמה</vt:lpstr>
      <vt:lpstr>הגדרה רקורסיבית</vt:lpstr>
      <vt:lpstr>פתרון בשיטת התכנון הדינאמי</vt:lpstr>
      <vt:lpstr>בעיית הלבנים</vt:lpstr>
      <vt:lpstr>בעיית המוטות</vt:lpstr>
      <vt:lpstr>פתרון</vt:lpstr>
      <vt:lpstr>סדר פתרון בעיות בתכנון דינאמי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תכנון דינאמי</dc:title>
  <dc:creator>USER</dc:creator>
  <cp:lastModifiedBy>ברייש חנה</cp:lastModifiedBy>
  <cp:revision>26</cp:revision>
  <dcterms:created xsi:type="dcterms:W3CDTF">2020-07-03T11:37:59Z</dcterms:created>
  <dcterms:modified xsi:type="dcterms:W3CDTF">2025-11-05T11:14:25Z</dcterms:modified>
</cp:coreProperties>
</file>