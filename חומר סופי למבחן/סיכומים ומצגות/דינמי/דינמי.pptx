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61"/>
  </p:notesMasterIdLst>
  <p:sldIdLst>
    <p:sldId id="256" r:id="rId2"/>
    <p:sldId id="689" r:id="rId3"/>
    <p:sldId id="688" r:id="rId4"/>
    <p:sldId id="265" r:id="rId5"/>
    <p:sldId id="257" r:id="rId6"/>
    <p:sldId id="646" r:id="rId7"/>
    <p:sldId id="580" r:id="rId8"/>
    <p:sldId id="666" r:id="rId9"/>
    <p:sldId id="667" r:id="rId10"/>
    <p:sldId id="724" r:id="rId11"/>
    <p:sldId id="739" r:id="rId12"/>
    <p:sldId id="725" r:id="rId13"/>
    <p:sldId id="581" r:id="rId14"/>
    <p:sldId id="274" r:id="rId15"/>
    <p:sldId id="582" r:id="rId16"/>
    <p:sldId id="622" r:id="rId17"/>
    <p:sldId id="623" r:id="rId18"/>
    <p:sldId id="742" r:id="rId19"/>
    <p:sldId id="728" r:id="rId20"/>
    <p:sldId id="738" r:id="rId21"/>
    <p:sldId id="740" r:id="rId22"/>
    <p:sldId id="743" r:id="rId23"/>
    <p:sldId id="741" r:id="rId24"/>
    <p:sldId id="732" r:id="rId25"/>
    <p:sldId id="733" r:id="rId26"/>
    <p:sldId id="676" r:id="rId27"/>
    <p:sldId id="677" r:id="rId28"/>
    <p:sldId id="678" r:id="rId29"/>
    <p:sldId id="679" r:id="rId30"/>
    <p:sldId id="680" r:id="rId31"/>
    <p:sldId id="681" r:id="rId32"/>
    <p:sldId id="624" r:id="rId33"/>
    <p:sldId id="726" r:id="rId34"/>
    <p:sldId id="727" r:id="rId35"/>
    <p:sldId id="668" r:id="rId36"/>
    <p:sldId id="669" r:id="rId37"/>
    <p:sldId id="670" r:id="rId38"/>
    <p:sldId id="729" r:id="rId39"/>
    <p:sldId id="568" r:id="rId40"/>
    <p:sldId id="569" r:id="rId41"/>
    <p:sldId id="570" r:id="rId42"/>
    <p:sldId id="571" r:id="rId43"/>
    <p:sldId id="730" r:id="rId44"/>
    <p:sldId id="671" r:id="rId45"/>
    <p:sldId id="673" r:id="rId46"/>
    <p:sldId id="672" r:id="rId47"/>
    <p:sldId id="674" r:id="rId48"/>
    <p:sldId id="731" r:id="rId49"/>
    <p:sldId id="675" r:id="rId50"/>
    <p:sldId id="734" r:id="rId51"/>
    <p:sldId id="735" r:id="rId52"/>
    <p:sldId id="583" r:id="rId53"/>
    <p:sldId id="736" r:id="rId54"/>
    <p:sldId id="737" r:id="rId55"/>
    <p:sldId id="625" r:id="rId56"/>
    <p:sldId id="627" r:id="rId57"/>
    <p:sldId id="684" r:id="rId58"/>
    <p:sldId id="636" r:id="rId59"/>
    <p:sldId id="744" r:id="rId60"/>
  </p:sldIdLst>
  <p:sldSz cx="12192000" cy="6858000"/>
  <p:notesSz cx="9929813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8A5E"/>
    <a:srgbClr val="964399"/>
    <a:srgbClr val="00B050"/>
    <a:srgbClr val="FFFF50"/>
    <a:srgbClr val="40749B"/>
    <a:srgbClr val="FFFFFF"/>
    <a:srgbClr val="FF0000"/>
    <a:srgbClr val="0072BC"/>
    <a:srgbClr val="7F7F7F"/>
    <a:srgbClr val="F37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סגנון בהיר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סגנון בהיר 3 - הדגשה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1822" autoAdjust="0"/>
  </p:normalViewPr>
  <p:slideViewPr>
    <p:cSldViewPr snapToGrid="0">
      <p:cViewPr>
        <p:scale>
          <a:sx n="75" d="100"/>
          <a:sy n="75" d="100"/>
        </p:scale>
        <p:origin x="540" y="-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5625812" y="0"/>
            <a:ext cx="4304001" cy="341242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2320" y="0"/>
            <a:ext cx="4304001" cy="341242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58D8182-D62D-461A-B70F-A92F1142DE1C}" type="datetimeFigureOut">
              <a:rPr lang="he-IL" smtClean="0"/>
              <a:t>ט"ו/סיון/תשפ"ג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8287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992518" y="3271143"/>
            <a:ext cx="7944778" cy="2676687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5625812" y="6456433"/>
            <a:ext cx="4304001" cy="34124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2320" y="6456433"/>
            <a:ext cx="4304001" cy="34124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E496242-7E78-4A0D-966D-5BE25B02ED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8443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5B65F7-EFA5-49A9-B9F6-40F4DECE6DBC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6763"/>
            <a:ext cx="6824663" cy="384016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652" tIns="46826" rIns="93652" bIns="46826"/>
          <a:lstStyle/>
          <a:p>
            <a:pPr eaLnBrk="1" hangingPunct="1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04351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ט"ו/סיון/תשפ"ג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49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ט"ו/סיון/תשפ"ג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614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ט"ו/סיון/תשפ"ג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845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ט"ו/סיון/תשפ"ג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3225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ט"ו/סיון/תשפ"ג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55010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ט"ו/סיון/תשפ"ג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6786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ט"ו/סיון/תשפ"ג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966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FED67DB-4D9C-40C4-B300-882312968343}" type="datetimeFigureOut">
              <a:rPr lang="he-IL" smtClean="0"/>
              <a:t>ט"ו/סיון/תשפ"ג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502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ט"ו/סיון/תשפ"ג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7564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ט"ו/סיון/תשפ"ג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8376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7DB-4D9C-40C4-B300-882312968343}" type="datetimeFigureOut">
              <a:rPr lang="he-IL" smtClean="0"/>
              <a:t>ט"ו/סיון/תשפ"ג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873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FED67DB-4D9C-40C4-B300-882312968343}" type="datetimeFigureOut">
              <a:rPr lang="he-IL" smtClean="0"/>
              <a:t>ט"ו/סיון/תשפ"ג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F74B57-38FB-42E5-9C9A-B0BBCBAE076B}" type="slidenum">
              <a:rPr lang="he-IL" smtClean="0"/>
              <a:t>‹#›</a:t>
            </a:fld>
            <a:endParaRPr lang="he-IL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048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r" defTabSz="914400" rtl="1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" Type="http://schemas.openxmlformats.org/officeDocument/2006/relationships/image" Target="../media/image79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3" Type="http://schemas.openxmlformats.org/officeDocument/2006/relationships/image" Target="../media/image111.png"/><Relationship Id="rId21" Type="http://schemas.openxmlformats.org/officeDocument/2006/relationships/image" Target="../media/image129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" Type="http://schemas.openxmlformats.org/officeDocument/2006/relationships/image" Target="../media/image110.png"/><Relationship Id="rId16" Type="http://schemas.openxmlformats.org/officeDocument/2006/relationships/image" Target="../media/image124.png"/><Relationship Id="rId20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24" Type="http://schemas.openxmlformats.org/officeDocument/2006/relationships/image" Target="../media/image132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23" Type="http://schemas.openxmlformats.org/officeDocument/2006/relationships/image" Target="../media/image131.png"/><Relationship Id="rId10" Type="http://schemas.openxmlformats.org/officeDocument/2006/relationships/image" Target="../media/image118.png"/><Relationship Id="rId19" Type="http://schemas.openxmlformats.org/officeDocument/2006/relationships/image" Target="../media/image127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Relationship Id="rId22" Type="http://schemas.openxmlformats.org/officeDocument/2006/relationships/image" Target="../media/image1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59.png"/><Relationship Id="rId21" Type="http://schemas.openxmlformats.org/officeDocument/2006/relationships/image" Target="../media/image7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image" Target="../media/image58.png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2" Type="http://schemas.openxmlformats.org/officeDocument/2006/relationships/image" Target="../media/image133.png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5" Type="http://schemas.openxmlformats.org/officeDocument/2006/relationships/image" Target="../media/image146.png"/><Relationship Id="rId10" Type="http://schemas.openxmlformats.org/officeDocument/2006/relationships/image" Target="../media/image141.png"/><Relationship Id="rId4" Type="http://schemas.openxmlformats.org/officeDocument/2006/relationships/image" Target="../media/image57.jpe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5EFDA9-1D17-6DE0-2BE5-2D269D7099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he-IL" sz="7200" dirty="0"/>
              <a:t>תכנות דינאמי</a:t>
            </a:r>
            <a:br>
              <a:rPr lang="he-IL" sz="7200" dirty="0"/>
            </a:br>
            <a:r>
              <a:rPr lang="en-US" sz="7200" dirty="0"/>
              <a:t>Dynamic Programming</a:t>
            </a:r>
            <a:endParaRPr lang="he-IL" sz="7200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8C12A35-AF78-933B-5247-64232FC01A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he-IL" dirty="0"/>
              <a:t>תרגילים נוספים</a:t>
            </a:r>
          </a:p>
          <a:p>
            <a:pPr algn="ctr"/>
            <a:r>
              <a:rPr lang="he-IL" dirty="0"/>
              <a:t>©ר. גוטליב 058-3247666</a:t>
            </a:r>
          </a:p>
        </p:txBody>
      </p:sp>
    </p:spTree>
    <p:extLst>
      <p:ext uri="{BB962C8B-B14F-4D97-AF65-F5344CB8AC3E}">
        <p14:creationId xmlns:p14="http://schemas.microsoft.com/office/powerpoint/2010/main" val="381445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105BC8D-0442-C48E-0BF3-A2B1B3EC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תזכורת-שלבים לפתרון בעזרת תכנון דינאמי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92F61AF-1D13-BB40-658A-D4AEAC19F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81014"/>
            <a:ext cx="1005840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e-IL" sz="3200" dirty="0">
                <a:cs typeface="+mj-cs"/>
              </a:rPr>
              <a:t> </a:t>
            </a:r>
            <a:r>
              <a:rPr lang="he-IL" sz="3200" b="1" dirty="0">
                <a:cs typeface="+mj-cs"/>
              </a:rPr>
              <a:t>הגדרת תתי הבעיות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3200" dirty="0">
                <a:cs typeface="+mj-cs"/>
              </a:rPr>
              <a:t> </a:t>
            </a:r>
            <a:r>
              <a:rPr lang="he-IL" sz="3200" b="1" dirty="0">
                <a:cs typeface="+mj-cs"/>
              </a:rPr>
              <a:t>כתיבת נוסחה רקורסיבית </a:t>
            </a:r>
            <a:r>
              <a:rPr lang="he-IL" sz="3200" dirty="0">
                <a:cs typeface="+mj-cs"/>
              </a:rPr>
              <a:t>המקשרת בין תתי בעיות קטנות לבעיות גדולות יותר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3200" b="1" dirty="0">
                <a:cs typeface="+mj-cs"/>
              </a:rPr>
              <a:t>הגדרת טבלה</a:t>
            </a:r>
            <a:r>
              <a:rPr lang="he-IL" sz="3200" dirty="0">
                <a:cs typeface="+mj-cs"/>
              </a:rPr>
              <a:t>, סדר מילויה ואופן חילוץ הפתרון האופטימלי ממנה.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3200" b="1" dirty="0">
                <a:cs typeface="+mj-cs"/>
              </a:rPr>
              <a:t>כתיבת </a:t>
            </a:r>
            <a:r>
              <a:rPr lang="he-IL" sz="3200" b="1" dirty="0" err="1">
                <a:cs typeface="+mj-cs"/>
              </a:rPr>
              <a:t>פסאודו</a:t>
            </a:r>
            <a:r>
              <a:rPr lang="he-IL" sz="3200" b="1" dirty="0">
                <a:cs typeface="+mj-cs"/>
              </a:rPr>
              <a:t> קוד- </a:t>
            </a:r>
            <a:r>
              <a:rPr lang="he-IL" sz="3200" dirty="0">
                <a:cs typeface="+mj-cs"/>
              </a:rPr>
              <a:t>לא תמיד חובה.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3200" b="1" dirty="0">
                <a:cs typeface="+mj-cs"/>
              </a:rPr>
              <a:t>ניתוח זמן ריצה, </a:t>
            </a:r>
            <a:r>
              <a:rPr lang="he-IL" sz="3200" dirty="0">
                <a:cs typeface="+mj-cs"/>
              </a:rPr>
              <a:t>לרוב- מספר התאים כפול הזמן </a:t>
            </a:r>
            <a:r>
              <a:rPr lang="he-IL" sz="3200" dirty="0" err="1">
                <a:cs typeface="+mj-cs"/>
              </a:rPr>
              <a:t>למלוי</a:t>
            </a:r>
            <a:r>
              <a:rPr lang="he-IL" sz="3200" dirty="0">
                <a:cs typeface="+mj-cs"/>
              </a:rPr>
              <a:t> תא אחד.</a:t>
            </a:r>
          </a:p>
        </p:txBody>
      </p:sp>
    </p:spTree>
    <p:extLst>
      <p:ext uri="{BB962C8B-B14F-4D97-AF65-F5344CB8AC3E}">
        <p14:creationId xmlns:p14="http://schemas.microsoft.com/office/powerpoint/2010/main" val="396709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30F238-41B4-0793-EA81-328D59B9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 נראה היום?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CFEA2EA-1886-D54E-1689-BF9D0BF0A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262" y="668068"/>
            <a:ext cx="6492240" cy="660047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לוח המשימות המתוגמלות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תרמיל הגב בשלמים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מוט הברזל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כפל מטריצות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ניתוב משימות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חיתוך הבד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he-IL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02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ECF2FC06-3AD7-405D-BFA1-5FFFC90468AE}"/>
              </a:ext>
            </a:extLst>
          </p:cNvPr>
          <p:cNvSpPr/>
          <p:nvPr/>
        </p:nvSpPr>
        <p:spPr>
          <a:xfrm>
            <a:off x="973372" y="2864794"/>
            <a:ext cx="10298915" cy="3414086"/>
          </a:xfrm>
          <a:prstGeom prst="rect">
            <a:avLst/>
          </a:prstGeom>
          <a:solidFill>
            <a:srgbClr val="E3E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D30F238-41B4-0793-EA81-328D59B9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בעיית לוח המשימות המתוגמלות- הגדרה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2CFEA2EA-1886-D54E-1689-BF9D0BF0A9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4447" y="2947138"/>
                <a:ext cx="9996765" cy="2905022"/>
              </a:xfrm>
              <a:solidFill>
                <a:srgbClr val="E3E9F5"/>
              </a:solidFill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he-IL" b="1" dirty="0">
                    <a:solidFill>
                      <a:srgbClr val="44AD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קלט: </a:t>
                </a:r>
                <a:r>
                  <a:rPr lang="he-I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אוסף של זוגות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),(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),…(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US" i="1" baseline="-25000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he-IL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he-I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כאשר:</a:t>
                </a:r>
              </a:p>
              <a:p>
                <a:pPr marL="201168" lvl="1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he-I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מייצג את מספר השבועות</a:t>
                </a:r>
              </a:p>
              <a:p>
                <a:pPr marL="201168" lvl="1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000" b="0" i="1" baseline="-25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he-I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מייצג את התגמול עבור משימה קשה בשבוע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he-I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01168" lvl="1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he-I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מייצג את התגמול עבור משימה קלה בשבוע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he-I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he-IL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he-IL" b="1" dirty="0">
                    <a:solidFill>
                      <a:srgbClr val="44AD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פלט: </a:t>
                </a:r>
                <a:r>
                  <a:rPr lang="he-I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לוח משימות רווחי ככל האפשר עבור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שבועות, כאשר בכל שבוע נתוגמל לפי המשימה שבחרנו לבצע. </a:t>
                </a:r>
              </a:p>
              <a:p>
                <a:pPr marL="292608" lvl="1" indent="0" algn="just">
                  <a:lnSpc>
                    <a:spcPct val="150000"/>
                  </a:lnSpc>
                  <a:buNone/>
                </a:pPr>
                <a:r>
                  <a:rPr lang="he-IL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אילוץ: אם מבצעים משימה קשה, חייבים לנוח בשבוע הקודם לה. (התנאי לא חל על השבוע הראשון).</a:t>
                </a:r>
              </a:p>
              <a:p>
                <a:endParaRPr lang="he-IL" sz="800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2CFEA2EA-1886-D54E-1689-BF9D0BF0A9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4447" y="2947138"/>
                <a:ext cx="9996765" cy="2905022"/>
              </a:xfrm>
              <a:blipFill>
                <a:blip r:embed="rId2"/>
                <a:stretch>
                  <a:fillRect r="-1524" b="-1509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מלבן 6">
            <a:extLst>
              <a:ext uri="{FF2B5EF4-FFF2-40B4-BE49-F238E27FC236}">
                <a16:creationId xmlns:a16="http://schemas.microsoft.com/office/drawing/2014/main" id="{6662DF0C-75CC-482A-94F7-FA330826F3D2}"/>
              </a:ext>
            </a:extLst>
          </p:cNvPr>
          <p:cNvSpPr/>
          <p:nvPr/>
        </p:nvSpPr>
        <p:spPr>
          <a:xfrm>
            <a:off x="1293412" y="1873043"/>
            <a:ext cx="9941781" cy="856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בכל שבוע יש זוג משימות, קשה וקלה. לוקח זמן להתכונן לקשה, לכן צריך לנוח שבוע לפני. אפשר לבצע לכל היותר משימה אחת בשבוע.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30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3BD602-60BA-BF5C-64EA-A28B871D8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לוח </a:t>
            </a:r>
            <a:r>
              <a:rPr lang="he-IL"/>
              <a:t>המשימות המתוגמלות-דוגמא</a:t>
            </a:r>
            <a:endParaRPr lang="he-IL" dirty="0"/>
          </a:p>
        </p:txBody>
      </p:sp>
      <p:pic>
        <p:nvPicPr>
          <p:cNvPr id="7" name="מציין מיקום תוכן 6">
            <a:extLst>
              <a:ext uri="{FF2B5EF4-FFF2-40B4-BE49-F238E27FC236}">
                <a16:creationId xmlns:a16="http://schemas.microsoft.com/office/drawing/2014/main" id="{96C5DFB8-7C9D-4A82-AC9E-270FF3F9F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014" t="37048"/>
          <a:stretch/>
        </p:blipFill>
        <p:spPr>
          <a:xfrm>
            <a:off x="1096963" y="1907635"/>
            <a:ext cx="10058400" cy="3899981"/>
          </a:xfrm>
          <a:prstGeom prst="rect">
            <a:avLst/>
          </a:prstGeom>
        </p:spPr>
      </p:pic>
      <p:sp>
        <p:nvSpPr>
          <p:cNvPr id="3" name="מלבן 2">
            <a:extLst>
              <a:ext uri="{FF2B5EF4-FFF2-40B4-BE49-F238E27FC236}">
                <a16:creationId xmlns:a16="http://schemas.microsoft.com/office/drawing/2014/main" id="{13AC39CD-C6C1-C491-2730-96AE966C7454}"/>
              </a:ext>
            </a:extLst>
          </p:cNvPr>
          <p:cNvSpPr/>
          <p:nvPr/>
        </p:nvSpPr>
        <p:spPr>
          <a:xfrm>
            <a:off x="9982200" y="2026920"/>
            <a:ext cx="1173163" cy="1097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7842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661992-0FBA-C720-0C70-ABA99738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נוסחת הרקורסיה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מציין מיקום תוכן 3">
                <a:extLst>
                  <a:ext uri="{FF2B5EF4-FFF2-40B4-BE49-F238E27FC236}">
                    <a16:creationId xmlns:a16="http://schemas.microsoft.com/office/drawing/2014/main" id="{C8F2E88B-AE26-4529-9D22-2C5A4EADD1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0520" y="1937174"/>
                <a:ext cx="11490960" cy="504274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he-IL" sz="2800" b="1" u="sng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תתי הבעיות: </a:t>
                </a:r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מציאת הרווח האופטימלי שניתן להשיג ב-</a:t>
                </a:r>
                <a14:m>
                  <m:oMath xmlns:m="http://schemas.openxmlformats.org/officeDocument/2006/math"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𝑖</m:t>
                    </m:r>
                  </m:oMath>
                </a14:m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 השבועות הראשונים עבור </a:t>
                </a:r>
                <a14:m>
                  <m:oMath xmlns:m="http://schemas.openxmlformats.org/officeDocument/2006/math"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0</m:t>
                    </m:r>
                    <m:r>
                      <a:rPr lang="en-US" sz="2800" b="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≤</m:t>
                    </m:r>
                    <m:r>
                      <a:rPr lang="en-US" sz="2800" i="1" spc="-50" dirty="0" err="1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𝑖</m:t>
                    </m:r>
                    <m:r>
                      <a:rPr lang="en-US" sz="2800" b="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≤</m:t>
                    </m:r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𝑛</m:t>
                    </m:r>
                  </m:oMath>
                </a14:m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.</a:t>
                </a:r>
              </a:p>
              <a:p>
                <a:pPr algn="just"/>
                <a:r>
                  <a:rPr lang="he-IL" sz="2800" b="1" u="sng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נוסחת הרקורסיה:</a:t>
                </a:r>
                <a:r>
                  <a:rPr lang="he-IL" sz="2800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 </a:t>
                </a:r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נסמן ב-</a:t>
                </a:r>
                <a14:m>
                  <m:oMath xmlns:m="http://schemas.openxmlformats.org/officeDocument/2006/math"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𝑀</m:t>
                    </m:r>
                    <m:r>
                      <a:rPr lang="en-US" sz="2800" b="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[</m:t>
                    </m:r>
                    <m:r>
                      <a:rPr lang="en-US" sz="2800" b="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𝑖</m:t>
                    </m:r>
                    <m:r>
                      <a:rPr lang="en-US" sz="2800" b="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]</m:t>
                    </m:r>
                  </m:oMath>
                </a14:m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 את התגמול האופטימלי שנוכל להשיג ב- </a:t>
                </a:r>
                <a14:m>
                  <m:oMath xmlns:m="http://schemas.openxmlformats.org/officeDocument/2006/math"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𝑖</m:t>
                    </m:r>
                  </m:oMath>
                </a14:m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 השבועות הראשונים.</a:t>
                </a:r>
              </a:p>
              <a:p>
                <a:pPr algn="just"/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נבחין בין 2 מקרים שיכולים להתרחש בשבוע ה-</a:t>
                </a:r>
                <a14:m>
                  <m:oMath xmlns:m="http://schemas.openxmlformats.org/officeDocument/2006/math"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𝑖</m:t>
                    </m:r>
                  </m:oMath>
                </a14:m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:</a:t>
                </a:r>
              </a:p>
              <a:p>
                <a:pPr lvl="2" algn="just"/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בחרנו משימה קלה, ואז </a:t>
                </a:r>
                <a14:m>
                  <m:oMath xmlns:m="http://schemas.openxmlformats.org/officeDocument/2006/math"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𝑀</m:t>
                    </m:r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[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𝑖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]=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𝑙</m:t>
                    </m:r>
                    <m:r>
                      <a:rPr lang="en-US" sz="2800" i="1" spc="-50" baseline="-2500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𝑖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+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𝑀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[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𝑖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−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1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]</m:t>
                    </m:r>
                  </m:oMath>
                </a14:m>
                <a:endParaRPr lang="en-US" sz="2800" spc="-50" dirty="0">
                  <a:latin typeface="+mj-lt"/>
                  <a:ea typeface="+mj-ea"/>
                  <a:cs typeface="+mj-cs"/>
                </a:endParaRPr>
              </a:p>
              <a:p>
                <a:pPr lvl="2" algn="just"/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בחרנו משימה קשה, ואז </a:t>
                </a:r>
                <a14:m>
                  <m:oMath xmlns:m="http://schemas.openxmlformats.org/officeDocument/2006/math"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𝑀</m:t>
                    </m:r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[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𝑖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]=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h</m:t>
                    </m:r>
                    <m:r>
                      <a:rPr lang="en-US" sz="2800" i="1" spc="-50" baseline="-2500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𝑖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+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𝑀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[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𝑖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−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2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]</m:t>
                    </m:r>
                  </m:oMath>
                </a14:m>
                <a:endParaRPr lang="he-IL" sz="2800" spc="-50" dirty="0">
                  <a:latin typeface="+mj-lt"/>
                  <a:ea typeface="+mj-ea"/>
                  <a:cs typeface="+mj-cs"/>
                </a:endParaRPr>
              </a:p>
              <a:p>
                <a:pPr marL="384048" lvl="2" indent="0" algn="just">
                  <a:buNone/>
                </a:pPr>
                <a:endParaRPr lang="he-IL" sz="2800" spc="-50" dirty="0">
                  <a:latin typeface="+mj-lt"/>
                  <a:ea typeface="+mj-ea"/>
                  <a:cs typeface="+mj-cs"/>
                </a:endParaRPr>
              </a:p>
              <a:p>
                <a:pPr marL="384048" lvl="2" indent="0" algn="just">
                  <a:buNone/>
                </a:pPr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מאחר שאנו רוצים למקסם את הרווח, נגדיר:</a:t>
                </a:r>
              </a:p>
              <a:p>
                <a:pPr marL="384048" lvl="2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pc="-50" smtClean="0"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pc="-50" smtClean="0"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2800" b="0" i="1" spc="-50" smtClean="0"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𝑖</m:t>
                          </m:r>
                        </m:e>
                      </m:d>
                      <m:r>
                        <a:rPr lang="en-US" sz="2800" b="0" i="1" spc="-50" smtClean="0"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=</m:t>
                      </m:r>
                      <m:func>
                        <m:funcPr>
                          <m:ctrlPr>
                            <a:rPr lang="en-US" sz="2800" b="0" i="1" spc="-50" smtClean="0"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pc="-50" smtClean="0"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800" b="0" i="1" spc="-50" smtClean="0"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</m:ctrlPr>
                            </m:dPr>
                            <m:e>
                              <m:r>
                                <a:rPr lang="en-US" sz="2800" b="0" i="1" spc="-50" smtClean="0"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𝑙</m:t>
                              </m:r>
                              <m:r>
                                <a:rPr lang="en-US" sz="2800" b="0" i="1" spc="-50" baseline="-25000" smtClean="0"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𝑖</m:t>
                              </m:r>
                              <m:r>
                                <a:rPr lang="en-US" sz="2800" b="0" i="1" spc="-50" smtClean="0"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+</m:t>
                              </m:r>
                              <m:r>
                                <a:rPr lang="en-US" sz="2800" b="0" i="1" spc="-50" smtClean="0"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𝑀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pc="-50" smtClean="0">
                                      <a:latin typeface="Cambria Math" panose="02040503050406030204" pitchFamily="18" charset="0"/>
                                      <a:ea typeface="+mj-ea"/>
                                      <a:cs typeface="+mj-cs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pc="-50" smtClean="0">
                                      <a:latin typeface="Cambria Math" panose="02040503050406030204" pitchFamily="18" charset="0"/>
                                      <a:ea typeface="+mj-ea"/>
                                      <a:cs typeface="+mj-cs"/>
                                    </a:rPr>
                                    <m:t>𝑖</m:t>
                                  </m:r>
                                  <m:r>
                                    <a:rPr lang="en-US" sz="2800" b="0" i="1" spc="-50" smtClean="0">
                                      <a:latin typeface="Cambria Math" panose="02040503050406030204" pitchFamily="18" charset="0"/>
                                      <a:ea typeface="+mj-ea"/>
                                      <a:cs typeface="+mj-cs"/>
                                    </a:rPr>
                                    <m:t>−</m:t>
                                  </m:r>
                                  <m:r>
                                    <a:rPr lang="en-US" sz="2800" b="0" i="1" spc="-50" smtClean="0">
                                      <a:latin typeface="Cambria Math" panose="02040503050406030204" pitchFamily="18" charset="0"/>
                                      <a:ea typeface="+mj-ea"/>
                                      <a:cs typeface="+mj-cs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800" b="0" i="1" spc="-50" smtClean="0"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,</m:t>
                              </m:r>
                              <m:r>
                                <a:rPr lang="en-US" sz="2800" b="0" i="1" spc="-50" smtClean="0"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h</m:t>
                              </m:r>
                              <m:r>
                                <a:rPr lang="en-US" sz="2800" b="0" i="1" spc="-50" baseline="-25000" smtClean="0"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𝑖</m:t>
                              </m:r>
                              <m:r>
                                <a:rPr lang="en-US" sz="2800" b="0" i="1" spc="-50" smtClean="0"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+</m:t>
                              </m:r>
                              <m:r>
                                <a:rPr lang="en-US" sz="2800" b="0" i="1" spc="-50" smtClean="0"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𝑀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pc="-50" smtClean="0">
                                      <a:latin typeface="Cambria Math" panose="02040503050406030204" pitchFamily="18" charset="0"/>
                                      <a:ea typeface="+mj-ea"/>
                                      <a:cs typeface="+mj-cs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pc="-50" smtClean="0">
                                      <a:latin typeface="Cambria Math" panose="02040503050406030204" pitchFamily="18" charset="0"/>
                                      <a:ea typeface="+mj-ea"/>
                                      <a:cs typeface="+mj-cs"/>
                                    </a:rPr>
                                    <m:t>𝑖</m:t>
                                  </m:r>
                                  <m:r>
                                    <a:rPr lang="en-US" sz="2800" b="0" i="1" spc="-50" smtClean="0">
                                      <a:latin typeface="Cambria Math" panose="02040503050406030204" pitchFamily="18" charset="0"/>
                                      <a:ea typeface="+mj-ea"/>
                                      <a:cs typeface="+mj-cs"/>
                                    </a:rPr>
                                    <m:t>−</m:t>
                                  </m:r>
                                  <m:r>
                                    <a:rPr lang="en-US" sz="2800" b="0" i="1" spc="-50" smtClean="0">
                                      <a:latin typeface="Cambria Math" panose="02040503050406030204" pitchFamily="18" charset="0"/>
                                      <a:ea typeface="+mj-ea"/>
                                      <a:cs typeface="+mj-cs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2800" b="0" spc="-50" dirty="0">
                  <a:latin typeface="+mj-lt"/>
                  <a:ea typeface="+mj-ea"/>
                  <a:cs typeface="+mj-cs"/>
                </a:endParaRPr>
              </a:p>
              <a:p>
                <a:pPr marL="384048" lvl="2" indent="0" algn="just">
                  <a:buNone/>
                </a:pPr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כמובן שעלינו לספק מקרי בסיס:      </a:t>
                </a:r>
                <a14:m>
                  <m:oMath xmlns:m="http://schemas.openxmlformats.org/officeDocument/2006/math">
                    <m:r>
                      <a:rPr lang="he-IL" sz="2800" b="0" i="0" spc="-5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 </m:t>
                    </m:r>
                    <m:r>
                      <a:rPr lang="en-US" sz="2800" b="0" i="1" spc="-5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pc="-50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dPr>
                      <m:e>
                        <m:r>
                          <a:rPr lang="en-US" sz="2800" b="0" i="1" spc="-50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0</m:t>
                        </m:r>
                      </m:e>
                    </m:d>
                    <m:r>
                      <a:rPr lang="en-US" sz="2800" i="1" spc="-5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=</m:t>
                    </m:r>
                    <m:r>
                      <a:rPr lang="en-US" sz="2800" i="1" spc="-5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0</m:t>
                    </m:r>
                    <m:r>
                      <a:rPr lang="en-US" sz="2800" i="1" spc="-5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,      </m:t>
                    </m:r>
                    <m:r>
                      <a:rPr lang="en-US" sz="2800" i="1" spc="-5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pc="-50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dPr>
                      <m:e>
                        <m:r>
                          <a:rPr lang="en-US" sz="2800" b="0" i="1" spc="-50" smtClean="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1</m:t>
                        </m:r>
                      </m:e>
                    </m:d>
                    <m:r>
                      <a:rPr lang="en-US" sz="2800" b="0" i="1" spc="-5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pc="-5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max</m:t>
                    </m:r>
                    <m:r>
                      <a:rPr lang="en-US" sz="2800" b="0" i="1" spc="-5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⁡{</m:t>
                    </m:r>
                    <m:r>
                      <a:rPr lang="en-US" sz="2800" b="0" i="1" spc="-5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h</m:t>
                    </m:r>
                    <m:r>
                      <a:rPr lang="en-US" sz="2800" b="0" i="1" spc="-50" baseline="-2500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1</m:t>
                    </m:r>
                    <m:r>
                      <a:rPr lang="en-US" sz="2800" b="0" i="1" spc="-5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,</m:t>
                    </m:r>
                    <m:r>
                      <a:rPr lang="en-US" sz="2800" b="0" i="1" spc="-5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𝑙</m:t>
                    </m:r>
                    <m:r>
                      <a:rPr lang="en-US" sz="2800" b="0" i="1" spc="-50" baseline="-2500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1</m:t>
                    </m:r>
                    <m:r>
                      <a:rPr lang="en-US" sz="2800" b="0" i="1" spc="-5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}</m:t>
                    </m:r>
                  </m:oMath>
                </a14:m>
                <a:endParaRPr lang="he-IL" sz="2800" spc="-50" dirty="0">
                  <a:latin typeface="+mj-lt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5" name="מציין מיקום תוכן 3">
                <a:extLst>
                  <a:ext uri="{FF2B5EF4-FFF2-40B4-BE49-F238E27FC236}">
                    <a16:creationId xmlns:a16="http://schemas.microsoft.com/office/drawing/2014/main" id="{C8F2E88B-AE26-4529-9D22-2C5A4EADD1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520" y="1937174"/>
                <a:ext cx="11490960" cy="5042746"/>
              </a:xfrm>
              <a:blipFill>
                <a:blip r:embed="rId2"/>
                <a:stretch>
                  <a:fillRect t="-2177" r="-191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2702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3BD602-60BA-BF5C-64EA-A28B871D8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35952"/>
            <a:ext cx="10058400" cy="1450757"/>
          </a:xfrm>
        </p:spPr>
        <p:txBody>
          <a:bodyPr/>
          <a:lstStyle/>
          <a:p>
            <a:pPr algn="ctr"/>
            <a:r>
              <a:rPr lang="he-IL" dirty="0"/>
              <a:t>הטבלה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ציין מיקום תוכן 3">
                <a:extLst>
                  <a:ext uri="{FF2B5EF4-FFF2-40B4-BE49-F238E27FC236}">
                    <a16:creationId xmlns:a16="http://schemas.microsoft.com/office/drawing/2014/main" id="{C8F2E88B-AE26-4529-9D22-2C5A4EADD1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2440" y="1998078"/>
                <a:ext cx="11247120" cy="4661746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he-IL" sz="2800" b="1" u="sng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הגדרת טבלה:</a:t>
                </a:r>
                <a:r>
                  <a:rPr lang="he-IL" sz="2800" b="1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 </a:t>
                </a:r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נבנה טבלה </a:t>
                </a:r>
                <a14:m>
                  <m:oMath xmlns:m="http://schemas.openxmlformats.org/officeDocument/2006/math"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𝑀</m:t>
                    </m:r>
                  </m:oMath>
                </a14:m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 חד </a:t>
                </a:r>
                <a:r>
                  <a:rPr lang="he-IL" sz="2800" spc="-50" dirty="0" err="1">
                    <a:latin typeface="+mj-lt"/>
                    <a:ea typeface="+mj-ea"/>
                    <a:cs typeface="+mj-cs"/>
                  </a:rPr>
                  <a:t>מימדית</a:t>
                </a:r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 בגודל </a:t>
                </a:r>
                <a14:m>
                  <m:oMath xmlns:m="http://schemas.openxmlformats.org/officeDocument/2006/math"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𝑛</m:t>
                    </m:r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+</m:t>
                    </m:r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1</m:t>
                    </m:r>
                  </m:oMath>
                </a14:m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.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he-IL" sz="2800" b="1" u="sng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אופן מילוי:</a:t>
                </a:r>
                <a:r>
                  <a:rPr lang="he-IL" sz="2800" b="1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 </a:t>
                </a:r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נמלא את הטבלה לפי נוסחת הרקורסיה משמאל לימין. 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קודם את מקרי הבסיס </a:t>
                </a:r>
                <a14:m>
                  <m:oMath xmlns:m="http://schemas.openxmlformats.org/officeDocument/2006/math">
                    <m:r>
                      <a:rPr lang="en-US" sz="2800" b="0" i="0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 </m:t>
                    </m:r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(</m:t>
                    </m:r>
                    <m:r>
                      <a:rPr lang="en-US" sz="2800" i="1" spc="-50" dirty="0" err="1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𝑖</m:t>
                    </m:r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=</m:t>
                    </m:r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0</m:t>
                    </m:r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,</m:t>
                    </m:r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1</m:t>
                    </m:r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) </m:t>
                    </m:r>
                  </m:oMath>
                </a14:m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ולאחר מכן את שאר המקרים בהתבסס על התאים שמולאו כבר.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he-IL" sz="2800" b="1" u="sng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חילוץ הפתרון:</a:t>
                </a:r>
                <a:r>
                  <a:rPr lang="he-IL" sz="2800" b="1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 </a:t>
                </a:r>
                <a:r>
                  <a:rPr lang="he-IL" sz="2600" spc="-50" dirty="0">
                    <a:latin typeface="+mj-lt"/>
                    <a:ea typeface="+mj-ea"/>
                    <a:cs typeface="+mj-cs"/>
                  </a:rPr>
                  <a:t>בזמן מילוי הטבלה, בכל תא נשמור גם את החלק בביטוי ה-</a:t>
                </a:r>
                <a:r>
                  <a:rPr lang="en-US" sz="2600" spc="-50" dirty="0">
                    <a:latin typeface="+mj-lt"/>
                    <a:ea typeface="+mj-ea"/>
                    <a:cs typeface="+mj-cs"/>
                  </a:rPr>
                  <a:t>max</a:t>
                </a:r>
                <a:r>
                  <a:rPr lang="he-IL" sz="2600" spc="-50" dirty="0">
                    <a:latin typeface="+mj-lt"/>
                    <a:ea typeface="+mj-ea"/>
                    <a:cs typeface="+mj-cs"/>
                  </a:rPr>
                  <a:t> שנתן את המקסימום (לקיחת משימה קלה או קשה). כאשר הטבלה מלאה ונרצה לחלץ את לוח המשימות, נעבור על הטבלה מהסוף להתחלה- נתחיל בתא ה-</a:t>
                </a:r>
                <a14:m>
                  <m:oMath xmlns:m="http://schemas.openxmlformats.org/officeDocument/2006/math">
                    <m:r>
                      <a:rPr lang="en-US" sz="26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𝑛</m:t>
                    </m:r>
                  </m:oMath>
                </a14:m>
                <a:r>
                  <a:rPr lang="he-IL" sz="2600" spc="-50" dirty="0">
                    <a:latin typeface="+mj-lt"/>
                    <a:ea typeface="+mj-ea"/>
                    <a:cs typeface="+mj-cs"/>
                  </a:rPr>
                  <a:t>-י. אם המקסימום התקבל ממשימה קלה בשבוע ה-</a:t>
                </a:r>
                <a14:m>
                  <m:oMath xmlns:m="http://schemas.openxmlformats.org/officeDocument/2006/math">
                    <m:r>
                      <a:rPr lang="en-US" sz="26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𝑛</m:t>
                    </m:r>
                  </m:oMath>
                </a14:m>
                <a:r>
                  <a:rPr lang="he-IL" sz="2600" spc="-50" dirty="0">
                    <a:latin typeface="+mj-lt"/>
                    <a:ea typeface="+mj-ea"/>
                    <a:cs typeface="+mj-cs"/>
                  </a:rPr>
                  <a:t>-י תילקח משימה קלה בשבוע זה, ותהליך השחזור ימשיך משבוע </a:t>
                </a:r>
                <a14:m>
                  <m:oMath xmlns:m="http://schemas.openxmlformats.org/officeDocument/2006/math">
                    <m:r>
                      <a:rPr lang="en-US" sz="26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𝑛</m:t>
                    </m:r>
                    <m:r>
                      <a:rPr lang="en-US" sz="26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−</m:t>
                    </m:r>
                    <m:r>
                      <a:rPr lang="en-US" sz="26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1</m:t>
                    </m:r>
                  </m:oMath>
                </a14:m>
                <a:r>
                  <a:rPr lang="he-IL" sz="2600" spc="-50" dirty="0">
                    <a:latin typeface="+mj-lt"/>
                    <a:ea typeface="+mj-ea"/>
                    <a:cs typeface="+mj-cs"/>
                  </a:rPr>
                  <a:t>. אחרת, תילקח משימה קשה, ותהליך השחזור ימשיך משבוע </a:t>
                </a:r>
                <a14:m>
                  <m:oMath xmlns:m="http://schemas.openxmlformats.org/officeDocument/2006/math">
                    <m:r>
                      <a:rPr lang="en-US" sz="26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𝑛</m:t>
                    </m:r>
                    <m:r>
                      <a:rPr lang="en-US" sz="26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−</m:t>
                    </m:r>
                    <m:r>
                      <a:rPr lang="en-US" sz="26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2</m:t>
                    </m:r>
                  </m:oMath>
                </a14:m>
                <a:r>
                  <a:rPr lang="he-IL" sz="2600" spc="-50" dirty="0">
                    <a:latin typeface="+mj-lt"/>
                    <a:ea typeface="+mj-ea"/>
                    <a:cs typeface="+mj-cs"/>
                  </a:rPr>
                  <a:t>.</a:t>
                </a:r>
              </a:p>
            </p:txBody>
          </p:sp>
        </mc:Choice>
        <mc:Fallback xmlns="">
          <p:sp>
            <p:nvSpPr>
              <p:cNvPr id="4" name="מציין מיקום תוכן 3">
                <a:extLst>
                  <a:ext uri="{FF2B5EF4-FFF2-40B4-BE49-F238E27FC236}">
                    <a16:creationId xmlns:a16="http://schemas.microsoft.com/office/drawing/2014/main" id="{C8F2E88B-AE26-4529-9D22-2C5A4EADD1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2440" y="1998078"/>
                <a:ext cx="11247120" cy="4661746"/>
              </a:xfrm>
              <a:blipFill>
                <a:blip r:embed="rId2"/>
                <a:stretch>
                  <a:fillRect l="-2547" t="-1178" r="-195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7302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09B2329-A677-1398-ABED-1240699C8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ניתוח זמן ריצה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A8DB4A3-CBD5-1511-593F-F82644B2F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he-IL" sz="3200" b="1" u="sng" spc="-5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זמן ריצה:</a:t>
            </a:r>
          </a:p>
          <a:p>
            <a:pPr algn="just"/>
            <a:endParaRPr lang="he-IL" sz="3200" spc="-50" dirty="0">
              <a:latin typeface="+mj-lt"/>
              <a:ea typeface="+mj-ea"/>
              <a:cs typeface="+mj-cs"/>
            </a:endParaRPr>
          </a:p>
          <a:p>
            <a:pPr algn="just"/>
            <a:endParaRPr lang="he-IL" sz="3200" spc="-50" dirty="0">
              <a:latin typeface="+mj-lt"/>
              <a:ea typeface="+mj-ea"/>
              <a:cs typeface="+mj-cs"/>
            </a:endParaRPr>
          </a:p>
          <a:p>
            <a:pPr algn="just"/>
            <a:endParaRPr lang="he-IL" sz="3200" spc="-50" dirty="0">
              <a:latin typeface="+mj-lt"/>
              <a:ea typeface="+mj-ea"/>
              <a:cs typeface="+mj-cs"/>
            </a:endParaRPr>
          </a:p>
          <a:p>
            <a:pPr algn="just"/>
            <a:endParaRPr lang="he-IL" sz="3200" spc="-50" dirty="0">
              <a:latin typeface="+mj-lt"/>
              <a:ea typeface="+mj-ea"/>
              <a:cs typeface="+mj-cs"/>
            </a:endParaRPr>
          </a:p>
          <a:p>
            <a:pPr algn="just"/>
            <a:endParaRPr lang="he-IL" sz="18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C3D5A210-2F2F-A0A9-268E-EEC56EB82B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833" t="67931" r="13000"/>
          <a:stretch/>
        </p:blipFill>
        <p:spPr>
          <a:xfrm>
            <a:off x="3925419" y="2453273"/>
            <a:ext cx="4341162" cy="170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11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1">
            <a:extLst>
              <a:ext uri="{FF2B5EF4-FFF2-40B4-BE49-F238E27FC236}">
                <a16:creationId xmlns:a16="http://schemas.microsoft.com/office/drawing/2014/main" id="{F691BFCA-D064-F60B-6465-A970314F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pPr algn="ctr"/>
            <a:r>
              <a:rPr lang="he-IL" dirty="0"/>
              <a:t>דוגמא</a:t>
            </a:r>
          </a:p>
        </p:txBody>
      </p:sp>
      <p:pic>
        <p:nvPicPr>
          <p:cNvPr id="4" name="מציין מיקום תוכן 6">
            <a:extLst>
              <a:ext uri="{FF2B5EF4-FFF2-40B4-BE49-F238E27FC236}">
                <a16:creationId xmlns:a16="http://schemas.microsoft.com/office/drawing/2014/main" id="{6C927D5C-A156-249F-3C42-158EF0846F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014" t="49060" r="34190" b="27544"/>
          <a:stretch/>
        </p:blipFill>
        <p:spPr>
          <a:xfrm>
            <a:off x="3702844" y="1979613"/>
            <a:ext cx="4846637" cy="144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429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30F238-41B4-0793-EA81-328D59B9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 נראה היום?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CFEA2EA-1886-D54E-1689-BF9D0BF0A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262" y="668068"/>
            <a:ext cx="6492240" cy="660047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לוח המשימות המתוגמלות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תרמיל הגב בשלמים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מוט הברזל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כפל מטריצות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ניתוב משימות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חיתוך הבד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he-IL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383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57D724F-C1F1-9A50-C08B-65E844B5E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תרמיל הגב בשלמים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C27A066-A7B2-3A59-7393-E8CBD6A16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40" y="2199692"/>
            <a:ext cx="4275215" cy="380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87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30F238-41B4-0793-EA81-328D59B9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בעיית תרמיל הגב בשלמים- הגדרה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6662DF0C-75CC-482A-94F7-FA330826F3D2}"/>
              </a:ext>
            </a:extLst>
          </p:cNvPr>
          <p:cNvSpPr/>
          <p:nvPr/>
        </p:nvSpPr>
        <p:spPr>
          <a:xfrm>
            <a:off x="1293412" y="1873043"/>
            <a:ext cx="9941781" cy="856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גנב נכנס לחנות תכשיטים, על גבו תרמיל בעל תכולת משקל מוגבלת. ברצונו למקסם את הרווח על ידי לקיחת הפריטים שסכום שווים מקסימלי וסך משקלם נכנס לתרמיל.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E6B4DE7B-8274-9B27-BF98-9515EC03FE8E}"/>
              </a:ext>
            </a:extLst>
          </p:cNvPr>
          <p:cNvSpPr/>
          <p:nvPr/>
        </p:nvSpPr>
        <p:spPr>
          <a:xfrm>
            <a:off x="973372" y="2788247"/>
            <a:ext cx="10298915" cy="3427846"/>
          </a:xfrm>
          <a:prstGeom prst="rect">
            <a:avLst/>
          </a:prstGeom>
          <a:solidFill>
            <a:srgbClr val="E3E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מציין מיקום תוכן 2">
                <a:extLst>
                  <a:ext uri="{FF2B5EF4-FFF2-40B4-BE49-F238E27FC236}">
                    <a16:creationId xmlns:a16="http://schemas.microsoft.com/office/drawing/2014/main" id="{29978B01-5464-52CE-5B05-B8D231EDD3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7280" y="2788246"/>
                <a:ext cx="10175007" cy="3336783"/>
              </a:xfrm>
              <a:prstGeom prst="rect">
                <a:avLst/>
              </a:prstGeom>
              <a:solidFill>
                <a:srgbClr val="E3E9F5"/>
              </a:solidFill>
            </p:spPr>
            <p:txBody>
              <a:bodyPr vert="horz" lIns="0" tIns="45720" rIns="0" bIns="45720" rtlCol="0">
                <a:normAutofit fontScale="25000" lnSpcReduction="20000"/>
              </a:bodyPr>
              <a:lstStyle>
                <a:lvl1pPr marL="91440" indent="-91440" algn="r" defTabSz="914400" rtl="1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he-IL" sz="9600" b="1" dirty="0">
                    <a:solidFill>
                      <a:srgbClr val="44AD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קלט: </a:t>
                </a:r>
              </a:p>
              <a:p>
                <a:pPr marL="292608" lvl="1" indent="0" algn="just">
                  <a:lnSpc>
                    <a:spcPct val="150000"/>
                  </a:lnSpc>
                  <a:buNone/>
                </a:pPr>
                <a:r>
                  <a:rPr lang="he-IL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a:rPr lang="en-US" sz="8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he-IL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המשקל המירבי של התרמיל.</a:t>
                </a:r>
              </a:p>
              <a:p>
                <a:pPr marL="292608" lvl="1" indent="0" algn="just">
                  <a:lnSpc>
                    <a:spcPct val="150000"/>
                  </a:lnSpc>
                  <a:buNone/>
                </a:pPr>
                <a:r>
                  <a:rPr lang="he-IL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</a:t>
                </a:r>
                <a14:m>
                  <m:oMath xmlns:m="http://schemas.openxmlformats.org/officeDocument/2006/math">
                    <m:r>
                      <a:rPr lang="en-US" sz="8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he-IL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זוגות של מספרים </a:t>
                </a:r>
                <a14:m>
                  <m:oMath xmlns:m="http://schemas.openxmlformats.org/officeDocument/2006/math">
                    <m:r>
                      <a:rPr lang="en-US" sz="8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8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8000" i="1" baseline="-25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8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8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80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8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),(</m:t>
                    </m:r>
                    <m:r>
                      <a:rPr lang="en-US" sz="8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80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8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8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80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8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),…(</m:t>
                    </m:r>
                    <m:r>
                      <a:rPr lang="en-US" sz="8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8000" i="1" baseline="-25000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80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8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US" sz="8000" i="1" baseline="-25000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sz="8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he-IL" sz="8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292608" lvl="1" indent="0" algn="just">
                  <a:lnSpc>
                    <a:spcPct val="150000"/>
                  </a:lnSpc>
                  <a:buNone/>
                </a:pPr>
                <a:r>
                  <a:rPr lang="he-IL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כאשר: </a:t>
                </a:r>
                <a:r>
                  <a:rPr lang="en-US" sz="8000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8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8000" b="0" i="1" baseline="-25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he-IL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ערך הפריט ה-</a:t>
                </a:r>
                <a14:m>
                  <m:oMath xmlns:m="http://schemas.openxmlformats.org/officeDocument/2006/math">
                    <m:r>
                      <a:rPr lang="en-US" sz="8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he-IL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8000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8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8000" b="0" i="1" baseline="-25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he-IL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משקל הפריט ה-</a:t>
                </a:r>
                <a14:m>
                  <m:oMath xmlns:m="http://schemas.openxmlformats.org/officeDocument/2006/math">
                    <m:r>
                      <a:rPr lang="en-US" sz="8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he-IL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92608" lvl="1" indent="0" algn="just">
                  <a:lnSpc>
                    <a:spcPct val="150000"/>
                  </a:lnSpc>
                  <a:buNone/>
                </a:pPr>
                <a:r>
                  <a:rPr lang="he-IL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הפריטים אינם ניתנים לחלוקה (בשונה מבעיית התרמיל בשברים)</a:t>
                </a:r>
              </a:p>
              <a:p>
                <a:pPr marL="201168" lvl="1" indent="0" algn="just">
                  <a:lnSpc>
                    <a:spcPct val="150000"/>
                  </a:lnSpc>
                  <a:buFont typeface="Calibri" pitchFamily="34" charset="0"/>
                  <a:buNone/>
                </a:pPr>
                <a:r>
                  <a:rPr lang="he-IL" sz="9600" b="1" dirty="0">
                    <a:solidFill>
                      <a:srgbClr val="44AD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פלט: </a:t>
                </a:r>
                <a:r>
                  <a:rPr lang="he-IL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תת קבוצה של אינדקסים – פריטים מתוך </a:t>
                </a:r>
                <a14:m>
                  <m:oMath xmlns:m="http://schemas.openxmlformats.org/officeDocument/2006/math">
                    <m:r>
                      <a:rPr lang="en-US" sz="8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8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r>
                      <a:rPr lang="en-US" sz="8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he-IL" sz="8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e-IL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כך שסכום משקליהם לא עולה על-</a:t>
                </a:r>
                <a14:m>
                  <m:oMath xmlns:m="http://schemas.openxmlformats.org/officeDocument/2006/math">
                    <m:r>
                      <a:rPr lang="en-US" sz="8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he-IL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והרווח המורכב מסכום ערכיהם מירבי.</a:t>
                </a: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10" name="מציין מיקום תוכן 2">
                <a:extLst>
                  <a:ext uri="{FF2B5EF4-FFF2-40B4-BE49-F238E27FC236}">
                    <a16:creationId xmlns:a16="http://schemas.microsoft.com/office/drawing/2014/main" id="{29978B01-5464-52CE-5B05-B8D231EDD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2788246"/>
                <a:ext cx="10175007" cy="3336783"/>
              </a:xfrm>
              <a:prstGeom prst="rect">
                <a:avLst/>
              </a:prstGeom>
              <a:blipFill>
                <a:blip r:embed="rId2"/>
                <a:stretch>
                  <a:fillRect l="-2097" r="-1797" b="-328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346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1">
            <a:extLst>
              <a:ext uri="{FF2B5EF4-FFF2-40B4-BE49-F238E27FC236}">
                <a16:creationId xmlns:a16="http://schemas.microsoft.com/office/drawing/2014/main" id="{2FFB2AA3-FAA1-CDEA-0324-C94E67F5F473}"/>
              </a:ext>
            </a:extLst>
          </p:cNvPr>
          <p:cNvSpPr txBox="1">
            <a:spLocks/>
          </p:cNvSpPr>
          <p:nvPr/>
        </p:nvSpPr>
        <p:spPr>
          <a:xfrm>
            <a:off x="1097280" y="181672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dirty="0"/>
              <a:t>אלגוריתם חמדני?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A42F73AD-67EA-E275-8E7F-50AFB24996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1190" r="6650"/>
          <a:stretch/>
        </p:blipFill>
        <p:spPr>
          <a:xfrm>
            <a:off x="102521" y="3175144"/>
            <a:ext cx="11639536" cy="2495786"/>
          </a:xfrm>
          <a:prstGeom prst="rect">
            <a:avLst/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95291F42-55FA-52DA-35C7-BEF6F30D1489}"/>
              </a:ext>
            </a:extLst>
          </p:cNvPr>
          <p:cNvSpPr/>
          <p:nvPr/>
        </p:nvSpPr>
        <p:spPr>
          <a:xfrm>
            <a:off x="1322440" y="2114884"/>
            <a:ext cx="9941781" cy="958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להלן 2 הצעות לאלגוריתם חמדני לפתרון הבעיה. </a:t>
            </a: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ההצעות לא מניבות פלט אופטימלי.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496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December 2003 </a:t>
            </a:r>
          </a:p>
          <a:p>
            <a:r>
              <a:rPr lang="en-US" dirty="0" err="1"/>
              <a:t>Sanath</a:t>
            </a:r>
            <a:r>
              <a:rPr lang="en-US" dirty="0"/>
              <a:t> </a:t>
            </a:r>
            <a:r>
              <a:rPr lang="en-US" dirty="0" err="1"/>
              <a:t>Jayasena</a:t>
            </a:r>
            <a:endParaRPr lang="en-US" dirty="0"/>
          </a:p>
        </p:txBody>
      </p:sp>
      <p:sp>
        <p:nvSpPr>
          <p:cNvPr id="53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12-</a:t>
            </a:r>
            <a:fld id="{FEEE6DF0-76E9-4879-822B-D6D49A4CA6CD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230402" name="Line 2"/>
          <p:cNvSpPr>
            <a:spLocks noChangeShapeType="1"/>
          </p:cNvSpPr>
          <p:nvPr/>
        </p:nvSpPr>
        <p:spPr bwMode="auto">
          <a:xfrm flipH="1">
            <a:off x="4343400" y="41910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03" name="Line 3"/>
          <p:cNvSpPr>
            <a:spLocks noChangeShapeType="1"/>
          </p:cNvSpPr>
          <p:nvPr/>
        </p:nvSpPr>
        <p:spPr bwMode="auto">
          <a:xfrm>
            <a:off x="4572000" y="41910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04" name="Line 4"/>
          <p:cNvSpPr>
            <a:spLocks noChangeShapeType="1"/>
          </p:cNvSpPr>
          <p:nvPr/>
        </p:nvSpPr>
        <p:spPr bwMode="auto">
          <a:xfrm flipH="1">
            <a:off x="7620000" y="59436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05" name="Line 5"/>
          <p:cNvSpPr>
            <a:spLocks noChangeShapeType="1"/>
          </p:cNvSpPr>
          <p:nvPr/>
        </p:nvSpPr>
        <p:spPr bwMode="auto">
          <a:xfrm>
            <a:off x="7848600" y="59436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06" name="Line 6"/>
          <p:cNvSpPr>
            <a:spLocks noChangeShapeType="1"/>
          </p:cNvSpPr>
          <p:nvPr/>
        </p:nvSpPr>
        <p:spPr bwMode="auto">
          <a:xfrm flipH="1">
            <a:off x="6477000" y="59436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07" name="Line 7"/>
          <p:cNvSpPr>
            <a:spLocks noChangeShapeType="1"/>
          </p:cNvSpPr>
          <p:nvPr/>
        </p:nvSpPr>
        <p:spPr bwMode="auto">
          <a:xfrm>
            <a:off x="6705600" y="59436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08" name="Line 8"/>
          <p:cNvSpPr>
            <a:spLocks noChangeShapeType="1"/>
          </p:cNvSpPr>
          <p:nvPr/>
        </p:nvSpPr>
        <p:spPr bwMode="auto">
          <a:xfrm flipH="1">
            <a:off x="3429000" y="60198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09" name="Line 9"/>
          <p:cNvSpPr>
            <a:spLocks noChangeShapeType="1"/>
          </p:cNvSpPr>
          <p:nvPr/>
        </p:nvSpPr>
        <p:spPr bwMode="auto">
          <a:xfrm>
            <a:off x="3657600" y="60198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12" name="Line 12"/>
          <p:cNvSpPr>
            <a:spLocks noChangeShapeType="1"/>
          </p:cNvSpPr>
          <p:nvPr/>
        </p:nvSpPr>
        <p:spPr bwMode="auto">
          <a:xfrm flipH="1">
            <a:off x="3810000" y="838200"/>
            <a:ext cx="1905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13" name="Line 13"/>
          <p:cNvSpPr>
            <a:spLocks noChangeShapeType="1"/>
          </p:cNvSpPr>
          <p:nvPr/>
        </p:nvSpPr>
        <p:spPr bwMode="auto">
          <a:xfrm>
            <a:off x="5715000" y="838200"/>
            <a:ext cx="23622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14" name="Text Box 14"/>
          <p:cNvSpPr txBox="1">
            <a:spLocks noChangeArrowheads="1"/>
          </p:cNvSpPr>
          <p:nvPr/>
        </p:nvSpPr>
        <p:spPr bwMode="auto">
          <a:xfrm>
            <a:off x="6781800" y="9144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</a:rPr>
              <a:t>n</a:t>
            </a:r>
            <a:endParaRPr lang="en-AU" sz="2400" dirty="0">
              <a:latin typeface="Times New Roman" pitchFamily="18" charset="0"/>
            </a:endParaRPr>
          </a:p>
        </p:txBody>
      </p:sp>
      <p:sp>
        <p:nvSpPr>
          <p:cNvPr id="230415" name="Line 15"/>
          <p:cNvSpPr>
            <a:spLocks noChangeShapeType="1"/>
          </p:cNvSpPr>
          <p:nvPr/>
        </p:nvSpPr>
        <p:spPr bwMode="auto">
          <a:xfrm flipH="1">
            <a:off x="2971800" y="2514600"/>
            <a:ext cx="838200" cy="96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16" name="Line 16"/>
          <p:cNvSpPr>
            <a:spLocks noChangeShapeType="1"/>
          </p:cNvSpPr>
          <p:nvPr/>
        </p:nvSpPr>
        <p:spPr bwMode="auto">
          <a:xfrm>
            <a:off x="3810000" y="2514600"/>
            <a:ext cx="838200" cy="96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17" name="Text Box 17"/>
          <p:cNvSpPr txBox="1">
            <a:spLocks noChangeArrowheads="1"/>
          </p:cNvSpPr>
          <p:nvPr/>
        </p:nvSpPr>
        <p:spPr bwMode="auto">
          <a:xfrm>
            <a:off x="4267200" y="2717801"/>
            <a:ext cx="104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</a:rPr>
              <a:t>n-1</a:t>
            </a:r>
            <a:endParaRPr lang="en-AU" sz="2400" dirty="0">
              <a:latin typeface="Times New Roman" pitchFamily="18" charset="0"/>
            </a:endParaRPr>
          </a:p>
        </p:txBody>
      </p:sp>
      <p:sp>
        <p:nvSpPr>
          <p:cNvPr id="230418" name="Line 18"/>
          <p:cNvSpPr>
            <a:spLocks noChangeShapeType="1"/>
          </p:cNvSpPr>
          <p:nvPr/>
        </p:nvSpPr>
        <p:spPr bwMode="auto">
          <a:xfrm flipH="1">
            <a:off x="2362200" y="4267200"/>
            <a:ext cx="609600" cy="109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19" name="Line 19"/>
          <p:cNvSpPr>
            <a:spLocks noChangeShapeType="1"/>
          </p:cNvSpPr>
          <p:nvPr/>
        </p:nvSpPr>
        <p:spPr bwMode="auto">
          <a:xfrm>
            <a:off x="2971800" y="4267200"/>
            <a:ext cx="533400" cy="109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graphicFrame>
        <p:nvGraphicFramePr>
          <p:cNvPr id="230421" name="Object 21"/>
          <p:cNvGraphicFramePr>
            <a:graphicFrameLocks noChangeAspect="1"/>
          </p:cNvGraphicFramePr>
          <p:nvPr/>
        </p:nvGraphicFramePr>
        <p:xfrm>
          <a:off x="4343400" y="990600"/>
          <a:ext cx="457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" imgH="139700" progId="Equation.3">
                  <p:embed/>
                </p:oleObj>
              </mc:Choice>
              <mc:Fallback>
                <p:oleObj name="Equation" r:id="rId2" imgW="228600" imgH="139700" progId="Equation.3">
                  <p:embed/>
                  <p:pic>
                    <p:nvPicPr>
                      <p:cNvPr id="23042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990600"/>
                        <a:ext cx="4572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22" name="Text Box 22"/>
          <p:cNvSpPr txBox="1">
            <a:spLocks noChangeArrowheads="1"/>
          </p:cNvSpPr>
          <p:nvPr/>
        </p:nvSpPr>
        <p:spPr bwMode="auto">
          <a:xfrm>
            <a:off x="3535371" y="1692276"/>
            <a:ext cx="45878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3333FF"/>
                </a:solidFill>
                <a:latin typeface="Times New Roman" pitchFamily="18" charset="0"/>
              </a:rPr>
              <a:t>W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</a:rPr>
              <a:t>0</a:t>
            </a:r>
            <a:endParaRPr lang="en-AU" sz="24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30423" name="Text Box 23"/>
          <p:cNvSpPr txBox="1">
            <a:spLocks noChangeArrowheads="1"/>
          </p:cNvSpPr>
          <p:nvPr/>
        </p:nvSpPr>
        <p:spPr bwMode="auto">
          <a:xfrm>
            <a:off x="2697171" y="3429001"/>
            <a:ext cx="45878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3333FF"/>
                </a:solidFill>
                <a:latin typeface="Times New Roman" pitchFamily="18" charset="0"/>
              </a:rPr>
              <a:t>W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</a:rPr>
              <a:t>0</a:t>
            </a:r>
            <a:endParaRPr lang="en-AU" sz="24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30424" name="Text Box 24"/>
          <p:cNvSpPr txBox="1">
            <a:spLocks noChangeArrowheads="1"/>
          </p:cNvSpPr>
          <p:nvPr/>
        </p:nvSpPr>
        <p:spPr bwMode="auto">
          <a:xfrm>
            <a:off x="3955067" y="3352801"/>
            <a:ext cx="1074140" cy="95410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3333FF"/>
                </a:solidFill>
                <a:latin typeface="Times New Roman" pitchFamily="18" charset="0"/>
              </a:rPr>
              <a:t>W-</a:t>
            </a:r>
            <a:r>
              <a:rPr lang="en-US" sz="2800" b="1" i="1" dirty="0">
                <a:solidFill>
                  <a:srgbClr val="3333FF"/>
                </a:solidFill>
                <a:latin typeface="Times New Roman" pitchFamily="18" charset="0"/>
              </a:rPr>
              <a:t>w</a:t>
            </a:r>
            <a:r>
              <a:rPr lang="en-US" sz="1600" b="1" i="1" dirty="0">
                <a:solidFill>
                  <a:srgbClr val="3333FF"/>
                </a:solidFill>
                <a:latin typeface="Times New Roman" pitchFamily="18" charset="0"/>
              </a:rPr>
              <a:t>n-1</a:t>
            </a:r>
            <a:endParaRPr lang="en-AU" sz="2400" b="1" i="1" baseline="-25000" dirty="0">
              <a:solidFill>
                <a:srgbClr val="FF0000"/>
              </a:solidFill>
              <a:latin typeface="Times New Roman" pitchFamily="18" charset="0"/>
            </a:endParaRPr>
          </a:p>
          <a:p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</a:rPr>
              <a:t>V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</a:rPr>
              <a:t>n-1</a:t>
            </a:r>
            <a:endParaRPr lang="en-AU" sz="2800" b="1" baseline="-250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aphicFrame>
        <p:nvGraphicFramePr>
          <p:cNvPr id="230425" name="Object 25"/>
          <p:cNvGraphicFramePr>
            <a:graphicFrameLocks noChangeAspect="1"/>
          </p:cNvGraphicFramePr>
          <p:nvPr/>
        </p:nvGraphicFramePr>
        <p:xfrm>
          <a:off x="1524000" y="4357694"/>
          <a:ext cx="1092200" cy="481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626" imgH="203024" progId="Equation.3">
                  <p:embed/>
                </p:oleObj>
              </mc:Choice>
              <mc:Fallback>
                <p:oleObj name="Equation" r:id="rId4" imgW="545626" imgH="203024" progId="Equation.3">
                  <p:embed/>
                  <p:pic>
                    <p:nvPicPr>
                      <p:cNvPr id="23042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357694"/>
                        <a:ext cx="1092200" cy="4810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26" name="Object 26"/>
          <p:cNvGraphicFramePr>
            <a:graphicFrameLocks noChangeAspect="1"/>
          </p:cNvGraphicFramePr>
          <p:nvPr/>
        </p:nvGraphicFramePr>
        <p:xfrm>
          <a:off x="3095604" y="4331598"/>
          <a:ext cx="571504" cy="38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9914" imgH="177646" progId="Equation.3">
                  <p:embed/>
                </p:oleObj>
              </mc:Choice>
              <mc:Fallback>
                <p:oleObj name="Equation" r:id="rId6" imgW="329914" imgH="177646" progId="Equation.3">
                  <p:embed/>
                  <p:pic>
                    <p:nvPicPr>
                      <p:cNvPr id="23042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04" y="4331598"/>
                        <a:ext cx="571504" cy="383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27" name="Text Box 27"/>
          <p:cNvSpPr txBox="1">
            <a:spLocks noChangeArrowheads="1"/>
          </p:cNvSpPr>
          <p:nvPr/>
        </p:nvSpPr>
        <p:spPr bwMode="auto">
          <a:xfrm>
            <a:off x="2011371" y="5257801"/>
            <a:ext cx="45878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3333FF"/>
                </a:solidFill>
                <a:latin typeface="Times New Roman" pitchFamily="18" charset="0"/>
              </a:rPr>
              <a:t>W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</a:rPr>
              <a:t>0</a:t>
            </a:r>
            <a:endParaRPr lang="en-AU" sz="24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30428" name="Text Box 28"/>
          <p:cNvSpPr txBox="1">
            <a:spLocks noChangeArrowheads="1"/>
          </p:cNvSpPr>
          <p:nvPr/>
        </p:nvSpPr>
        <p:spPr bwMode="auto">
          <a:xfrm>
            <a:off x="3006064" y="5273676"/>
            <a:ext cx="1040478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3333FF"/>
                </a:solidFill>
                <a:latin typeface="Times New Roman" pitchFamily="18" charset="0"/>
              </a:rPr>
              <a:t>W-w</a:t>
            </a:r>
            <a:r>
              <a:rPr lang="en-US" sz="2400" b="1" i="1" baseline="-25000" dirty="0">
                <a:solidFill>
                  <a:srgbClr val="3333FF"/>
                </a:solidFill>
                <a:latin typeface="Times New Roman" pitchFamily="18" charset="0"/>
              </a:rPr>
              <a:t>n-2</a:t>
            </a:r>
            <a:endParaRPr lang="en-US" sz="2400" b="1" baseline="-25000" dirty="0">
              <a:solidFill>
                <a:srgbClr val="3333FF"/>
              </a:solidFill>
              <a:latin typeface="Times New Roman" pitchFamily="18" charset="0"/>
            </a:endParaRPr>
          </a:p>
          <a:p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</a:rPr>
              <a:t>V</a:t>
            </a:r>
            <a:r>
              <a:rPr lang="en-US" sz="2000" b="1" i="1" baseline="-25000" dirty="0">
                <a:solidFill>
                  <a:srgbClr val="FF0000"/>
                </a:solidFill>
                <a:latin typeface="Times New Roman" pitchFamily="18" charset="0"/>
              </a:rPr>
              <a:t>n-2</a:t>
            </a:r>
            <a:endParaRPr lang="en-AU" sz="2400" b="1" baseline="-250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30429" name="Line 29"/>
          <p:cNvSpPr>
            <a:spLocks noChangeShapeType="1"/>
          </p:cNvSpPr>
          <p:nvPr/>
        </p:nvSpPr>
        <p:spPr bwMode="auto">
          <a:xfrm flipH="1">
            <a:off x="7307263" y="2514600"/>
            <a:ext cx="838200" cy="96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30" name="Line 30"/>
          <p:cNvSpPr>
            <a:spLocks noChangeShapeType="1"/>
          </p:cNvSpPr>
          <p:nvPr/>
        </p:nvSpPr>
        <p:spPr bwMode="auto">
          <a:xfrm>
            <a:off x="8145463" y="2514600"/>
            <a:ext cx="838200" cy="96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32" name="Line 32"/>
          <p:cNvSpPr>
            <a:spLocks noChangeShapeType="1"/>
          </p:cNvSpPr>
          <p:nvPr/>
        </p:nvSpPr>
        <p:spPr bwMode="auto">
          <a:xfrm flipH="1">
            <a:off x="6697663" y="4267200"/>
            <a:ext cx="609600" cy="109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33" name="Line 33"/>
          <p:cNvSpPr>
            <a:spLocks noChangeShapeType="1"/>
          </p:cNvSpPr>
          <p:nvPr/>
        </p:nvSpPr>
        <p:spPr bwMode="auto">
          <a:xfrm>
            <a:off x="7307263" y="4267200"/>
            <a:ext cx="533400" cy="109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35" name="Text Box 35"/>
          <p:cNvSpPr txBox="1">
            <a:spLocks noChangeArrowheads="1"/>
          </p:cNvSpPr>
          <p:nvPr/>
        </p:nvSpPr>
        <p:spPr bwMode="auto">
          <a:xfrm>
            <a:off x="7705133" y="1676401"/>
            <a:ext cx="86895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3333FF"/>
                </a:solidFill>
                <a:latin typeface="Times New Roman" pitchFamily="18" charset="0"/>
              </a:rPr>
              <a:t>W-</a:t>
            </a:r>
            <a:r>
              <a:rPr lang="en-US" sz="2400" b="1" i="1" dirty="0" err="1">
                <a:solidFill>
                  <a:srgbClr val="3333FF"/>
                </a:solidFill>
                <a:latin typeface="Times New Roman" pitchFamily="18" charset="0"/>
              </a:rPr>
              <a:t>w</a:t>
            </a:r>
            <a:r>
              <a:rPr lang="en-US" sz="2400" b="1" baseline="-25000" dirty="0" err="1">
                <a:solidFill>
                  <a:srgbClr val="3333FF"/>
                </a:solidFill>
                <a:latin typeface="Times New Roman" pitchFamily="18" charset="0"/>
              </a:rPr>
              <a:t>n</a:t>
            </a:r>
            <a:endParaRPr lang="en-US" sz="2400" b="1" baseline="-25000" dirty="0">
              <a:solidFill>
                <a:srgbClr val="3333FF"/>
              </a:solidFill>
              <a:latin typeface="Times New Roman" pitchFamily="18" charset="0"/>
            </a:endParaRPr>
          </a:p>
          <a:p>
            <a:r>
              <a:rPr lang="en-US" sz="2400" b="1" i="1" dirty="0" err="1">
                <a:solidFill>
                  <a:srgbClr val="FF0000"/>
                </a:solidFill>
                <a:latin typeface="Times New Roman" pitchFamily="18" charset="0"/>
              </a:rPr>
              <a:t>V</a:t>
            </a:r>
            <a:r>
              <a:rPr lang="en-US" sz="1600" b="1" i="1" dirty="0" err="1">
                <a:solidFill>
                  <a:srgbClr val="FF0000"/>
                </a:solidFill>
                <a:latin typeface="Times New Roman" pitchFamily="18" charset="0"/>
              </a:rPr>
              <a:t>n</a:t>
            </a:r>
            <a:endParaRPr lang="en-AU" sz="2400" b="1" baseline="-250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30438" name="Text Box 38"/>
          <p:cNvSpPr txBox="1">
            <a:spLocks noChangeArrowheads="1"/>
          </p:cNvSpPr>
          <p:nvPr/>
        </p:nvSpPr>
        <p:spPr bwMode="auto">
          <a:xfrm>
            <a:off x="6866936" y="3444875"/>
            <a:ext cx="868956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3333FF"/>
                </a:solidFill>
                <a:latin typeface="Times New Roman" pitchFamily="18" charset="0"/>
              </a:rPr>
              <a:t>W-</a:t>
            </a:r>
            <a:r>
              <a:rPr lang="en-US" sz="2400" b="1" i="1" dirty="0" err="1">
                <a:solidFill>
                  <a:srgbClr val="3333FF"/>
                </a:solidFill>
                <a:latin typeface="Times New Roman" pitchFamily="18" charset="0"/>
              </a:rPr>
              <a:t>w</a:t>
            </a:r>
            <a:r>
              <a:rPr lang="en-US" sz="2400" b="1" baseline="-25000" dirty="0" err="1">
                <a:solidFill>
                  <a:srgbClr val="3333FF"/>
                </a:solidFill>
                <a:latin typeface="Times New Roman" pitchFamily="18" charset="0"/>
              </a:rPr>
              <a:t>n</a:t>
            </a:r>
            <a:endParaRPr lang="en-US" sz="2400" b="1" baseline="-25000" dirty="0">
              <a:solidFill>
                <a:srgbClr val="3333FF"/>
              </a:solidFill>
              <a:latin typeface="Times New Roman" pitchFamily="18" charset="0"/>
            </a:endParaRPr>
          </a:p>
          <a:p>
            <a:r>
              <a:rPr lang="en-AU" sz="2400" b="1" baseline="-25000" dirty="0" err="1">
                <a:solidFill>
                  <a:srgbClr val="FF0000"/>
                </a:solidFill>
                <a:latin typeface="Times New Roman" pitchFamily="18" charset="0"/>
              </a:rPr>
              <a:t>Vn</a:t>
            </a:r>
            <a:endParaRPr lang="en-AU" sz="2400" b="1" baseline="-250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30439" name="Text Box 39"/>
          <p:cNvSpPr txBox="1">
            <a:spLocks noChangeArrowheads="1"/>
          </p:cNvSpPr>
          <p:nvPr/>
        </p:nvSpPr>
        <p:spPr bwMode="auto">
          <a:xfrm>
            <a:off x="6096001" y="5197476"/>
            <a:ext cx="928694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3333FF"/>
                </a:solidFill>
                <a:latin typeface="Times New Roman" pitchFamily="18" charset="0"/>
              </a:rPr>
              <a:t>W-</a:t>
            </a:r>
            <a:r>
              <a:rPr lang="en-US" sz="2400" b="1" i="1" dirty="0" err="1">
                <a:solidFill>
                  <a:srgbClr val="3333FF"/>
                </a:solidFill>
                <a:latin typeface="Times New Roman" pitchFamily="18" charset="0"/>
              </a:rPr>
              <a:t>w</a:t>
            </a:r>
            <a:r>
              <a:rPr lang="en-US" sz="2400" b="1" baseline="-25000" dirty="0" err="1">
                <a:solidFill>
                  <a:srgbClr val="3333FF"/>
                </a:solidFill>
                <a:latin typeface="Times New Roman" pitchFamily="18" charset="0"/>
              </a:rPr>
              <a:t>n</a:t>
            </a:r>
            <a:endParaRPr lang="en-US" sz="2400" b="1" baseline="-25000" dirty="0">
              <a:solidFill>
                <a:srgbClr val="3333FF"/>
              </a:solidFill>
              <a:latin typeface="Times New Roman" pitchFamily="18" charset="0"/>
            </a:endParaRPr>
          </a:p>
          <a:p>
            <a:r>
              <a:rPr lang="en-US" sz="2400" b="1" i="1" dirty="0" err="1">
                <a:solidFill>
                  <a:srgbClr val="FF0000"/>
                </a:solidFill>
                <a:latin typeface="Times New Roman" pitchFamily="18" charset="0"/>
              </a:rPr>
              <a:t>V</a:t>
            </a:r>
            <a:r>
              <a:rPr lang="en-US" b="1" i="1" dirty="0" err="1">
                <a:solidFill>
                  <a:srgbClr val="FF0000"/>
                </a:solidFill>
                <a:latin typeface="Times New Roman" pitchFamily="18" charset="0"/>
              </a:rPr>
              <a:t>n</a:t>
            </a:r>
            <a:endParaRPr lang="en-AU" sz="2400" b="1" baseline="-250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30440" name="Text Box 40"/>
          <p:cNvSpPr txBox="1">
            <a:spLocks noChangeArrowheads="1"/>
          </p:cNvSpPr>
          <p:nvPr/>
        </p:nvSpPr>
        <p:spPr bwMode="auto">
          <a:xfrm>
            <a:off x="7021540" y="5181601"/>
            <a:ext cx="1462067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3333FF"/>
                </a:solidFill>
                <a:latin typeface="Times New Roman" pitchFamily="18" charset="0"/>
              </a:rPr>
              <a:t>W-w</a:t>
            </a:r>
            <a:r>
              <a:rPr lang="en-US" sz="2400" b="1" i="1" baseline="-25000" dirty="0">
                <a:solidFill>
                  <a:srgbClr val="3333FF"/>
                </a:solidFill>
                <a:latin typeface="Times New Roman" pitchFamily="18" charset="0"/>
              </a:rPr>
              <a:t>n</a:t>
            </a:r>
            <a:r>
              <a:rPr lang="en-US" sz="2400" b="1" i="1" dirty="0">
                <a:solidFill>
                  <a:srgbClr val="3333FF"/>
                </a:solidFill>
                <a:latin typeface="Times New Roman" pitchFamily="18" charset="0"/>
              </a:rPr>
              <a:t>-w</a:t>
            </a:r>
            <a:r>
              <a:rPr lang="en-US" sz="2400" b="1" i="1" baseline="-25000" dirty="0">
                <a:solidFill>
                  <a:srgbClr val="3333FF"/>
                </a:solidFill>
                <a:latin typeface="Times New Roman" pitchFamily="18" charset="0"/>
              </a:rPr>
              <a:t>n-2</a:t>
            </a:r>
            <a:endParaRPr lang="en-US" sz="2400" b="1" baseline="-25000" dirty="0">
              <a:solidFill>
                <a:srgbClr val="3333FF"/>
              </a:solidFill>
              <a:latin typeface="Times New Roman" pitchFamily="18" charset="0"/>
            </a:endParaRPr>
          </a:p>
          <a:p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</a:rPr>
              <a:t>V</a:t>
            </a: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</a:rPr>
              <a:t>+V</a:t>
            </a: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</a:rPr>
              <a:t>n-2</a:t>
            </a:r>
            <a:endParaRPr lang="en-AU" sz="2400" b="1" baseline="-250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30441" name="Text Box 41"/>
          <p:cNvSpPr txBox="1">
            <a:spLocks noChangeArrowheads="1"/>
          </p:cNvSpPr>
          <p:nvPr/>
        </p:nvSpPr>
        <p:spPr bwMode="auto">
          <a:xfrm>
            <a:off x="8443939" y="3429001"/>
            <a:ext cx="1462067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3333FF"/>
                </a:solidFill>
                <a:latin typeface="Times New Roman" pitchFamily="18" charset="0"/>
              </a:rPr>
              <a:t>W-w</a:t>
            </a:r>
            <a:r>
              <a:rPr lang="en-US" sz="2400" b="1" i="1" baseline="-25000" dirty="0">
                <a:solidFill>
                  <a:srgbClr val="3333FF"/>
                </a:solidFill>
                <a:latin typeface="Times New Roman" pitchFamily="18" charset="0"/>
              </a:rPr>
              <a:t>n</a:t>
            </a:r>
            <a:r>
              <a:rPr lang="en-US" sz="2400" b="1" i="1" dirty="0">
                <a:solidFill>
                  <a:srgbClr val="3333FF"/>
                </a:solidFill>
                <a:latin typeface="Times New Roman" pitchFamily="18" charset="0"/>
              </a:rPr>
              <a:t>-w</a:t>
            </a:r>
            <a:r>
              <a:rPr lang="en-US" sz="2400" b="1" baseline="-25000" dirty="0">
                <a:solidFill>
                  <a:srgbClr val="3333FF"/>
                </a:solidFill>
                <a:latin typeface="Times New Roman" pitchFamily="18" charset="0"/>
              </a:rPr>
              <a:t>n-1</a:t>
            </a:r>
          </a:p>
          <a:p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</a:rPr>
              <a:t>V</a:t>
            </a: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</a:rPr>
              <a:t>+V</a:t>
            </a:r>
            <a:r>
              <a:rPr lang="en-US" sz="1600" b="1" i="1" dirty="0">
                <a:solidFill>
                  <a:srgbClr val="FF0000"/>
                </a:solidFill>
                <a:latin typeface="Times New Roman" pitchFamily="18" charset="0"/>
              </a:rPr>
              <a:t>n-1</a:t>
            </a:r>
            <a:endParaRPr lang="en-AU" sz="2400" b="1" baseline="-250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30442" name="Text Box 42"/>
          <p:cNvSpPr txBox="1">
            <a:spLocks noChangeArrowheads="1"/>
          </p:cNvSpPr>
          <p:nvPr/>
        </p:nvSpPr>
        <p:spPr bwMode="auto">
          <a:xfrm>
            <a:off x="5440372" y="1"/>
            <a:ext cx="45878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3333FF"/>
                </a:solidFill>
                <a:latin typeface="Times New Roman" pitchFamily="18" charset="0"/>
              </a:rPr>
              <a:t>W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</a:rPr>
              <a:t>0</a:t>
            </a:r>
            <a:endParaRPr lang="en-AU" sz="24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30443" name="Line 43"/>
          <p:cNvSpPr>
            <a:spLocks noChangeShapeType="1"/>
          </p:cNvSpPr>
          <p:nvPr/>
        </p:nvSpPr>
        <p:spPr bwMode="auto">
          <a:xfrm flipH="1">
            <a:off x="8915400" y="42672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44" name="Line 44"/>
          <p:cNvSpPr>
            <a:spLocks noChangeShapeType="1"/>
          </p:cNvSpPr>
          <p:nvPr/>
        </p:nvSpPr>
        <p:spPr bwMode="auto">
          <a:xfrm>
            <a:off x="9220200" y="4267200"/>
            <a:ext cx="533400" cy="109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45" name="Text Box 45"/>
          <p:cNvSpPr txBox="1">
            <a:spLocks noChangeArrowheads="1"/>
          </p:cNvSpPr>
          <p:nvPr/>
        </p:nvSpPr>
        <p:spPr bwMode="auto">
          <a:xfrm>
            <a:off x="1905000" y="838201"/>
            <a:ext cx="1524000" cy="7016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Item n not selected</a:t>
            </a:r>
          </a:p>
        </p:txBody>
      </p:sp>
      <p:sp>
        <p:nvSpPr>
          <p:cNvPr id="230446" name="Text Box 46"/>
          <p:cNvSpPr txBox="1">
            <a:spLocks noChangeArrowheads="1"/>
          </p:cNvSpPr>
          <p:nvPr/>
        </p:nvSpPr>
        <p:spPr bwMode="auto">
          <a:xfrm>
            <a:off x="6400800" y="616227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Item n selected</a:t>
            </a:r>
          </a:p>
        </p:txBody>
      </p:sp>
      <p:sp>
        <p:nvSpPr>
          <p:cNvPr id="230447" name="Text Box 47"/>
          <p:cNvSpPr txBox="1">
            <a:spLocks noChangeArrowheads="1"/>
          </p:cNvSpPr>
          <p:nvPr/>
        </p:nvSpPr>
        <p:spPr bwMode="auto">
          <a:xfrm>
            <a:off x="3352800" y="60326"/>
            <a:ext cx="1524000" cy="3968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3333FF"/>
                </a:solidFill>
              </a:rPr>
              <a:t>Capacity</a:t>
            </a:r>
          </a:p>
        </p:txBody>
      </p:sp>
      <p:sp>
        <p:nvSpPr>
          <p:cNvPr id="230448" name="Text Box 48"/>
          <p:cNvSpPr txBox="1">
            <a:spLocks noChangeArrowheads="1"/>
          </p:cNvSpPr>
          <p:nvPr/>
        </p:nvSpPr>
        <p:spPr bwMode="auto">
          <a:xfrm>
            <a:off x="7010400" y="152401"/>
            <a:ext cx="1524000" cy="3968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Profit</a:t>
            </a:r>
          </a:p>
        </p:txBody>
      </p:sp>
      <p:sp>
        <p:nvSpPr>
          <p:cNvPr id="230449" name="Line 49"/>
          <p:cNvSpPr>
            <a:spLocks noChangeShapeType="1"/>
          </p:cNvSpPr>
          <p:nvPr/>
        </p:nvSpPr>
        <p:spPr bwMode="auto">
          <a:xfrm flipV="1">
            <a:off x="4495800" y="304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50" name="Line 50"/>
          <p:cNvSpPr>
            <a:spLocks noChangeShapeType="1"/>
          </p:cNvSpPr>
          <p:nvPr/>
        </p:nvSpPr>
        <p:spPr bwMode="auto">
          <a:xfrm flipH="1">
            <a:off x="5867400" y="3810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51" name="Line 51"/>
          <p:cNvSpPr>
            <a:spLocks noChangeShapeType="1"/>
          </p:cNvSpPr>
          <p:nvPr/>
        </p:nvSpPr>
        <p:spPr bwMode="auto">
          <a:xfrm flipV="1">
            <a:off x="3200400" y="1143000"/>
            <a:ext cx="1143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he-IL"/>
          </a:p>
        </p:txBody>
      </p:sp>
      <p:sp>
        <p:nvSpPr>
          <p:cNvPr id="230452" name="Line 52"/>
          <p:cNvSpPr>
            <a:spLocks noChangeShapeType="1"/>
          </p:cNvSpPr>
          <p:nvPr/>
        </p:nvSpPr>
        <p:spPr bwMode="auto">
          <a:xfrm flipH="1">
            <a:off x="7086600" y="914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he-IL"/>
          </a:p>
        </p:txBody>
      </p:sp>
      <p:graphicFrame>
        <p:nvGraphicFramePr>
          <p:cNvPr id="3081" name="Object 9"/>
          <p:cNvGraphicFramePr>
            <a:graphicFrameLocks noChangeAspect="1"/>
          </p:cNvGraphicFramePr>
          <p:nvPr/>
        </p:nvGraphicFramePr>
        <p:xfrm>
          <a:off x="2216151" y="2786058"/>
          <a:ext cx="831615" cy="377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20474" imgH="203112" progId="Equation.3">
                  <p:embed/>
                </p:oleObj>
              </mc:Choice>
              <mc:Fallback>
                <p:oleObj name="Equation" r:id="rId8" imgW="520474" imgH="203112" progId="Equation.3">
                  <p:embed/>
                  <p:pic>
                    <p:nvPicPr>
                      <p:cNvPr id="30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151" y="2786058"/>
                        <a:ext cx="831615" cy="3778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" name="Object 10"/>
          <p:cNvGraphicFramePr>
            <a:graphicFrameLocks noChangeAspect="1"/>
          </p:cNvGraphicFramePr>
          <p:nvPr/>
        </p:nvGraphicFramePr>
        <p:xfrm>
          <a:off x="6810380" y="2643183"/>
          <a:ext cx="8318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20474" imgH="203112" progId="Equation.3">
                  <p:embed/>
                </p:oleObj>
              </mc:Choice>
              <mc:Fallback>
                <p:oleObj name="Equation" r:id="rId10" imgW="520474" imgH="203112" progId="Equation.3">
                  <p:embed/>
                  <p:pic>
                    <p:nvPicPr>
                      <p:cNvPr id="308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80" y="2643183"/>
                        <a:ext cx="831850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17"/>
          <p:cNvSpPr txBox="1">
            <a:spLocks noChangeArrowheads="1"/>
          </p:cNvSpPr>
          <p:nvPr/>
        </p:nvSpPr>
        <p:spPr bwMode="auto">
          <a:xfrm>
            <a:off x="8596330" y="2571745"/>
            <a:ext cx="104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</a:rPr>
              <a:t>n-1</a:t>
            </a:r>
            <a:endParaRPr lang="en-AU" sz="2400" dirty="0">
              <a:latin typeface="Times New Roman" pitchFamily="18" charset="0"/>
            </a:endParaRPr>
          </a:p>
        </p:txBody>
      </p:sp>
      <p:graphicFrame>
        <p:nvGraphicFramePr>
          <p:cNvPr id="3083" name="Object 11"/>
          <p:cNvGraphicFramePr>
            <a:graphicFrameLocks noChangeAspect="1"/>
          </p:cNvGraphicFramePr>
          <p:nvPr/>
        </p:nvGraphicFramePr>
        <p:xfrm>
          <a:off x="5881686" y="4429132"/>
          <a:ext cx="10922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45626" imgH="203024" progId="Equation.3">
                  <p:embed/>
                </p:oleObj>
              </mc:Choice>
              <mc:Fallback>
                <p:oleObj name="Equation" r:id="rId12" imgW="545626" imgH="203024" progId="Equation.3">
                  <p:embed/>
                  <p:pic>
                    <p:nvPicPr>
                      <p:cNvPr id="308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1686" y="4429132"/>
                        <a:ext cx="1092200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4" name="Object 12"/>
          <p:cNvGraphicFramePr>
            <a:graphicFrameLocks noChangeAspect="1"/>
          </p:cNvGraphicFramePr>
          <p:nvPr/>
        </p:nvGraphicFramePr>
        <p:xfrm>
          <a:off x="7596199" y="4453577"/>
          <a:ext cx="571504" cy="383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29914" imgH="177646" progId="Equation.3">
                  <p:embed/>
                </p:oleObj>
              </mc:Choice>
              <mc:Fallback>
                <p:oleObj name="Equation" r:id="rId14" imgW="329914" imgH="177646" progId="Equation.3">
                  <p:embed/>
                  <p:pic>
                    <p:nvPicPr>
                      <p:cNvPr id="308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99" y="4453577"/>
                        <a:ext cx="571504" cy="3835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כותרת 1">
            <a:extLst>
              <a:ext uri="{FF2B5EF4-FFF2-40B4-BE49-F238E27FC236}">
                <a16:creationId xmlns:a16="http://schemas.microsoft.com/office/drawing/2014/main" id="{25827911-81EF-29B4-1E90-76A50F7F950A}"/>
              </a:ext>
            </a:extLst>
          </p:cNvPr>
          <p:cNvSpPr txBox="1">
            <a:spLocks/>
          </p:cNvSpPr>
          <p:nvPr/>
        </p:nvSpPr>
        <p:spPr>
          <a:xfrm>
            <a:off x="7435848" y="297824"/>
            <a:ext cx="5105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dirty="0"/>
              <a:t>הפרד ומשול?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3BD602-60BA-BF5C-64EA-A28B871D8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תכנון דינאמי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לבן 3">
                <a:extLst>
                  <a:ext uri="{FF2B5EF4-FFF2-40B4-BE49-F238E27FC236}">
                    <a16:creationId xmlns:a16="http://schemas.microsoft.com/office/drawing/2014/main" id="{41C12FCE-82DA-148F-BE09-D71E678C216E}"/>
                  </a:ext>
                </a:extLst>
              </p:cNvPr>
              <p:cNvSpPr/>
              <p:nvPr/>
            </p:nvSpPr>
            <p:spPr>
              <a:xfrm>
                <a:off x="849402" y="2164415"/>
                <a:ext cx="10563581" cy="41470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e-IL" sz="2400" b="1" u="sng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נחלק לתתי בעיות:</a:t>
                </a:r>
              </a:p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e-I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נקבע סדר מעבר על הפריטים. למשל,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r>
                      <a:rPr lang="en-US" sz="2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he-IL" sz="2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e-I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ועבור פריט בשלב הנוכחי נחליט האם להכניס או לא. </a:t>
                </a:r>
              </a:p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e-IL" sz="2400" b="1" u="sng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נוסחה רקורסיבית:</a:t>
                </a:r>
              </a:p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e-I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נסמן ב-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400" i="1" dirty="0" err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 err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 dirty="0" err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r>
                      <a:rPr lang="he-IL" sz="2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e-I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את הרווח המקסימלי  עבור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he-I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פריטים ראשונים (בסדר שהגדרנו) עד משקל אפשרי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he-I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:endParaRPr lang="he-I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       </m:t>
                              </m:r>
                              <m:r>
                                <a:rPr lang="he-IL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                 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מלבן 3">
                <a:extLst>
                  <a:ext uri="{FF2B5EF4-FFF2-40B4-BE49-F238E27FC236}">
                    <a16:creationId xmlns:a16="http://schemas.microsoft.com/office/drawing/2014/main" id="{41C12FCE-82DA-148F-BE09-D71E678C21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02" y="2164415"/>
                <a:ext cx="10563581" cy="4147033"/>
              </a:xfrm>
              <a:prstGeom prst="rect">
                <a:avLst/>
              </a:prstGeom>
              <a:blipFill>
                <a:blip r:embed="rId2"/>
                <a:stretch>
                  <a:fillRect l="-1327" t="-1176" r="-92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A1CE49DE-3E7E-CF38-CD3D-A50F9FB73214}"/>
                  </a:ext>
                </a:extLst>
              </p:cNvPr>
              <p:cNvSpPr txBox="1"/>
              <p:nvPr/>
            </p:nvSpPr>
            <p:spPr>
              <a:xfrm>
                <a:off x="5094521" y="4920344"/>
                <a:ext cx="6092045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he-IL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</a:t>
                </a:r>
                <a:r>
                  <a:rPr lang="he-I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אם אין מקום להכניס את הפריט כלומר,</a:t>
                </a:r>
              </a:p>
            </p:txBody>
          </p:sp>
        </mc:Choice>
        <mc:Fallback xmlns="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A1CE49DE-3E7E-CF38-CD3D-A50F9FB73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521" y="4920344"/>
                <a:ext cx="6092045" cy="461665"/>
              </a:xfrm>
              <a:prstGeom prst="rect">
                <a:avLst/>
              </a:prstGeom>
              <a:blipFill>
                <a:blip r:embed="rId3"/>
                <a:stretch>
                  <a:fillRect t="-11842" r="-1401" b="-2763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5BC289AE-37B9-9425-5975-99AB81CD114B}"/>
              </a:ext>
            </a:extLst>
          </p:cNvPr>
          <p:cNvSpPr txBox="1"/>
          <p:nvPr/>
        </p:nvSpPr>
        <p:spPr>
          <a:xfrm>
            <a:off x="5094521" y="5382009"/>
            <a:ext cx="609204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en-US" sz="2400" dirty="0"/>
              <a:t> </a:t>
            </a: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אם שווה לנו לקחת את הפריט 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3F06A527-964B-858F-4516-8A85E4924A82}"/>
              </a:ext>
            </a:extLst>
          </p:cNvPr>
          <p:cNvSpPr txBox="1"/>
          <p:nvPr/>
        </p:nvSpPr>
        <p:spPr>
          <a:xfrm>
            <a:off x="5050979" y="5809064"/>
            <a:ext cx="609204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en-US" sz="2400" dirty="0"/>
              <a:t> </a:t>
            </a: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אחרת </a:t>
            </a:r>
          </a:p>
        </p:txBody>
      </p:sp>
    </p:spTree>
    <p:extLst>
      <p:ext uri="{BB962C8B-B14F-4D97-AF65-F5344CB8AC3E}">
        <p14:creationId xmlns:p14="http://schemas.microsoft.com/office/powerpoint/2010/main" val="2888341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F1C48A5-6E65-4253-4527-F348B2227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הטבלה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ציין מיקום תוכן 2">
                <a:extLst>
                  <a:ext uri="{FF2B5EF4-FFF2-40B4-BE49-F238E27FC236}">
                    <a16:creationId xmlns:a16="http://schemas.microsoft.com/office/drawing/2014/main" id="{ECB28D98-1AE6-CF7C-7976-39CEEFCDBB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3099" y="1859280"/>
                <a:ext cx="10865802" cy="4712117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נגדיר טבלה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בגודל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he-IL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he-IL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השורות הן הפריטים והעמודות הן המשקל.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הטבלה תמולא בהדרגתיות על פי התאים שמולאו בהתאם לנוסחה הרקורסיבית לעיל. כל תא מסתמך על תאים שנמצאים בשורה מעליו: </a:t>
                </a:r>
              </a:p>
              <a:p>
                <a:pPr marL="292608" lvl="1" indent="0" algn="just">
                  <a:lnSpc>
                    <a:spcPct val="100000"/>
                  </a:lnSpc>
                  <a:buNone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התא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שמשמעותו- הרווח האופטימלי ללא הפריט ה-</a:t>
                </a:r>
                <a:r>
                  <a:rPr lang="en-US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עד משקל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292608" lvl="1" indent="0" algn="just">
                  <a:lnSpc>
                    <a:spcPct val="100000"/>
                  </a:lnSpc>
                  <a:buNone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או התא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שמשמעותו- הרווח האופטימלי ללא הפריט ה-</a:t>
                </a:r>
                <a:r>
                  <a:rPr lang="en-US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עד משקל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על מנת לפנות מקום לפריט ה-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שמשקלו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600" b="1" u="sng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סדר מילוי הטבלה:</a:t>
                </a:r>
                <a:r>
                  <a:rPr lang="he-IL" sz="2600" b="1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 </a:t>
                </a:r>
                <a:r>
                  <a:rPr lang="he-IL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תחילה, לכל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he-IL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]=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]=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he-IL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e-IL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נמשיך בשורות משמאל לימין.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600" b="1" u="sng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חילוץ הפתרון:</a:t>
                </a:r>
                <a:r>
                  <a:rPr lang="he-IL" sz="2600" b="1" spc="-5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+mj-ea"/>
                    <a:cs typeface="+mj-cs"/>
                  </a:rPr>
                  <a:t> </a:t>
                </a:r>
                <a:r>
                  <a:rPr lang="he-IL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הפתרון ימצא בתא הימני למטה-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6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6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6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he-IL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מציין מיקום תוכן 2">
                <a:extLst>
                  <a:ext uri="{FF2B5EF4-FFF2-40B4-BE49-F238E27FC236}">
                    <a16:creationId xmlns:a16="http://schemas.microsoft.com/office/drawing/2014/main" id="{ECB28D98-1AE6-CF7C-7976-39CEEFCDBB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3099" y="1859280"/>
                <a:ext cx="10865802" cy="4712117"/>
              </a:xfrm>
              <a:blipFill>
                <a:blip r:embed="rId2"/>
                <a:stretch>
                  <a:fillRect l="-2413" t="-1294" r="-19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434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דוגמא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טבלה 7">
                <a:extLst>
                  <a:ext uri="{FF2B5EF4-FFF2-40B4-BE49-F238E27FC236}">
                    <a16:creationId xmlns:a16="http://schemas.microsoft.com/office/drawing/2014/main" id="{BDAA1CAA-9419-EACA-DCF1-B8BB2F4E86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6346748"/>
                  </p:ext>
                </p:extLst>
              </p:nvPr>
            </p:nvGraphicFramePr>
            <p:xfrm>
              <a:off x="4517403" y="1804660"/>
              <a:ext cx="5349928" cy="1641400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668741">
                      <a:extLst>
                        <a:ext uri="{9D8B030D-6E8A-4147-A177-3AD203B41FA5}">
                          <a16:colId xmlns:a16="http://schemas.microsoft.com/office/drawing/2014/main" val="3113728800"/>
                        </a:ext>
                      </a:extLst>
                    </a:gridCol>
                    <a:gridCol w="668741">
                      <a:extLst>
                        <a:ext uri="{9D8B030D-6E8A-4147-A177-3AD203B41FA5}">
                          <a16:colId xmlns:a16="http://schemas.microsoft.com/office/drawing/2014/main" val="698458693"/>
                        </a:ext>
                      </a:extLst>
                    </a:gridCol>
                    <a:gridCol w="668741">
                      <a:extLst>
                        <a:ext uri="{9D8B030D-6E8A-4147-A177-3AD203B41FA5}">
                          <a16:colId xmlns:a16="http://schemas.microsoft.com/office/drawing/2014/main" val="771346534"/>
                        </a:ext>
                      </a:extLst>
                    </a:gridCol>
                    <a:gridCol w="668741">
                      <a:extLst>
                        <a:ext uri="{9D8B030D-6E8A-4147-A177-3AD203B41FA5}">
                          <a16:colId xmlns:a16="http://schemas.microsoft.com/office/drawing/2014/main" val="1425516548"/>
                        </a:ext>
                      </a:extLst>
                    </a:gridCol>
                    <a:gridCol w="668741">
                      <a:extLst>
                        <a:ext uri="{9D8B030D-6E8A-4147-A177-3AD203B41FA5}">
                          <a16:colId xmlns:a16="http://schemas.microsoft.com/office/drawing/2014/main" val="3402484503"/>
                        </a:ext>
                      </a:extLst>
                    </a:gridCol>
                    <a:gridCol w="668741">
                      <a:extLst>
                        <a:ext uri="{9D8B030D-6E8A-4147-A177-3AD203B41FA5}">
                          <a16:colId xmlns:a16="http://schemas.microsoft.com/office/drawing/2014/main" val="2508641074"/>
                        </a:ext>
                      </a:extLst>
                    </a:gridCol>
                    <a:gridCol w="668741">
                      <a:extLst>
                        <a:ext uri="{9D8B030D-6E8A-4147-A177-3AD203B41FA5}">
                          <a16:colId xmlns:a16="http://schemas.microsoft.com/office/drawing/2014/main" val="3142181936"/>
                        </a:ext>
                      </a:extLst>
                    </a:gridCol>
                    <a:gridCol w="668741">
                      <a:extLst>
                        <a:ext uri="{9D8B030D-6E8A-4147-A177-3AD203B41FA5}">
                          <a16:colId xmlns:a16="http://schemas.microsoft.com/office/drawing/2014/main" val="655796905"/>
                        </a:ext>
                      </a:extLst>
                    </a:gridCol>
                  </a:tblGrid>
                  <a:tr h="410350"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>
                              <a:cs typeface="+mj-cs"/>
                            </a:rPr>
                            <a:t>6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>
                              <a:cs typeface="+mj-cs"/>
                            </a:rPr>
                            <a:t>5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>
                              <a:cs typeface="+mj-cs"/>
                            </a:rPr>
                            <a:t>4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>
                              <a:cs typeface="+mj-cs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>
                              <a:cs typeface="+mj-cs"/>
                            </a:rPr>
                            <a:t>2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>
                              <a:cs typeface="+mj-cs"/>
                            </a:rPr>
                            <a:t>1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76989881"/>
                      </a:ext>
                    </a:extLst>
                  </a:tr>
                  <a:tr h="410350"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3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2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1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2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2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1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  <a:cs typeface="+mj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+mj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+mj-cs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82652138"/>
                      </a:ext>
                    </a:extLst>
                  </a:tr>
                  <a:tr h="410350"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2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3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5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2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4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2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  <a:cs typeface="+mj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cs typeface="+mj-cs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cs typeface="+mj-cs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98204119"/>
                      </a:ext>
                    </a:extLst>
                  </a:tr>
                  <a:tr h="410350"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436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טבלה 7">
                <a:extLst>
                  <a:ext uri="{FF2B5EF4-FFF2-40B4-BE49-F238E27FC236}">
                    <a16:creationId xmlns:a16="http://schemas.microsoft.com/office/drawing/2014/main" id="{BDAA1CAA-9419-EACA-DCF1-B8BB2F4E86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6346748"/>
                  </p:ext>
                </p:extLst>
              </p:nvPr>
            </p:nvGraphicFramePr>
            <p:xfrm>
              <a:off x="4517403" y="1804660"/>
              <a:ext cx="5349928" cy="1641400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668741">
                      <a:extLst>
                        <a:ext uri="{9D8B030D-6E8A-4147-A177-3AD203B41FA5}">
                          <a16:colId xmlns:a16="http://schemas.microsoft.com/office/drawing/2014/main" val="3113728800"/>
                        </a:ext>
                      </a:extLst>
                    </a:gridCol>
                    <a:gridCol w="668741">
                      <a:extLst>
                        <a:ext uri="{9D8B030D-6E8A-4147-A177-3AD203B41FA5}">
                          <a16:colId xmlns:a16="http://schemas.microsoft.com/office/drawing/2014/main" val="698458693"/>
                        </a:ext>
                      </a:extLst>
                    </a:gridCol>
                    <a:gridCol w="668741">
                      <a:extLst>
                        <a:ext uri="{9D8B030D-6E8A-4147-A177-3AD203B41FA5}">
                          <a16:colId xmlns:a16="http://schemas.microsoft.com/office/drawing/2014/main" val="771346534"/>
                        </a:ext>
                      </a:extLst>
                    </a:gridCol>
                    <a:gridCol w="668741">
                      <a:extLst>
                        <a:ext uri="{9D8B030D-6E8A-4147-A177-3AD203B41FA5}">
                          <a16:colId xmlns:a16="http://schemas.microsoft.com/office/drawing/2014/main" val="1425516548"/>
                        </a:ext>
                      </a:extLst>
                    </a:gridCol>
                    <a:gridCol w="668741">
                      <a:extLst>
                        <a:ext uri="{9D8B030D-6E8A-4147-A177-3AD203B41FA5}">
                          <a16:colId xmlns:a16="http://schemas.microsoft.com/office/drawing/2014/main" val="3402484503"/>
                        </a:ext>
                      </a:extLst>
                    </a:gridCol>
                    <a:gridCol w="668741">
                      <a:extLst>
                        <a:ext uri="{9D8B030D-6E8A-4147-A177-3AD203B41FA5}">
                          <a16:colId xmlns:a16="http://schemas.microsoft.com/office/drawing/2014/main" val="2508641074"/>
                        </a:ext>
                      </a:extLst>
                    </a:gridCol>
                    <a:gridCol w="668741">
                      <a:extLst>
                        <a:ext uri="{9D8B030D-6E8A-4147-A177-3AD203B41FA5}">
                          <a16:colId xmlns:a16="http://schemas.microsoft.com/office/drawing/2014/main" val="3142181936"/>
                        </a:ext>
                      </a:extLst>
                    </a:gridCol>
                    <a:gridCol w="668741">
                      <a:extLst>
                        <a:ext uri="{9D8B030D-6E8A-4147-A177-3AD203B41FA5}">
                          <a16:colId xmlns:a16="http://schemas.microsoft.com/office/drawing/2014/main" val="655796905"/>
                        </a:ext>
                      </a:extLst>
                    </a:gridCol>
                  </a:tblGrid>
                  <a:tr h="410350"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>
                              <a:cs typeface="+mj-cs"/>
                            </a:rPr>
                            <a:t>6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>
                              <a:cs typeface="+mj-cs"/>
                            </a:rPr>
                            <a:t>5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>
                              <a:cs typeface="+mj-cs"/>
                            </a:rPr>
                            <a:t>4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>
                              <a:cs typeface="+mj-cs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>
                              <a:cs typeface="+mj-cs"/>
                            </a:rPr>
                            <a:t>2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>
                              <a:cs typeface="+mj-cs"/>
                            </a:rPr>
                            <a:t>1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76989881"/>
                      </a:ext>
                    </a:extLst>
                  </a:tr>
                  <a:tr h="410350"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3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2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1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2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2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1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8182" t="-104478" r="-1818" b="-204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2652138"/>
                      </a:ext>
                    </a:extLst>
                  </a:tr>
                  <a:tr h="410350"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2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3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5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2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4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>
                              <a:cs typeface="+mj-cs"/>
                            </a:rPr>
                            <a:t>2</a:t>
                          </a:r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8182" t="-201471" r="-1818" b="-101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8204119"/>
                      </a:ext>
                    </a:extLst>
                  </a:tr>
                  <a:tr h="410350"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cs typeface="+mj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436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D0EDDE2D-58BF-33A9-E359-18BF5576CDEC}"/>
                  </a:ext>
                </a:extLst>
              </p:cNvPr>
              <p:cNvSpPr txBox="1"/>
              <p:nvPr/>
            </p:nvSpPr>
            <p:spPr>
              <a:xfrm>
                <a:off x="2893326" y="2254357"/>
                <a:ext cx="1992573" cy="70788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D0EDDE2D-58BF-33A9-E359-18BF5576C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326" y="2254357"/>
                <a:ext cx="1992573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598AF6BB-80A0-8DC0-301D-08CA5C62B50A}"/>
                  </a:ext>
                </a:extLst>
              </p:cNvPr>
              <p:cNvSpPr txBox="1"/>
              <p:nvPr/>
            </p:nvSpPr>
            <p:spPr>
              <a:xfrm>
                <a:off x="8930186" y="3198167"/>
                <a:ext cx="3534769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1"/>
                <a:r>
                  <a:rPr lang="he-IL" sz="2400" dirty="0">
                    <a:cs typeface="+mj-cs"/>
                  </a:rPr>
                  <a:t>נבנה טבלה בגודל: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latin typeface="Cambria Math" panose="02040503050406030204" pitchFamily="18" charset="0"/>
                        <a:cs typeface="+mj-cs"/>
                      </a:rPr>
                      <m:t>6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×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5</m:t>
                    </m:r>
                  </m:oMath>
                </a14:m>
                <a:endParaRPr lang="he-IL" sz="2400" dirty="0">
                  <a:cs typeface="+mj-cs"/>
                </a:endParaRPr>
              </a:p>
            </p:txBody>
          </p:sp>
        </mc:Choice>
        <mc:Fallback xmlns="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598AF6BB-80A0-8DC0-301D-08CA5C62B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186" y="3198167"/>
                <a:ext cx="3534769" cy="461665"/>
              </a:xfrm>
              <a:prstGeom prst="rect">
                <a:avLst/>
              </a:prstGeom>
              <a:blipFill>
                <a:blip r:embed="rId4"/>
                <a:stretch>
                  <a:fillRect l="-345" t="-10667" b="-3066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טבלה 10">
            <a:extLst>
              <a:ext uri="{FF2B5EF4-FFF2-40B4-BE49-F238E27FC236}">
                <a16:creationId xmlns:a16="http://schemas.microsoft.com/office/drawing/2014/main" id="{762DE0FA-214A-272B-E9B2-80911EF60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845726"/>
              </p:ext>
            </p:extLst>
          </p:nvPr>
        </p:nvGraphicFramePr>
        <p:xfrm>
          <a:off x="3680345" y="3198167"/>
          <a:ext cx="4831309" cy="306615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690187">
                  <a:extLst>
                    <a:ext uri="{9D8B030D-6E8A-4147-A177-3AD203B41FA5}">
                      <a16:colId xmlns:a16="http://schemas.microsoft.com/office/drawing/2014/main" val="3905597653"/>
                    </a:ext>
                  </a:extLst>
                </a:gridCol>
                <a:gridCol w="690187">
                  <a:extLst>
                    <a:ext uri="{9D8B030D-6E8A-4147-A177-3AD203B41FA5}">
                      <a16:colId xmlns:a16="http://schemas.microsoft.com/office/drawing/2014/main" val="3203698971"/>
                    </a:ext>
                  </a:extLst>
                </a:gridCol>
                <a:gridCol w="690187">
                  <a:extLst>
                    <a:ext uri="{9D8B030D-6E8A-4147-A177-3AD203B41FA5}">
                      <a16:colId xmlns:a16="http://schemas.microsoft.com/office/drawing/2014/main" val="2603225995"/>
                    </a:ext>
                  </a:extLst>
                </a:gridCol>
                <a:gridCol w="690187">
                  <a:extLst>
                    <a:ext uri="{9D8B030D-6E8A-4147-A177-3AD203B41FA5}">
                      <a16:colId xmlns:a16="http://schemas.microsoft.com/office/drawing/2014/main" val="812682471"/>
                    </a:ext>
                  </a:extLst>
                </a:gridCol>
                <a:gridCol w="690187">
                  <a:extLst>
                    <a:ext uri="{9D8B030D-6E8A-4147-A177-3AD203B41FA5}">
                      <a16:colId xmlns:a16="http://schemas.microsoft.com/office/drawing/2014/main" val="492914830"/>
                    </a:ext>
                  </a:extLst>
                </a:gridCol>
                <a:gridCol w="690187">
                  <a:extLst>
                    <a:ext uri="{9D8B030D-6E8A-4147-A177-3AD203B41FA5}">
                      <a16:colId xmlns:a16="http://schemas.microsoft.com/office/drawing/2014/main" val="2759683700"/>
                    </a:ext>
                  </a:extLst>
                </a:gridCol>
                <a:gridCol w="690187">
                  <a:extLst>
                    <a:ext uri="{9D8B030D-6E8A-4147-A177-3AD203B41FA5}">
                      <a16:colId xmlns:a16="http://schemas.microsoft.com/office/drawing/2014/main" val="3357140736"/>
                    </a:ext>
                  </a:extLst>
                </a:gridCol>
              </a:tblGrid>
              <a:tr h="383269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070372"/>
                  </a:ext>
                </a:extLst>
              </a:tr>
              <a:tr h="383269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78794"/>
                  </a:ext>
                </a:extLst>
              </a:tr>
              <a:tr h="383269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506940"/>
                  </a:ext>
                </a:extLst>
              </a:tr>
              <a:tr h="383269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8502662"/>
                  </a:ext>
                </a:extLst>
              </a:tr>
              <a:tr h="383269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273983"/>
                  </a:ext>
                </a:extLst>
              </a:tr>
              <a:tr h="383269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454183"/>
                  </a:ext>
                </a:extLst>
              </a:tr>
              <a:tr h="383269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2022183"/>
                  </a:ext>
                </a:extLst>
              </a:tr>
              <a:tr h="383269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90304"/>
                  </a:ext>
                </a:extLst>
              </a:tr>
            </a:tbl>
          </a:graphicData>
        </a:graphic>
      </p:graphicFrame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6698076D-4E76-79EF-BCE6-51582171A415}"/>
              </a:ext>
            </a:extLst>
          </p:cNvPr>
          <p:cNvCxnSpPr>
            <a:cxnSpLocks/>
          </p:cNvCxnSpPr>
          <p:nvPr/>
        </p:nvCxnSpPr>
        <p:spPr>
          <a:xfrm flipH="1" flipV="1">
            <a:off x="4913195" y="3826580"/>
            <a:ext cx="259307" cy="295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84DD244E-9DAB-58F0-E896-849005EA50B0}"/>
              </a:ext>
            </a:extLst>
          </p:cNvPr>
          <p:cNvCxnSpPr>
            <a:cxnSpLocks/>
          </p:cNvCxnSpPr>
          <p:nvPr/>
        </p:nvCxnSpPr>
        <p:spPr>
          <a:xfrm flipH="1" flipV="1">
            <a:off x="5625154" y="3826580"/>
            <a:ext cx="259307" cy="295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מחבר חץ ישר 15">
            <a:extLst>
              <a:ext uri="{FF2B5EF4-FFF2-40B4-BE49-F238E27FC236}">
                <a16:creationId xmlns:a16="http://schemas.microsoft.com/office/drawing/2014/main" id="{A6FB634F-9EA1-F525-6A46-143209BD3295}"/>
              </a:ext>
            </a:extLst>
          </p:cNvPr>
          <p:cNvCxnSpPr>
            <a:cxnSpLocks/>
          </p:cNvCxnSpPr>
          <p:nvPr/>
        </p:nvCxnSpPr>
        <p:spPr>
          <a:xfrm flipH="1" flipV="1">
            <a:off x="6307542" y="3812933"/>
            <a:ext cx="259307" cy="295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DEF18D4B-B4FE-A9F2-13E8-4BF4DDDF0869}"/>
              </a:ext>
            </a:extLst>
          </p:cNvPr>
          <p:cNvCxnSpPr>
            <a:cxnSpLocks/>
          </p:cNvCxnSpPr>
          <p:nvPr/>
        </p:nvCxnSpPr>
        <p:spPr>
          <a:xfrm flipH="1" flipV="1">
            <a:off x="6989930" y="3826583"/>
            <a:ext cx="259307" cy="295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מחבר חץ ישר 17">
            <a:extLst>
              <a:ext uri="{FF2B5EF4-FFF2-40B4-BE49-F238E27FC236}">
                <a16:creationId xmlns:a16="http://schemas.microsoft.com/office/drawing/2014/main" id="{5705B17D-5570-32BD-A3FA-B1A33F9F3696}"/>
              </a:ext>
            </a:extLst>
          </p:cNvPr>
          <p:cNvCxnSpPr>
            <a:cxnSpLocks/>
          </p:cNvCxnSpPr>
          <p:nvPr/>
        </p:nvCxnSpPr>
        <p:spPr>
          <a:xfrm flipH="1" flipV="1">
            <a:off x="7701889" y="3826580"/>
            <a:ext cx="259307" cy="295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חץ ישר 18">
            <a:extLst>
              <a:ext uri="{FF2B5EF4-FFF2-40B4-BE49-F238E27FC236}">
                <a16:creationId xmlns:a16="http://schemas.microsoft.com/office/drawing/2014/main" id="{4595B971-72FE-6D7F-A661-124E6B8338B7}"/>
              </a:ext>
            </a:extLst>
          </p:cNvPr>
          <p:cNvCxnSpPr>
            <a:cxnSpLocks/>
          </p:cNvCxnSpPr>
          <p:nvPr/>
        </p:nvCxnSpPr>
        <p:spPr>
          <a:xfrm flipH="1" flipV="1">
            <a:off x="4913195" y="4258101"/>
            <a:ext cx="971266" cy="2326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חץ ישר 21">
            <a:extLst>
              <a:ext uri="{FF2B5EF4-FFF2-40B4-BE49-F238E27FC236}">
                <a16:creationId xmlns:a16="http://schemas.microsoft.com/office/drawing/2014/main" id="{5048D80E-A61E-76E4-77C7-CD57D97C38CC}"/>
              </a:ext>
            </a:extLst>
          </p:cNvPr>
          <p:cNvCxnSpPr>
            <a:cxnSpLocks/>
          </p:cNvCxnSpPr>
          <p:nvPr/>
        </p:nvCxnSpPr>
        <p:spPr>
          <a:xfrm flipV="1">
            <a:off x="5595586" y="4219434"/>
            <a:ext cx="0" cy="2713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מחבר חץ ישר 23">
            <a:extLst>
              <a:ext uri="{FF2B5EF4-FFF2-40B4-BE49-F238E27FC236}">
                <a16:creationId xmlns:a16="http://schemas.microsoft.com/office/drawing/2014/main" id="{0CD42D0C-A503-E7C8-C78F-D07A2BED3015}"/>
              </a:ext>
            </a:extLst>
          </p:cNvPr>
          <p:cNvCxnSpPr>
            <a:cxnSpLocks/>
          </p:cNvCxnSpPr>
          <p:nvPr/>
        </p:nvCxnSpPr>
        <p:spPr>
          <a:xfrm flipH="1" flipV="1">
            <a:off x="5640847" y="4244454"/>
            <a:ext cx="971266" cy="2326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מחבר חץ ישר 24">
            <a:extLst>
              <a:ext uri="{FF2B5EF4-FFF2-40B4-BE49-F238E27FC236}">
                <a16:creationId xmlns:a16="http://schemas.microsoft.com/office/drawing/2014/main" id="{C1BF0D74-CE65-B535-DE97-7EF0A7DC5DFF}"/>
              </a:ext>
            </a:extLst>
          </p:cNvPr>
          <p:cNvCxnSpPr>
            <a:cxnSpLocks/>
          </p:cNvCxnSpPr>
          <p:nvPr/>
        </p:nvCxnSpPr>
        <p:spPr>
          <a:xfrm flipH="1" flipV="1">
            <a:off x="6335746" y="4230807"/>
            <a:ext cx="971266" cy="2326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מחבר חץ ישר 25">
            <a:extLst>
              <a:ext uri="{FF2B5EF4-FFF2-40B4-BE49-F238E27FC236}">
                <a16:creationId xmlns:a16="http://schemas.microsoft.com/office/drawing/2014/main" id="{EB5534CF-F6BD-B700-686A-2515C5B41C40}"/>
              </a:ext>
            </a:extLst>
          </p:cNvPr>
          <p:cNvCxnSpPr>
            <a:cxnSpLocks/>
          </p:cNvCxnSpPr>
          <p:nvPr/>
        </p:nvCxnSpPr>
        <p:spPr>
          <a:xfrm flipH="1" flipV="1">
            <a:off x="6992319" y="4215543"/>
            <a:ext cx="971266" cy="2326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מחבר חץ ישר 26">
            <a:extLst>
              <a:ext uri="{FF2B5EF4-FFF2-40B4-BE49-F238E27FC236}">
                <a16:creationId xmlns:a16="http://schemas.microsoft.com/office/drawing/2014/main" id="{92A4AC07-DE6F-55C8-5213-6B462DF9F75A}"/>
              </a:ext>
            </a:extLst>
          </p:cNvPr>
          <p:cNvCxnSpPr>
            <a:cxnSpLocks/>
          </p:cNvCxnSpPr>
          <p:nvPr/>
        </p:nvCxnSpPr>
        <p:spPr>
          <a:xfrm flipH="1" flipV="1">
            <a:off x="6918395" y="4605279"/>
            <a:ext cx="971266" cy="2326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מחבר חץ ישר 28">
            <a:extLst>
              <a:ext uri="{FF2B5EF4-FFF2-40B4-BE49-F238E27FC236}">
                <a16:creationId xmlns:a16="http://schemas.microsoft.com/office/drawing/2014/main" id="{82991616-460C-9454-B98A-F7DF4230F518}"/>
              </a:ext>
            </a:extLst>
          </p:cNvPr>
          <p:cNvCxnSpPr>
            <a:cxnSpLocks/>
          </p:cNvCxnSpPr>
          <p:nvPr/>
        </p:nvCxnSpPr>
        <p:spPr>
          <a:xfrm flipV="1">
            <a:off x="7404028" y="4605279"/>
            <a:ext cx="0" cy="2713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מחבר חץ ישר 29">
            <a:extLst>
              <a:ext uri="{FF2B5EF4-FFF2-40B4-BE49-F238E27FC236}">
                <a16:creationId xmlns:a16="http://schemas.microsoft.com/office/drawing/2014/main" id="{6EE7C414-402A-5D12-78D4-0197E8A22810}"/>
              </a:ext>
            </a:extLst>
          </p:cNvPr>
          <p:cNvCxnSpPr>
            <a:cxnSpLocks/>
          </p:cNvCxnSpPr>
          <p:nvPr/>
        </p:nvCxnSpPr>
        <p:spPr>
          <a:xfrm flipV="1">
            <a:off x="6612113" y="4616983"/>
            <a:ext cx="0" cy="2713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מחבר חץ ישר 30">
            <a:extLst>
              <a:ext uri="{FF2B5EF4-FFF2-40B4-BE49-F238E27FC236}">
                <a16:creationId xmlns:a16="http://schemas.microsoft.com/office/drawing/2014/main" id="{3EE1182A-F7AC-9D29-D05A-3D68D165BB75}"/>
              </a:ext>
            </a:extLst>
          </p:cNvPr>
          <p:cNvCxnSpPr>
            <a:cxnSpLocks/>
          </p:cNvCxnSpPr>
          <p:nvPr/>
        </p:nvCxnSpPr>
        <p:spPr>
          <a:xfrm flipV="1">
            <a:off x="5886740" y="4616983"/>
            <a:ext cx="0" cy="2713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מחבר חץ ישר 31">
            <a:extLst>
              <a:ext uri="{FF2B5EF4-FFF2-40B4-BE49-F238E27FC236}">
                <a16:creationId xmlns:a16="http://schemas.microsoft.com/office/drawing/2014/main" id="{18F5BF88-9DC4-5587-2136-27B6A5754EBF}"/>
              </a:ext>
            </a:extLst>
          </p:cNvPr>
          <p:cNvCxnSpPr>
            <a:cxnSpLocks/>
          </p:cNvCxnSpPr>
          <p:nvPr/>
        </p:nvCxnSpPr>
        <p:spPr>
          <a:xfrm flipV="1">
            <a:off x="5595586" y="4605278"/>
            <a:ext cx="0" cy="2713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מחבר חץ ישר 32">
            <a:extLst>
              <a:ext uri="{FF2B5EF4-FFF2-40B4-BE49-F238E27FC236}">
                <a16:creationId xmlns:a16="http://schemas.microsoft.com/office/drawing/2014/main" id="{2515B1C2-83AA-5D8B-27B4-701843EE75D7}"/>
              </a:ext>
            </a:extLst>
          </p:cNvPr>
          <p:cNvCxnSpPr>
            <a:cxnSpLocks/>
          </p:cNvCxnSpPr>
          <p:nvPr/>
        </p:nvCxnSpPr>
        <p:spPr>
          <a:xfrm flipH="1" flipV="1">
            <a:off x="7634905" y="4995015"/>
            <a:ext cx="259307" cy="295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מחבר חץ ישר 33">
            <a:extLst>
              <a:ext uri="{FF2B5EF4-FFF2-40B4-BE49-F238E27FC236}">
                <a16:creationId xmlns:a16="http://schemas.microsoft.com/office/drawing/2014/main" id="{7A8ACC33-90CA-C22D-2C6E-E16E5CA5E5C0}"/>
              </a:ext>
            </a:extLst>
          </p:cNvPr>
          <p:cNvCxnSpPr>
            <a:cxnSpLocks/>
          </p:cNvCxnSpPr>
          <p:nvPr/>
        </p:nvCxnSpPr>
        <p:spPr>
          <a:xfrm flipH="1" flipV="1">
            <a:off x="6958321" y="4956709"/>
            <a:ext cx="259307" cy="295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מחבר חץ ישר 34">
            <a:extLst>
              <a:ext uri="{FF2B5EF4-FFF2-40B4-BE49-F238E27FC236}">
                <a16:creationId xmlns:a16="http://schemas.microsoft.com/office/drawing/2014/main" id="{9A5D41B9-6766-1187-A5EE-F5DAC1C657B2}"/>
              </a:ext>
            </a:extLst>
          </p:cNvPr>
          <p:cNvCxnSpPr>
            <a:cxnSpLocks/>
          </p:cNvCxnSpPr>
          <p:nvPr/>
        </p:nvCxnSpPr>
        <p:spPr>
          <a:xfrm flipH="1" flipV="1">
            <a:off x="6307541" y="4928155"/>
            <a:ext cx="259307" cy="295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מחבר חץ ישר 35">
            <a:extLst>
              <a:ext uri="{FF2B5EF4-FFF2-40B4-BE49-F238E27FC236}">
                <a16:creationId xmlns:a16="http://schemas.microsoft.com/office/drawing/2014/main" id="{6054BF4D-714C-D53C-CDF5-7870066F5053}"/>
              </a:ext>
            </a:extLst>
          </p:cNvPr>
          <p:cNvCxnSpPr>
            <a:cxnSpLocks/>
          </p:cNvCxnSpPr>
          <p:nvPr/>
        </p:nvCxnSpPr>
        <p:spPr>
          <a:xfrm flipH="1" flipV="1">
            <a:off x="5595586" y="4969102"/>
            <a:ext cx="259307" cy="295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מחבר חץ ישר 36">
            <a:extLst>
              <a:ext uri="{FF2B5EF4-FFF2-40B4-BE49-F238E27FC236}">
                <a16:creationId xmlns:a16="http://schemas.microsoft.com/office/drawing/2014/main" id="{ECF22855-8BFA-D3D3-A038-1E30FF29FBE2}"/>
              </a:ext>
            </a:extLst>
          </p:cNvPr>
          <p:cNvCxnSpPr>
            <a:cxnSpLocks/>
          </p:cNvCxnSpPr>
          <p:nvPr/>
        </p:nvCxnSpPr>
        <p:spPr>
          <a:xfrm flipH="1" flipV="1">
            <a:off x="4887154" y="4995015"/>
            <a:ext cx="259307" cy="295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מחבר חץ ישר 37">
            <a:extLst>
              <a:ext uri="{FF2B5EF4-FFF2-40B4-BE49-F238E27FC236}">
                <a16:creationId xmlns:a16="http://schemas.microsoft.com/office/drawing/2014/main" id="{89ABA2FA-F6CF-1DA3-B3E7-2F917874F2CB}"/>
              </a:ext>
            </a:extLst>
          </p:cNvPr>
          <p:cNvCxnSpPr>
            <a:cxnSpLocks/>
          </p:cNvCxnSpPr>
          <p:nvPr/>
        </p:nvCxnSpPr>
        <p:spPr>
          <a:xfrm flipH="1" flipV="1">
            <a:off x="6921937" y="5437222"/>
            <a:ext cx="971266" cy="2326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מחבר חץ ישר 38">
            <a:extLst>
              <a:ext uri="{FF2B5EF4-FFF2-40B4-BE49-F238E27FC236}">
                <a16:creationId xmlns:a16="http://schemas.microsoft.com/office/drawing/2014/main" id="{2B5A0D87-94BC-D85C-BE9E-E0C99B751834}"/>
              </a:ext>
            </a:extLst>
          </p:cNvPr>
          <p:cNvCxnSpPr>
            <a:cxnSpLocks/>
          </p:cNvCxnSpPr>
          <p:nvPr/>
        </p:nvCxnSpPr>
        <p:spPr>
          <a:xfrm flipV="1">
            <a:off x="7459873" y="5398555"/>
            <a:ext cx="0" cy="2713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מחבר חץ ישר 39">
            <a:extLst>
              <a:ext uri="{FF2B5EF4-FFF2-40B4-BE49-F238E27FC236}">
                <a16:creationId xmlns:a16="http://schemas.microsoft.com/office/drawing/2014/main" id="{3B705A9D-D892-1E89-C073-43C552CCBEED}"/>
              </a:ext>
            </a:extLst>
          </p:cNvPr>
          <p:cNvCxnSpPr>
            <a:cxnSpLocks/>
          </p:cNvCxnSpPr>
          <p:nvPr/>
        </p:nvCxnSpPr>
        <p:spPr>
          <a:xfrm flipV="1">
            <a:off x="7272101" y="5767613"/>
            <a:ext cx="0" cy="2713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מחבר חץ ישר 40">
            <a:extLst>
              <a:ext uri="{FF2B5EF4-FFF2-40B4-BE49-F238E27FC236}">
                <a16:creationId xmlns:a16="http://schemas.microsoft.com/office/drawing/2014/main" id="{B71BA3EE-D8D2-ADA6-E731-F8FA83FBCA8E}"/>
              </a:ext>
            </a:extLst>
          </p:cNvPr>
          <p:cNvCxnSpPr>
            <a:cxnSpLocks/>
          </p:cNvCxnSpPr>
          <p:nvPr/>
        </p:nvCxnSpPr>
        <p:spPr>
          <a:xfrm flipV="1">
            <a:off x="6612113" y="5767612"/>
            <a:ext cx="0" cy="2713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מחבר חץ ישר 41">
            <a:extLst>
              <a:ext uri="{FF2B5EF4-FFF2-40B4-BE49-F238E27FC236}">
                <a16:creationId xmlns:a16="http://schemas.microsoft.com/office/drawing/2014/main" id="{7572548D-F8D3-258B-3292-4AD5994E9BB5}"/>
              </a:ext>
            </a:extLst>
          </p:cNvPr>
          <p:cNvCxnSpPr>
            <a:cxnSpLocks/>
          </p:cNvCxnSpPr>
          <p:nvPr/>
        </p:nvCxnSpPr>
        <p:spPr>
          <a:xfrm flipV="1">
            <a:off x="6593689" y="5386669"/>
            <a:ext cx="0" cy="2713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מחבר חץ ישר 42">
            <a:extLst>
              <a:ext uri="{FF2B5EF4-FFF2-40B4-BE49-F238E27FC236}">
                <a16:creationId xmlns:a16="http://schemas.microsoft.com/office/drawing/2014/main" id="{70AB89CE-7913-6EC6-6CE4-FBF423E925B1}"/>
              </a:ext>
            </a:extLst>
          </p:cNvPr>
          <p:cNvCxnSpPr>
            <a:cxnSpLocks/>
          </p:cNvCxnSpPr>
          <p:nvPr/>
        </p:nvCxnSpPr>
        <p:spPr>
          <a:xfrm flipV="1">
            <a:off x="5913576" y="5702845"/>
            <a:ext cx="0" cy="2713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מחבר חץ ישר 44">
            <a:extLst>
              <a:ext uri="{FF2B5EF4-FFF2-40B4-BE49-F238E27FC236}">
                <a16:creationId xmlns:a16="http://schemas.microsoft.com/office/drawing/2014/main" id="{CAEF0ECD-1EE3-42EE-31AA-431EDBA162AB}"/>
              </a:ext>
            </a:extLst>
          </p:cNvPr>
          <p:cNvCxnSpPr>
            <a:cxnSpLocks/>
          </p:cNvCxnSpPr>
          <p:nvPr/>
        </p:nvCxnSpPr>
        <p:spPr>
          <a:xfrm flipV="1">
            <a:off x="5913576" y="5342043"/>
            <a:ext cx="0" cy="2713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מחבר חץ ישר 45">
            <a:extLst>
              <a:ext uri="{FF2B5EF4-FFF2-40B4-BE49-F238E27FC236}">
                <a16:creationId xmlns:a16="http://schemas.microsoft.com/office/drawing/2014/main" id="{4BAB776F-E7AA-9E83-C421-3F520DCBB396}"/>
              </a:ext>
            </a:extLst>
          </p:cNvPr>
          <p:cNvCxnSpPr>
            <a:cxnSpLocks/>
          </p:cNvCxnSpPr>
          <p:nvPr/>
        </p:nvCxnSpPr>
        <p:spPr>
          <a:xfrm flipV="1">
            <a:off x="5192520" y="5733903"/>
            <a:ext cx="0" cy="2713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מחבר חץ ישר 46">
            <a:extLst>
              <a:ext uri="{FF2B5EF4-FFF2-40B4-BE49-F238E27FC236}">
                <a16:creationId xmlns:a16="http://schemas.microsoft.com/office/drawing/2014/main" id="{58736B82-57EA-8994-A4B2-6ED0897D79E3}"/>
              </a:ext>
            </a:extLst>
          </p:cNvPr>
          <p:cNvCxnSpPr>
            <a:cxnSpLocks/>
          </p:cNvCxnSpPr>
          <p:nvPr/>
        </p:nvCxnSpPr>
        <p:spPr>
          <a:xfrm flipV="1">
            <a:off x="5192520" y="5359000"/>
            <a:ext cx="0" cy="2713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מחבר חץ ישר 47">
            <a:extLst>
              <a:ext uri="{FF2B5EF4-FFF2-40B4-BE49-F238E27FC236}">
                <a16:creationId xmlns:a16="http://schemas.microsoft.com/office/drawing/2014/main" id="{617B7551-7225-5146-041E-B2BA5EB8B18E}"/>
              </a:ext>
            </a:extLst>
          </p:cNvPr>
          <p:cNvCxnSpPr>
            <a:cxnSpLocks/>
          </p:cNvCxnSpPr>
          <p:nvPr/>
        </p:nvCxnSpPr>
        <p:spPr>
          <a:xfrm flipV="1">
            <a:off x="7942546" y="5767612"/>
            <a:ext cx="0" cy="2713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אליפסה 48">
            <a:extLst>
              <a:ext uri="{FF2B5EF4-FFF2-40B4-BE49-F238E27FC236}">
                <a16:creationId xmlns:a16="http://schemas.microsoft.com/office/drawing/2014/main" id="{7015536D-27E2-99C8-B71E-AB49587DE1E1}"/>
              </a:ext>
            </a:extLst>
          </p:cNvPr>
          <p:cNvSpPr/>
          <p:nvPr/>
        </p:nvSpPr>
        <p:spPr>
          <a:xfrm>
            <a:off x="7915250" y="5889633"/>
            <a:ext cx="569107" cy="361038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תיבת טקסט 49">
                <a:extLst>
                  <a:ext uri="{FF2B5EF4-FFF2-40B4-BE49-F238E27FC236}">
                    <a16:creationId xmlns:a16="http://schemas.microsoft.com/office/drawing/2014/main" id="{29A5C84C-728D-969D-D2E8-02E7ABB2EF95}"/>
                  </a:ext>
                </a:extLst>
              </p:cNvPr>
              <p:cNvSpPr txBox="1"/>
              <p:nvPr/>
            </p:nvSpPr>
            <p:spPr>
              <a:xfrm>
                <a:off x="477672" y="3359757"/>
                <a:ext cx="3057097" cy="295638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just" rtl="1">
                  <a:lnSpc>
                    <a:spcPct val="150000"/>
                  </a:lnSpc>
                </a:pPr>
                <a:r>
                  <a:rPr lang="he-IL" b="1" dirty="0">
                    <a:cs typeface="+mj-cs"/>
                  </a:rPr>
                  <a:t>משמעות החיצים:</a:t>
                </a:r>
              </a:p>
              <a:p>
                <a:pPr marL="285750" indent="-285750" algn="just" rtl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u="sng" dirty="0">
                    <a:cs typeface="+mj-cs"/>
                  </a:rPr>
                  <a:t>הגענו מלמעלה:</a:t>
                </a:r>
                <a:r>
                  <a:rPr lang="he-IL" dirty="0">
                    <a:cs typeface="+mj-cs"/>
                  </a:rPr>
                  <a:t> לא לקחנו פריט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</m:oMath>
                </a14:m>
                <a:r>
                  <a:rPr lang="he-IL" dirty="0">
                    <a:cs typeface="+mj-cs"/>
                  </a:rPr>
                  <a:t> (או שלא היה מספיק מקום או שלא היה שווה לקחת)</a:t>
                </a:r>
              </a:p>
              <a:p>
                <a:pPr marL="285750" indent="-285750" algn="just" rtl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u="sng" dirty="0">
                    <a:cs typeface="+mj-cs"/>
                  </a:rPr>
                  <a:t>הגענו מאלכסון:</a:t>
                </a:r>
                <a:r>
                  <a:rPr lang="he-IL" dirty="0">
                    <a:cs typeface="+mj-cs"/>
                  </a:rPr>
                  <a:t> לקחנו פריט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</m:oMath>
                </a14:m>
                <a:r>
                  <a:rPr lang="he-IL" dirty="0">
                    <a:cs typeface="+mj-cs"/>
                  </a:rPr>
                  <a:t> אבל ע"מ לקחת אותו יש צורך להוריד מהתרמיל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</m:oMath>
                </a14:m>
                <a:r>
                  <a:rPr lang="he-IL" dirty="0">
                    <a:cs typeface="+mj-cs"/>
                  </a:rPr>
                  <a:t> משקל.</a:t>
                </a:r>
              </a:p>
            </p:txBody>
          </p:sp>
        </mc:Choice>
        <mc:Fallback xmlns="">
          <p:sp>
            <p:nvSpPr>
              <p:cNvPr id="50" name="תיבת טקסט 49">
                <a:extLst>
                  <a:ext uri="{FF2B5EF4-FFF2-40B4-BE49-F238E27FC236}">
                    <a16:creationId xmlns:a16="http://schemas.microsoft.com/office/drawing/2014/main" id="{29A5C84C-728D-969D-D2E8-02E7ABB2E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72" y="3359757"/>
                <a:ext cx="3057097" cy="2956387"/>
              </a:xfrm>
              <a:prstGeom prst="rect">
                <a:avLst/>
              </a:prstGeom>
              <a:blipFill>
                <a:blip r:embed="rId5"/>
                <a:stretch>
                  <a:fillRect l="-3586" r="-1594" b="-226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26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3AC74F2-2413-E44A-B5BE-4ADB62F11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האלגוריתם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DC26521C-0F0B-C92D-453F-93C63B7F7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6339" y="1865948"/>
            <a:ext cx="7139322" cy="4870132"/>
          </a:xfrm>
        </p:spPr>
      </p:pic>
    </p:spTree>
    <p:extLst>
      <p:ext uri="{BB962C8B-B14F-4D97-AF65-F5344CB8AC3E}">
        <p14:creationId xmlns:p14="http://schemas.microsoft.com/office/powerpoint/2010/main" val="1423775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8D25371-786A-2875-7297-7E36A018B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ניתוח זמן ריצה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857E4995-FE06-E2F1-B6AB-9B44B82C47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487077"/>
                <a:ext cx="10058400" cy="402336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857E4995-FE06-E2F1-B6AB-9B44B82C47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487077"/>
                <a:ext cx="10058400" cy="402336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039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7DFF230-B93F-B98A-A979-284046C39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בעיית תרמיל הגב בשלמים- עם חזרות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EFD7455-3739-55FB-1779-6BB914914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53354"/>
            <a:ext cx="10058400" cy="40233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he-IL" sz="2800" dirty="0">
                <a:cs typeface="+mj-cs"/>
              </a:rPr>
              <a:t>נגדיר כעת בעיה חדשה הזהה לבעיית התרמיל בשלמים אך כעת מכל פריט קיים מלאי בלתי מוגבל. כלומר, ניתן לקחת פריט יותר מפעם אחת.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35C89459-A9BF-F6F4-A1D0-BEC051BD0B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094"/>
          <a:stretch/>
        </p:blipFill>
        <p:spPr>
          <a:xfrm>
            <a:off x="4648200" y="3291025"/>
            <a:ext cx="2609850" cy="283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20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7E5EDDD-DA0B-E5B1-0400-DCD7AF3CE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הנוסחה הרקורסיבית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87D0A760-DCD8-A071-AFB4-075DDCF245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he-IL" sz="2800" dirty="0" err="1">
                    <a:cs typeface="+mj-cs"/>
                  </a:rPr>
                  <a:t>ברצונינו</a:t>
                </a:r>
                <a:r>
                  <a:rPr lang="he-IL" sz="2800" dirty="0">
                    <a:cs typeface="+mj-cs"/>
                  </a:rPr>
                  <a:t> להגדיר את תתי הבעיות.</a:t>
                </a:r>
              </a:p>
              <a:p>
                <a:pPr algn="just"/>
                <a:r>
                  <a:rPr lang="he-IL" sz="2800" dirty="0">
                    <a:cs typeface="+mj-cs"/>
                  </a:rPr>
                  <a:t>נתבונן בפתרון אופטימלי לבעיית תרמיל הגב עם קיבולת מקסימלית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𝑊</m:t>
                    </m:r>
                  </m:oMath>
                </a14:m>
                <a:r>
                  <a:rPr lang="he-IL" sz="2800" dirty="0">
                    <a:cs typeface="+mj-cs"/>
                  </a:rPr>
                  <a:t> המכיל בתוכו פריט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</m:oMath>
                </a14:m>
                <a:r>
                  <a:rPr lang="he-IL" sz="2800" dirty="0">
                    <a:cs typeface="+mj-cs"/>
                  </a:rPr>
                  <a:t>, אם נוריד ממנו את הפריט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</m:oMath>
                </a14:m>
                <a:r>
                  <a:rPr lang="he-IL" sz="2800" dirty="0">
                    <a:cs typeface="+mj-cs"/>
                  </a:rPr>
                  <a:t>, נקבל פתרון אופטימלי לבעיית תרמיל הגב עם קיבולת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𝑊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−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sz="2800" i="1" baseline="-25000" dirty="0" err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</m:oMath>
                </a14:m>
                <a:r>
                  <a:rPr lang="he-IL" sz="2800" dirty="0">
                    <a:cs typeface="+mj-cs"/>
                  </a:rPr>
                  <a:t>.</a:t>
                </a:r>
              </a:p>
              <a:p>
                <a:pPr algn="just"/>
                <a:r>
                  <a:rPr lang="he-IL" sz="2800" dirty="0">
                    <a:cs typeface="+mj-cs"/>
                  </a:rPr>
                  <a:t>נגדיר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𝑣𝑎𝑙𝑢𝑒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)</m:t>
                    </m:r>
                  </m:oMath>
                </a14:m>
                <a:r>
                  <a:rPr lang="he-IL" sz="2800" dirty="0">
                    <a:cs typeface="+mj-cs"/>
                  </a:rPr>
                  <a:t> - הרווח המקסימלי שניתן לקבל על קיבולת מקסימלית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𝑊</m:t>
                    </m:r>
                  </m:oMath>
                </a14:m>
                <a:r>
                  <a:rPr lang="he-IL" sz="2800" dirty="0">
                    <a:cs typeface="+mj-cs"/>
                  </a:rPr>
                  <a:t>.</a:t>
                </a:r>
              </a:p>
              <a:p>
                <a:pPr algn="just"/>
                <a:r>
                  <a:rPr lang="he-IL" sz="2800" dirty="0">
                    <a:cs typeface="+mj-cs"/>
                  </a:rPr>
                  <a:t>והנוסחה הרקורסיבית:</a:t>
                </a:r>
              </a:p>
              <a:p>
                <a:pPr algn="just"/>
                <a:endParaRPr lang="he-IL" sz="2800" dirty="0">
                  <a:cs typeface="+mj-cs"/>
                </a:endParaRPr>
              </a:p>
            </p:txBody>
          </p:sp>
        </mc:Choice>
        <mc:Fallback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87D0A760-DCD8-A071-AFB4-075DDCF245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1" t="-2727" r="-218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>
            <a:extLst>
              <a:ext uri="{FF2B5EF4-FFF2-40B4-BE49-F238E27FC236}">
                <a16:creationId xmlns:a16="http://schemas.microsoft.com/office/drawing/2014/main" id="{77015F86-0050-2DA2-CB29-98FFA377A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182" y="5061374"/>
            <a:ext cx="5836405" cy="91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00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BB921BE-7BB4-761B-8A44-BD81F9441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הטבלה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714B6100-B496-17EB-A573-D783DB7332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he-IL" sz="2800" dirty="0">
                    <a:cs typeface="+mj-cs"/>
                  </a:rPr>
                  <a:t>הטבלה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𝑣𝑎𝑙𝑢𝑒</m:t>
                    </m:r>
                  </m:oMath>
                </a14:m>
                <a:r>
                  <a:rPr lang="he-IL" sz="2800" dirty="0">
                    <a:cs typeface="+mj-cs"/>
                  </a:rPr>
                  <a:t> הינה חד </a:t>
                </a:r>
                <a:r>
                  <a:rPr lang="he-IL" sz="2800" dirty="0" err="1">
                    <a:cs typeface="+mj-cs"/>
                  </a:rPr>
                  <a:t>מימדית</a:t>
                </a:r>
                <a:r>
                  <a:rPr lang="he-IL" sz="2800" dirty="0">
                    <a:cs typeface="+mj-cs"/>
                  </a:rPr>
                  <a:t> בגודל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𝑊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+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r>
                  <a:rPr lang="he-IL" sz="2800" dirty="0">
                    <a:cs typeface="+mj-cs"/>
                  </a:rPr>
                  <a:t>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he-IL" sz="2800" dirty="0">
                    <a:cs typeface="+mj-cs"/>
                  </a:rPr>
                  <a:t>נתחיל במילוי תא 0: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𝑣𝑎𝑙𝑢𝑒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0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)=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sz="2800" dirty="0">
                    <a:cs typeface="+mj-cs"/>
                  </a:rPr>
                  <a:t>. נמשיך למלא תא אחרי תא על פי נוסחת הרקורסיה. כל תא ימולא על סמך תאים קודמים, המלאים כבר.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he-IL" sz="2800" dirty="0">
                    <a:cs typeface="+mj-cs"/>
                  </a:rPr>
                  <a:t>הפתרון ימצא בתא האחרון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𝑣𝑎𝑙𝑢𝑒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+mj-cs"/>
                      </a:rPr>
                      <m:t>)</m:t>
                    </m:r>
                  </m:oMath>
                </a14:m>
                <a:r>
                  <a:rPr lang="he-IL" sz="2800" dirty="0">
                    <a:cs typeface="+mj-cs"/>
                  </a:rPr>
                  <a:t>.</a:t>
                </a:r>
              </a:p>
            </p:txBody>
          </p:sp>
        </mc:Choice>
        <mc:Fallback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714B6100-B496-17EB-A573-D783DB7332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70" r="-218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386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B9A2961-8D70-05B4-60A5-267E30D7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האלגוריתם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2CDBDE28-8F75-024C-B784-C404C74E2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4489" y="1840131"/>
            <a:ext cx="6403022" cy="4843922"/>
          </a:xfrm>
        </p:spPr>
      </p:pic>
    </p:spTree>
    <p:extLst>
      <p:ext uri="{BB962C8B-B14F-4D97-AF65-F5344CB8AC3E}">
        <p14:creationId xmlns:p14="http://schemas.microsoft.com/office/powerpoint/2010/main" val="3614890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30F238-41B4-0793-EA81-328D59B9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 נראה היום?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CFEA2EA-1886-D54E-1689-BF9D0BF0A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262" y="668068"/>
            <a:ext cx="6492240" cy="660047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לוח המשימות המתוגמלות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תרמיל הגב בשלמים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מוט הברזל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כפל מטריצות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ניתוב משימות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חיתוך הבד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he-IL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333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30F238-41B4-0793-EA81-328D59B9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בעיית מוט הברזל- הגדרה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6662DF0C-75CC-482A-94F7-FA330826F3D2}"/>
              </a:ext>
            </a:extLst>
          </p:cNvPr>
          <p:cNvSpPr/>
          <p:nvPr/>
        </p:nvSpPr>
        <p:spPr>
          <a:xfrm>
            <a:off x="1276847" y="2032356"/>
            <a:ext cx="9941781" cy="1646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על מוט ברזל מסומנים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n+1</a:t>
            </a: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נקודות. הנקודות מחלקות את המוט ל-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קטעים. </a:t>
            </a:r>
            <a:r>
              <a:rPr lang="he-I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ברצונינו</a:t>
            </a: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לחתוך את המוט ב-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הנקודות הנתונות ולפרקו ל-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he-I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חלקים. החיתוך נעשה תוך שימוש במחרטה יקרה המניפה את המוט וחתכת אותו בנקודה אחת בכל הנפה. התשלום שווה לאורך המוט המונף ע"י המחרטה.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E6B4DE7B-8274-9B27-BF98-9515EC03FE8E}"/>
              </a:ext>
            </a:extLst>
          </p:cNvPr>
          <p:cNvSpPr/>
          <p:nvPr/>
        </p:nvSpPr>
        <p:spPr>
          <a:xfrm>
            <a:off x="973372" y="3678769"/>
            <a:ext cx="10298915" cy="2537324"/>
          </a:xfrm>
          <a:prstGeom prst="rect">
            <a:avLst/>
          </a:prstGeom>
          <a:solidFill>
            <a:srgbClr val="E3E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מציין מיקום תוכן 2">
                <a:extLst>
                  <a:ext uri="{FF2B5EF4-FFF2-40B4-BE49-F238E27FC236}">
                    <a16:creationId xmlns:a16="http://schemas.microsoft.com/office/drawing/2014/main" id="{29978B01-5464-52CE-5B05-B8D231EDD3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9367" y="3724489"/>
                <a:ext cx="9799261" cy="2489387"/>
              </a:xfrm>
              <a:prstGeom prst="rect">
                <a:avLst/>
              </a:prstGeom>
              <a:solidFill>
                <a:srgbClr val="E3E9F5"/>
              </a:solidFill>
            </p:spPr>
            <p:txBody>
              <a:bodyPr vert="horz" lIns="0" tIns="45720" rIns="0" bIns="45720" rtlCol="0">
                <a:normAutofit fontScale="25000" lnSpcReduction="20000"/>
              </a:bodyPr>
              <a:lstStyle>
                <a:lvl1pPr marL="91440" indent="-91440" algn="r" defTabSz="914400" rtl="1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he-IL" sz="9600" b="1" dirty="0">
                    <a:solidFill>
                      <a:srgbClr val="44AD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קלט: </a:t>
                </a:r>
              </a:p>
              <a:p>
                <a:pPr marL="292608" lvl="1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9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9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9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he-IL" sz="9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מספרים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9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he-IL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9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9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שהם נקודות על מוט הברזל.</a:t>
                </a:r>
              </a:p>
              <a:p>
                <a:pPr marL="201168" lvl="1" indent="0" algn="just">
                  <a:lnSpc>
                    <a:spcPct val="150000"/>
                  </a:lnSpc>
                  <a:buNone/>
                </a:pPr>
                <a:r>
                  <a:rPr lang="he-IL" sz="9600" b="1" dirty="0">
                    <a:solidFill>
                      <a:srgbClr val="44AD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פלט: </a:t>
                </a:r>
              </a:p>
              <a:p>
                <a:pPr marL="201168" lvl="1" indent="0" algn="just">
                  <a:lnSpc>
                    <a:spcPct val="150000"/>
                  </a:lnSpc>
                  <a:buNone/>
                </a:pPr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סדר החיתוכים הזול ביותר.</a:t>
                </a: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10" name="מציין מיקום תוכן 2">
                <a:extLst>
                  <a:ext uri="{FF2B5EF4-FFF2-40B4-BE49-F238E27FC236}">
                    <a16:creationId xmlns:a16="http://schemas.microsoft.com/office/drawing/2014/main" id="{29978B01-5464-52CE-5B05-B8D231EDD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367" y="3724489"/>
                <a:ext cx="9799261" cy="2489387"/>
              </a:xfrm>
              <a:prstGeom prst="rect">
                <a:avLst/>
              </a:prstGeom>
              <a:blipFill>
                <a:blip r:embed="rId2"/>
                <a:stretch>
                  <a:fillRect r="-186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156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בעיית מוט הברזל- דוגמא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94A62AB-7CEF-11FC-7F97-D182233CD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1452" y="3698854"/>
            <a:ext cx="9894599" cy="1708468"/>
          </a:xfrm>
          <a:ln>
            <a:noFill/>
          </a:ln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he-IL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סדר חיתוכים לדוגמא:</a:t>
            </a:r>
            <a:endParaRPr lang="he-IL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8" name="קבוצה 17">
            <a:extLst>
              <a:ext uri="{FF2B5EF4-FFF2-40B4-BE49-F238E27FC236}">
                <a16:creationId xmlns:a16="http://schemas.microsoft.com/office/drawing/2014/main" id="{07F78E90-6DAF-A0A6-08D3-74449FFB2213}"/>
              </a:ext>
            </a:extLst>
          </p:cNvPr>
          <p:cNvGrpSpPr/>
          <p:nvPr/>
        </p:nvGrpSpPr>
        <p:grpSpPr>
          <a:xfrm>
            <a:off x="2445852" y="2583180"/>
            <a:ext cx="7536344" cy="1095049"/>
            <a:chOff x="2445852" y="2583180"/>
            <a:chExt cx="7536344" cy="1095049"/>
          </a:xfrm>
        </p:grpSpPr>
        <p:cxnSp>
          <p:nvCxnSpPr>
            <p:cNvPr id="5" name="מחבר ישר 4">
              <a:extLst>
                <a:ext uri="{FF2B5EF4-FFF2-40B4-BE49-F238E27FC236}">
                  <a16:creationId xmlns:a16="http://schemas.microsoft.com/office/drawing/2014/main" id="{CC158CFC-1D27-7A31-05AB-D90351589375}"/>
                </a:ext>
              </a:extLst>
            </p:cNvPr>
            <p:cNvCxnSpPr>
              <a:cxnSpLocks/>
            </p:cNvCxnSpPr>
            <p:nvPr/>
          </p:nvCxnSpPr>
          <p:spPr>
            <a:xfrm>
              <a:off x="3040380" y="2865120"/>
              <a:ext cx="6111240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מחבר ישר 6">
              <a:extLst>
                <a:ext uri="{FF2B5EF4-FFF2-40B4-BE49-F238E27FC236}">
                  <a16:creationId xmlns:a16="http://schemas.microsoft.com/office/drawing/2014/main" id="{F4E06B44-C831-4C8E-31DC-7445CB90E079}"/>
                </a:ext>
              </a:extLst>
            </p:cNvPr>
            <p:cNvCxnSpPr>
              <a:cxnSpLocks/>
            </p:cNvCxnSpPr>
            <p:nvPr/>
          </p:nvCxnSpPr>
          <p:spPr>
            <a:xfrm>
              <a:off x="3078480" y="2583180"/>
              <a:ext cx="0" cy="5638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מחבר ישר 7">
              <a:extLst>
                <a:ext uri="{FF2B5EF4-FFF2-40B4-BE49-F238E27FC236}">
                  <a16:creationId xmlns:a16="http://schemas.microsoft.com/office/drawing/2014/main" id="{0661C6ED-9071-0DDC-82AC-77EC1E3B4E9E}"/>
                </a:ext>
              </a:extLst>
            </p:cNvPr>
            <p:cNvCxnSpPr>
              <a:cxnSpLocks/>
            </p:cNvCxnSpPr>
            <p:nvPr/>
          </p:nvCxnSpPr>
          <p:spPr>
            <a:xfrm>
              <a:off x="4236720" y="2583180"/>
              <a:ext cx="0" cy="5638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מחבר ישר 8">
              <a:extLst>
                <a:ext uri="{FF2B5EF4-FFF2-40B4-BE49-F238E27FC236}">
                  <a16:creationId xmlns:a16="http://schemas.microsoft.com/office/drawing/2014/main" id="{49B7D7E4-296A-7F84-8699-4C3435513C66}"/>
                </a:ext>
              </a:extLst>
            </p:cNvPr>
            <p:cNvCxnSpPr>
              <a:cxnSpLocks/>
            </p:cNvCxnSpPr>
            <p:nvPr/>
          </p:nvCxnSpPr>
          <p:spPr>
            <a:xfrm>
              <a:off x="5379720" y="2583180"/>
              <a:ext cx="0" cy="5638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מחבר ישר 10">
              <a:extLst>
                <a:ext uri="{FF2B5EF4-FFF2-40B4-BE49-F238E27FC236}">
                  <a16:creationId xmlns:a16="http://schemas.microsoft.com/office/drawing/2014/main" id="{B20AD44C-6471-13D1-AB11-973348484964}"/>
                </a:ext>
              </a:extLst>
            </p:cNvPr>
            <p:cNvCxnSpPr>
              <a:cxnSpLocks/>
            </p:cNvCxnSpPr>
            <p:nvPr/>
          </p:nvCxnSpPr>
          <p:spPr>
            <a:xfrm>
              <a:off x="7193280" y="2583180"/>
              <a:ext cx="0" cy="5638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מחבר ישר 11">
              <a:extLst>
                <a:ext uri="{FF2B5EF4-FFF2-40B4-BE49-F238E27FC236}">
                  <a16:creationId xmlns:a16="http://schemas.microsoft.com/office/drawing/2014/main" id="{0B3C60E9-8C9B-87CA-73F6-BCFAB51C9CB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620" y="2583180"/>
              <a:ext cx="0" cy="5638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תיבת טקסט 12">
                  <a:extLst>
                    <a:ext uri="{FF2B5EF4-FFF2-40B4-BE49-F238E27FC236}">
                      <a16:creationId xmlns:a16="http://schemas.microsoft.com/office/drawing/2014/main" id="{87524395-4F18-395C-CA23-9132BB608F12}"/>
                    </a:ext>
                  </a:extLst>
                </p:cNvPr>
                <p:cNvSpPr txBox="1"/>
                <p:nvPr/>
              </p:nvSpPr>
              <p:spPr>
                <a:xfrm>
                  <a:off x="2445852" y="3192124"/>
                  <a:ext cx="1189056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13" name="תיבת טקסט 12">
                  <a:extLst>
                    <a:ext uri="{FF2B5EF4-FFF2-40B4-BE49-F238E27FC236}">
                      <a16:creationId xmlns:a16="http://schemas.microsoft.com/office/drawing/2014/main" id="{87524395-4F18-395C-CA23-9132BB608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5852" y="3192124"/>
                  <a:ext cx="1189056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תיבת טקסט 13">
                  <a:extLst>
                    <a:ext uri="{FF2B5EF4-FFF2-40B4-BE49-F238E27FC236}">
                      <a16:creationId xmlns:a16="http://schemas.microsoft.com/office/drawing/2014/main" id="{DF9E96F8-EE2C-582A-85F3-CF1DF3321891}"/>
                    </a:ext>
                  </a:extLst>
                </p:cNvPr>
                <p:cNvSpPr txBox="1"/>
                <p:nvPr/>
              </p:nvSpPr>
              <p:spPr>
                <a:xfrm>
                  <a:off x="3642192" y="3216564"/>
                  <a:ext cx="1189056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14" name="תיבת טקסט 13">
                  <a:extLst>
                    <a:ext uri="{FF2B5EF4-FFF2-40B4-BE49-F238E27FC236}">
                      <a16:creationId xmlns:a16="http://schemas.microsoft.com/office/drawing/2014/main" id="{DF9E96F8-EE2C-582A-85F3-CF1DF3321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2192" y="3216564"/>
                  <a:ext cx="1189056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תיבת טקסט 14">
                  <a:extLst>
                    <a:ext uri="{FF2B5EF4-FFF2-40B4-BE49-F238E27FC236}">
                      <a16:creationId xmlns:a16="http://schemas.microsoft.com/office/drawing/2014/main" id="{B818CA63-3717-2BEE-A6C9-BCD7A5277866}"/>
                    </a:ext>
                  </a:extLst>
                </p:cNvPr>
                <p:cNvSpPr txBox="1"/>
                <p:nvPr/>
              </p:nvSpPr>
              <p:spPr>
                <a:xfrm>
                  <a:off x="4785192" y="3208944"/>
                  <a:ext cx="1189056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15" name="תיבת טקסט 14">
                  <a:extLst>
                    <a:ext uri="{FF2B5EF4-FFF2-40B4-BE49-F238E27FC236}">
                      <a16:creationId xmlns:a16="http://schemas.microsoft.com/office/drawing/2014/main" id="{B818CA63-3717-2BEE-A6C9-BCD7A52778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5192" y="3208944"/>
                  <a:ext cx="1189056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תיבת טקסט 15">
                  <a:extLst>
                    <a:ext uri="{FF2B5EF4-FFF2-40B4-BE49-F238E27FC236}">
                      <a16:creationId xmlns:a16="http://schemas.microsoft.com/office/drawing/2014/main" id="{5A3F13AD-3F36-4F71-816E-2D5027EC9131}"/>
                    </a:ext>
                  </a:extLst>
                </p:cNvPr>
                <p:cNvSpPr txBox="1"/>
                <p:nvPr/>
              </p:nvSpPr>
              <p:spPr>
                <a:xfrm>
                  <a:off x="6598752" y="3167686"/>
                  <a:ext cx="1189056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16" name="תיבת טקסט 15">
                  <a:extLst>
                    <a:ext uri="{FF2B5EF4-FFF2-40B4-BE49-F238E27FC236}">
                      <a16:creationId xmlns:a16="http://schemas.microsoft.com/office/drawing/2014/main" id="{5A3F13AD-3F36-4F71-816E-2D5027EC91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8752" y="3167686"/>
                  <a:ext cx="1189056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תיבת טקסט 16">
                  <a:extLst>
                    <a:ext uri="{FF2B5EF4-FFF2-40B4-BE49-F238E27FC236}">
                      <a16:creationId xmlns:a16="http://schemas.microsoft.com/office/drawing/2014/main" id="{1C6BED68-D093-C322-D82A-796A535A4869}"/>
                    </a:ext>
                  </a:extLst>
                </p:cNvPr>
                <p:cNvSpPr txBox="1"/>
                <p:nvPr/>
              </p:nvSpPr>
              <p:spPr>
                <a:xfrm>
                  <a:off x="8557091" y="3192124"/>
                  <a:ext cx="1425105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17" name="תיבת טקסט 16">
                  <a:extLst>
                    <a:ext uri="{FF2B5EF4-FFF2-40B4-BE49-F238E27FC236}">
                      <a16:creationId xmlns:a16="http://schemas.microsoft.com/office/drawing/2014/main" id="{1C6BED68-D093-C322-D82A-796A535A48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7091" y="3192124"/>
                  <a:ext cx="1425105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קבוצה 34">
            <a:extLst>
              <a:ext uri="{FF2B5EF4-FFF2-40B4-BE49-F238E27FC236}">
                <a16:creationId xmlns:a16="http://schemas.microsoft.com/office/drawing/2014/main" id="{FD8AA29E-8DD5-28B6-BA01-815A390E4D57}"/>
              </a:ext>
            </a:extLst>
          </p:cNvPr>
          <p:cNvGrpSpPr/>
          <p:nvPr/>
        </p:nvGrpSpPr>
        <p:grpSpPr>
          <a:xfrm>
            <a:off x="1754141" y="3834555"/>
            <a:ext cx="5530410" cy="684369"/>
            <a:chOff x="1810394" y="3728272"/>
            <a:chExt cx="5530410" cy="684369"/>
          </a:xfrm>
        </p:grpSpPr>
        <p:grpSp>
          <p:nvGrpSpPr>
            <p:cNvPr id="19" name="קבוצה 18">
              <a:extLst>
                <a:ext uri="{FF2B5EF4-FFF2-40B4-BE49-F238E27FC236}">
                  <a16:creationId xmlns:a16="http://schemas.microsoft.com/office/drawing/2014/main" id="{6351CA87-C4CD-1BB8-C22E-A293D58200FD}"/>
                </a:ext>
              </a:extLst>
            </p:cNvPr>
            <p:cNvGrpSpPr/>
            <p:nvPr/>
          </p:nvGrpSpPr>
          <p:grpSpPr>
            <a:xfrm>
              <a:off x="1810394" y="3728272"/>
              <a:ext cx="5530410" cy="684368"/>
              <a:chOff x="3040380" y="2268948"/>
              <a:chExt cx="6111240" cy="878112"/>
            </a:xfrm>
          </p:grpSpPr>
          <p:cxnSp>
            <p:nvCxnSpPr>
              <p:cNvPr id="20" name="מחבר ישר 19">
                <a:extLst>
                  <a:ext uri="{FF2B5EF4-FFF2-40B4-BE49-F238E27FC236}">
                    <a16:creationId xmlns:a16="http://schemas.microsoft.com/office/drawing/2014/main" id="{DE20CDFF-3043-1B26-0DE1-92779687B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0380" y="2865120"/>
                <a:ext cx="4152901" cy="0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מחבר ישר 20">
                <a:extLst>
                  <a:ext uri="{FF2B5EF4-FFF2-40B4-BE49-F238E27FC236}">
                    <a16:creationId xmlns:a16="http://schemas.microsoft.com/office/drawing/2014/main" id="{729D20BA-35ED-F4B8-EBDF-CCBC8F51C8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480" y="2583180"/>
                <a:ext cx="0" cy="56388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מחבר ישר 21">
                <a:extLst>
                  <a:ext uri="{FF2B5EF4-FFF2-40B4-BE49-F238E27FC236}">
                    <a16:creationId xmlns:a16="http://schemas.microsoft.com/office/drawing/2014/main" id="{54EC0762-BF08-E908-962D-7C340E4150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36720" y="2583180"/>
                <a:ext cx="0" cy="56388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מחבר ישר 22">
                <a:extLst>
                  <a:ext uri="{FF2B5EF4-FFF2-40B4-BE49-F238E27FC236}">
                    <a16:creationId xmlns:a16="http://schemas.microsoft.com/office/drawing/2014/main" id="{FBD651F3-5A43-44F9-ABCF-ADB97D3F5E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9720" y="2583180"/>
                <a:ext cx="0" cy="56388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מחבר ישר 23">
                <a:extLst>
                  <a:ext uri="{FF2B5EF4-FFF2-40B4-BE49-F238E27FC236}">
                    <a16:creationId xmlns:a16="http://schemas.microsoft.com/office/drawing/2014/main" id="{BC3395A4-2BE4-99DF-B5DC-BAB180C7D0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3280" y="2583180"/>
                <a:ext cx="0" cy="56388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מחבר ישר 24">
                <a:extLst>
                  <a:ext uri="{FF2B5EF4-FFF2-40B4-BE49-F238E27FC236}">
                    <a16:creationId xmlns:a16="http://schemas.microsoft.com/office/drawing/2014/main" id="{D3FFB619-C5B1-3BBD-3341-2435C380DD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51620" y="2583180"/>
                <a:ext cx="0" cy="56388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תיבת טקסט 28">
                    <a:extLst>
                      <a:ext uri="{FF2B5EF4-FFF2-40B4-BE49-F238E27FC236}">
                        <a16:creationId xmlns:a16="http://schemas.microsoft.com/office/drawing/2014/main" id="{B39EC63F-9376-E6E1-588B-D00AA99E1F02}"/>
                      </a:ext>
                    </a:extLst>
                  </p:cNvPr>
                  <p:cNvSpPr txBox="1"/>
                  <p:nvPr/>
                </p:nvSpPr>
                <p:spPr>
                  <a:xfrm>
                    <a:off x="4383249" y="2268948"/>
                    <a:ext cx="1189056" cy="592361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29" name="תיבת טקסט 28">
                    <a:extLst>
                      <a:ext uri="{FF2B5EF4-FFF2-40B4-BE49-F238E27FC236}">
                        <a16:creationId xmlns:a16="http://schemas.microsoft.com/office/drawing/2014/main" id="{B39EC63F-9376-E6E1-588B-D00AA99E1F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3249" y="2268948"/>
                    <a:ext cx="1189056" cy="59236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תיבת טקסט 29">
                    <a:extLst>
                      <a:ext uri="{FF2B5EF4-FFF2-40B4-BE49-F238E27FC236}">
                        <a16:creationId xmlns:a16="http://schemas.microsoft.com/office/drawing/2014/main" id="{67D041EE-FEF8-07CB-AB3F-70E83CBEFFD8}"/>
                      </a:ext>
                    </a:extLst>
                  </p:cNvPr>
                  <p:cNvSpPr txBox="1"/>
                  <p:nvPr/>
                </p:nvSpPr>
                <p:spPr>
                  <a:xfrm>
                    <a:off x="7646328" y="2344380"/>
                    <a:ext cx="1425105" cy="592362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30" name="תיבת טקסט 29">
                    <a:extLst>
                      <a:ext uri="{FF2B5EF4-FFF2-40B4-BE49-F238E27FC236}">
                        <a16:creationId xmlns:a16="http://schemas.microsoft.com/office/drawing/2014/main" id="{67D041EE-FEF8-07CB-AB3F-70E83CBEFF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46328" y="2344380"/>
                    <a:ext cx="1425105" cy="5923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2" name="מחבר ישר 31">
              <a:extLst>
                <a:ext uri="{FF2B5EF4-FFF2-40B4-BE49-F238E27FC236}">
                  <a16:creationId xmlns:a16="http://schemas.microsoft.com/office/drawing/2014/main" id="{5AC54404-67AE-62B8-7168-7B9B163729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8709" y="4192908"/>
              <a:ext cx="1432095" cy="1908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מחבר ישר 33">
              <a:extLst>
                <a:ext uri="{FF2B5EF4-FFF2-40B4-BE49-F238E27FC236}">
                  <a16:creationId xmlns:a16="http://schemas.microsoft.com/office/drawing/2014/main" id="{82BEA324-AF3D-1827-0200-3AFFDB2C6318}"/>
                </a:ext>
              </a:extLst>
            </p:cNvPr>
            <p:cNvCxnSpPr>
              <a:cxnSpLocks/>
            </p:cNvCxnSpPr>
            <p:nvPr/>
          </p:nvCxnSpPr>
          <p:spPr>
            <a:xfrm>
              <a:off x="5908709" y="3973174"/>
              <a:ext cx="0" cy="439467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קבוצה 51">
            <a:extLst>
              <a:ext uri="{FF2B5EF4-FFF2-40B4-BE49-F238E27FC236}">
                <a16:creationId xmlns:a16="http://schemas.microsoft.com/office/drawing/2014/main" id="{D0EE424B-CE2F-54D3-79F4-7F730B26AE7B}"/>
              </a:ext>
            </a:extLst>
          </p:cNvPr>
          <p:cNvGrpSpPr/>
          <p:nvPr/>
        </p:nvGrpSpPr>
        <p:grpSpPr>
          <a:xfrm>
            <a:off x="1754141" y="4634417"/>
            <a:ext cx="5530410" cy="698491"/>
            <a:chOff x="1754141" y="4634417"/>
            <a:chExt cx="5530410" cy="698491"/>
          </a:xfrm>
        </p:grpSpPr>
        <p:grpSp>
          <p:nvGrpSpPr>
            <p:cNvPr id="36" name="קבוצה 35">
              <a:extLst>
                <a:ext uri="{FF2B5EF4-FFF2-40B4-BE49-F238E27FC236}">
                  <a16:creationId xmlns:a16="http://schemas.microsoft.com/office/drawing/2014/main" id="{082D0C9F-50FC-112C-A44C-74DC6180A58D}"/>
                </a:ext>
              </a:extLst>
            </p:cNvPr>
            <p:cNvGrpSpPr/>
            <p:nvPr/>
          </p:nvGrpSpPr>
          <p:grpSpPr>
            <a:xfrm>
              <a:off x="1754141" y="4634417"/>
              <a:ext cx="5530410" cy="698491"/>
              <a:chOff x="1810394" y="3714150"/>
              <a:chExt cx="5530410" cy="698491"/>
            </a:xfrm>
          </p:grpSpPr>
          <p:grpSp>
            <p:nvGrpSpPr>
              <p:cNvPr id="37" name="קבוצה 36">
                <a:extLst>
                  <a:ext uri="{FF2B5EF4-FFF2-40B4-BE49-F238E27FC236}">
                    <a16:creationId xmlns:a16="http://schemas.microsoft.com/office/drawing/2014/main" id="{9610E7BF-6460-61C2-57B1-9A3B774527D5}"/>
                  </a:ext>
                </a:extLst>
              </p:cNvPr>
              <p:cNvGrpSpPr/>
              <p:nvPr/>
            </p:nvGrpSpPr>
            <p:grpSpPr>
              <a:xfrm>
                <a:off x="1810394" y="3714150"/>
                <a:ext cx="5530410" cy="698490"/>
                <a:chOff x="3040380" y="2250828"/>
                <a:chExt cx="6111240" cy="896232"/>
              </a:xfrm>
            </p:grpSpPr>
            <p:cxnSp>
              <p:nvCxnSpPr>
                <p:cNvPr id="40" name="מחבר ישר 39">
                  <a:extLst>
                    <a:ext uri="{FF2B5EF4-FFF2-40B4-BE49-F238E27FC236}">
                      <a16:creationId xmlns:a16="http://schemas.microsoft.com/office/drawing/2014/main" id="{1DB8DBBD-F5E7-EA45-12A9-D76E4F11FC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40380" y="2861309"/>
                  <a:ext cx="2339340" cy="3811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מחבר ישר 40">
                  <a:extLst>
                    <a:ext uri="{FF2B5EF4-FFF2-40B4-BE49-F238E27FC236}">
                      <a16:creationId xmlns:a16="http://schemas.microsoft.com/office/drawing/2014/main" id="{A2786324-5C97-5A78-399B-DD2E0E1DF4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78480" y="2583180"/>
                  <a:ext cx="0" cy="56388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מחבר ישר 41">
                  <a:extLst>
                    <a:ext uri="{FF2B5EF4-FFF2-40B4-BE49-F238E27FC236}">
                      <a16:creationId xmlns:a16="http://schemas.microsoft.com/office/drawing/2014/main" id="{5610558D-A241-9551-0A92-870310D675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36720" y="2583180"/>
                  <a:ext cx="0" cy="56388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מחבר ישר 42">
                  <a:extLst>
                    <a:ext uri="{FF2B5EF4-FFF2-40B4-BE49-F238E27FC236}">
                      <a16:creationId xmlns:a16="http://schemas.microsoft.com/office/drawing/2014/main" id="{0B73F5B0-BA8B-CCD9-3596-24DF434FBC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9720" y="2583180"/>
                  <a:ext cx="0" cy="56388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מחבר ישר 43">
                  <a:extLst>
                    <a:ext uri="{FF2B5EF4-FFF2-40B4-BE49-F238E27FC236}">
                      <a16:creationId xmlns:a16="http://schemas.microsoft.com/office/drawing/2014/main" id="{D16A5FCF-411A-080C-D17F-2A69453609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93280" y="2583180"/>
                  <a:ext cx="0" cy="56388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מחבר ישר 44">
                  <a:extLst>
                    <a:ext uri="{FF2B5EF4-FFF2-40B4-BE49-F238E27FC236}">
                      <a16:creationId xmlns:a16="http://schemas.microsoft.com/office/drawing/2014/main" id="{FF8B8FFB-38CB-0653-553E-89A64AA773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51620" y="2583180"/>
                  <a:ext cx="0" cy="56388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תיבת טקסט 45">
                      <a:extLst>
                        <a:ext uri="{FF2B5EF4-FFF2-40B4-BE49-F238E27FC236}">
                          <a16:creationId xmlns:a16="http://schemas.microsoft.com/office/drawing/2014/main" id="{EB557E3B-F754-9319-4FF7-4400BD0999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90733" y="2250828"/>
                      <a:ext cx="1189056" cy="5923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1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oMath>
                        </m:oMathPara>
                      </a14:m>
                      <a:endParaRPr lang="he-IL" sz="2400" dirty="0"/>
                    </a:p>
                  </p:txBody>
                </p:sp>
              </mc:Choice>
              <mc:Fallback xmlns="">
                <p:sp>
                  <p:nvSpPr>
                    <p:cNvPr id="46" name="תיבת טקסט 45">
                      <a:extLst>
                        <a:ext uri="{FF2B5EF4-FFF2-40B4-BE49-F238E27FC236}">
                          <a16:creationId xmlns:a16="http://schemas.microsoft.com/office/drawing/2014/main" id="{EB557E3B-F754-9319-4FF7-4400BD09999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90733" y="2250828"/>
                      <a:ext cx="1189056" cy="59236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תיבת טקסט 46">
                      <a:extLst>
                        <a:ext uri="{FF2B5EF4-FFF2-40B4-BE49-F238E27FC236}">
                          <a16:creationId xmlns:a16="http://schemas.microsoft.com/office/drawing/2014/main" id="{E4801B30-0C8C-8DAB-E245-7D18041F9E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46328" y="2344380"/>
                      <a:ext cx="1425105" cy="5923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1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he-IL" sz="2400" dirty="0"/>
                    </a:p>
                  </p:txBody>
                </p:sp>
              </mc:Choice>
              <mc:Fallback xmlns="">
                <p:sp>
                  <p:nvSpPr>
                    <p:cNvPr id="47" name="תיבת טקסט 46">
                      <a:extLst>
                        <a:ext uri="{FF2B5EF4-FFF2-40B4-BE49-F238E27FC236}">
                          <a16:creationId xmlns:a16="http://schemas.microsoft.com/office/drawing/2014/main" id="{E4801B30-0C8C-8DAB-E245-7D18041F9ED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6328" y="2344380"/>
                      <a:ext cx="1425105" cy="59236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8" name="מחבר ישר 37">
                <a:extLst>
                  <a:ext uri="{FF2B5EF4-FFF2-40B4-BE49-F238E27FC236}">
                    <a16:creationId xmlns:a16="http://schemas.microsoft.com/office/drawing/2014/main" id="{579BAFD2-9256-29AC-DF79-FFB670E97C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08709" y="4192908"/>
                <a:ext cx="1432095" cy="1908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מחבר ישר 38">
                <a:extLst>
                  <a:ext uri="{FF2B5EF4-FFF2-40B4-BE49-F238E27FC236}">
                    <a16:creationId xmlns:a16="http://schemas.microsoft.com/office/drawing/2014/main" id="{12F0D48C-B6EB-640F-CB5C-F2987C879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08709" y="3973174"/>
                <a:ext cx="0" cy="43946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מחבר ישר 48">
              <a:extLst>
                <a:ext uri="{FF2B5EF4-FFF2-40B4-BE49-F238E27FC236}">
                  <a16:creationId xmlns:a16="http://schemas.microsoft.com/office/drawing/2014/main" id="{FD290F3F-A599-3896-F68B-A46F64CA55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9144" y="5106646"/>
              <a:ext cx="1432095" cy="1908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מחבר ישר 49">
              <a:extLst>
                <a:ext uri="{FF2B5EF4-FFF2-40B4-BE49-F238E27FC236}">
                  <a16:creationId xmlns:a16="http://schemas.microsoft.com/office/drawing/2014/main" id="{598DB4ED-6FE1-FAED-D9F1-A107D4C46EC2}"/>
                </a:ext>
              </a:extLst>
            </p:cNvPr>
            <p:cNvCxnSpPr>
              <a:cxnSpLocks/>
            </p:cNvCxnSpPr>
            <p:nvPr/>
          </p:nvCxnSpPr>
          <p:spPr>
            <a:xfrm>
              <a:off x="4069144" y="4886912"/>
              <a:ext cx="0" cy="439467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תיבת טקסט 50">
                  <a:extLst>
                    <a:ext uri="{FF2B5EF4-FFF2-40B4-BE49-F238E27FC236}">
                      <a16:creationId xmlns:a16="http://schemas.microsoft.com/office/drawing/2014/main" id="{0433D951-DB7C-225B-4944-32422880C1D4}"/>
                    </a:ext>
                  </a:extLst>
                </p:cNvPr>
                <p:cNvSpPr txBox="1"/>
                <p:nvPr/>
              </p:nvSpPr>
              <p:spPr>
                <a:xfrm>
                  <a:off x="4139014" y="4671258"/>
                  <a:ext cx="1289659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51" name="תיבת טקסט 50">
                  <a:extLst>
                    <a:ext uri="{FF2B5EF4-FFF2-40B4-BE49-F238E27FC236}">
                      <a16:creationId xmlns:a16="http://schemas.microsoft.com/office/drawing/2014/main" id="{0433D951-DB7C-225B-4944-32422880C1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9014" y="4671258"/>
                  <a:ext cx="1289659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קבוצה 52">
            <a:extLst>
              <a:ext uri="{FF2B5EF4-FFF2-40B4-BE49-F238E27FC236}">
                <a16:creationId xmlns:a16="http://schemas.microsoft.com/office/drawing/2014/main" id="{2F2B82D4-043B-9648-B77E-CBB23495CE1C}"/>
              </a:ext>
            </a:extLst>
          </p:cNvPr>
          <p:cNvGrpSpPr/>
          <p:nvPr/>
        </p:nvGrpSpPr>
        <p:grpSpPr>
          <a:xfrm>
            <a:off x="1546902" y="5413080"/>
            <a:ext cx="5716375" cy="713358"/>
            <a:chOff x="1568176" y="4619550"/>
            <a:chExt cx="5716375" cy="713358"/>
          </a:xfrm>
        </p:grpSpPr>
        <p:grpSp>
          <p:nvGrpSpPr>
            <p:cNvPr id="54" name="קבוצה 53">
              <a:extLst>
                <a:ext uri="{FF2B5EF4-FFF2-40B4-BE49-F238E27FC236}">
                  <a16:creationId xmlns:a16="http://schemas.microsoft.com/office/drawing/2014/main" id="{636D44F8-87A8-8714-DDE1-87146DD84A05}"/>
                </a:ext>
              </a:extLst>
            </p:cNvPr>
            <p:cNvGrpSpPr/>
            <p:nvPr/>
          </p:nvGrpSpPr>
          <p:grpSpPr>
            <a:xfrm>
              <a:off x="1568176" y="4619550"/>
              <a:ext cx="5716375" cy="713358"/>
              <a:chOff x="1624429" y="3699283"/>
              <a:chExt cx="5716375" cy="713358"/>
            </a:xfrm>
          </p:grpSpPr>
          <p:grpSp>
            <p:nvGrpSpPr>
              <p:cNvPr id="58" name="קבוצה 57">
                <a:extLst>
                  <a:ext uri="{FF2B5EF4-FFF2-40B4-BE49-F238E27FC236}">
                    <a16:creationId xmlns:a16="http://schemas.microsoft.com/office/drawing/2014/main" id="{1DCD56EB-CDCA-C42E-D732-DA86D6590BF4}"/>
                  </a:ext>
                </a:extLst>
              </p:cNvPr>
              <p:cNvGrpSpPr/>
              <p:nvPr/>
            </p:nvGrpSpPr>
            <p:grpSpPr>
              <a:xfrm>
                <a:off x="1624429" y="3699283"/>
                <a:ext cx="5716363" cy="713356"/>
                <a:chOff x="2834892" y="2231753"/>
                <a:chExt cx="6316728" cy="915307"/>
              </a:xfrm>
            </p:grpSpPr>
            <p:cxnSp>
              <p:nvCxnSpPr>
                <p:cNvPr id="63" name="מחבר ישר 62">
                  <a:extLst>
                    <a:ext uri="{FF2B5EF4-FFF2-40B4-BE49-F238E27FC236}">
                      <a16:creationId xmlns:a16="http://schemas.microsoft.com/office/drawing/2014/main" id="{D3D83524-9585-A9A9-07FA-8CF482B18C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34641" y="2583180"/>
                  <a:ext cx="0" cy="56388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מחבר ישר 64">
                  <a:extLst>
                    <a:ext uri="{FF2B5EF4-FFF2-40B4-BE49-F238E27FC236}">
                      <a16:creationId xmlns:a16="http://schemas.microsoft.com/office/drawing/2014/main" id="{68E7F642-6B2E-2B28-7142-DF0123AB9B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93280" y="2583180"/>
                  <a:ext cx="0" cy="56388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מחבר ישר 65">
                  <a:extLst>
                    <a:ext uri="{FF2B5EF4-FFF2-40B4-BE49-F238E27FC236}">
                      <a16:creationId xmlns:a16="http://schemas.microsoft.com/office/drawing/2014/main" id="{6BBCF571-A2B6-39BA-838A-FB7A8E3D39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51620" y="2583180"/>
                  <a:ext cx="0" cy="56388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תיבת טקסט 66">
                      <a:extLst>
                        <a:ext uri="{FF2B5EF4-FFF2-40B4-BE49-F238E27FC236}">
                          <a16:creationId xmlns:a16="http://schemas.microsoft.com/office/drawing/2014/main" id="{F3B1D177-0DA5-5DFF-D19B-ECDFA81C88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34892" y="2231753"/>
                      <a:ext cx="1189056" cy="5923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1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he-IL" sz="2400" dirty="0"/>
                    </a:p>
                  </p:txBody>
                </p:sp>
              </mc:Choice>
              <mc:Fallback xmlns="">
                <p:sp>
                  <p:nvSpPr>
                    <p:cNvPr id="67" name="תיבת טקסט 66">
                      <a:extLst>
                        <a:ext uri="{FF2B5EF4-FFF2-40B4-BE49-F238E27FC236}">
                          <a16:creationId xmlns:a16="http://schemas.microsoft.com/office/drawing/2014/main" id="{F3B1D177-0DA5-5DFF-D19B-ECDFA81C881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34892" y="2231753"/>
                      <a:ext cx="1189056" cy="592361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תיבת טקסט 67">
                      <a:extLst>
                        <a:ext uri="{FF2B5EF4-FFF2-40B4-BE49-F238E27FC236}">
                          <a16:creationId xmlns:a16="http://schemas.microsoft.com/office/drawing/2014/main" id="{C0E23E17-CF3B-558A-1B4B-0D8EC10AEC0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46328" y="2344380"/>
                      <a:ext cx="1425105" cy="5923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1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he-IL" sz="2400" dirty="0"/>
                    </a:p>
                  </p:txBody>
                </p:sp>
              </mc:Choice>
              <mc:Fallback xmlns="">
                <p:sp>
                  <p:nvSpPr>
                    <p:cNvPr id="68" name="תיבת טקסט 67">
                      <a:extLst>
                        <a:ext uri="{FF2B5EF4-FFF2-40B4-BE49-F238E27FC236}">
                          <a16:creationId xmlns:a16="http://schemas.microsoft.com/office/drawing/2014/main" id="{C0E23E17-CF3B-558A-1B4B-0D8EC10AEC0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6328" y="2344380"/>
                      <a:ext cx="1425105" cy="59236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מחבר ישר 72">
                  <a:extLst>
                    <a:ext uri="{FF2B5EF4-FFF2-40B4-BE49-F238E27FC236}">
                      <a16:creationId xmlns:a16="http://schemas.microsoft.com/office/drawing/2014/main" id="{4165B40D-410A-B7BA-041A-44F2AFFC55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39991" y="2854154"/>
                  <a:ext cx="1219849" cy="10965"/>
                </a:xfrm>
                <a:prstGeom prst="line">
                  <a:avLst/>
                </a:prstGeom>
                <a:ln w="762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מחבר ישר 73">
                  <a:extLst>
                    <a:ext uri="{FF2B5EF4-FFF2-40B4-BE49-F238E27FC236}">
                      <a16:creationId xmlns:a16="http://schemas.microsoft.com/office/drawing/2014/main" id="{E5C3BCC7-B607-F77F-FD31-EE5F5DD22F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78095" y="2583180"/>
                  <a:ext cx="0" cy="563880"/>
                </a:xfrm>
                <a:prstGeom prst="line">
                  <a:avLst/>
                </a:prstGeom>
                <a:ln w="571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9" name="מחבר ישר 58">
                <a:extLst>
                  <a:ext uri="{FF2B5EF4-FFF2-40B4-BE49-F238E27FC236}">
                    <a16:creationId xmlns:a16="http://schemas.microsoft.com/office/drawing/2014/main" id="{09838B88-13A1-52B4-2F84-441C0484F2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08709" y="4192908"/>
                <a:ext cx="1432095" cy="1908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מחבר ישר 59">
                <a:extLst>
                  <a:ext uri="{FF2B5EF4-FFF2-40B4-BE49-F238E27FC236}">
                    <a16:creationId xmlns:a16="http://schemas.microsoft.com/office/drawing/2014/main" id="{4B38F30F-E8FC-5047-3E59-B54265A32F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08709" y="3973174"/>
                <a:ext cx="0" cy="439467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5" name="מחבר ישר 54">
              <a:extLst>
                <a:ext uri="{FF2B5EF4-FFF2-40B4-BE49-F238E27FC236}">
                  <a16:creationId xmlns:a16="http://schemas.microsoft.com/office/drawing/2014/main" id="{4D9E182F-EAF1-9269-CE4F-84B6A44A57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9144" y="5106646"/>
              <a:ext cx="1432095" cy="1908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מחבר ישר 55">
              <a:extLst>
                <a:ext uri="{FF2B5EF4-FFF2-40B4-BE49-F238E27FC236}">
                  <a16:creationId xmlns:a16="http://schemas.microsoft.com/office/drawing/2014/main" id="{F41404C8-3BAB-79CC-009C-93947864737D}"/>
                </a:ext>
              </a:extLst>
            </p:cNvPr>
            <p:cNvCxnSpPr>
              <a:cxnSpLocks/>
            </p:cNvCxnSpPr>
            <p:nvPr/>
          </p:nvCxnSpPr>
          <p:spPr>
            <a:xfrm>
              <a:off x="4069144" y="4886912"/>
              <a:ext cx="0" cy="439467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תיבת טקסט 56">
                  <a:extLst>
                    <a:ext uri="{FF2B5EF4-FFF2-40B4-BE49-F238E27FC236}">
                      <a16:creationId xmlns:a16="http://schemas.microsoft.com/office/drawing/2014/main" id="{40C733E3-205C-99D4-2404-54252A53D128}"/>
                    </a:ext>
                  </a:extLst>
                </p:cNvPr>
                <p:cNvSpPr txBox="1"/>
                <p:nvPr/>
              </p:nvSpPr>
              <p:spPr>
                <a:xfrm>
                  <a:off x="4139014" y="4671258"/>
                  <a:ext cx="1289659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57" name="תיבת טקסט 56">
                  <a:extLst>
                    <a:ext uri="{FF2B5EF4-FFF2-40B4-BE49-F238E27FC236}">
                      <a16:creationId xmlns:a16="http://schemas.microsoft.com/office/drawing/2014/main" id="{40C733E3-205C-99D4-2404-54252A53D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9014" y="4671258"/>
                  <a:ext cx="1289659" cy="46166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קבוצה 77">
            <a:extLst>
              <a:ext uri="{FF2B5EF4-FFF2-40B4-BE49-F238E27FC236}">
                <a16:creationId xmlns:a16="http://schemas.microsoft.com/office/drawing/2014/main" id="{748BB101-C5F9-FFEF-98B1-B87C2C071578}"/>
              </a:ext>
            </a:extLst>
          </p:cNvPr>
          <p:cNvGrpSpPr/>
          <p:nvPr/>
        </p:nvGrpSpPr>
        <p:grpSpPr>
          <a:xfrm>
            <a:off x="2788292" y="5695620"/>
            <a:ext cx="1103910" cy="439467"/>
            <a:chOff x="7684343" y="5333220"/>
            <a:chExt cx="1103910" cy="439467"/>
          </a:xfrm>
        </p:grpSpPr>
        <p:cxnSp>
          <p:nvCxnSpPr>
            <p:cNvPr id="75" name="מחבר ישר 74">
              <a:extLst>
                <a:ext uri="{FF2B5EF4-FFF2-40B4-BE49-F238E27FC236}">
                  <a16:creationId xmlns:a16="http://schemas.microsoft.com/office/drawing/2014/main" id="{7C391ED4-427E-EAB5-E748-DEE0F63C3545}"/>
                </a:ext>
              </a:extLst>
            </p:cNvPr>
            <p:cNvCxnSpPr>
              <a:cxnSpLocks/>
            </p:cNvCxnSpPr>
            <p:nvPr/>
          </p:nvCxnSpPr>
          <p:spPr>
            <a:xfrm>
              <a:off x="8765449" y="5333220"/>
              <a:ext cx="0" cy="439467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מחבר ישר 75">
              <a:extLst>
                <a:ext uri="{FF2B5EF4-FFF2-40B4-BE49-F238E27FC236}">
                  <a16:creationId xmlns:a16="http://schemas.microsoft.com/office/drawing/2014/main" id="{3F8AC12F-61CC-6326-6EE3-23DC1C4FA3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84343" y="5544407"/>
              <a:ext cx="1103910" cy="8546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מחבר ישר 76">
              <a:extLst>
                <a:ext uri="{FF2B5EF4-FFF2-40B4-BE49-F238E27FC236}">
                  <a16:creationId xmlns:a16="http://schemas.microsoft.com/office/drawing/2014/main" id="{CF936B02-0C5E-C70F-4E79-B50621C8DEF1}"/>
                </a:ext>
              </a:extLst>
            </p:cNvPr>
            <p:cNvCxnSpPr>
              <a:cxnSpLocks/>
            </p:cNvCxnSpPr>
            <p:nvPr/>
          </p:nvCxnSpPr>
          <p:spPr>
            <a:xfrm>
              <a:off x="7718825" y="5333220"/>
              <a:ext cx="0" cy="439467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תיבת טקסט 78">
                <a:extLst>
                  <a:ext uri="{FF2B5EF4-FFF2-40B4-BE49-F238E27FC236}">
                    <a16:creationId xmlns:a16="http://schemas.microsoft.com/office/drawing/2014/main" id="{56745256-4076-5F66-793B-69D1C8D58376}"/>
                  </a:ext>
                </a:extLst>
              </p:cNvPr>
              <p:cNvSpPr txBox="1"/>
              <p:nvPr/>
            </p:nvSpPr>
            <p:spPr>
              <a:xfrm>
                <a:off x="2827246" y="5473621"/>
                <a:ext cx="1076044" cy="46166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79" name="תיבת טקסט 78">
                <a:extLst>
                  <a:ext uri="{FF2B5EF4-FFF2-40B4-BE49-F238E27FC236}">
                    <a16:creationId xmlns:a16="http://schemas.microsoft.com/office/drawing/2014/main" id="{56745256-4076-5F66-793B-69D1C8D58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246" y="5473621"/>
                <a:ext cx="1076044" cy="46166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תיבת טקסט 79">
                <a:extLst>
                  <a:ext uri="{FF2B5EF4-FFF2-40B4-BE49-F238E27FC236}">
                    <a16:creationId xmlns:a16="http://schemas.microsoft.com/office/drawing/2014/main" id="{0FE51F03-3A9B-4578-1296-9964C32AE5CB}"/>
                  </a:ext>
                </a:extLst>
              </p:cNvPr>
              <p:cNvSpPr txBox="1"/>
              <p:nvPr/>
            </p:nvSpPr>
            <p:spPr>
              <a:xfrm>
                <a:off x="337961" y="4065386"/>
                <a:ext cx="762288" cy="461665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4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80" name="תיבת טקסט 79">
                <a:extLst>
                  <a:ext uri="{FF2B5EF4-FFF2-40B4-BE49-F238E27FC236}">
                    <a16:creationId xmlns:a16="http://schemas.microsoft.com/office/drawing/2014/main" id="{0FE51F03-3A9B-4578-1296-9964C32AE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61" y="4065386"/>
                <a:ext cx="762288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תיבת טקסט 80">
                <a:extLst>
                  <a:ext uri="{FF2B5EF4-FFF2-40B4-BE49-F238E27FC236}">
                    <a16:creationId xmlns:a16="http://schemas.microsoft.com/office/drawing/2014/main" id="{613E0941-4A5A-1B6A-D099-1602799B935C}"/>
                  </a:ext>
                </a:extLst>
              </p:cNvPr>
              <p:cNvSpPr txBox="1"/>
              <p:nvPr/>
            </p:nvSpPr>
            <p:spPr>
              <a:xfrm>
                <a:off x="337961" y="4820490"/>
                <a:ext cx="762288" cy="461665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4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81" name="תיבת טקסט 80">
                <a:extLst>
                  <a:ext uri="{FF2B5EF4-FFF2-40B4-BE49-F238E27FC236}">
                    <a16:creationId xmlns:a16="http://schemas.microsoft.com/office/drawing/2014/main" id="{613E0941-4A5A-1B6A-D099-1602799B9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61" y="4820490"/>
                <a:ext cx="762288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תיבת טקסט 81">
                <a:extLst>
                  <a:ext uri="{FF2B5EF4-FFF2-40B4-BE49-F238E27FC236}">
                    <a16:creationId xmlns:a16="http://schemas.microsoft.com/office/drawing/2014/main" id="{ABFB082C-6F53-6B23-535C-0F2EC2D2E212}"/>
                  </a:ext>
                </a:extLst>
              </p:cNvPr>
              <p:cNvSpPr txBox="1"/>
              <p:nvPr/>
            </p:nvSpPr>
            <p:spPr>
              <a:xfrm>
                <a:off x="337961" y="5575595"/>
                <a:ext cx="762288" cy="461665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4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82" name="תיבת טקסט 81">
                <a:extLst>
                  <a:ext uri="{FF2B5EF4-FFF2-40B4-BE49-F238E27FC236}">
                    <a16:creationId xmlns:a16="http://schemas.microsoft.com/office/drawing/2014/main" id="{ABFB082C-6F53-6B23-535C-0F2EC2D2E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61" y="5575595"/>
                <a:ext cx="762288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תיבת טקסט 82">
            <a:extLst>
              <a:ext uri="{FF2B5EF4-FFF2-40B4-BE49-F238E27FC236}">
                <a16:creationId xmlns:a16="http://schemas.microsoft.com/office/drawing/2014/main" id="{D86EC6D9-F637-8A86-0464-CEDB7E1ED9A4}"/>
              </a:ext>
            </a:extLst>
          </p:cNvPr>
          <p:cNvSpPr txBox="1"/>
          <p:nvPr/>
        </p:nvSpPr>
        <p:spPr>
          <a:xfrm>
            <a:off x="7915572" y="4597364"/>
            <a:ext cx="2215775" cy="95410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800" dirty="0">
                <a:cs typeface="+mj-cs"/>
              </a:rPr>
              <a:t>סה"כ לתשלום:</a:t>
            </a:r>
          </a:p>
          <a:p>
            <a:pPr algn="ctr"/>
            <a:r>
              <a:rPr lang="he-IL" sz="2800" dirty="0">
                <a:cs typeface="+mj-cs"/>
              </a:rPr>
              <a:t>10+7+4=21</a:t>
            </a:r>
          </a:p>
        </p:txBody>
      </p:sp>
      <p:sp>
        <p:nvSpPr>
          <p:cNvPr id="84" name="תיבת טקסט 83">
            <a:extLst>
              <a:ext uri="{FF2B5EF4-FFF2-40B4-BE49-F238E27FC236}">
                <a16:creationId xmlns:a16="http://schemas.microsoft.com/office/drawing/2014/main" id="{0EDAEFC1-C540-D75B-6601-64663AB06562}"/>
              </a:ext>
            </a:extLst>
          </p:cNvPr>
          <p:cNvSpPr txBox="1"/>
          <p:nvPr/>
        </p:nvSpPr>
        <p:spPr>
          <a:xfrm>
            <a:off x="7452837" y="5703360"/>
            <a:ext cx="4622903" cy="52322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800" dirty="0">
                <a:cs typeface="+mj-cs"/>
              </a:rPr>
              <a:t>האם יש סדר חיתוכים זול יותר?</a:t>
            </a:r>
          </a:p>
        </p:txBody>
      </p:sp>
    </p:spTree>
    <p:extLst>
      <p:ext uri="{BB962C8B-B14F-4D97-AF65-F5344CB8AC3E}">
        <p14:creationId xmlns:p14="http://schemas.microsoft.com/office/powerpoint/2010/main" val="94826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 animBg="1"/>
      <p:bldP spid="81" grpId="0" animBg="1"/>
      <p:bldP spid="82" grpId="0" animBg="1"/>
      <p:bldP spid="83" grpId="0" animBg="1"/>
      <p:bldP spid="8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בעיית מוט הברזל- חשיבה רקורסיבית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0763" y="1846263"/>
                <a:ext cx="9894599" cy="4022725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תובנה: בשלב הראשון אין לנו ברירה אלא לקחת את כל מוט הברזל ולחתוך אותו איפשהו. לאחר שחתכנו נשארנו עם אותן בעיות רק קטנות יותר ונרצה למצוא פתרון אופטימלי עבורן.</a:t>
                </a:r>
              </a:p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נסמן ב-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32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32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את העלות הזולה ביותר לחלוקה של חלק המוט המתחיל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ומסתיים ב-</a:t>
                </a:r>
                <a:r>
                  <a:rPr lang="he-IL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he-IL" sz="18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0763" y="1846263"/>
                <a:ext cx="9894599" cy="4022725"/>
              </a:xfrm>
              <a:blipFill>
                <a:blip r:embed="rId2"/>
                <a:stretch>
                  <a:fillRect l="-3574" r="-2403" b="-12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937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נוסחה רקורסיבית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94A62AB-7CEF-11FC-7F97-D182233CD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081" y="2088991"/>
            <a:ext cx="9894599" cy="988377"/>
          </a:xfrm>
          <a:ln>
            <a:noFill/>
          </a:ln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he-IL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הנוסחה המגדירה את סדר החיתוכים המניב תשלום זול ביותר: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he-IL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1154DF66-F316-EC8A-8A1B-4948A05844D5}"/>
                  </a:ext>
                </a:extLst>
              </p:cNvPr>
              <p:cNvSpPr txBox="1"/>
              <p:nvPr/>
            </p:nvSpPr>
            <p:spPr>
              <a:xfrm>
                <a:off x="1097280" y="3429000"/>
                <a:ext cx="9570720" cy="173400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80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he-IL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800" i="1" smtClean="0">
                              <a:latin typeface="Cambria Math" panose="02040503050406030204" pitchFamily="18" charset="0"/>
                            </a:rPr>
                            <m:t>ⅈ,</m:t>
                          </m:r>
                          <m:r>
                            <a:rPr lang="he-IL" sz="28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he-IL" sz="28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he-IL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he-IL" sz="28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limLow>
                                  <m:limLowPr>
                                    <m:ctrlPr>
                                      <a:rPr lang="he-IL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he-IL" sz="2800" i="1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he-IL" sz="2800" i="1" smtClean="0">
                                        <a:latin typeface="Cambria Math" panose="02040503050406030204" pitchFamily="18" charset="0"/>
                                      </a:rPr>
                                      <m:t>ⅈ&lt;</m:t>
                                    </m:r>
                                    <m:r>
                                      <a:rPr lang="he-IL" sz="280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he-IL" sz="2800" i="1" smtClean="0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lim>
                                </m:limLow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he-IL" sz="280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he-IL" sz="28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he-IL" sz="2800" i="1" smtClean="0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he-IL" sz="280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  <m:sub>
                                            <m:r>
                                              <a:rPr lang="he-IL" sz="280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he-IL" sz="280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he-IL" sz="280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he-IL" sz="280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he-IL" sz="28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he-IL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e-IL" sz="280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he-IL" sz="280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he-IL" sz="28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he-IL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e-IL" sz="280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he-IL" sz="28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he-IL" sz="2800" b="0" i="1" smtClean="0">
                                    <a:latin typeface="Cambria Math" panose="02040503050406030204" pitchFamily="18" charset="0"/>
                                  </a:rPr>
                                  <m:t>        </m:t>
                                </m:r>
                                <m:r>
                                  <a:rPr lang="he-IL" sz="2800" i="1" smtClean="0">
                                    <a:latin typeface="Cambria Math" panose="02040503050406030204" pitchFamily="18" charset="0"/>
                                  </a:rPr>
                                  <m:t>ⅈ&lt;</m:t>
                                </m:r>
                                <m:r>
                                  <a:rPr lang="he-IL" sz="280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he-IL" sz="28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e-IL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he-IL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he-IL" sz="2800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ⅈ=</m:t>
                                </m:r>
                                <m:r>
                                  <a:rPr lang="he-IL" sz="280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he-IL" sz="28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e-IL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    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he-IL" sz="28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he-IL" sz="280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1154DF66-F316-EC8A-8A1B-4948A0584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3429000"/>
                <a:ext cx="9570720" cy="17340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23207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הטבלה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47343" y="2067357"/>
                <a:ext cx="6263166" cy="4022725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נגדיר טבלה בגודל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)×(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סדר מילוי הטבלה: החל מנקודה שמאלית עליונה לנקודה ימנית תחתונה באלכסונים שהולכים וקטנים.</a:t>
                </a:r>
              </a:p>
              <a:p>
                <a:pPr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הפתרון ימצא בתא 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[0,n]</a:t>
                </a: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חילוץ הפתרון: אם אנו מעוניינים בסדר החיתוך למעשה ולא רק בתשלום הסופי נשמור בכל שלב את ה-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שעבורו התקבל המינימום.</a:t>
                </a: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47343" y="2067357"/>
                <a:ext cx="6263166" cy="4022725"/>
              </a:xfrm>
              <a:blipFill>
                <a:blip r:embed="rId2"/>
                <a:stretch>
                  <a:fillRect l="-5063" t="-1667" r="-33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טבלה 6">
            <a:extLst>
              <a:ext uri="{FF2B5EF4-FFF2-40B4-BE49-F238E27FC236}">
                <a16:creationId xmlns:a16="http://schemas.microsoft.com/office/drawing/2014/main" id="{A7C40CEB-BD3F-82FF-D95F-BE37C155A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661073"/>
              </p:ext>
            </p:extLst>
          </p:nvPr>
        </p:nvGraphicFramePr>
        <p:xfrm>
          <a:off x="1036638" y="2500044"/>
          <a:ext cx="3513670" cy="2404535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702734">
                  <a:extLst>
                    <a:ext uri="{9D8B030D-6E8A-4147-A177-3AD203B41FA5}">
                      <a16:colId xmlns:a16="http://schemas.microsoft.com/office/drawing/2014/main" val="2760054794"/>
                    </a:ext>
                  </a:extLst>
                </a:gridCol>
                <a:gridCol w="702734">
                  <a:extLst>
                    <a:ext uri="{9D8B030D-6E8A-4147-A177-3AD203B41FA5}">
                      <a16:colId xmlns:a16="http://schemas.microsoft.com/office/drawing/2014/main" val="3109417163"/>
                    </a:ext>
                  </a:extLst>
                </a:gridCol>
                <a:gridCol w="702734">
                  <a:extLst>
                    <a:ext uri="{9D8B030D-6E8A-4147-A177-3AD203B41FA5}">
                      <a16:colId xmlns:a16="http://schemas.microsoft.com/office/drawing/2014/main" val="1880727885"/>
                    </a:ext>
                  </a:extLst>
                </a:gridCol>
                <a:gridCol w="702734">
                  <a:extLst>
                    <a:ext uri="{9D8B030D-6E8A-4147-A177-3AD203B41FA5}">
                      <a16:colId xmlns:a16="http://schemas.microsoft.com/office/drawing/2014/main" val="1660402459"/>
                    </a:ext>
                  </a:extLst>
                </a:gridCol>
                <a:gridCol w="702734">
                  <a:extLst>
                    <a:ext uri="{9D8B030D-6E8A-4147-A177-3AD203B41FA5}">
                      <a16:colId xmlns:a16="http://schemas.microsoft.com/office/drawing/2014/main" val="1610062709"/>
                    </a:ext>
                  </a:extLst>
                </a:gridCol>
              </a:tblGrid>
              <a:tr h="480907"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[0,n]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he-IL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3446505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ctr" rtl="1"/>
                      <a:endParaRPr lang="he-IL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9342517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ctr" rtl="1"/>
                      <a:endParaRPr lang="he-IL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929365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5483241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19254"/>
                  </a:ext>
                </a:extLst>
              </a:tr>
            </a:tbl>
          </a:graphicData>
        </a:graphic>
      </p:graphicFrame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35111FDB-FFBE-626D-EED2-8E6D07621995}"/>
              </a:ext>
            </a:extLst>
          </p:cNvPr>
          <p:cNvCxnSpPr/>
          <p:nvPr/>
        </p:nvCxnSpPr>
        <p:spPr>
          <a:xfrm flipH="1" flipV="1">
            <a:off x="762000" y="2179320"/>
            <a:ext cx="274638" cy="3200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8586E5EC-E722-4D44-FC16-31F4D60F72DA}"/>
                  </a:ext>
                </a:extLst>
              </p:cNvPr>
              <p:cNvSpPr txBox="1"/>
              <p:nvPr/>
            </p:nvSpPr>
            <p:spPr>
              <a:xfrm>
                <a:off x="224443" y="2243347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8586E5EC-E722-4D44-FC16-31F4D60F7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43" y="2243347"/>
                <a:ext cx="103632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C8CD6E12-09EA-7C85-D795-AB1D3975F7C6}"/>
                  </a:ext>
                </a:extLst>
              </p:cNvPr>
              <p:cNvSpPr txBox="1"/>
              <p:nvPr/>
            </p:nvSpPr>
            <p:spPr>
              <a:xfrm>
                <a:off x="474891" y="1951977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C8CD6E12-09EA-7C85-D795-AB1D3975F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91" y="1951977"/>
                <a:ext cx="1036320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A941F689-9ECD-00AD-8BBE-069D938195B5}"/>
                  </a:ext>
                </a:extLst>
              </p:cNvPr>
              <p:cNvSpPr txBox="1"/>
              <p:nvPr/>
            </p:nvSpPr>
            <p:spPr>
              <a:xfrm>
                <a:off x="1602651" y="2108507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A941F689-9ECD-00AD-8BBE-069D93819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51" y="2108507"/>
                <a:ext cx="103632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תיבת טקסט 11">
                <a:extLst>
                  <a:ext uri="{FF2B5EF4-FFF2-40B4-BE49-F238E27FC236}">
                    <a16:creationId xmlns:a16="http://schemas.microsoft.com/office/drawing/2014/main" id="{D373762C-3AD2-EEC5-147C-5406BB78F52B}"/>
                  </a:ext>
                </a:extLst>
              </p:cNvPr>
              <p:cNvSpPr txBox="1"/>
              <p:nvPr/>
            </p:nvSpPr>
            <p:spPr>
              <a:xfrm>
                <a:off x="913547" y="2096334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12" name="תיבת טקסט 11">
                <a:extLst>
                  <a:ext uri="{FF2B5EF4-FFF2-40B4-BE49-F238E27FC236}">
                    <a16:creationId xmlns:a16="http://schemas.microsoft.com/office/drawing/2014/main" id="{D373762C-3AD2-EEC5-147C-5406BB78F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47" y="2096334"/>
                <a:ext cx="103632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תיבת טקסט 12">
                <a:extLst>
                  <a:ext uri="{FF2B5EF4-FFF2-40B4-BE49-F238E27FC236}">
                    <a16:creationId xmlns:a16="http://schemas.microsoft.com/office/drawing/2014/main" id="{8836A8AE-64FA-5A85-A8B2-A9672F02481B}"/>
                  </a:ext>
                </a:extLst>
              </p:cNvPr>
              <p:cNvSpPr txBox="1"/>
              <p:nvPr/>
            </p:nvSpPr>
            <p:spPr>
              <a:xfrm>
                <a:off x="339603" y="4418986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13" name="תיבת טקסט 12">
                <a:extLst>
                  <a:ext uri="{FF2B5EF4-FFF2-40B4-BE49-F238E27FC236}">
                    <a16:creationId xmlns:a16="http://schemas.microsoft.com/office/drawing/2014/main" id="{8836A8AE-64FA-5A85-A8B2-A9672F024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03" y="4418986"/>
                <a:ext cx="103632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תיבת טקסט 13">
                <a:extLst>
                  <a:ext uri="{FF2B5EF4-FFF2-40B4-BE49-F238E27FC236}">
                    <a16:creationId xmlns:a16="http://schemas.microsoft.com/office/drawing/2014/main" id="{BB90F20F-2EA1-2C6B-88D0-D99BE150FF0B}"/>
                  </a:ext>
                </a:extLst>
              </p:cNvPr>
              <p:cNvSpPr txBox="1"/>
              <p:nvPr/>
            </p:nvSpPr>
            <p:spPr>
              <a:xfrm rot="16200000">
                <a:off x="205851" y="3806819"/>
                <a:ext cx="1036320" cy="58477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14" name="תיבת טקסט 13">
                <a:extLst>
                  <a:ext uri="{FF2B5EF4-FFF2-40B4-BE49-F238E27FC236}">
                    <a16:creationId xmlns:a16="http://schemas.microsoft.com/office/drawing/2014/main" id="{BB90F20F-2EA1-2C6B-88D0-D99BE150F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05851" y="3806819"/>
                <a:ext cx="103632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תיבת טקסט 14">
                <a:extLst>
                  <a:ext uri="{FF2B5EF4-FFF2-40B4-BE49-F238E27FC236}">
                    <a16:creationId xmlns:a16="http://schemas.microsoft.com/office/drawing/2014/main" id="{B8E5B53B-DFD9-FEBF-267F-A97F0BED197F}"/>
                  </a:ext>
                </a:extLst>
              </p:cNvPr>
              <p:cNvSpPr txBox="1"/>
              <p:nvPr/>
            </p:nvSpPr>
            <p:spPr>
              <a:xfrm>
                <a:off x="2623181" y="1909182"/>
                <a:ext cx="1036320" cy="58477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15" name="תיבת טקסט 14">
                <a:extLst>
                  <a:ext uri="{FF2B5EF4-FFF2-40B4-BE49-F238E27FC236}">
                    <a16:creationId xmlns:a16="http://schemas.microsoft.com/office/drawing/2014/main" id="{B8E5B53B-DFD9-FEBF-267F-A97F0BED1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181" y="1909182"/>
                <a:ext cx="1036320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75D377E7-B92D-F1AC-032A-DAB330BD1E54}"/>
                  </a:ext>
                </a:extLst>
              </p:cNvPr>
              <p:cNvSpPr txBox="1"/>
              <p:nvPr/>
            </p:nvSpPr>
            <p:spPr>
              <a:xfrm>
                <a:off x="374819" y="2554242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75D377E7-B92D-F1AC-032A-DAB330BD1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19" y="2554242"/>
                <a:ext cx="103632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D2425112-6F89-5A4A-AAAB-0278D77D1E75}"/>
                  </a:ext>
                </a:extLst>
              </p:cNvPr>
              <p:cNvSpPr txBox="1"/>
              <p:nvPr/>
            </p:nvSpPr>
            <p:spPr>
              <a:xfrm>
                <a:off x="374819" y="3065432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D2425112-6F89-5A4A-AAAB-0278D77D1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19" y="3065432"/>
                <a:ext cx="103632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2730B9FA-74D6-254B-B2A3-30AC362D6FCF}"/>
                  </a:ext>
                </a:extLst>
              </p:cNvPr>
              <p:cNvSpPr txBox="1"/>
              <p:nvPr/>
            </p:nvSpPr>
            <p:spPr>
              <a:xfrm>
                <a:off x="3696461" y="2067357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he-IL" sz="2000" dirty="0"/>
              </a:p>
            </p:txBody>
          </p:sp>
        </mc:Choice>
        <mc:Fallback xmlns="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2730B9FA-74D6-254B-B2A3-30AC362D6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461" y="2067357"/>
                <a:ext cx="1036320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169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ניתוח זמן ריצה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0763" y="1846263"/>
                <a:ext cx="9894599" cy="4022725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הטבלה בגודל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he-IL" sz="18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זמן מילוי כל תא: 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he-IL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סה"כ זמן ריצה: 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he-IL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0763" y="1846263"/>
                <a:ext cx="9894599" cy="4022725"/>
              </a:xfrm>
              <a:blipFill>
                <a:blip r:embed="rId2"/>
                <a:stretch>
                  <a:fillRect r="-24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79013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בעיית מוט הברזל- דוגמא</a:t>
            </a:r>
          </a:p>
        </p:txBody>
      </p:sp>
      <p:grpSp>
        <p:nvGrpSpPr>
          <p:cNvPr id="8" name="קבוצה 7">
            <a:extLst>
              <a:ext uri="{FF2B5EF4-FFF2-40B4-BE49-F238E27FC236}">
                <a16:creationId xmlns:a16="http://schemas.microsoft.com/office/drawing/2014/main" id="{2061959B-1548-F4D7-F752-979B56F259EA}"/>
              </a:ext>
            </a:extLst>
          </p:cNvPr>
          <p:cNvGrpSpPr/>
          <p:nvPr/>
        </p:nvGrpSpPr>
        <p:grpSpPr>
          <a:xfrm>
            <a:off x="2358308" y="2110740"/>
            <a:ext cx="7536344" cy="1095049"/>
            <a:chOff x="2445852" y="2583180"/>
            <a:chExt cx="7536344" cy="1095049"/>
          </a:xfrm>
        </p:grpSpPr>
        <p:cxnSp>
          <p:nvCxnSpPr>
            <p:cNvPr id="9" name="מחבר ישר 8">
              <a:extLst>
                <a:ext uri="{FF2B5EF4-FFF2-40B4-BE49-F238E27FC236}">
                  <a16:creationId xmlns:a16="http://schemas.microsoft.com/office/drawing/2014/main" id="{F2794A8F-182F-2707-A949-1BA25848E4FC}"/>
                </a:ext>
              </a:extLst>
            </p:cNvPr>
            <p:cNvCxnSpPr>
              <a:cxnSpLocks/>
            </p:cNvCxnSpPr>
            <p:nvPr/>
          </p:nvCxnSpPr>
          <p:spPr>
            <a:xfrm>
              <a:off x="3040380" y="2865120"/>
              <a:ext cx="6111240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מחבר ישר 9">
              <a:extLst>
                <a:ext uri="{FF2B5EF4-FFF2-40B4-BE49-F238E27FC236}">
                  <a16:creationId xmlns:a16="http://schemas.microsoft.com/office/drawing/2014/main" id="{1B9B8756-4781-222F-FC97-11431F70B745}"/>
                </a:ext>
              </a:extLst>
            </p:cNvPr>
            <p:cNvCxnSpPr>
              <a:cxnSpLocks/>
            </p:cNvCxnSpPr>
            <p:nvPr/>
          </p:nvCxnSpPr>
          <p:spPr>
            <a:xfrm>
              <a:off x="3078480" y="2583180"/>
              <a:ext cx="0" cy="5638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מחבר ישר 10">
              <a:extLst>
                <a:ext uri="{FF2B5EF4-FFF2-40B4-BE49-F238E27FC236}">
                  <a16:creationId xmlns:a16="http://schemas.microsoft.com/office/drawing/2014/main" id="{F3C52E8A-C66D-024D-0AA3-0B8F1B047C47}"/>
                </a:ext>
              </a:extLst>
            </p:cNvPr>
            <p:cNvCxnSpPr>
              <a:cxnSpLocks/>
            </p:cNvCxnSpPr>
            <p:nvPr/>
          </p:nvCxnSpPr>
          <p:spPr>
            <a:xfrm>
              <a:off x="4236720" y="2583180"/>
              <a:ext cx="0" cy="5638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מחבר ישר 11">
              <a:extLst>
                <a:ext uri="{FF2B5EF4-FFF2-40B4-BE49-F238E27FC236}">
                  <a16:creationId xmlns:a16="http://schemas.microsoft.com/office/drawing/2014/main" id="{2B4EA394-122F-4F1A-8664-348310DF1A0F}"/>
                </a:ext>
              </a:extLst>
            </p:cNvPr>
            <p:cNvCxnSpPr>
              <a:cxnSpLocks/>
            </p:cNvCxnSpPr>
            <p:nvPr/>
          </p:nvCxnSpPr>
          <p:spPr>
            <a:xfrm>
              <a:off x="5379720" y="2583180"/>
              <a:ext cx="0" cy="5638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מחבר ישר 12">
              <a:extLst>
                <a:ext uri="{FF2B5EF4-FFF2-40B4-BE49-F238E27FC236}">
                  <a16:creationId xmlns:a16="http://schemas.microsoft.com/office/drawing/2014/main" id="{0491A170-BFB1-6EA8-9CF2-54E610CBE1FE}"/>
                </a:ext>
              </a:extLst>
            </p:cNvPr>
            <p:cNvCxnSpPr>
              <a:cxnSpLocks/>
            </p:cNvCxnSpPr>
            <p:nvPr/>
          </p:nvCxnSpPr>
          <p:spPr>
            <a:xfrm>
              <a:off x="7193280" y="2583180"/>
              <a:ext cx="0" cy="5638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מחבר ישר 13">
              <a:extLst>
                <a:ext uri="{FF2B5EF4-FFF2-40B4-BE49-F238E27FC236}">
                  <a16:creationId xmlns:a16="http://schemas.microsoft.com/office/drawing/2014/main" id="{297A22CE-F395-080E-5EAE-0677FF504AE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620" y="2583180"/>
              <a:ext cx="0" cy="5638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תיבת טקסט 14">
                  <a:extLst>
                    <a:ext uri="{FF2B5EF4-FFF2-40B4-BE49-F238E27FC236}">
                      <a16:creationId xmlns:a16="http://schemas.microsoft.com/office/drawing/2014/main" id="{482E88BA-7328-7F0A-7980-F6C3DFC92319}"/>
                    </a:ext>
                  </a:extLst>
                </p:cNvPr>
                <p:cNvSpPr txBox="1"/>
                <p:nvPr/>
              </p:nvSpPr>
              <p:spPr>
                <a:xfrm>
                  <a:off x="2445852" y="3192124"/>
                  <a:ext cx="1189056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15" name="תיבת טקסט 14">
                  <a:extLst>
                    <a:ext uri="{FF2B5EF4-FFF2-40B4-BE49-F238E27FC236}">
                      <a16:creationId xmlns:a16="http://schemas.microsoft.com/office/drawing/2014/main" id="{482E88BA-7328-7F0A-7980-F6C3DFC923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5852" y="3192124"/>
                  <a:ext cx="1189056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תיבת טקסט 15">
                  <a:extLst>
                    <a:ext uri="{FF2B5EF4-FFF2-40B4-BE49-F238E27FC236}">
                      <a16:creationId xmlns:a16="http://schemas.microsoft.com/office/drawing/2014/main" id="{9917F9F2-D07A-1B67-C115-407F118E3EB7}"/>
                    </a:ext>
                  </a:extLst>
                </p:cNvPr>
                <p:cNvSpPr txBox="1"/>
                <p:nvPr/>
              </p:nvSpPr>
              <p:spPr>
                <a:xfrm>
                  <a:off x="3642192" y="3216564"/>
                  <a:ext cx="1189056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16" name="תיבת טקסט 15">
                  <a:extLst>
                    <a:ext uri="{FF2B5EF4-FFF2-40B4-BE49-F238E27FC236}">
                      <a16:creationId xmlns:a16="http://schemas.microsoft.com/office/drawing/2014/main" id="{9917F9F2-D07A-1B67-C115-407F118E3E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2192" y="3216564"/>
                  <a:ext cx="1189056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תיבת טקסט 16">
                  <a:extLst>
                    <a:ext uri="{FF2B5EF4-FFF2-40B4-BE49-F238E27FC236}">
                      <a16:creationId xmlns:a16="http://schemas.microsoft.com/office/drawing/2014/main" id="{6E0A9027-6C56-4E3E-A9DB-217EDD0883F7}"/>
                    </a:ext>
                  </a:extLst>
                </p:cNvPr>
                <p:cNvSpPr txBox="1"/>
                <p:nvPr/>
              </p:nvSpPr>
              <p:spPr>
                <a:xfrm>
                  <a:off x="4785192" y="3208944"/>
                  <a:ext cx="1189056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17" name="תיבת טקסט 16">
                  <a:extLst>
                    <a:ext uri="{FF2B5EF4-FFF2-40B4-BE49-F238E27FC236}">
                      <a16:creationId xmlns:a16="http://schemas.microsoft.com/office/drawing/2014/main" id="{6E0A9027-6C56-4E3E-A9DB-217EDD0883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5192" y="3208944"/>
                  <a:ext cx="1189056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תיבת טקסט 17">
                  <a:extLst>
                    <a:ext uri="{FF2B5EF4-FFF2-40B4-BE49-F238E27FC236}">
                      <a16:creationId xmlns:a16="http://schemas.microsoft.com/office/drawing/2014/main" id="{7D1C5BCA-8021-104D-A406-AC747A2FF38B}"/>
                    </a:ext>
                  </a:extLst>
                </p:cNvPr>
                <p:cNvSpPr txBox="1"/>
                <p:nvPr/>
              </p:nvSpPr>
              <p:spPr>
                <a:xfrm>
                  <a:off x="6598752" y="3167686"/>
                  <a:ext cx="1189056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18" name="תיבת טקסט 17">
                  <a:extLst>
                    <a:ext uri="{FF2B5EF4-FFF2-40B4-BE49-F238E27FC236}">
                      <a16:creationId xmlns:a16="http://schemas.microsoft.com/office/drawing/2014/main" id="{7D1C5BCA-8021-104D-A406-AC747A2FF3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8752" y="3167686"/>
                  <a:ext cx="1189056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תיבת טקסט 18">
                  <a:extLst>
                    <a:ext uri="{FF2B5EF4-FFF2-40B4-BE49-F238E27FC236}">
                      <a16:creationId xmlns:a16="http://schemas.microsoft.com/office/drawing/2014/main" id="{18E443A4-C9D0-565F-8341-603953F3FA0C}"/>
                    </a:ext>
                  </a:extLst>
                </p:cNvPr>
                <p:cNvSpPr txBox="1"/>
                <p:nvPr/>
              </p:nvSpPr>
              <p:spPr>
                <a:xfrm>
                  <a:off x="8557091" y="3192124"/>
                  <a:ext cx="1425105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19" name="תיבת טקסט 18">
                  <a:extLst>
                    <a:ext uri="{FF2B5EF4-FFF2-40B4-BE49-F238E27FC236}">
                      <a16:creationId xmlns:a16="http://schemas.microsoft.com/office/drawing/2014/main" id="{18E443A4-C9D0-565F-8341-603953F3FA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7091" y="3192124"/>
                  <a:ext cx="1425105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20" name="טבלה 6">
            <a:extLst>
              <a:ext uri="{FF2B5EF4-FFF2-40B4-BE49-F238E27FC236}">
                <a16:creationId xmlns:a16="http://schemas.microsoft.com/office/drawing/2014/main" id="{7AE082DF-A0CB-C0C9-DBAF-27EF374FB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00315"/>
              </p:ext>
            </p:extLst>
          </p:nvPr>
        </p:nvGraphicFramePr>
        <p:xfrm>
          <a:off x="6004025" y="3729710"/>
          <a:ext cx="3513670" cy="2404535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702734">
                  <a:extLst>
                    <a:ext uri="{9D8B030D-6E8A-4147-A177-3AD203B41FA5}">
                      <a16:colId xmlns:a16="http://schemas.microsoft.com/office/drawing/2014/main" val="2760054794"/>
                    </a:ext>
                  </a:extLst>
                </a:gridCol>
                <a:gridCol w="702734">
                  <a:extLst>
                    <a:ext uri="{9D8B030D-6E8A-4147-A177-3AD203B41FA5}">
                      <a16:colId xmlns:a16="http://schemas.microsoft.com/office/drawing/2014/main" val="3109417163"/>
                    </a:ext>
                  </a:extLst>
                </a:gridCol>
                <a:gridCol w="702734">
                  <a:extLst>
                    <a:ext uri="{9D8B030D-6E8A-4147-A177-3AD203B41FA5}">
                      <a16:colId xmlns:a16="http://schemas.microsoft.com/office/drawing/2014/main" val="1880727885"/>
                    </a:ext>
                  </a:extLst>
                </a:gridCol>
                <a:gridCol w="702734">
                  <a:extLst>
                    <a:ext uri="{9D8B030D-6E8A-4147-A177-3AD203B41FA5}">
                      <a16:colId xmlns:a16="http://schemas.microsoft.com/office/drawing/2014/main" val="1660402459"/>
                    </a:ext>
                  </a:extLst>
                </a:gridCol>
                <a:gridCol w="702734">
                  <a:extLst>
                    <a:ext uri="{9D8B030D-6E8A-4147-A177-3AD203B41FA5}">
                      <a16:colId xmlns:a16="http://schemas.microsoft.com/office/drawing/2014/main" val="1610062709"/>
                    </a:ext>
                  </a:extLst>
                </a:gridCol>
              </a:tblGrid>
              <a:tr h="480907">
                <a:tc>
                  <a:txBody>
                    <a:bodyPr/>
                    <a:lstStyle/>
                    <a:p>
                      <a:pPr algn="ctr" rtl="1"/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he-IL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3446505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ctr" rtl="1"/>
                      <a:endParaRPr lang="he-IL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9342517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ctr" rtl="1"/>
                      <a:endParaRPr lang="he-IL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929365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5483241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0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000" dirty="0"/>
                        <a:t>/</a:t>
                      </a:r>
                      <a:endParaRPr lang="he-IL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19254"/>
                  </a:ext>
                </a:extLst>
              </a:tr>
            </a:tbl>
          </a:graphicData>
        </a:graphic>
      </p:graphicFrame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4EF24BA4-6032-953D-5A86-69CF8A69FBB9}"/>
              </a:ext>
            </a:extLst>
          </p:cNvPr>
          <p:cNvCxnSpPr>
            <a:cxnSpLocks/>
          </p:cNvCxnSpPr>
          <p:nvPr/>
        </p:nvCxnSpPr>
        <p:spPr>
          <a:xfrm flipH="1" flipV="1">
            <a:off x="5729387" y="3408986"/>
            <a:ext cx="274638" cy="3200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תיבת טקסט 21">
                <a:extLst>
                  <a:ext uri="{FF2B5EF4-FFF2-40B4-BE49-F238E27FC236}">
                    <a16:creationId xmlns:a16="http://schemas.microsoft.com/office/drawing/2014/main" id="{65D621F7-42E2-3DFC-1972-A70151F6902C}"/>
                  </a:ext>
                </a:extLst>
              </p:cNvPr>
              <p:cNvSpPr txBox="1"/>
              <p:nvPr/>
            </p:nvSpPr>
            <p:spPr>
              <a:xfrm>
                <a:off x="5191830" y="3473013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22" name="תיבת טקסט 21">
                <a:extLst>
                  <a:ext uri="{FF2B5EF4-FFF2-40B4-BE49-F238E27FC236}">
                    <a16:creationId xmlns:a16="http://schemas.microsoft.com/office/drawing/2014/main" id="{65D621F7-42E2-3DFC-1972-A70151F69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830" y="3473013"/>
                <a:ext cx="103632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תיבת טקסט 22">
                <a:extLst>
                  <a:ext uri="{FF2B5EF4-FFF2-40B4-BE49-F238E27FC236}">
                    <a16:creationId xmlns:a16="http://schemas.microsoft.com/office/drawing/2014/main" id="{25B8FEBE-9112-CEDE-819C-5D658180DE37}"/>
                  </a:ext>
                </a:extLst>
              </p:cNvPr>
              <p:cNvSpPr txBox="1"/>
              <p:nvPr/>
            </p:nvSpPr>
            <p:spPr>
              <a:xfrm>
                <a:off x="5442278" y="3181643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23" name="תיבת טקסט 22">
                <a:extLst>
                  <a:ext uri="{FF2B5EF4-FFF2-40B4-BE49-F238E27FC236}">
                    <a16:creationId xmlns:a16="http://schemas.microsoft.com/office/drawing/2014/main" id="{25B8FEBE-9112-CEDE-819C-5D658180D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278" y="3181643"/>
                <a:ext cx="1036320" cy="461665"/>
              </a:xfrm>
              <a:prstGeom prst="rect">
                <a:avLst/>
              </a:prstGeom>
              <a:blipFill>
                <a:blip r:embed="rId8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תיבת טקסט 23">
                <a:extLst>
                  <a:ext uri="{FF2B5EF4-FFF2-40B4-BE49-F238E27FC236}">
                    <a16:creationId xmlns:a16="http://schemas.microsoft.com/office/drawing/2014/main" id="{223F206B-431E-4AC9-BEF2-5A5931A22E93}"/>
                  </a:ext>
                </a:extLst>
              </p:cNvPr>
              <p:cNvSpPr txBox="1"/>
              <p:nvPr/>
            </p:nvSpPr>
            <p:spPr>
              <a:xfrm>
                <a:off x="6570038" y="3338173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24" name="תיבת טקסט 23">
                <a:extLst>
                  <a:ext uri="{FF2B5EF4-FFF2-40B4-BE49-F238E27FC236}">
                    <a16:creationId xmlns:a16="http://schemas.microsoft.com/office/drawing/2014/main" id="{223F206B-431E-4AC9-BEF2-5A5931A22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038" y="3338173"/>
                <a:ext cx="103632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תיבת טקסט 24">
                <a:extLst>
                  <a:ext uri="{FF2B5EF4-FFF2-40B4-BE49-F238E27FC236}">
                    <a16:creationId xmlns:a16="http://schemas.microsoft.com/office/drawing/2014/main" id="{260DDAB3-A955-CC06-4B11-55AEE8215BAF}"/>
                  </a:ext>
                </a:extLst>
              </p:cNvPr>
              <p:cNvSpPr txBox="1"/>
              <p:nvPr/>
            </p:nvSpPr>
            <p:spPr>
              <a:xfrm>
                <a:off x="5880934" y="3326000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25" name="תיבת טקסט 24">
                <a:extLst>
                  <a:ext uri="{FF2B5EF4-FFF2-40B4-BE49-F238E27FC236}">
                    <a16:creationId xmlns:a16="http://schemas.microsoft.com/office/drawing/2014/main" id="{260DDAB3-A955-CC06-4B11-55AEE8215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934" y="3326000"/>
                <a:ext cx="103632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תיבת טקסט 25">
                <a:extLst>
                  <a:ext uri="{FF2B5EF4-FFF2-40B4-BE49-F238E27FC236}">
                    <a16:creationId xmlns:a16="http://schemas.microsoft.com/office/drawing/2014/main" id="{40C8236A-7251-3D1E-8A5D-7DB37ED12E92}"/>
                  </a:ext>
                </a:extLst>
              </p:cNvPr>
              <p:cNvSpPr txBox="1"/>
              <p:nvPr/>
            </p:nvSpPr>
            <p:spPr>
              <a:xfrm>
                <a:off x="5306990" y="5648652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26" name="תיבת טקסט 25">
                <a:extLst>
                  <a:ext uri="{FF2B5EF4-FFF2-40B4-BE49-F238E27FC236}">
                    <a16:creationId xmlns:a16="http://schemas.microsoft.com/office/drawing/2014/main" id="{40C8236A-7251-3D1E-8A5D-7DB37ED12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990" y="5648652"/>
                <a:ext cx="103632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תיבת טקסט 28">
                <a:extLst>
                  <a:ext uri="{FF2B5EF4-FFF2-40B4-BE49-F238E27FC236}">
                    <a16:creationId xmlns:a16="http://schemas.microsoft.com/office/drawing/2014/main" id="{904D0904-DD68-0F06-7F9A-E0473FB75D92}"/>
                  </a:ext>
                </a:extLst>
              </p:cNvPr>
              <p:cNvSpPr txBox="1"/>
              <p:nvPr/>
            </p:nvSpPr>
            <p:spPr>
              <a:xfrm>
                <a:off x="5342206" y="3783908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29" name="תיבת טקסט 28">
                <a:extLst>
                  <a:ext uri="{FF2B5EF4-FFF2-40B4-BE49-F238E27FC236}">
                    <a16:creationId xmlns:a16="http://schemas.microsoft.com/office/drawing/2014/main" id="{904D0904-DD68-0F06-7F9A-E0473FB75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206" y="3783908"/>
                <a:ext cx="1036320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תיבת טקסט 29">
                <a:extLst>
                  <a:ext uri="{FF2B5EF4-FFF2-40B4-BE49-F238E27FC236}">
                    <a16:creationId xmlns:a16="http://schemas.microsoft.com/office/drawing/2014/main" id="{A21196E5-650A-C2D2-61F1-739B758968BC}"/>
                  </a:ext>
                </a:extLst>
              </p:cNvPr>
              <p:cNvSpPr txBox="1"/>
              <p:nvPr/>
            </p:nvSpPr>
            <p:spPr>
              <a:xfrm>
                <a:off x="5342206" y="4295098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30" name="תיבת טקסט 29">
                <a:extLst>
                  <a:ext uri="{FF2B5EF4-FFF2-40B4-BE49-F238E27FC236}">
                    <a16:creationId xmlns:a16="http://schemas.microsoft.com/office/drawing/2014/main" id="{A21196E5-650A-C2D2-61F1-739B75896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206" y="4295098"/>
                <a:ext cx="1036320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תיבת טקסט 30">
                <a:extLst>
                  <a:ext uri="{FF2B5EF4-FFF2-40B4-BE49-F238E27FC236}">
                    <a16:creationId xmlns:a16="http://schemas.microsoft.com/office/drawing/2014/main" id="{03310824-D102-8CD9-0667-95CB59BB2349}"/>
                  </a:ext>
                </a:extLst>
              </p:cNvPr>
              <p:cNvSpPr txBox="1"/>
              <p:nvPr/>
            </p:nvSpPr>
            <p:spPr>
              <a:xfrm>
                <a:off x="8663848" y="3297023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he-IL" sz="2000" dirty="0"/>
              </a:p>
            </p:txBody>
          </p:sp>
        </mc:Choice>
        <mc:Fallback xmlns="">
          <p:sp>
            <p:nvSpPr>
              <p:cNvPr id="31" name="תיבת טקסט 30">
                <a:extLst>
                  <a:ext uri="{FF2B5EF4-FFF2-40B4-BE49-F238E27FC236}">
                    <a16:creationId xmlns:a16="http://schemas.microsoft.com/office/drawing/2014/main" id="{03310824-D102-8CD9-0667-95CB59BB2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848" y="3297023"/>
                <a:ext cx="1036320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תיבת טקסט 31">
                <a:extLst>
                  <a:ext uri="{FF2B5EF4-FFF2-40B4-BE49-F238E27FC236}">
                    <a16:creationId xmlns:a16="http://schemas.microsoft.com/office/drawing/2014/main" id="{47633BF2-519A-090E-F72B-2CBF35B6A54E}"/>
                  </a:ext>
                </a:extLst>
              </p:cNvPr>
              <p:cNvSpPr txBox="1"/>
              <p:nvPr/>
            </p:nvSpPr>
            <p:spPr>
              <a:xfrm>
                <a:off x="5330694" y="4716280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32" name="תיבת טקסט 31">
                <a:extLst>
                  <a:ext uri="{FF2B5EF4-FFF2-40B4-BE49-F238E27FC236}">
                    <a16:creationId xmlns:a16="http://schemas.microsoft.com/office/drawing/2014/main" id="{47633BF2-519A-090E-F72B-2CBF35B6A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694" y="4716280"/>
                <a:ext cx="1036320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תיבת טקסט 32">
                <a:extLst>
                  <a:ext uri="{FF2B5EF4-FFF2-40B4-BE49-F238E27FC236}">
                    <a16:creationId xmlns:a16="http://schemas.microsoft.com/office/drawing/2014/main" id="{1493B8D4-A067-89CA-F280-185DC1839969}"/>
                  </a:ext>
                </a:extLst>
              </p:cNvPr>
              <p:cNvSpPr txBox="1"/>
              <p:nvPr/>
            </p:nvSpPr>
            <p:spPr>
              <a:xfrm>
                <a:off x="5319182" y="5170291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33" name="תיבת טקסט 32">
                <a:extLst>
                  <a:ext uri="{FF2B5EF4-FFF2-40B4-BE49-F238E27FC236}">
                    <a16:creationId xmlns:a16="http://schemas.microsoft.com/office/drawing/2014/main" id="{1493B8D4-A067-89CA-F280-185DC1839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182" y="5170291"/>
                <a:ext cx="1036320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תיבת טקסט 33">
                <a:extLst>
                  <a:ext uri="{FF2B5EF4-FFF2-40B4-BE49-F238E27FC236}">
                    <a16:creationId xmlns:a16="http://schemas.microsoft.com/office/drawing/2014/main" id="{C75506D2-A157-065C-DBEC-D8B7D9EA9B77}"/>
                  </a:ext>
                </a:extLst>
              </p:cNvPr>
              <p:cNvSpPr txBox="1"/>
              <p:nvPr/>
            </p:nvSpPr>
            <p:spPr>
              <a:xfrm>
                <a:off x="7247630" y="3348022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34" name="תיבת טקסט 33">
                <a:extLst>
                  <a:ext uri="{FF2B5EF4-FFF2-40B4-BE49-F238E27FC236}">
                    <a16:creationId xmlns:a16="http://schemas.microsoft.com/office/drawing/2014/main" id="{C75506D2-A157-065C-DBEC-D8B7D9EA9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630" y="3348022"/>
                <a:ext cx="1036320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תיבת טקסט 34">
                <a:extLst>
                  <a:ext uri="{FF2B5EF4-FFF2-40B4-BE49-F238E27FC236}">
                    <a16:creationId xmlns:a16="http://schemas.microsoft.com/office/drawing/2014/main" id="{71F0C1B8-486B-4F89-9DAB-A1DFCAE7243F}"/>
                  </a:ext>
                </a:extLst>
              </p:cNvPr>
              <p:cNvSpPr txBox="1"/>
              <p:nvPr/>
            </p:nvSpPr>
            <p:spPr>
              <a:xfrm>
                <a:off x="7955739" y="3295417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35" name="תיבת טקסט 34">
                <a:extLst>
                  <a:ext uri="{FF2B5EF4-FFF2-40B4-BE49-F238E27FC236}">
                    <a16:creationId xmlns:a16="http://schemas.microsoft.com/office/drawing/2014/main" id="{71F0C1B8-486B-4F89-9DAB-A1DFCAE72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739" y="3295417"/>
                <a:ext cx="1036320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תיבת טקסט 35">
                <a:extLst>
                  <a:ext uri="{FF2B5EF4-FFF2-40B4-BE49-F238E27FC236}">
                    <a16:creationId xmlns:a16="http://schemas.microsoft.com/office/drawing/2014/main" id="{995618C0-8984-BF84-9749-4530A9B126B5}"/>
                  </a:ext>
                </a:extLst>
              </p:cNvPr>
              <p:cNvSpPr txBox="1"/>
              <p:nvPr/>
            </p:nvSpPr>
            <p:spPr>
              <a:xfrm>
                <a:off x="7211289" y="3751732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he-IL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תיבת טקסט 35">
                <a:extLst>
                  <a:ext uri="{FF2B5EF4-FFF2-40B4-BE49-F238E27FC236}">
                    <a16:creationId xmlns:a16="http://schemas.microsoft.com/office/drawing/2014/main" id="{995618C0-8984-BF84-9749-4530A9B12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289" y="3751732"/>
                <a:ext cx="1036320" cy="4616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תיבת טקסט 36">
                <a:extLst>
                  <a:ext uri="{FF2B5EF4-FFF2-40B4-BE49-F238E27FC236}">
                    <a16:creationId xmlns:a16="http://schemas.microsoft.com/office/drawing/2014/main" id="{1CD6221E-4B75-8BAC-BCA3-3F43EDA18AFE}"/>
                  </a:ext>
                </a:extLst>
              </p:cNvPr>
              <p:cNvSpPr txBox="1"/>
              <p:nvPr/>
            </p:nvSpPr>
            <p:spPr>
              <a:xfrm>
                <a:off x="7955739" y="4238480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he-IL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תיבת טקסט 36">
                <a:extLst>
                  <a:ext uri="{FF2B5EF4-FFF2-40B4-BE49-F238E27FC236}">
                    <a16:creationId xmlns:a16="http://schemas.microsoft.com/office/drawing/2014/main" id="{1CD6221E-4B75-8BAC-BCA3-3F43EDA18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739" y="4238480"/>
                <a:ext cx="1036320" cy="46166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תיבת טקסט 37">
                <a:extLst>
                  <a:ext uri="{FF2B5EF4-FFF2-40B4-BE49-F238E27FC236}">
                    <a16:creationId xmlns:a16="http://schemas.microsoft.com/office/drawing/2014/main" id="{4468A607-4794-5FE8-EC54-59967AA068AD}"/>
                  </a:ext>
                </a:extLst>
              </p:cNvPr>
              <p:cNvSpPr txBox="1"/>
              <p:nvPr/>
            </p:nvSpPr>
            <p:spPr>
              <a:xfrm>
                <a:off x="8598403" y="4700145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he-IL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" name="תיבת טקסט 37">
                <a:extLst>
                  <a:ext uri="{FF2B5EF4-FFF2-40B4-BE49-F238E27FC236}">
                    <a16:creationId xmlns:a16="http://schemas.microsoft.com/office/drawing/2014/main" id="{4468A607-4794-5FE8-EC54-59967AA06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403" y="4700145"/>
                <a:ext cx="1036320" cy="46166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תיבת טקסט 38">
                <a:extLst>
                  <a:ext uri="{FF2B5EF4-FFF2-40B4-BE49-F238E27FC236}">
                    <a16:creationId xmlns:a16="http://schemas.microsoft.com/office/drawing/2014/main" id="{E8E9EB98-8AA6-8B56-1769-8CA31266C209}"/>
                  </a:ext>
                </a:extLst>
              </p:cNvPr>
              <p:cNvSpPr txBox="1"/>
              <p:nvPr/>
            </p:nvSpPr>
            <p:spPr>
              <a:xfrm>
                <a:off x="7942417" y="3766145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he-IL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תיבת טקסט 38">
                <a:extLst>
                  <a:ext uri="{FF2B5EF4-FFF2-40B4-BE49-F238E27FC236}">
                    <a16:creationId xmlns:a16="http://schemas.microsoft.com/office/drawing/2014/main" id="{E8E9EB98-8AA6-8B56-1769-8CA31266C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417" y="3766145"/>
                <a:ext cx="1036320" cy="46166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תיבת טקסט 39">
                <a:extLst>
                  <a:ext uri="{FF2B5EF4-FFF2-40B4-BE49-F238E27FC236}">
                    <a16:creationId xmlns:a16="http://schemas.microsoft.com/office/drawing/2014/main" id="{96C393EC-E0D5-A5E8-F187-FF07D88AF041}"/>
                  </a:ext>
                </a:extLst>
              </p:cNvPr>
              <p:cNvSpPr txBox="1"/>
              <p:nvPr/>
            </p:nvSpPr>
            <p:spPr>
              <a:xfrm>
                <a:off x="8637204" y="4212564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he-IL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תיבת טקסט 39">
                <a:extLst>
                  <a:ext uri="{FF2B5EF4-FFF2-40B4-BE49-F238E27FC236}">
                    <a16:creationId xmlns:a16="http://schemas.microsoft.com/office/drawing/2014/main" id="{96C393EC-E0D5-A5E8-F187-FF07D88AF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204" y="4212564"/>
                <a:ext cx="1036320" cy="4616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2446AD2C-4318-1EF8-F5E2-76AF2B928547}"/>
                  </a:ext>
                </a:extLst>
              </p:cNvPr>
              <p:cNvSpPr txBox="1"/>
              <p:nvPr/>
            </p:nvSpPr>
            <p:spPr>
              <a:xfrm>
                <a:off x="8614326" y="3749293"/>
                <a:ext cx="103632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he-IL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2446AD2C-4318-1EF8-F5E2-76AF2B928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326" y="3749293"/>
                <a:ext cx="1036320" cy="4616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תיבת טקסט 41">
            <a:extLst>
              <a:ext uri="{FF2B5EF4-FFF2-40B4-BE49-F238E27FC236}">
                <a16:creationId xmlns:a16="http://schemas.microsoft.com/office/drawing/2014/main" id="{EFC6B203-5424-2CC8-F852-127FF47FDD5A}"/>
              </a:ext>
            </a:extLst>
          </p:cNvPr>
          <p:cNvSpPr txBox="1"/>
          <p:nvPr/>
        </p:nvSpPr>
        <p:spPr>
          <a:xfrm>
            <a:off x="7792308" y="3555670"/>
            <a:ext cx="472440" cy="519351"/>
          </a:xfrm>
          <a:prstGeom prst="ellipse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1</a:t>
            </a:r>
            <a:endParaRPr lang="he-IL" dirty="0"/>
          </a:p>
        </p:txBody>
      </p:sp>
      <p:sp>
        <p:nvSpPr>
          <p:cNvPr id="44" name="תיבת טקסט 43">
            <a:extLst>
              <a:ext uri="{FF2B5EF4-FFF2-40B4-BE49-F238E27FC236}">
                <a16:creationId xmlns:a16="http://schemas.microsoft.com/office/drawing/2014/main" id="{AB5D427F-5051-82FC-6D5A-E6A63009CF8F}"/>
              </a:ext>
            </a:extLst>
          </p:cNvPr>
          <p:cNvSpPr txBox="1"/>
          <p:nvPr/>
        </p:nvSpPr>
        <p:spPr>
          <a:xfrm>
            <a:off x="8460577" y="4073295"/>
            <a:ext cx="472440" cy="519351"/>
          </a:xfrm>
          <a:prstGeom prst="ellipse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2</a:t>
            </a:r>
            <a:endParaRPr lang="he-IL" dirty="0"/>
          </a:p>
        </p:txBody>
      </p:sp>
      <p:sp>
        <p:nvSpPr>
          <p:cNvPr id="45" name="תיבת טקסט 44">
            <a:extLst>
              <a:ext uri="{FF2B5EF4-FFF2-40B4-BE49-F238E27FC236}">
                <a16:creationId xmlns:a16="http://schemas.microsoft.com/office/drawing/2014/main" id="{8D746145-0B5B-E35E-5A0E-68961312F7E5}"/>
              </a:ext>
            </a:extLst>
          </p:cNvPr>
          <p:cNvSpPr txBox="1"/>
          <p:nvPr/>
        </p:nvSpPr>
        <p:spPr>
          <a:xfrm>
            <a:off x="9168686" y="4546415"/>
            <a:ext cx="472440" cy="519351"/>
          </a:xfrm>
          <a:prstGeom prst="ellipse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3</a:t>
            </a:r>
            <a:endParaRPr lang="he-IL" dirty="0"/>
          </a:p>
        </p:txBody>
      </p:sp>
      <p:sp>
        <p:nvSpPr>
          <p:cNvPr id="46" name="תיבת טקסט 45">
            <a:extLst>
              <a:ext uri="{FF2B5EF4-FFF2-40B4-BE49-F238E27FC236}">
                <a16:creationId xmlns:a16="http://schemas.microsoft.com/office/drawing/2014/main" id="{1532A2E4-CBA1-96DC-D65A-57652C1C2247}"/>
              </a:ext>
            </a:extLst>
          </p:cNvPr>
          <p:cNvSpPr txBox="1"/>
          <p:nvPr/>
        </p:nvSpPr>
        <p:spPr>
          <a:xfrm>
            <a:off x="8472204" y="3569185"/>
            <a:ext cx="472440" cy="519351"/>
          </a:xfrm>
          <a:prstGeom prst="ellipse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2</a:t>
            </a:r>
            <a:endParaRPr lang="he-IL" dirty="0"/>
          </a:p>
        </p:txBody>
      </p:sp>
      <p:sp>
        <p:nvSpPr>
          <p:cNvPr id="47" name="תיבת טקסט 46">
            <a:extLst>
              <a:ext uri="{FF2B5EF4-FFF2-40B4-BE49-F238E27FC236}">
                <a16:creationId xmlns:a16="http://schemas.microsoft.com/office/drawing/2014/main" id="{6A91ED4C-2656-41C3-7AD7-B885F37B2F78}"/>
              </a:ext>
            </a:extLst>
          </p:cNvPr>
          <p:cNvSpPr txBox="1"/>
          <p:nvPr/>
        </p:nvSpPr>
        <p:spPr>
          <a:xfrm>
            <a:off x="9194405" y="4054709"/>
            <a:ext cx="472440" cy="519351"/>
          </a:xfrm>
          <a:prstGeom prst="ellipse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3</a:t>
            </a:r>
            <a:endParaRPr lang="he-IL" dirty="0"/>
          </a:p>
        </p:txBody>
      </p:sp>
      <p:sp>
        <p:nvSpPr>
          <p:cNvPr id="48" name="תיבת טקסט 47">
            <a:extLst>
              <a:ext uri="{FF2B5EF4-FFF2-40B4-BE49-F238E27FC236}">
                <a16:creationId xmlns:a16="http://schemas.microsoft.com/office/drawing/2014/main" id="{B778CAA6-D58B-CA5E-34B4-3B3E280307F1}"/>
              </a:ext>
            </a:extLst>
          </p:cNvPr>
          <p:cNvSpPr txBox="1"/>
          <p:nvPr/>
        </p:nvSpPr>
        <p:spPr>
          <a:xfrm>
            <a:off x="9178206" y="3565534"/>
            <a:ext cx="472440" cy="519351"/>
          </a:xfrm>
          <a:prstGeom prst="ellipse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2</a:t>
            </a:r>
            <a:endParaRPr lang="he-IL" dirty="0"/>
          </a:p>
        </p:txBody>
      </p:sp>
      <p:sp>
        <p:nvSpPr>
          <p:cNvPr id="49" name="תיבת טקסט 48">
            <a:extLst>
              <a:ext uri="{FF2B5EF4-FFF2-40B4-BE49-F238E27FC236}">
                <a16:creationId xmlns:a16="http://schemas.microsoft.com/office/drawing/2014/main" id="{A3A4326A-96A0-EDFD-4D18-4A55DE74F718}"/>
              </a:ext>
            </a:extLst>
          </p:cNvPr>
          <p:cNvSpPr txBox="1"/>
          <p:nvPr/>
        </p:nvSpPr>
        <p:spPr>
          <a:xfrm>
            <a:off x="396695" y="3525172"/>
            <a:ext cx="4875932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 rtl="1"/>
            <a:r>
              <a:rPr lang="he-IL" sz="2400" b="1" u="sng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הפתרון האופטימלי:</a:t>
            </a:r>
          </a:p>
          <a:p>
            <a:pPr algn="just" rtl="1"/>
            <a:r>
              <a:rPr lang="he-IL" sz="2400" dirty="0">
                <a:cs typeface="+mj-cs"/>
              </a:rPr>
              <a:t>המחיר הזול ביותר לחיתוך: 20</a:t>
            </a:r>
          </a:p>
          <a:p>
            <a:pPr algn="just" rtl="1"/>
            <a:r>
              <a:rPr lang="he-IL" sz="2400" dirty="0">
                <a:cs typeface="+mj-cs"/>
              </a:rPr>
              <a:t>סדר החיתוך האופטימלי: </a:t>
            </a:r>
            <a:r>
              <a:rPr lang="en-US" sz="2400" dirty="0">
                <a:cs typeface="+mj-cs"/>
              </a:rPr>
              <a:t>x</a:t>
            </a:r>
            <a:r>
              <a:rPr lang="en-US" sz="2400" baseline="-25000" dirty="0">
                <a:cs typeface="+mj-cs"/>
              </a:rPr>
              <a:t>2</a:t>
            </a:r>
            <a:r>
              <a:rPr lang="en-US" sz="2400" dirty="0">
                <a:cs typeface="+mj-cs"/>
              </a:rPr>
              <a:t>,x</a:t>
            </a:r>
            <a:r>
              <a:rPr lang="en-US" sz="2400" baseline="-25000" dirty="0">
                <a:cs typeface="+mj-cs"/>
              </a:rPr>
              <a:t>1</a:t>
            </a:r>
            <a:r>
              <a:rPr lang="en-US" sz="2400" dirty="0">
                <a:cs typeface="+mj-cs"/>
              </a:rPr>
              <a:t>,x</a:t>
            </a:r>
            <a:r>
              <a:rPr lang="en-US" sz="2400" baseline="-25000" dirty="0">
                <a:cs typeface="+mj-cs"/>
              </a:rPr>
              <a:t>3</a:t>
            </a:r>
          </a:p>
          <a:p>
            <a:pPr algn="just" rtl="1"/>
            <a:r>
              <a:rPr lang="he-IL" sz="2400" dirty="0">
                <a:cs typeface="+mj-cs"/>
              </a:rPr>
              <a:t>איך מצאנו? לפי המספר שנמצא בכל משבצת בקצה, נתחיל את השחזור מהתא הימני העליון, ומשם נמשיך למשבצות של תתי הבעיות שנוצרות על פי החיתוך שנקבע.</a:t>
            </a:r>
          </a:p>
        </p:txBody>
      </p:sp>
    </p:spTree>
    <p:extLst>
      <p:ext uri="{BB962C8B-B14F-4D97-AF65-F5344CB8AC3E}">
        <p14:creationId xmlns:p14="http://schemas.microsoft.com/office/powerpoint/2010/main" val="124590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1" grpId="0"/>
      <p:bldP spid="42" grpId="0"/>
      <p:bldP spid="44" grpId="0"/>
      <p:bldP spid="45" grpId="0"/>
      <p:bldP spid="46" grpId="0"/>
      <p:bldP spid="47" grpId="0"/>
      <p:bldP spid="4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298A464-FB62-CCD0-263E-A334B3A5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האלגוריתם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AC09642D-BDB9-7E8B-7552-6B326B37B6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71"/>
          <a:stretch/>
        </p:blipFill>
        <p:spPr>
          <a:xfrm>
            <a:off x="2081212" y="1844040"/>
            <a:ext cx="8334375" cy="487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17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30F238-41B4-0793-EA81-328D59B9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 נראה היום?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CFEA2EA-1886-D54E-1689-BF9D0BF0A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262" y="668068"/>
            <a:ext cx="6492240" cy="660047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לוח המשימות המתוגמלות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תרמיל הגב בשלמים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מוט הברזל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כפל מטריצות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ניתוב משימות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חיתוך הבד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he-IL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0039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30F238-41B4-0793-EA81-328D59B9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בעיית כפל מטריצות- הגדרה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מלבן 6">
                <a:extLst>
                  <a:ext uri="{FF2B5EF4-FFF2-40B4-BE49-F238E27FC236}">
                    <a16:creationId xmlns:a16="http://schemas.microsoft.com/office/drawing/2014/main" id="{6662DF0C-75CC-482A-94F7-FA330826F3D2}"/>
                  </a:ext>
                </a:extLst>
              </p:cNvPr>
              <p:cNvSpPr/>
              <p:nvPr/>
            </p:nvSpPr>
            <p:spPr>
              <a:xfrm>
                <a:off x="1276847" y="2032356"/>
                <a:ext cx="9941781" cy="4608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e-I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נרצה לדעת מהו סדר הכפל היעיל ביותר עבור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he-I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מטריצות.</a:t>
                </a:r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מלבן 6">
                <a:extLst>
                  <a:ext uri="{FF2B5EF4-FFF2-40B4-BE49-F238E27FC236}">
                    <a16:creationId xmlns:a16="http://schemas.microsoft.com/office/drawing/2014/main" id="{6662DF0C-75CC-482A-94F7-FA330826F3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847" y="2032356"/>
                <a:ext cx="9941781" cy="460895"/>
              </a:xfrm>
              <a:prstGeom prst="rect">
                <a:avLst/>
              </a:prstGeom>
              <a:blipFill>
                <a:blip r:embed="rId2"/>
                <a:stretch>
                  <a:fillRect t="-10526" r="-981" b="-2894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מלבן 8">
            <a:extLst>
              <a:ext uri="{FF2B5EF4-FFF2-40B4-BE49-F238E27FC236}">
                <a16:creationId xmlns:a16="http://schemas.microsoft.com/office/drawing/2014/main" id="{E6B4DE7B-8274-9B27-BF98-9515EC03FE8E}"/>
              </a:ext>
            </a:extLst>
          </p:cNvPr>
          <p:cNvSpPr/>
          <p:nvPr/>
        </p:nvSpPr>
        <p:spPr>
          <a:xfrm>
            <a:off x="973372" y="2788247"/>
            <a:ext cx="10298915" cy="3427846"/>
          </a:xfrm>
          <a:prstGeom prst="rect">
            <a:avLst/>
          </a:prstGeom>
          <a:solidFill>
            <a:srgbClr val="E3E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מציין מיקום תוכן 2">
                <a:extLst>
                  <a:ext uri="{FF2B5EF4-FFF2-40B4-BE49-F238E27FC236}">
                    <a16:creationId xmlns:a16="http://schemas.microsoft.com/office/drawing/2014/main" id="{29978B01-5464-52CE-5B05-B8D231EDD3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9367" y="2831373"/>
                <a:ext cx="9799261" cy="3336783"/>
              </a:xfrm>
              <a:prstGeom prst="rect">
                <a:avLst/>
              </a:prstGeom>
              <a:solidFill>
                <a:srgbClr val="E3E9F5"/>
              </a:solidFill>
            </p:spPr>
            <p:txBody>
              <a:bodyPr vert="horz" lIns="0" tIns="45720" rIns="0" bIns="45720" rtlCol="0">
                <a:normAutofit fontScale="25000" lnSpcReduction="20000"/>
              </a:bodyPr>
              <a:lstStyle>
                <a:lvl1pPr marL="91440" indent="-91440" algn="r" defTabSz="914400" rtl="1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he-IL" sz="9600" b="1" dirty="0">
                    <a:solidFill>
                      <a:srgbClr val="44AD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קלט: </a:t>
                </a:r>
              </a:p>
              <a:p>
                <a:pPr marL="292608" lvl="1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9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9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9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he-IL" sz="9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מספרים טבעיים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9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he-IL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9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9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שהם </a:t>
                </a:r>
                <a:r>
                  <a:rPr lang="he-IL" sz="9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מימדים</a:t>
                </a:r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של </a:t>
                </a:r>
                <a14:m>
                  <m:oMath xmlns:m="http://schemas.openxmlformats.org/officeDocument/2006/math">
                    <m:r>
                      <a:rPr lang="en-US" sz="9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מטריצות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9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9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9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9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כך </a:t>
                </a:r>
                <a:r>
                  <a:rPr lang="he-IL" sz="9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שהמימדים</a:t>
                </a:r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של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הם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9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9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en-US" sz="9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he-IL" sz="9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01168" lvl="1" indent="0" algn="just">
                  <a:lnSpc>
                    <a:spcPct val="150000"/>
                  </a:lnSpc>
                  <a:buNone/>
                </a:pPr>
                <a:r>
                  <a:rPr lang="he-IL" sz="9600" b="1" dirty="0">
                    <a:solidFill>
                      <a:srgbClr val="44AD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פלט: </a:t>
                </a:r>
              </a:p>
              <a:p>
                <a:pPr marL="201168" lvl="1" indent="0" algn="just">
                  <a:lnSpc>
                    <a:spcPct val="150000"/>
                  </a:lnSpc>
                  <a:buNone/>
                </a:pPr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השמת סוגריים הנותנת דרך אופטימלית לחישוב המכפלה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9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9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9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sSub>
                      <m:sSubPr>
                        <m:ctrlPr>
                          <a:rPr lang="en-US" sz="9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9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9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sz="9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…∙</m:t>
                    </m:r>
                    <m:sSub>
                      <m:sSubPr>
                        <m:ctrlPr>
                          <a:rPr lang="en-US" sz="9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9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9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he-IL" sz="9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10" name="מציין מיקום תוכן 2">
                <a:extLst>
                  <a:ext uri="{FF2B5EF4-FFF2-40B4-BE49-F238E27FC236}">
                    <a16:creationId xmlns:a16="http://schemas.microsoft.com/office/drawing/2014/main" id="{29978B01-5464-52CE-5B05-B8D231EDD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367" y="2831373"/>
                <a:ext cx="9799261" cy="3336783"/>
              </a:xfrm>
              <a:prstGeom prst="rect">
                <a:avLst/>
              </a:prstGeom>
              <a:blipFill>
                <a:blip r:embed="rId3"/>
                <a:stretch>
                  <a:fillRect l="-2676" r="-186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8232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דוגמא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0763" y="1846263"/>
                <a:ext cx="9894599" cy="4377116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2400" dirty="0">
                    <a:solidFill>
                      <a:schemeClr val="accent1">
                        <a:lumMod val="75000"/>
                      </a:schemeClr>
                    </a:solidFill>
                    <a:cs typeface="+mj-cs"/>
                  </a:rPr>
                  <a:t>נתונות המטריצות הבאות: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  <m:t>𝐴</m:t>
                          </m:r>
                        </m:e>
                        <m:sub>
                          <m:r>
                            <a:rPr lang="he-IL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+mj-cs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+mj-cs"/>
                        </a:rPr>
                        <m:t>10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j-cs"/>
                        </a:rPr>
                        <m:t>×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j-cs"/>
                        </a:rPr>
                        <m:t>20</m:t>
                      </m:r>
                    </m:oMath>
                  </m:oMathPara>
                </a14:m>
                <a:endParaRPr lang="he-IL" dirty="0">
                  <a:solidFill>
                    <a:schemeClr val="accent1">
                      <a:lumMod val="75000"/>
                    </a:schemeClr>
                  </a:solidFill>
                  <a:cs typeface="+mj-cs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  <m:t>𝐴</m:t>
                          </m:r>
                        </m:e>
                        <m:sub>
                          <m:r>
                            <a:rPr lang="he-IL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+mj-cs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+mj-cs"/>
                        </a:rPr>
                        <m:t>20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j-cs"/>
                        </a:rPr>
                        <m:t>×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j-cs"/>
                        </a:rPr>
                        <m:t>50</m:t>
                      </m:r>
                    </m:oMath>
                  </m:oMathPara>
                </a14:m>
                <a:endParaRPr lang="he-IL" dirty="0">
                  <a:solidFill>
                    <a:schemeClr val="accent1">
                      <a:lumMod val="75000"/>
                    </a:schemeClr>
                  </a:solidFill>
                  <a:cs typeface="+mj-cs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  <m:t>𝐴</m:t>
                          </m:r>
                        </m:e>
                        <m:sub>
                          <m:r>
                            <a:rPr lang="he-IL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+mj-cs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+mj-cs"/>
                        </a:rPr>
                        <m:t>50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j-cs"/>
                        </a:rPr>
                        <m:t>×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j-cs"/>
                        </a:rPr>
                        <m:t>1</m:t>
                      </m:r>
                    </m:oMath>
                  </m:oMathPara>
                </a14:m>
                <a:endParaRPr lang="en-US" b="0" dirty="0">
                  <a:solidFill>
                    <a:schemeClr val="accent1">
                      <a:lumMod val="75000"/>
                    </a:schemeClr>
                  </a:solidFill>
                  <a:ea typeface="Cambria Math" panose="02040503050406030204" pitchFamily="18" charset="0"/>
                  <a:cs typeface="+mj-cs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  <m:t>𝐴</m:t>
                          </m:r>
                        </m:e>
                        <m:sub>
                          <m:r>
                            <a:rPr lang="he-IL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+mj-cs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+mj-cs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j-cs"/>
                        </a:rPr>
                        <m:t>×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j-cs"/>
                        </a:rPr>
                        <m:t>100</m:t>
                      </m:r>
                    </m:oMath>
                  </m:oMathPara>
                </a14:m>
                <a:endParaRPr lang="he-IL" sz="2400" dirty="0">
                  <a:solidFill>
                    <a:schemeClr val="accent1">
                      <a:lumMod val="75000"/>
                    </a:schemeClr>
                  </a:solidFill>
                  <a:cs typeface="+mj-c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2400" dirty="0">
                    <a:solidFill>
                      <a:schemeClr val="accent1">
                        <a:lumMod val="75000"/>
                      </a:schemeClr>
                    </a:solidFill>
                    <a:cs typeface="+mj-cs"/>
                  </a:rPr>
                  <a:t>פתרונות חוקיים: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b="0" dirty="0">
                  <a:solidFill>
                    <a:schemeClr val="accent1">
                      <a:lumMod val="75000"/>
                    </a:schemeClr>
                  </a:solidFill>
                  <a:ea typeface="Cambria Math" panose="020405030504060302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0763" y="1846263"/>
                <a:ext cx="9894599" cy="4377116"/>
              </a:xfrm>
              <a:blipFill>
                <a:blip r:embed="rId2"/>
                <a:stretch>
                  <a:fillRect r="-18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9B2346B8-6291-978C-9D34-5A5475FC9E29}"/>
                  </a:ext>
                </a:extLst>
              </p:cNvPr>
              <p:cNvSpPr txBox="1"/>
              <p:nvPr/>
            </p:nvSpPr>
            <p:spPr>
              <a:xfrm>
                <a:off x="2259015" y="4190805"/>
                <a:ext cx="2838734" cy="175432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1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+mj-cs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+mj-cs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+mj-cs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+mj-cs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j-cs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j-cs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j-cs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j-cs"/>
                        </a:rPr>
                        <m:t>)∙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he-IL" dirty="0">
                  <a:solidFill>
                    <a:schemeClr val="accent1">
                      <a:lumMod val="75000"/>
                    </a:schemeClr>
                  </a:solidFill>
                  <a:cs typeface="+mj-cs"/>
                </a:endParaRPr>
              </a:p>
              <a:p>
                <a:pPr algn="r" rtl="1"/>
                <a:r>
                  <a:rPr lang="he-IL" dirty="0">
                    <a:cs typeface="+mj-cs"/>
                  </a:rPr>
                  <a:t>חישובים:</a:t>
                </a:r>
              </a:p>
              <a:p>
                <a:pPr algn="r" rtl="1"/>
                <a:r>
                  <a:rPr lang="he-IL" dirty="0">
                    <a:cs typeface="+mj-cs"/>
                  </a:rPr>
                  <a:t>20*50*1</a:t>
                </a:r>
              </a:p>
              <a:p>
                <a:pPr algn="r" rtl="1"/>
                <a:r>
                  <a:rPr lang="he-IL" dirty="0">
                    <a:cs typeface="+mj-cs"/>
                  </a:rPr>
                  <a:t>10*20*1</a:t>
                </a:r>
              </a:p>
              <a:p>
                <a:pPr algn="r" rtl="1"/>
                <a:r>
                  <a:rPr lang="he-IL" dirty="0">
                    <a:cs typeface="+mj-cs"/>
                  </a:rPr>
                  <a:t>10*1*100</a:t>
                </a:r>
              </a:p>
              <a:p>
                <a:pPr algn="r" rtl="1"/>
                <a:r>
                  <a:rPr lang="he-IL" dirty="0">
                    <a:cs typeface="+mj-cs"/>
                  </a:rPr>
                  <a:t>סה"כ: </a:t>
                </a:r>
                <a:r>
                  <a:rPr lang="en-US" dirty="0">
                    <a:cs typeface="+mj-cs"/>
                  </a:rPr>
                  <a:t>2,200</a:t>
                </a:r>
                <a:endParaRPr lang="he-IL" dirty="0">
                  <a:cs typeface="+mj-cs"/>
                </a:endParaRPr>
              </a:p>
            </p:txBody>
          </p:sp>
        </mc:Choice>
        <mc:Fallback xmlns="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9B2346B8-6291-978C-9D34-5A5475FC9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9015" y="4190805"/>
                <a:ext cx="2838734" cy="1754326"/>
              </a:xfrm>
              <a:prstGeom prst="rect">
                <a:avLst/>
              </a:prstGeom>
              <a:blipFill>
                <a:blip r:embed="rId3"/>
                <a:stretch>
                  <a:fillRect r="-1713" b="-413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3542BE52-41D4-A2A8-0442-CFCE5DF420FA}"/>
                  </a:ext>
                </a:extLst>
              </p:cNvPr>
              <p:cNvSpPr txBox="1"/>
              <p:nvPr/>
            </p:nvSpPr>
            <p:spPr>
              <a:xfrm>
                <a:off x="6096000" y="4190805"/>
                <a:ext cx="2838734" cy="178997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1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  <m:t>𝐴</m:t>
                          </m:r>
                        </m:e>
                        <m:sub>
                          <m:r>
                            <a:rPr lang="he-IL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+mj-cs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+mj-cs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+mj-cs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+mj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+mj-cs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+mj-cs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+mj-cs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j-cs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j-cs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j-cs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j-cs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j-cs"/>
                        </a:rPr>
                        <m:t> </m:t>
                      </m:r>
                    </m:oMath>
                  </m:oMathPara>
                </a14:m>
                <a:endParaRPr lang="he-IL" dirty="0">
                  <a:cs typeface="+mj-cs"/>
                </a:endParaRPr>
              </a:p>
              <a:p>
                <a:pPr algn="r" rtl="1"/>
                <a:r>
                  <a:rPr lang="he-IL" dirty="0">
                    <a:cs typeface="+mj-cs"/>
                  </a:rPr>
                  <a:t>חישובים:</a:t>
                </a:r>
              </a:p>
              <a:p>
                <a:pPr algn="r" rtl="1"/>
                <a:r>
                  <a:rPr lang="he-IL" dirty="0">
                    <a:cs typeface="+mj-cs"/>
                  </a:rPr>
                  <a:t>50*1*100</a:t>
                </a:r>
              </a:p>
              <a:p>
                <a:pPr algn="r" rtl="1"/>
                <a:r>
                  <a:rPr lang="he-IL" dirty="0">
                    <a:cs typeface="+mj-cs"/>
                  </a:rPr>
                  <a:t>20*50*100</a:t>
                </a:r>
              </a:p>
              <a:p>
                <a:pPr algn="r" rtl="1"/>
                <a:r>
                  <a:rPr lang="he-IL" dirty="0">
                    <a:cs typeface="+mj-cs"/>
                  </a:rPr>
                  <a:t>10*20*100</a:t>
                </a:r>
              </a:p>
              <a:p>
                <a:pPr algn="r" rtl="1"/>
                <a:r>
                  <a:rPr lang="he-IL" dirty="0">
                    <a:cs typeface="+mj-cs"/>
                  </a:rPr>
                  <a:t>סה"כ: 125,000</a:t>
                </a:r>
              </a:p>
            </p:txBody>
          </p:sp>
        </mc:Choice>
        <mc:Fallback xmlns="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3542BE52-41D4-A2A8-0442-CFCE5DF42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190805"/>
                <a:ext cx="2838734" cy="1789977"/>
              </a:xfrm>
              <a:prstGeom prst="rect">
                <a:avLst/>
              </a:prstGeom>
              <a:blipFill>
                <a:blip r:embed="rId4"/>
                <a:stretch>
                  <a:fillRect r="-1496" b="-405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49041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תכנון דינאמי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0763" y="1846263"/>
                <a:ext cx="9894599" cy="4022725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2800" b="1" u="sng" dirty="0">
                    <a:solidFill>
                      <a:srgbClr val="EC8A5E"/>
                    </a:solidFill>
                    <a:cs typeface="+mj-cs"/>
                  </a:rPr>
                  <a:t>תתי בעיות: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2800" dirty="0">
                    <a:solidFill>
                      <a:schemeClr val="tx1"/>
                    </a:solidFill>
                    <a:cs typeface="+mj-cs"/>
                  </a:rPr>
                  <a:t>נשים לב שהבחירה הראשונה אותה עלינו לבצע היא שתי תוצאות הכפל שנכפול אחרונות: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𝐴</m:t>
                        </m:r>
                      </m:e>
                      <m:sub>
                        <m:r>
                          <a:rPr lang="he-IL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b>
                    </m:sSub>
                    <m:r>
                      <a:rPr lang="he-IL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∙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…∙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)∙(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𝑘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∙⋯∙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𝑛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)</m:t>
                    </m:r>
                  </m:oMath>
                </a14:m>
                <a:endParaRPr lang="he-IL" sz="2800" dirty="0">
                  <a:solidFill>
                    <a:schemeClr val="tx1"/>
                  </a:solidFill>
                  <a:cs typeface="+mj-c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2800" dirty="0">
                    <a:solidFill>
                      <a:schemeClr val="tx1"/>
                    </a:solidFill>
                    <a:cs typeface="+mj-cs"/>
                  </a:rPr>
                  <a:t>בחירה זו </a:t>
                </a:r>
                <a:r>
                  <a:rPr lang="he-IL" sz="2800" dirty="0" err="1">
                    <a:solidFill>
                      <a:schemeClr val="tx1"/>
                    </a:solidFill>
                    <a:cs typeface="+mj-cs"/>
                  </a:rPr>
                  <a:t>תתן</a:t>
                </a:r>
                <a:r>
                  <a:rPr lang="he-IL" sz="2800" dirty="0">
                    <a:solidFill>
                      <a:schemeClr val="tx1"/>
                    </a:solidFill>
                    <a:cs typeface="+mj-cs"/>
                  </a:rPr>
                  <a:t> לנו שתי תתי בעיות זהות אך קטנות יותר.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br>
                  <a:rPr lang="en-US" sz="2800" dirty="0">
                    <a:solidFill>
                      <a:schemeClr val="tx1"/>
                    </a:solidFill>
                    <a:cs typeface="+mj-cs"/>
                  </a:rPr>
                </a:br>
                <a:endParaRPr lang="he-IL" sz="2800" dirty="0">
                  <a:solidFill>
                    <a:schemeClr val="tx1"/>
                  </a:solidFill>
                  <a:cs typeface="+mj-cs"/>
                </a:endParaRP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0763" y="1846263"/>
                <a:ext cx="9894599" cy="4022725"/>
              </a:xfrm>
              <a:blipFill>
                <a:blip r:embed="rId2"/>
                <a:stretch>
                  <a:fillRect l="-3204" r="-21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39951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נוסחת הרקורסיה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9180" y="2196783"/>
                <a:ext cx="9894599" cy="4022725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נסמן ב-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8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8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8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את המחיר האופטימלי לחישוב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∙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…∙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כך ש-</a:t>
                </a:r>
                <a14:m>
                  <m:oMath xmlns:m="http://schemas.openxmlformats.org/officeDocument/2006/math">
                    <m:r>
                      <a:rPr lang="he-IL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נוסחת רקורסיה ראשונית המגדירה את הפלט המבוקש לבעיה כולה :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lim>
                          </m:limLow>
                        </m:fName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⁡{</m:t>
                          </m:r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he-IL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במהלך האלגוריתם, נצטרך לחשב את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8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8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8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לכל </a:t>
                </a:r>
                <a14:m>
                  <m:oMath xmlns:m="http://schemas.openxmlformats.org/officeDocument/2006/math">
                    <m:r>
                      <a:rPr lang="he-IL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9180" y="2196783"/>
                <a:ext cx="9894599" cy="4022725"/>
              </a:xfrm>
              <a:blipFill>
                <a:blip r:embed="rId2"/>
                <a:stretch>
                  <a:fillRect r="-21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10967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5A56356-9745-B150-1BB2-3C19A320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נוסחת רקורסיה כללית</a:t>
            </a:r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25E04977-B70E-B618-C9AE-F5CE342A1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2489"/>
          <a:stretch/>
        </p:blipFill>
        <p:spPr>
          <a:xfrm>
            <a:off x="201073" y="2206946"/>
            <a:ext cx="11990927" cy="291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703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521B3FA1-6449-42C5-B62F-291BF2A25E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7428"/>
          <a:stretch/>
        </p:blipFill>
        <p:spPr>
          <a:xfrm>
            <a:off x="73636" y="3525334"/>
            <a:ext cx="12044728" cy="2484120"/>
          </a:xfrm>
          <a:prstGeom prst="rect">
            <a:avLst/>
          </a:prstGeom>
        </p:spPr>
      </p:pic>
      <p:sp>
        <p:nvSpPr>
          <p:cNvPr id="3" name="כותרת 2">
            <a:extLst>
              <a:ext uri="{FF2B5EF4-FFF2-40B4-BE49-F238E27FC236}">
                <a16:creationId xmlns:a16="http://schemas.microsoft.com/office/drawing/2014/main" id="{597C0315-BA10-4CAB-9DEA-4980F19B3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2676" y="429216"/>
            <a:ext cx="3606648" cy="1450757"/>
          </a:xfrm>
        </p:spPr>
        <p:txBody>
          <a:bodyPr/>
          <a:lstStyle/>
          <a:p>
            <a:pPr algn="ctr"/>
            <a:r>
              <a:rPr lang="he-IL" dirty="0"/>
              <a:t>הטבלה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CCDE28E-0E93-4203-B3C7-E68C86389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85" y="2250627"/>
            <a:ext cx="11223190" cy="108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5677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2">
            <a:extLst>
              <a:ext uri="{FF2B5EF4-FFF2-40B4-BE49-F238E27FC236}">
                <a16:creationId xmlns:a16="http://schemas.microsoft.com/office/drawing/2014/main" id="{6359B37C-A145-4A83-8D59-FED99134F0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e-IL" dirty="0"/>
              <a:t>דוגמה למילוי הטבלה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6B63F643-6B6B-43C6-A033-B6FAC184E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12" y="2007100"/>
            <a:ext cx="11169128" cy="311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998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2">
            <a:extLst>
              <a:ext uri="{FF2B5EF4-FFF2-40B4-BE49-F238E27FC236}">
                <a16:creationId xmlns:a16="http://schemas.microsoft.com/office/drawing/2014/main" id="{BA065B01-361D-4738-95E5-2F8B7FDA40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e-IL" dirty="0"/>
              <a:t>חילוץ הפתרון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F61E6C42-8387-40CD-A4ED-75D1C706D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87" y="2072433"/>
            <a:ext cx="11450225" cy="117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7156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2">
            <a:extLst>
              <a:ext uri="{FF2B5EF4-FFF2-40B4-BE49-F238E27FC236}">
                <a16:creationId xmlns:a16="http://schemas.microsoft.com/office/drawing/2014/main" id="{0F9247EE-35F2-4395-B135-1D4D3F722C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e-IL" dirty="0"/>
              <a:t>זמן ריצה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42FEB70-5F28-4B47-BAF6-F2E44505A7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12" r="11086"/>
          <a:stretch/>
        </p:blipFill>
        <p:spPr>
          <a:xfrm>
            <a:off x="907576" y="2470244"/>
            <a:ext cx="10376848" cy="51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5165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30F238-41B4-0793-EA81-328D59B9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 נראה היום?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CFEA2EA-1886-D54E-1689-BF9D0BF0A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262" y="668068"/>
            <a:ext cx="6492240" cy="660047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לוח המשימות המתוגמלות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תרמיל הגב בשלמים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מוט הברזל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כפל מטריצות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ניתוב משימות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חיתוך הבד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he-IL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4093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בעיית ניתוב משימות</a:t>
            </a:r>
          </a:p>
        </p:txBody>
      </p:sp>
      <p:grpSp>
        <p:nvGrpSpPr>
          <p:cNvPr id="68" name="קבוצה 67">
            <a:extLst>
              <a:ext uri="{FF2B5EF4-FFF2-40B4-BE49-F238E27FC236}">
                <a16:creationId xmlns:a16="http://schemas.microsoft.com/office/drawing/2014/main" id="{2C4DB747-08A6-0630-D780-6F37C966D319}"/>
              </a:ext>
            </a:extLst>
          </p:cNvPr>
          <p:cNvGrpSpPr/>
          <p:nvPr/>
        </p:nvGrpSpPr>
        <p:grpSpPr>
          <a:xfrm>
            <a:off x="828660" y="1737360"/>
            <a:ext cx="11123195" cy="2423160"/>
            <a:chOff x="-440448" y="1758288"/>
            <a:chExt cx="13745876" cy="3302499"/>
          </a:xfrm>
        </p:grpSpPr>
        <p:sp>
          <p:nvSpPr>
            <p:cNvPr id="11" name="אליפסה 10">
              <a:extLst>
                <a:ext uri="{FF2B5EF4-FFF2-40B4-BE49-F238E27FC236}">
                  <a16:creationId xmlns:a16="http://schemas.microsoft.com/office/drawing/2014/main" id="{B76FC0E1-9BE9-6EA0-231E-1DE4F7F92BC6}"/>
                </a:ext>
              </a:extLst>
            </p:cNvPr>
            <p:cNvSpPr/>
            <p:nvPr/>
          </p:nvSpPr>
          <p:spPr>
            <a:xfrm>
              <a:off x="1706880" y="3276600"/>
              <a:ext cx="304800" cy="304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2" name="אליפסה 11">
              <a:extLst>
                <a:ext uri="{FF2B5EF4-FFF2-40B4-BE49-F238E27FC236}">
                  <a16:creationId xmlns:a16="http://schemas.microsoft.com/office/drawing/2014/main" id="{CCFED6FF-6230-8784-629C-17EEB7F4D695}"/>
                </a:ext>
              </a:extLst>
            </p:cNvPr>
            <p:cNvSpPr/>
            <p:nvPr/>
          </p:nvSpPr>
          <p:spPr>
            <a:xfrm>
              <a:off x="3185160" y="2354580"/>
              <a:ext cx="304800" cy="304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3" name="אליפסה 12">
              <a:extLst>
                <a:ext uri="{FF2B5EF4-FFF2-40B4-BE49-F238E27FC236}">
                  <a16:creationId xmlns:a16="http://schemas.microsoft.com/office/drawing/2014/main" id="{B7820554-1F85-9F09-E5BA-0F0FD591CE3B}"/>
                </a:ext>
              </a:extLst>
            </p:cNvPr>
            <p:cNvSpPr/>
            <p:nvPr/>
          </p:nvSpPr>
          <p:spPr>
            <a:xfrm>
              <a:off x="3185160" y="4267200"/>
              <a:ext cx="304800" cy="304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" name="אליפסה 13">
              <a:extLst>
                <a:ext uri="{FF2B5EF4-FFF2-40B4-BE49-F238E27FC236}">
                  <a16:creationId xmlns:a16="http://schemas.microsoft.com/office/drawing/2014/main" id="{EA666FD9-B561-9E98-10EB-A9FCD837DA40}"/>
                </a:ext>
              </a:extLst>
            </p:cNvPr>
            <p:cNvSpPr/>
            <p:nvPr/>
          </p:nvSpPr>
          <p:spPr>
            <a:xfrm>
              <a:off x="5140960" y="2354580"/>
              <a:ext cx="304800" cy="304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5" name="אליפסה 14">
              <a:extLst>
                <a:ext uri="{FF2B5EF4-FFF2-40B4-BE49-F238E27FC236}">
                  <a16:creationId xmlns:a16="http://schemas.microsoft.com/office/drawing/2014/main" id="{628DD105-6258-E64F-F002-88B327145349}"/>
                </a:ext>
              </a:extLst>
            </p:cNvPr>
            <p:cNvSpPr/>
            <p:nvPr/>
          </p:nvSpPr>
          <p:spPr>
            <a:xfrm>
              <a:off x="5140960" y="4267200"/>
              <a:ext cx="304800" cy="304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6" name="אליפסה 15">
              <a:extLst>
                <a:ext uri="{FF2B5EF4-FFF2-40B4-BE49-F238E27FC236}">
                  <a16:creationId xmlns:a16="http://schemas.microsoft.com/office/drawing/2014/main" id="{EF3812E7-6434-B16C-6B7A-4A70BC98995B}"/>
                </a:ext>
              </a:extLst>
            </p:cNvPr>
            <p:cNvSpPr/>
            <p:nvPr/>
          </p:nvSpPr>
          <p:spPr>
            <a:xfrm>
              <a:off x="7096760" y="4267200"/>
              <a:ext cx="304800" cy="304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7" name="אליפסה 16">
              <a:extLst>
                <a:ext uri="{FF2B5EF4-FFF2-40B4-BE49-F238E27FC236}">
                  <a16:creationId xmlns:a16="http://schemas.microsoft.com/office/drawing/2014/main" id="{FF30933E-55AC-B0B9-6637-152EC6024E48}"/>
                </a:ext>
              </a:extLst>
            </p:cNvPr>
            <p:cNvSpPr/>
            <p:nvPr/>
          </p:nvSpPr>
          <p:spPr>
            <a:xfrm>
              <a:off x="9052560" y="4267200"/>
              <a:ext cx="304800" cy="304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8" name="אליפסה 17">
              <a:extLst>
                <a:ext uri="{FF2B5EF4-FFF2-40B4-BE49-F238E27FC236}">
                  <a16:creationId xmlns:a16="http://schemas.microsoft.com/office/drawing/2014/main" id="{6A6D8C8D-EB48-75D0-3290-B91A21CED0D5}"/>
                </a:ext>
              </a:extLst>
            </p:cNvPr>
            <p:cNvSpPr/>
            <p:nvPr/>
          </p:nvSpPr>
          <p:spPr>
            <a:xfrm>
              <a:off x="9052560" y="2354580"/>
              <a:ext cx="304800" cy="304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9" name="אליפסה 18">
              <a:extLst>
                <a:ext uri="{FF2B5EF4-FFF2-40B4-BE49-F238E27FC236}">
                  <a16:creationId xmlns:a16="http://schemas.microsoft.com/office/drawing/2014/main" id="{636910E4-2E44-87BA-6FE1-5A238A83699C}"/>
                </a:ext>
              </a:extLst>
            </p:cNvPr>
            <p:cNvSpPr/>
            <p:nvPr/>
          </p:nvSpPr>
          <p:spPr>
            <a:xfrm>
              <a:off x="7096760" y="2354580"/>
              <a:ext cx="304800" cy="304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0" name="אליפסה 19">
              <a:extLst>
                <a:ext uri="{FF2B5EF4-FFF2-40B4-BE49-F238E27FC236}">
                  <a16:creationId xmlns:a16="http://schemas.microsoft.com/office/drawing/2014/main" id="{EA69BD44-0F25-76F3-F1A4-306370C3682D}"/>
                </a:ext>
              </a:extLst>
            </p:cNvPr>
            <p:cNvSpPr/>
            <p:nvPr/>
          </p:nvSpPr>
          <p:spPr>
            <a:xfrm>
              <a:off x="10530840" y="3276600"/>
              <a:ext cx="304800" cy="3048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22" name="מחבר חץ ישר 21">
              <a:extLst>
                <a:ext uri="{FF2B5EF4-FFF2-40B4-BE49-F238E27FC236}">
                  <a16:creationId xmlns:a16="http://schemas.microsoft.com/office/drawing/2014/main" id="{9C797890-24B7-4D24-AFB9-CE364F7A6FFD}"/>
                </a:ext>
              </a:extLst>
            </p:cNvPr>
            <p:cNvCxnSpPr>
              <a:cxnSpLocks/>
              <a:stCxn id="11" idx="7"/>
              <a:endCxn id="12" idx="3"/>
            </p:cNvCxnSpPr>
            <p:nvPr/>
          </p:nvCxnSpPr>
          <p:spPr>
            <a:xfrm flipV="1">
              <a:off x="1967043" y="2614743"/>
              <a:ext cx="1262754" cy="70649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מחבר חץ ישר 24">
              <a:extLst>
                <a:ext uri="{FF2B5EF4-FFF2-40B4-BE49-F238E27FC236}">
                  <a16:creationId xmlns:a16="http://schemas.microsoft.com/office/drawing/2014/main" id="{063AA46E-9509-EA53-9FCB-4484254FD3C4}"/>
                </a:ext>
              </a:extLst>
            </p:cNvPr>
            <p:cNvCxnSpPr>
              <a:cxnSpLocks/>
            </p:cNvCxnSpPr>
            <p:nvPr/>
          </p:nvCxnSpPr>
          <p:spPr>
            <a:xfrm>
              <a:off x="3472619" y="2505047"/>
              <a:ext cx="169563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מחבר חץ ישר 26">
              <a:extLst>
                <a:ext uri="{FF2B5EF4-FFF2-40B4-BE49-F238E27FC236}">
                  <a16:creationId xmlns:a16="http://schemas.microsoft.com/office/drawing/2014/main" id="{6796F2FA-F8E3-99DB-9B7E-E21AE1DBD140}"/>
                </a:ext>
              </a:extLst>
            </p:cNvPr>
            <p:cNvCxnSpPr>
              <a:cxnSpLocks/>
            </p:cNvCxnSpPr>
            <p:nvPr/>
          </p:nvCxnSpPr>
          <p:spPr>
            <a:xfrm>
              <a:off x="5445760" y="2506980"/>
              <a:ext cx="169563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מחבר חץ ישר 27">
              <a:extLst>
                <a:ext uri="{FF2B5EF4-FFF2-40B4-BE49-F238E27FC236}">
                  <a16:creationId xmlns:a16="http://schemas.microsoft.com/office/drawing/2014/main" id="{4D7285D3-8422-544B-21D2-A58F912CC17C}"/>
                </a:ext>
              </a:extLst>
            </p:cNvPr>
            <p:cNvCxnSpPr>
              <a:cxnSpLocks/>
            </p:cNvCxnSpPr>
            <p:nvPr/>
          </p:nvCxnSpPr>
          <p:spPr>
            <a:xfrm>
              <a:off x="7401560" y="2506980"/>
              <a:ext cx="169563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מחבר חץ ישר 28">
              <a:extLst>
                <a:ext uri="{FF2B5EF4-FFF2-40B4-BE49-F238E27FC236}">
                  <a16:creationId xmlns:a16="http://schemas.microsoft.com/office/drawing/2014/main" id="{B8CD72CF-05F2-3715-0647-C4E745D68A2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760" y="4419600"/>
              <a:ext cx="1695637" cy="0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מחבר חץ ישר 29">
              <a:extLst>
                <a:ext uri="{FF2B5EF4-FFF2-40B4-BE49-F238E27FC236}">
                  <a16:creationId xmlns:a16="http://schemas.microsoft.com/office/drawing/2014/main" id="{F502A585-8E6C-9B13-CDD3-9C4F115260F4}"/>
                </a:ext>
              </a:extLst>
            </p:cNvPr>
            <p:cNvCxnSpPr>
              <a:cxnSpLocks/>
            </p:cNvCxnSpPr>
            <p:nvPr/>
          </p:nvCxnSpPr>
          <p:spPr>
            <a:xfrm>
              <a:off x="7401560" y="4419600"/>
              <a:ext cx="1695637" cy="0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מחבר חץ ישר 30">
              <a:extLst>
                <a:ext uri="{FF2B5EF4-FFF2-40B4-BE49-F238E27FC236}">
                  <a16:creationId xmlns:a16="http://schemas.microsoft.com/office/drawing/2014/main" id="{A0A08BBD-6AF9-8E96-1394-2AFC1822808E}"/>
                </a:ext>
              </a:extLst>
            </p:cNvPr>
            <p:cNvCxnSpPr>
              <a:cxnSpLocks/>
            </p:cNvCxnSpPr>
            <p:nvPr/>
          </p:nvCxnSpPr>
          <p:spPr>
            <a:xfrm>
              <a:off x="3445323" y="4419600"/>
              <a:ext cx="1695637" cy="0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מחבר חץ ישר 31">
              <a:extLst>
                <a:ext uri="{FF2B5EF4-FFF2-40B4-BE49-F238E27FC236}">
                  <a16:creationId xmlns:a16="http://schemas.microsoft.com/office/drawing/2014/main" id="{EF7CFDC1-139F-DD88-45C7-24B118830833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1967043" y="3528060"/>
              <a:ext cx="1262754" cy="783777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מחבר חץ ישר 33">
              <a:extLst>
                <a:ext uri="{FF2B5EF4-FFF2-40B4-BE49-F238E27FC236}">
                  <a16:creationId xmlns:a16="http://schemas.microsoft.com/office/drawing/2014/main" id="{9B9436DB-6705-B69A-E087-91A4A14936F8}"/>
                </a:ext>
              </a:extLst>
            </p:cNvPr>
            <p:cNvCxnSpPr>
              <a:cxnSpLocks/>
              <a:endCxn id="20" idx="3"/>
            </p:cNvCxnSpPr>
            <p:nvPr/>
          </p:nvCxnSpPr>
          <p:spPr>
            <a:xfrm flipV="1">
              <a:off x="9357360" y="3536763"/>
              <a:ext cx="1218117" cy="880903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מחבר חץ ישר 35">
              <a:extLst>
                <a:ext uri="{FF2B5EF4-FFF2-40B4-BE49-F238E27FC236}">
                  <a16:creationId xmlns:a16="http://schemas.microsoft.com/office/drawing/2014/main" id="{B6047D37-829D-62AA-6BA9-0CD04251E9C6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9357360" y="2505047"/>
              <a:ext cx="1218117" cy="81619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מחבר חץ ישר 37">
              <a:extLst>
                <a:ext uri="{FF2B5EF4-FFF2-40B4-BE49-F238E27FC236}">
                  <a16:creationId xmlns:a16="http://schemas.microsoft.com/office/drawing/2014/main" id="{C010448C-44FF-1AD0-18C3-F5764BDCDF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5322" y="2625378"/>
              <a:ext cx="1695638" cy="1655131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מחבר חץ ישר 41">
              <a:extLst>
                <a:ext uri="{FF2B5EF4-FFF2-40B4-BE49-F238E27FC236}">
                  <a16:creationId xmlns:a16="http://schemas.microsoft.com/office/drawing/2014/main" id="{EB89E6B8-2540-0642-A5FC-68FA3897B8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3441" y="2625663"/>
              <a:ext cx="1695638" cy="1655131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מחבר חץ ישר 42">
              <a:extLst>
                <a:ext uri="{FF2B5EF4-FFF2-40B4-BE49-F238E27FC236}">
                  <a16:creationId xmlns:a16="http://schemas.microsoft.com/office/drawing/2014/main" id="{7AF998E2-71F1-BBA4-3996-11D66D0ACE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0400" y="2640505"/>
              <a:ext cx="1695638" cy="1655131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מחבר חץ ישר 43">
              <a:extLst>
                <a:ext uri="{FF2B5EF4-FFF2-40B4-BE49-F238E27FC236}">
                  <a16:creationId xmlns:a16="http://schemas.microsoft.com/office/drawing/2014/main" id="{FA675D0F-0F34-6F5E-FC53-2450C5B6E313}"/>
                </a:ext>
              </a:extLst>
            </p:cNvPr>
            <p:cNvCxnSpPr>
              <a:cxnSpLocks/>
            </p:cNvCxnSpPr>
            <p:nvPr/>
          </p:nvCxnSpPr>
          <p:spPr>
            <a:xfrm>
              <a:off x="3391838" y="2627477"/>
              <a:ext cx="1821055" cy="1670712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מחבר חץ ישר 45">
              <a:extLst>
                <a:ext uri="{FF2B5EF4-FFF2-40B4-BE49-F238E27FC236}">
                  <a16:creationId xmlns:a16="http://schemas.microsoft.com/office/drawing/2014/main" id="{A9AA2C00-98D8-2760-BD61-EDE0F5D11B4B}"/>
                </a:ext>
              </a:extLst>
            </p:cNvPr>
            <p:cNvCxnSpPr>
              <a:cxnSpLocks/>
            </p:cNvCxnSpPr>
            <p:nvPr/>
          </p:nvCxnSpPr>
          <p:spPr>
            <a:xfrm>
              <a:off x="5374934" y="2630611"/>
              <a:ext cx="1821055" cy="1670712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מחבר חץ ישר 46">
              <a:extLst>
                <a:ext uri="{FF2B5EF4-FFF2-40B4-BE49-F238E27FC236}">
                  <a16:creationId xmlns:a16="http://schemas.microsoft.com/office/drawing/2014/main" id="{C7961D0E-6421-65D1-2377-A5ED9773CDB4}"/>
                </a:ext>
              </a:extLst>
            </p:cNvPr>
            <p:cNvCxnSpPr>
              <a:cxnSpLocks/>
            </p:cNvCxnSpPr>
            <p:nvPr/>
          </p:nvCxnSpPr>
          <p:spPr>
            <a:xfrm>
              <a:off x="7293981" y="2627477"/>
              <a:ext cx="1821055" cy="1670712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תיבת טקסט 47">
                  <a:extLst>
                    <a:ext uri="{FF2B5EF4-FFF2-40B4-BE49-F238E27FC236}">
                      <a16:creationId xmlns:a16="http://schemas.microsoft.com/office/drawing/2014/main" id="{A3331EBC-E119-55E4-83EE-31599ED5915F}"/>
                    </a:ext>
                  </a:extLst>
                </p:cNvPr>
                <p:cNvSpPr txBox="1"/>
                <p:nvPr/>
              </p:nvSpPr>
              <p:spPr>
                <a:xfrm>
                  <a:off x="2011680" y="2382370"/>
                  <a:ext cx="622338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48" name="תיבת טקסט 47">
                  <a:extLst>
                    <a:ext uri="{FF2B5EF4-FFF2-40B4-BE49-F238E27FC236}">
                      <a16:creationId xmlns:a16="http://schemas.microsoft.com/office/drawing/2014/main" id="{A3331EBC-E119-55E4-83EE-31599ED591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1680" y="2382370"/>
                  <a:ext cx="622338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41071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תיבת טקסט 48">
                  <a:extLst>
                    <a:ext uri="{FF2B5EF4-FFF2-40B4-BE49-F238E27FC236}">
                      <a16:creationId xmlns:a16="http://schemas.microsoft.com/office/drawing/2014/main" id="{00A49907-8064-F4D6-52E7-2F04683CC5ED}"/>
                    </a:ext>
                  </a:extLst>
                </p:cNvPr>
                <p:cNvSpPr txBox="1"/>
                <p:nvPr/>
              </p:nvSpPr>
              <p:spPr>
                <a:xfrm>
                  <a:off x="3928187" y="1893919"/>
                  <a:ext cx="622338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49" name="תיבת טקסט 48">
                  <a:extLst>
                    <a:ext uri="{FF2B5EF4-FFF2-40B4-BE49-F238E27FC236}">
                      <a16:creationId xmlns:a16="http://schemas.microsoft.com/office/drawing/2014/main" id="{00A49907-8064-F4D6-52E7-2F04683CC5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8187" y="1893919"/>
                  <a:ext cx="622338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41071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תיבת טקסט 49">
                  <a:extLst>
                    <a:ext uri="{FF2B5EF4-FFF2-40B4-BE49-F238E27FC236}">
                      <a16:creationId xmlns:a16="http://schemas.microsoft.com/office/drawing/2014/main" id="{E0B70507-6B39-6E61-5980-293A35A7F13A}"/>
                    </a:ext>
                  </a:extLst>
                </p:cNvPr>
                <p:cNvSpPr txBox="1"/>
                <p:nvPr/>
              </p:nvSpPr>
              <p:spPr>
                <a:xfrm>
                  <a:off x="3916474" y="4400839"/>
                  <a:ext cx="622338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50" name="תיבת טקסט 49">
                  <a:extLst>
                    <a:ext uri="{FF2B5EF4-FFF2-40B4-BE49-F238E27FC236}">
                      <a16:creationId xmlns:a16="http://schemas.microsoft.com/office/drawing/2014/main" id="{E0B70507-6B39-6E61-5980-293A35A7F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6474" y="4400839"/>
                  <a:ext cx="622338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205" b="-53571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תיבת טקסט 50">
                  <a:extLst>
                    <a:ext uri="{FF2B5EF4-FFF2-40B4-BE49-F238E27FC236}">
                      <a16:creationId xmlns:a16="http://schemas.microsoft.com/office/drawing/2014/main" id="{EF06A02D-D4ED-9602-CB2B-3F7EB3926F66}"/>
                    </a:ext>
                  </a:extLst>
                </p:cNvPr>
                <p:cNvSpPr txBox="1"/>
                <p:nvPr/>
              </p:nvSpPr>
              <p:spPr>
                <a:xfrm>
                  <a:off x="2048491" y="3858193"/>
                  <a:ext cx="622338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51" name="תיבת טקסט 50">
                  <a:extLst>
                    <a:ext uri="{FF2B5EF4-FFF2-40B4-BE49-F238E27FC236}">
                      <a16:creationId xmlns:a16="http://schemas.microsoft.com/office/drawing/2014/main" id="{EF06A02D-D4ED-9602-CB2B-3F7EB3926F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8491" y="3858193"/>
                  <a:ext cx="622338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205" b="-54545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תיבת טקסט 51">
                  <a:extLst>
                    <a:ext uri="{FF2B5EF4-FFF2-40B4-BE49-F238E27FC236}">
                      <a16:creationId xmlns:a16="http://schemas.microsoft.com/office/drawing/2014/main" id="{D4C7A7ED-53E5-2267-0872-500D3F1ADCE5}"/>
                    </a:ext>
                  </a:extLst>
                </p:cNvPr>
                <p:cNvSpPr txBox="1"/>
                <p:nvPr/>
              </p:nvSpPr>
              <p:spPr>
                <a:xfrm>
                  <a:off x="-440448" y="3165599"/>
                  <a:ext cx="2340004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he-IL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he-IL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52" name="תיבת טקסט 51">
                  <a:extLst>
                    <a:ext uri="{FF2B5EF4-FFF2-40B4-BE49-F238E27FC236}">
                      <a16:creationId xmlns:a16="http://schemas.microsoft.com/office/drawing/2014/main" id="{D4C7A7ED-53E5-2267-0872-500D3F1AD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40448" y="3165599"/>
                  <a:ext cx="2340004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41071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תיבת טקסט 52">
                  <a:extLst>
                    <a:ext uri="{FF2B5EF4-FFF2-40B4-BE49-F238E27FC236}">
                      <a16:creationId xmlns:a16="http://schemas.microsoft.com/office/drawing/2014/main" id="{EECAA3F8-764B-79CE-7AE1-58CF77CB5CD1}"/>
                    </a:ext>
                  </a:extLst>
                </p:cNvPr>
                <p:cNvSpPr txBox="1"/>
                <p:nvPr/>
              </p:nvSpPr>
              <p:spPr>
                <a:xfrm>
                  <a:off x="10530840" y="3143974"/>
                  <a:ext cx="2774588" cy="629198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he-IL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he-IL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53" name="תיבת טקסט 52">
                  <a:extLst>
                    <a:ext uri="{FF2B5EF4-FFF2-40B4-BE49-F238E27FC236}">
                      <a16:creationId xmlns:a16="http://schemas.microsoft.com/office/drawing/2014/main" id="{EECAA3F8-764B-79CE-7AE1-58CF77CB5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30840" y="3143974"/>
                  <a:ext cx="2774588" cy="62919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תיבת טקסט 53">
              <a:extLst>
                <a:ext uri="{FF2B5EF4-FFF2-40B4-BE49-F238E27FC236}">
                  <a16:creationId xmlns:a16="http://schemas.microsoft.com/office/drawing/2014/main" id="{A4FDD597-E7BA-EC60-D8CE-414721BEBF9E}"/>
                </a:ext>
              </a:extLst>
            </p:cNvPr>
            <p:cNvSpPr txBox="1"/>
            <p:nvPr/>
          </p:nvSpPr>
          <p:spPr>
            <a:xfrm>
              <a:off x="7903873" y="1758288"/>
              <a:ext cx="1351129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600" dirty="0"/>
                <a:t>…</a:t>
              </a:r>
              <a:endParaRPr lang="he-IL" sz="3600" dirty="0"/>
            </a:p>
          </p:txBody>
        </p:sp>
        <p:sp>
          <p:nvSpPr>
            <p:cNvPr id="55" name="תיבת טקסט 54">
              <a:extLst>
                <a:ext uri="{FF2B5EF4-FFF2-40B4-BE49-F238E27FC236}">
                  <a16:creationId xmlns:a16="http://schemas.microsoft.com/office/drawing/2014/main" id="{1DD7E2F3-28A8-23F7-B968-B16243C06660}"/>
                </a:ext>
              </a:extLst>
            </p:cNvPr>
            <p:cNvSpPr txBox="1"/>
            <p:nvPr/>
          </p:nvSpPr>
          <p:spPr>
            <a:xfrm>
              <a:off x="7870570" y="4414456"/>
              <a:ext cx="1351129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600" dirty="0"/>
                <a:t>…</a:t>
              </a:r>
              <a:endParaRPr lang="he-IL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תיבת טקסט 56">
                  <a:extLst>
                    <a:ext uri="{FF2B5EF4-FFF2-40B4-BE49-F238E27FC236}">
                      <a16:creationId xmlns:a16="http://schemas.microsoft.com/office/drawing/2014/main" id="{64E98129-987E-C3D2-A412-ECCC65150990}"/>
                    </a:ext>
                  </a:extLst>
                </p:cNvPr>
                <p:cNvSpPr txBox="1"/>
                <p:nvPr/>
              </p:nvSpPr>
              <p:spPr>
                <a:xfrm>
                  <a:off x="3315361" y="2785605"/>
                  <a:ext cx="622338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57" name="תיבת טקסט 56">
                  <a:extLst>
                    <a:ext uri="{FF2B5EF4-FFF2-40B4-BE49-F238E27FC236}">
                      <a16:creationId xmlns:a16="http://schemas.microsoft.com/office/drawing/2014/main" id="{64E98129-987E-C3D2-A412-ECCC65150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5361" y="2785605"/>
                  <a:ext cx="622338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41818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תיבת טקסט 57">
                  <a:extLst>
                    <a:ext uri="{FF2B5EF4-FFF2-40B4-BE49-F238E27FC236}">
                      <a16:creationId xmlns:a16="http://schemas.microsoft.com/office/drawing/2014/main" id="{B488A7AF-F304-8248-2AEC-8D182527E2BD}"/>
                    </a:ext>
                  </a:extLst>
                </p:cNvPr>
                <p:cNvSpPr txBox="1"/>
                <p:nvPr/>
              </p:nvSpPr>
              <p:spPr>
                <a:xfrm>
                  <a:off x="3221971" y="3524978"/>
                  <a:ext cx="622338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58" name="תיבת טקסט 57">
                  <a:extLst>
                    <a:ext uri="{FF2B5EF4-FFF2-40B4-BE49-F238E27FC236}">
                      <a16:creationId xmlns:a16="http://schemas.microsoft.com/office/drawing/2014/main" id="{B488A7AF-F304-8248-2AEC-8D182527E2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1971" y="3524978"/>
                  <a:ext cx="622338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205" b="-41818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תיבת טקסט 58">
                  <a:extLst>
                    <a:ext uri="{FF2B5EF4-FFF2-40B4-BE49-F238E27FC236}">
                      <a16:creationId xmlns:a16="http://schemas.microsoft.com/office/drawing/2014/main" id="{61C0C955-8C0A-6871-EA0E-C79CF72BDEA0}"/>
                    </a:ext>
                  </a:extLst>
                </p:cNvPr>
                <p:cNvSpPr txBox="1"/>
                <p:nvPr/>
              </p:nvSpPr>
              <p:spPr>
                <a:xfrm>
                  <a:off x="5325449" y="2913142"/>
                  <a:ext cx="622338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59" name="תיבת טקסט 58">
                  <a:extLst>
                    <a:ext uri="{FF2B5EF4-FFF2-40B4-BE49-F238E27FC236}">
                      <a16:creationId xmlns:a16="http://schemas.microsoft.com/office/drawing/2014/main" id="{61C0C955-8C0A-6871-EA0E-C79CF72BDE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5449" y="2913142"/>
                  <a:ext cx="622338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41071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תיבת טקסט 59">
                  <a:extLst>
                    <a:ext uri="{FF2B5EF4-FFF2-40B4-BE49-F238E27FC236}">
                      <a16:creationId xmlns:a16="http://schemas.microsoft.com/office/drawing/2014/main" id="{09BD886E-09B1-7E81-E800-7E825E01F9A8}"/>
                    </a:ext>
                  </a:extLst>
                </p:cNvPr>
                <p:cNvSpPr txBox="1"/>
                <p:nvPr/>
              </p:nvSpPr>
              <p:spPr>
                <a:xfrm>
                  <a:off x="5274195" y="3485534"/>
                  <a:ext cx="622338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60" name="תיבת טקסט 59">
                  <a:extLst>
                    <a:ext uri="{FF2B5EF4-FFF2-40B4-BE49-F238E27FC236}">
                      <a16:creationId xmlns:a16="http://schemas.microsoft.com/office/drawing/2014/main" id="{09BD886E-09B1-7E81-E800-7E825E01F9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4195" y="3485534"/>
                  <a:ext cx="622338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220" b="-41818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תיבת טקסט 60">
                  <a:extLst>
                    <a:ext uri="{FF2B5EF4-FFF2-40B4-BE49-F238E27FC236}">
                      <a16:creationId xmlns:a16="http://schemas.microsoft.com/office/drawing/2014/main" id="{E5804FBC-F92B-E722-77F8-26C5797B1BA1}"/>
                    </a:ext>
                  </a:extLst>
                </p:cNvPr>
                <p:cNvSpPr txBox="1"/>
                <p:nvPr/>
              </p:nvSpPr>
              <p:spPr>
                <a:xfrm>
                  <a:off x="3054694" y="1826956"/>
                  <a:ext cx="622338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61" name="תיבת טקסט 60">
                  <a:extLst>
                    <a:ext uri="{FF2B5EF4-FFF2-40B4-BE49-F238E27FC236}">
                      <a16:creationId xmlns:a16="http://schemas.microsoft.com/office/drawing/2014/main" id="{E5804FBC-F92B-E722-77F8-26C5797B1B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4694" y="1826956"/>
                  <a:ext cx="622338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41071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תיבת טקסט 61">
                  <a:extLst>
                    <a:ext uri="{FF2B5EF4-FFF2-40B4-BE49-F238E27FC236}">
                      <a16:creationId xmlns:a16="http://schemas.microsoft.com/office/drawing/2014/main" id="{B6BA82DB-D922-36AD-3B64-4AE5EB3CC32D}"/>
                    </a:ext>
                  </a:extLst>
                </p:cNvPr>
                <p:cNvSpPr txBox="1"/>
                <p:nvPr/>
              </p:nvSpPr>
              <p:spPr>
                <a:xfrm>
                  <a:off x="4963026" y="1769285"/>
                  <a:ext cx="622338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62" name="תיבת טקסט 61">
                  <a:extLst>
                    <a:ext uri="{FF2B5EF4-FFF2-40B4-BE49-F238E27FC236}">
                      <a16:creationId xmlns:a16="http://schemas.microsoft.com/office/drawing/2014/main" id="{B6BA82DB-D922-36AD-3B64-4AE5EB3CC3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3026" y="1769285"/>
                  <a:ext cx="622338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41071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תיבת טקסט 62">
                  <a:extLst>
                    <a:ext uri="{FF2B5EF4-FFF2-40B4-BE49-F238E27FC236}">
                      <a16:creationId xmlns:a16="http://schemas.microsoft.com/office/drawing/2014/main" id="{7640A500-1F34-E915-5E2D-658A043CE41F}"/>
                    </a:ext>
                  </a:extLst>
                </p:cNvPr>
                <p:cNvSpPr txBox="1"/>
                <p:nvPr/>
              </p:nvSpPr>
              <p:spPr>
                <a:xfrm>
                  <a:off x="8893790" y="1787725"/>
                  <a:ext cx="622338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63" name="תיבת טקסט 62">
                  <a:extLst>
                    <a:ext uri="{FF2B5EF4-FFF2-40B4-BE49-F238E27FC236}">
                      <a16:creationId xmlns:a16="http://schemas.microsoft.com/office/drawing/2014/main" id="{7640A500-1F34-E915-5E2D-658A043CE4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3790" y="1787725"/>
                  <a:ext cx="622338" cy="461665"/>
                </a:xfrm>
                <a:prstGeom prst="rect">
                  <a:avLst/>
                </a:prstGeom>
                <a:blipFill>
                  <a:blip r:embed="rId14"/>
                  <a:stretch>
                    <a:fillRect r="-54217" b="-41818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תיבת טקסט 63">
                  <a:extLst>
                    <a:ext uri="{FF2B5EF4-FFF2-40B4-BE49-F238E27FC236}">
                      <a16:creationId xmlns:a16="http://schemas.microsoft.com/office/drawing/2014/main" id="{60BF3853-9361-BD08-303F-16094F3B071C}"/>
                    </a:ext>
                  </a:extLst>
                </p:cNvPr>
                <p:cNvSpPr txBox="1"/>
                <p:nvPr/>
              </p:nvSpPr>
              <p:spPr>
                <a:xfrm>
                  <a:off x="8774869" y="4488423"/>
                  <a:ext cx="622338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64" name="תיבת טקסט 63">
                  <a:extLst>
                    <a:ext uri="{FF2B5EF4-FFF2-40B4-BE49-F238E27FC236}">
                      <a16:creationId xmlns:a16="http://schemas.microsoft.com/office/drawing/2014/main" id="{60BF3853-9361-BD08-303F-16094F3B07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4869" y="4488423"/>
                  <a:ext cx="622338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3614" r="-54217" b="-41818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תיבת טקסט 64">
                  <a:extLst>
                    <a:ext uri="{FF2B5EF4-FFF2-40B4-BE49-F238E27FC236}">
                      <a16:creationId xmlns:a16="http://schemas.microsoft.com/office/drawing/2014/main" id="{E5BF95A0-83DF-D81C-3D19-A26BC4E44B2B}"/>
                    </a:ext>
                  </a:extLst>
                </p:cNvPr>
                <p:cNvSpPr txBox="1"/>
                <p:nvPr/>
              </p:nvSpPr>
              <p:spPr>
                <a:xfrm>
                  <a:off x="2970301" y="4506788"/>
                  <a:ext cx="622338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65" name="תיבת טקסט 64">
                  <a:extLst>
                    <a:ext uri="{FF2B5EF4-FFF2-40B4-BE49-F238E27FC236}">
                      <a16:creationId xmlns:a16="http://schemas.microsoft.com/office/drawing/2014/main" id="{E5BF95A0-83DF-D81C-3D19-A26BC4E44B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0301" y="4506788"/>
                  <a:ext cx="622338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2439" b="-41818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תיבת טקסט 65">
                  <a:extLst>
                    <a:ext uri="{FF2B5EF4-FFF2-40B4-BE49-F238E27FC236}">
                      <a16:creationId xmlns:a16="http://schemas.microsoft.com/office/drawing/2014/main" id="{6DF2B036-8B88-9A8E-E13B-BD63F2DEC882}"/>
                    </a:ext>
                  </a:extLst>
                </p:cNvPr>
                <p:cNvSpPr txBox="1"/>
                <p:nvPr/>
              </p:nvSpPr>
              <p:spPr>
                <a:xfrm>
                  <a:off x="4963026" y="4488422"/>
                  <a:ext cx="622338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66" name="תיבת טקסט 65">
                  <a:extLst>
                    <a:ext uri="{FF2B5EF4-FFF2-40B4-BE49-F238E27FC236}">
                      <a16:creationId xmlns:a16="http://schemas.microsoft.com/office/drawing/2014/main" id="{6DF2B036-8B88-9A8E-E13B-BD63F2DEC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3026" y="4488422"/>
                  <a:ext cx="622338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3614" b="-41818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מציין מיקום תוכן 2">
                <a:extLst>
                  <a:ext uri="{FF2B5EF4-FFF2-40B4-BE49-F238E27FC236}">
                    <a16:creationId xmlns:a16="http://schemas.microsoft.com/office/drawing/2014/main" id="{75E63837-F3BD-E765-82CB-DC90829433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33657" y="4294556"/>
                <a:ext cx="4495596" cy="1944582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400" b="1" dirty="0">
                    <a:solidFill>
                      <a:schemeClr val="tx1"/>
                    </a:solidFill>
                    <a:cs typeface="+mj-cs"/>
                  </a:rPr>
                  <a:t>קלט: </a:t>
                </a:r>
                <a:r>
                  <a:rPr lang="he-IL" sz="2400" dirty="0">
                    <a:solidFill>
                      <a:schemeClr val="tx1"/>
                    </a:solidFill>
                    <a:cs typeface="+mj-cs"/>
                  </a:rPr>
                  <a:t>נתון גרף כמתואר באיור.</a:t>
                </a:r>
              </a:p>
              <a:p>
                <a:pPr lvl="1"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000" dirty="0">
                    <a:solidFill>
                      <a:srgbClr val="FF0000"/>
                    </a:solidFill>
                    <a:cs typeface="+mj-cs"/>
                  </a:rPr>
                  <a:t>- מחיר המעבר מ-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000" dirty="0">
                    <a:solidFill>
                      <a:srgbClr val="FF0000"/>
                    </a:solidFill>
                    <a:cs typeface="+mj-cs"/>
                  </a:rPr>
                  <a:t>  ל-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𝑢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</m:oMath>
                </a14:m>
                <a:endParaRPr lang="he-IL" sz="2000" dirty="0">
                  <a:solidFill>
                    <a:schemeClr val="accent1">
                      <a:lumMod val="75000"/>
                    </a:schemeClr>
                  </a:solidFill>
                  <a:cs typeface="+mj-cs"/>
                </a:endParaRPr>
              </a:p>
              <a:p>
                <a:pPr lvl="1"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 smtClean="0">
                            <a:solidFill>
                              <a:srgbClr val="40749B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40749B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40749B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000" dirty="0">
                    <a:solidFill>
                      <a:srgbClr val="40749B"/>
                    </a:solidFill>
                    <a:cs typeface="+mj-cs"/>
                  </a:rPr>
                  <a:t>- מחיר המעבר מ-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 smtClean="0">
                            <a:solidFill>
                              <a:srgbClr val="40749B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40749B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40749B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rgbClr val="40749B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sz="2000" b="0" i="1" smtClean="0">
                            <a:solidFill>
                              <a:srgbClr val="40749B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000" dirty="0">
                    <a:solidFill>
                      <a:srgbClr val="40749B"/>
                    </a:solidFill>
                    <a:cs typeface="+mj-cs"/>
                  </a:rPr>
                  <a:t>  ל-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solidFill>
                              <a:srgbClr val="40749B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40749B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𝑑</m:t>
                        </m:r>
                      </m:e>
                      <m:sub>
                        <m:r>
                          <a:rPr lang="en-US" sz="2000" i="1">
                            <a:solidFill>
                              <a:srgbClr val="40749B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</m:oMath>
                </a14:m>
                <a:endParaRPr lang="he-IL" sz="2000" dirty="0">
                  <a:solidFill>
                    <a:srgbClr val="40749B"/>
                  </a:solidFill>
                  <a:cs typeface="+mj-cs"/>
                </a:endParaRPr>
              </a:p>
              <a:p>
                <a:pPr lvl="1"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 smtClean="0">
                            <a:solidFill>
                              <a:srgbClr val="964399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964399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964399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000" dirty="0">
                    <a:solidFill>
                      <a:srgbClr val="964399"/>
                    </a:solidFill>
                    <a:cs typeface="+mj-cs"/>
                  </a:rPr>
                  <a:t>- מחיר המעבר מ-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 smtClean="0">
                            <a:solidFill>
                              <a:srgbClr val="964399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964399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964399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rgbClr val="964399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sz="2000" b="0" i="1" smtClean="0">
                            <a:solidFill>
                              <a:srgbClr val="964399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000" dirty="0">
                    <a:solidFill>
                      <a:srgbClr val="964399"/>
                    </a:solidFill>
                    <a:cs typeface="+mj-cs"/>
                  </a:rPr>
                  <a:t>  ל-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solidFill>
                              <a:srgbClr val="964399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964399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𝑑</m:t>
                        </m:r>
                      </m:e>
                      <m:sub>
                        <m:r>
                          <a:rPr lang="en-US" sz="2000" i="1">
                            <a:solidFill>
                              <a:srgbClr val="964399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</m:oMath>
                </a14:m>
                <a:endParaRPr lang="he-IL" sz="2000" dirty="0">
                  <a:solidFill>
                    <a:srgbClr val="964399"/>
                  </a:solidFill>
                  <a:cs typeface="+mj-cs"/>
                </a:endParaRPr>
              </a:p>
              <a:p>
                <a:pPr lvl="1"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000" dirty="0">
                    <a:solidFill>
                      <a:srgbClr val="00B050"/>
                    </a:solidFill>
                    <a:cs typeface="+mj-cs"/>
                  </a:rPr>
                  <a:t>- מחיר המעבר מ-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000" dirty="0">
                    <a:solidFill>
                      <a:srgbClr val="00B050"/>
                    </a:solidFill>
                    <a:cs typeface="+mj-cs"/>
                  </a:rPr>
                  <a:t>  ל-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𝑢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</m:oMath>
                </a14:m>
                <a:endParaRPr lang="he-IL" sz="2000" dirty="0">
                  <a:solidFill>
                    <a:srgbClr val="00B050"/>
                  </a:solidFill>
                  <a:cs typeface="+mj-cs"/>
                </a:endParaRPr>
              </a:p>
            </p:txBody>
          </p:sp>
        </mc:Choice>
        <mc:Fallback xmlns="">
          <p:sp>
            <p:nvSpPr>
              <p:cNvPr id="69" name="מציין מיקום תוכן 2">
                <a:extLst>
                  <a:ext uri="{FF2B5EF4-FFF2-40B4-BE49-F238E27FC236}">
                    <a16:creationId xmlns:a16="http://schemas.microsoft.com/office/drawing/2014/main" id="{75E63837-F3BD-E765-82CB-DC90829433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33657" y="4294556"/>
                <a:ext cx="4495596" cy="1944582"/>
              </a:xfrm>
              <a:blipFill>
                <a:blip r:embed="rId18"/>
                <a:stretch>
                  <a:fillRect t="-2508" r="-4071" b="-68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מציין מיקום תוכן 2">
            <a:extLst>
              <a:ext uri="{FF2B5EF4-FFF2-40B4-BE49-F238E27FC236}">
                <a16:creationId xmlns:a16="http://schemas.microsoft.com/office/drawing/2014/main" id="{D65507CE-67C6-19EF-C311-F924D706288C}"/>
              </a:ext>
            </a:extLst>
          </p:cNvPr>
          <p:cNvSpPr txBox="1">
            <a:spLocks/>
          </p:cNvSpPr>
          <p:nvPr/>
        </p:nvSpPr>
        <p:spPr>
          <a:xfrm>
            <a:off x="1460963" y="5236488"/>
            <a:ext cx="4495596" cy="1944582"/>
          </a:xfrm>
          <a:prstGeom prst="rect">
            <a:avLst/>
          </a:prstGeom>
          <a:ln>
            <a:noFill/>
          </a:ln>
        </p:spPr>
        <p:txBody>
          <a:bodyPr vert="horz" lIns="0" tIns="45720" rIns="0" bIns="45720" rtlCol="0">
            <a:noAutofit/>
          </a:bodyPr>
          <a:lstStyle>
            <a:lvl1pPr marL="91440" indent="-91440" algn="r" defTabSz="914400" rtl="1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Calibri" panose="020F0502020204030204" pitchFamily="34" charset="0"/>
              <a:buNone/>
            </a:pPr>
            <a:r>
              <a:rPr lang="he-IL" sz="2400" b="1" dirty="0">
                <a:solidFill>
                  <a:schemeClr val="tx1"/>
                </a:solidFill>
                <a:cs typeface="+mj-cs"/>
              </a:rPr>
              <a:t>פלט: </a:t>
            </a:r>
            <a:r>
              <a:rPr lang="he-IL" sz="2400" dirty="0">
                <a:solidFill>
                  <a:schemeClr val="tx1"/>
                </a:solidFill>
                <a:cs typeface="+mj-cs"/>
              </a:rPr>
              <a:t>מסלול מ-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S</a:t>
            </a:r>
            <a:r>
              <a:rPr lang="he-IL" sz="2400" dirty="0">
                <a:solidFill>
                  <a:schemeClr val="tx1"/>
                </a:solidFill>
                <a:cs typeface="+mj-cs"/>
              </a:rPr>
              <a:t> ל-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F</a:t>
            </a:r>
            <a:r>
              <a:rPr lang="he-IL" sz="2400" dirty="0">
                <a:solidFill>
                  <a:schemeClr val="tx1"/>
                </a:solidFill>
                <a:cs typeface="+mj-cs"/>
              </a:rPr>
              <a:t> בעל מחיר מינימלי.</a:t>
            </a:r>
          </a:p>
        </p:txBody>
      </p:sp>
    </p:spTree>
    <p:extLst>
      <p:ext uri="{BB962C8B-B14F-4D97-AF65-F5344CB8AC3E}">
        <p14:creationId xmlns:p14="http://schemas.microsoft.com/office/powerpoint/2010/main" val="945341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סימונים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0763" y="1846263"/>
                <a:ext cx="9894599" cy="4725134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המחיר האופטימלי במעבר מ-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ל-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endParaRPr lang="he-IL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3200" b="0" i="1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מחיר המסלול האופטימלי בין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he-IL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ל-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3200" b="0" i="1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מחיר המסלול האופטימלי בין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he-IL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ל-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נוסחת רקורסיה ראשונית: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he-IL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min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⁡{</m:t>
                      </m:r>
                      <m:r>
                        <a:rPr lang="en-US" sz="3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3200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3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3200" b="0" i="1" baseline="-25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3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he-IL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he-IL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he-IL" sz="18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0763" y="1846263"/>
                <a:ext cx="9894599" cy="4725134"/>
              </a:xfrm>
              <a:blipFill>
                <a:blip r:embed="rId2"/>
                <a:stretch>
                  <a:fillRect r="-24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79017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נוסחת הרקורסיה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731519" y="1809274"/>
                <a:ext cx="12131040" cy="6230937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נסמן ב-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b="0" i="1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את מחיר המסלול האופטימלי מ-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ל-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נסמן ב-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800" b="0" i="1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את מחיר המסלול האופטימלי מ-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ל-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נוסחת רקורסיה כללית: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he-IL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he-IL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he-IL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he-IL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he-IL" sz="18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731519" y="1809274"/>
                <a:ext cx="12131040" cy="6230937"/>
              </a:xfrm>
              <a:blipFill>
                <a:blip r:embed="rId2"/>
                <a:stretch>
                  <a:fillRect t="-1174" r="-17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7469E5B5-CC5F-1AB3-4DC7-B4D14C2089D4}"/>
                  </a:ext>
                </a:extLst>
              </p:cNvPr>
              <p:cNvSpPr txBox="1"/>
              <p:nvPr/>
            </p:nvSpPr>
            <p:spPr>
              <a:xfrm>
                <a:off x="975360" y="3657600"/>
                <a:ext cx="8292411" cy="91614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2400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                                                       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⁡{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sz="2400" i="1" baseline="-250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sz="2400" i="1" baseline="-250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7469E5B5-CC5F-1AB3-4DC7-B4D14C208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" y="3657600"/>
                <a:ext cx="8292411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תיבת טקסט 5">
                <a:extLst>
                  <a:ext uri="{FF2B5EF4-FFF2-40B4-BE49-F238E27FC236}">
                    <a16:creationId xmlns:a16="http://schemas.microsoft.com/office/drawing/2014/main" id="{2C7862B3-B4D1-147F-B989-B691C64A3E38}"/>
                  </a:ext>
                </a:extLst>
              </p:cNvPr>
              <p:cNvSpPr txBox="1"/>
              <p:nvPr/>
            </p:nvSpPr>
            <p:spPr>
              <a:xfrm>
                <a:off x="975359" y="4924743"/>
                <a:ext cx="8292411" cy="91614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2400" b="0" i="1" baseline="-25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                                                       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⁡{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sz="2400" b="0" i="1" baseline="-25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sz="2400" b="0" i="1" baseline="-25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6" name="תיבת טקסט 5">
                <a:extLst>
                  <a:ext uri="{FF2B5EF4-FFF2-40B4-BE49-F238E27FC236}">
                    <a16:creationId xmlns:a16="http://schemas.microsoft.com/office/drawing/2014/main" id="{2C7862B3-B4D1-147F-B989-B691C64A3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59" y="4924743"/>
                <a:ext cx="8292411" cy="9161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6963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הטבלה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9F42E34A-3E57-F654-5EC0-C45A37CDA7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663" b="5935"/>
          <a:stretch/>
        </p:blipFill>
        <p:spPr>
          <a:xfrm>
            <a:off x="133701" y="2092542"/>
            <a:ext cx="12058299" cy="315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551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7ABFF80-FF03-2479-DD60-EDF858BE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חילוץ הפתרון וניתוח זמן ריצה</a:t>
            </a:r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471DB05D-EDF9-1F41-6ED8-EF29B9A2C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360" y="2779738"/>
            <a:ext cx="11237610" cy="145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4508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דוגמא</a:t>
            </a:r>
          </a:p>
        </p:txBody>
      </p:sp>
      <p:grpSp>
        <p:nvGrpSpPr>
          <p:cNvPr id="59" name="קבוצה 58">
            <a:extLst>
              <a:ext uri="{FF2B5EF4-FFF2-40B4-BE49-F238E27FC236}">
                <a16:creationId xmlns:a16="http://schemas.microsoft.com/office/drawing/2014/main" id="{56E45FC4-3A1B-1B69-5A24-FFB1EB76A2CF}"/>
              </a:ext>
            </a:extLst>
          </p:cNvPr>
          <p:cNvGrpSpPr/>
          <p:nvPr/>
        </p:nvGrpSpPr>
        <p:grpSpPr>
          <a:xfrm>
            <a:off x="1032844" y="1932332"/>
            <a:ext cx="9978492" cy="2504903"/>
            <a:chOff x="957075" y="1688492"/>
            <a:chExt cx="9978492" cy="2504903"/>
          </a:xfrm>
        </p:grpSpPr>
        <p:grpSp>
          <p:nvGrpSpPr>
            <p:cNvPr id="6" name="קבוצה 5">
              <a:extLst>
                <a:ext uri="{FF2B5EF4-FFF2-40B4-BE49-F238E27FC236}">
                  <a16:creationId xmlns:a16="http://schemas.microsoft.com/office/drawing/2014/main" id="{0992EDE2-B1D0-E5F5-E9ED-C2E069ACC2D2}"/>
                </a:ext>
              </a:extLst>
            </p:cNvPr>
            <p:cNvGrpSpPr/>
            <p:nvPr/>
          </p:nvGrpSpPr>
          <p:grpSpPr>
            <a:xfrm>
              <a:off x="957075" y="1688492"/>
              <a:ext cx="9978492" cy="2441396"/>
              <a:chOff x="-814876" y="1702683"/>
              <a:chExt cx="12331269" cy="3327354"/>
            </a:xfrm>
          </p:grpSpPr>
          <p:sp>
            <p:nvSpPr>
              <p:cNvPr id="7" name="אליפסה 6">
                <a:extLst>
                  <a:ext uri="{FF2B5EF4-FFF2-40B4-BE49-F238E27FC236}">
                    <a16:creationId xmlns:a16="http://schemas.microsoft.com/office/drawing/2014/main" id="{D99C56AE-BC88-0DD9-61C2-B6885E8E3E06}"/>
                  </a:ext>
                </a:extLst>
              </p:cNvPr>
              <p:cNvSpPr/>
              <p:nvPr/>
            </p:nvSpPr>
            <p:spPr>
              <a:xfrm>
                <a:off x="1706880" y="3276600"/>
                <a:ext cx="304800" cy="3048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8" name="אליפסה 7">
                <a:extLst>
                  <a:ext uri="{FF2B5EF4-FFF2-40B4-BE49-F238E27FC236}">
                    <a16:creationId xmlns:a16="http://schemas.microsoft.com/office/drawing/2014/main" id="{C9807F2F-27AE-330C-D224-7C51734A835F}"/>
                  </a:ext>
                </a:extLst>
              </p:cNvPr>
              <p:cNvSpPr/>
              <p:nvPr/>
            </p:nvSpPr>
            <p:spPr>
              <a:xfrm>
                <a:off x="3185160" y="2354580"/>
                <a:ext cx="304800" cy="3048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9" name="אליפסה 8">
                <a:extLst>
                  <a:ext uri="{FF2B5EF4-FFF2-40B4-BE49-F238E27FC236}">
                    <a16:creationId xmlns:a16="http://schemas.microsoft.com/office/drawing/2014/main" id="{5D81773B-F8DE-6035-DB6F-2B22AA3A2814}"/>
                  </a:ext>
                </a:extLst>
              </p:cNvPr>
              <p:cNvSpPr/>
              <p:nvPr/>
            </p:nvSpPr>
            <p:spPr>
              <a:xfrm>
                <a:off x="3185160" y="4267200"/>
                <a:ext cx="304800" cy="3048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10" name="אליפסה 9">
                <a:extLst>
                  <a:ext uri="{FF2B5EF4-FFF2-40B4-BE49-F238E27FC236}">
                    <a16:creationId xmlns:a16="http://schemas.microsoft.com/office/drawing/2014/main" id="{5DFD2E04-4801-4052-F578-D614A9BA1873}"/>
                  </a:ext>
                </a:extLst>
              </p:cNvPr>
              <p:cNvSpPr/>
              <p:nvPr/>
            </p:nvSpPr>
            <p:spPr>
              <a:xfrm>
                <a:off x="5140960" y="2354580"/>
                <a:ext cx="304800" cy="3048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11" name="אליפסה 10">
                <a:extLst>
                  <a:ext uri="{FF2B5EF4-FFF2-40B4-BE49-F238E27FC236}">
                    <a16:creationId xmlns:a16="http://schemas.microsoft.com/office/drawing/2014/main" id="{6AF54253-354F-7901-6142-AB7E8511ECEB}"/>
                  </a:ext>
                </a:extLst>
              </p:cNvPr>
              <p:cNvSpPr/>
              <p:nvPr/>
            </p:nvSpPr>
            <p:spPr>
              <a:xfrm>
                <a:off x="5140960" y="4267200"/>
                <a:ext cx="304800" cy="3048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13" name="אליפסה 12">
                <a:extLst>
                  <a:ext uri="{FF2B5EF4-FFF2-40B4-BE49-F238E27FC236}">
                    <a16:creationId xmlns:a16="http://schemas.microsoft.com/office/drawing/2014/main" id="{23D3086C-B6F5-ED6F-0E78-A8E335D7858C}"/>
                  </a:ext>
                </a:extLst>
              </p:cNvPr>
              <p:cNvSpPr/>
              <p:nvPr/>
            </p:nvSpPr>
            <p:spPr>
              <a:xfrm>
                <a:off x="7096760" y="4267200"/>
                <a:ext cx="304800" cy="3048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16" name="אליפסה 15">
                <a:extLst>
                  <a:ext uri="{FF2B5EF4-FFF2-40B4-BE49-F238E27FC236}">
                    <a16:creationId xmlns:a16="http://schemas.microsoft.com/office/drawing/2014/main" id="{9CCA26CA-19F6-47E1-4F16-FC4FAADC4F64}"/>
                  </a:ext>
                </a:extLst>
              </p:cNvPr>
              <p:cNvSpPr/>
              <p:nvPr/>
            </p:nvSpPr>
            <p:spPr>
              <a:xfrm>
                <a:off x="7096760" y="2354580"/>
                <a:ext cx="304800" cy="3048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18" name="אליפסה 17">
                <a:extLst>
                  <a:ext uri="{FF2B5EF4-FFF2-40B4-BE49-F238E27FC236}">
                    <a16:creationId xmlns:a16="http://schemas.microsoft.com/office/drawing/2014/main" id="{B1E0B6D6-8D99-E588-00E1-EECBCE19F7C6}"/>
                  </a:ext>
                </a:extLst>
              </p:cNvPr>
              <p:cNvSpPr/>
              <p:nvPr/>
            </p:nvSpPr>
            <p:spPr>
              <a:xfrm>
                <a:off x="8589405" y="3276600"/>
                <a:ext cx="304800" cy="30479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cxnSp>
            <p:nvCxnSpPr>
              <p:cNvPr id="19" name="מחבר חץ ישר 18">
                <a:extLst>
                  <a:ext uri="{FF2B5EF4-FFF2-40B4-BE49-F238E27FC236}">
                    <a16:creationId xmlns:a16="http://schemas.microsoft.com/office/drawing/2014/main" id="{E4A201D4-4832-58F7-0EA1-51330236484D}"/>
                  </a:ext>
                </a:extLst>
              </p:cNvPr>
              <p:cNvCxnSpPr>
                <a:cxnSpLocks/>
                <a:stCxn id="7" idx="7"/>
                <a:endCxn id="8" idx="3"/>
              </p:cNvCxnSpPr>
              <p:nvPr/>
            </p:nvCxnSpPr>
            <p:spPr>
              <a:xfrm flipV="1">
                <a:off x="1967043" y="2614743"/>
                <a:ext cx="1262754" cy="70649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מחבר חץ ישר 19">
                <a:extLst>
                  <a:ext uri="{FF2B5EF4-FFF2-40B4-BE49-F238E27FC236}">
                    <a16:creationId xmlns:a16="http://schemas.microsoft.com/office/drawing/2014/main" id="{BA9B671F-F0D1-3EF1-DD8C-7A094C6531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2619" y="2505047"/>
                <a:ext cx="1695637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מחבר חץ ישר 20">
                <a:extLst>
                  <a:ext uri="{FF2B5EF4-FFF2-40B4-BE49-F238E27FC236}">
                    <a16:creationId xmlns:a16="http://schemas.microsoft.com/office/drawing/2014/main" id="{0E0BB07C-9907-8EC1-C362-CA3F3E61D8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45760" y="2506980"/>
                <a:ext cx="1695637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מחבר חץ ישר 22">
                <a:extLst>
                  <a:ext uri="{FF2B5EF4-FFF2-40B4-BE49-F238E27FC236}">
                    <a16:creationId xmlns:a16="http://schemas.microsoft.com/office/drawing/2014/main" id="{DE884521-01FF-CDD3-7070-DAF71F60C7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45760" y="4419600"/>
                <a:ext cx="1695637" cy="0"/>
              </a:xfrm>
              <a:prstGeom prst="straightConnector1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מחבר חץ ישר 24">
                <a:extLst>
                  <a:ext uri="{FF2B5EF4-FFF2-40B4-BE49-F238E27FC236}">
                    <a16:creationId xmlns:a16="http://schemas.microsoft.com/office/drawing/2014/main" id="{E7BADBF7-EE14-B07B-CEF8-2AFCB9CDAE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45323" y="4419600"/>
                <a:ext cx="1695637" cy="0"/>
              </a:xfrm>
              <a:prstGeom prst="straightConnector1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מחבר חץ ישר 25">
                <a:extLst>
                  <a:ext uri="{FF2B5EF4-FFF2-40B4-BE49-F238E27FC236}">
                    <a16:creationId xmlns:a16="http://schemas.microsoft.com/office/drawing/2014/main" id="{2EC8F053-BE6E-8C39-2289-D03C7FF31509}"/>
                  </a:ext>
                </a:extLst>
              </p:cNvPr>
              <p:cNvCxnSpPr>
                <a:cxnSpLocks/>
                <a:endCxn id="9" idx="1"/>
              </p:cNvCxnSpPr>
              <p:nvPr/>
            </p:nvCxnSpPr>
            <p:spPr>
              <a:xfrm>
                <a:off x="1967043" y="3528060"/>
                <a:ext cx="1262754" cy="783777"/>
              </a:xfrm>
              <a:prstGeom prst="straightConnector1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מחבר חץ ישר 26">
                <a:extLst>
                  <a:ext uri="{FF2B5EF4-FFF2-40B4-BE49-F238E27FC236}">
                    <a16:creationId xmlns:a16="http://schemas.microsoft.com/office/drawing/2014/main" id="{353E020C-0859-8805-18EF-E8AA92E14EBE}"/>
                  </a:ext>
                </a:extLst>
              </p:cNvPr>
              <p:cNvCxnSpPr>
                <a:cxnSpLocks/>
                <a:endCxn id="18" idx="3"/>
              </p:cNvCxnSpPr>
              <p:nvPr/>
            </p:nvCxnSpPr>
            <p:spPr>
              <a:xfrm flipV="1">
                <a:off x="7415924" y="3536764"/>
                <a:ext cx="1218117" cy="880902"/>
              </a:xfrm>
              <a:prstGeom prst="straightConnector1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מחבר חץ ישר 27">
                <a:extLst>
                  <a:ext uri="{FF2B5EF4-FFF2-40B4-BE49-F238E27FC236}">
                    <a16:creationId xmlns:a16="http://schemas.microsoft.com/office/drawing/2014/main" id="{8BD23D2F-78DD-0B7F-E01B-387CDB3013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1560" y="2523117"/>
                <a:ext cx="1218117" cy="81619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מחבר חץ ישר 28">
                <a:extLst>
                  <a:ext uri="{FF2B5EF4-FFF2-40B4-BE49-F238E27FC236}">
                    <a16:creationId xmlns:a16="http://schemas.microsoft.com/office/drawing/2014/main" id="{C56D3159-1B4E-814D-57B5-F745C765D1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45322" y="2625378"/>
                <a:ext cx="1695638" cy="1655131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מחבר חץ ישר 29">
                <a:extLst>
                  <a:ext uri="{FF2B5EF4-FFF2-40B4-BE49-F238E27FC236}">
                    <a16:creationId xmlns:a16="http://schemas.microsoft.com/office/drawing/2014/main" id="{2E739D72-FCB8-CF74-B82D-5FB4720E3D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23441" y="2625663"/>
                <a:ext cx="1695638" cy="1655131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מחבר חץ ישר 31">
                <a:extLst>
                  <a:ext uri="{FF2B5EF4-FFF2-40B4-BE49-F238E27FC236}">
                    <a16:creationId xmlns:a16="http://schemas.microsoft.com/office/drawing/2014/main" id="{9DEB856C-DCE5-C9F7-2D16-F73B4207C4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1838" y="2627477"/>
                <a:ext cx="1821055" cy="1670712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מחבר חץ ישר 32">
                <a:extLst>
                  <a:ext uri="{FF2B5EF4-FFF2-40B4-BE49-F238E27FC236}">
                    <a16:creationId xmlns:a16="http://schemas.microsoft.com/office/drawing/2014/main" id="{82310F85-B789-CD45-8B3C-3394BFEF24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4934" y="2630611"/>
                <a:ext cx="1821055" cy="1670712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תיבת טקסט 34">
                    <a:extLst>
                      <a:ext uri="{FF2B5EF4-FFF2-40B4-BE49-F238E27FC236}">
                        <a16:creationId xmlns:a16="http://schemas.microsoft.com/office/drawing/2014/main" id="{251C4715-5C15-1E2C-FA93-E5A8AA48FEE9}"/>
                      </a:ext>
                    </a:extLst>
                  </p:cNvPr>
                  <p:cNvSpPr txBox="1"/>
                  <p:nvPr/>
                </p:nvSpPr>
                <p:spPr>
                  <a:xfrm>
                    <a:off x="2011680" y="2382370"/>
                    <a:ext cx="622338" cy="629198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35" name="תיבת טקסט 34">
                    <a:extLst>
                      <a:ext uri="{FF2B5EF4-FFF2-40B4-BE49-F238E27FC236}">
                        <a16:creationId xmlns:a16="http://schemas.microsoft.com/office/drawing/2014/main" id="{251C4715-5C15-1E2C-FA93-E5A8AA48FE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11680" y="2382370"/>
                    <a:ext cx="622338" cy="62919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תיבת טקסט 35">
                    <a:extLst>
                      <a:ext uri="{FF2B5EF4-FFF2-40B4-BE49-F238E27FC236}">
                        <a16:creationId xmlns:a16="http://schemas.microsoft.com/office/drawing/2014/main" id="{4D8367CA-F405-BB75-9D73-4E4F6B77416A}"/>
                      </a:ext>
                    </a:extLst>
                  </p:cNvPr>
                  <p:cNvSpPr txBox="1"/>
                  <p:nvPr/>
                </p:nvSpPr>
                <p:spPr>
                  <a:xfrm>
                    <a:off x="3928187" y="1893919"/>
                    <a:ext cx="622338" cy="629198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36" name="תיבת טקסט 35">
                    <a:extLst>
                      <a:ext uri="{FF2B5EF4-FFF2-40B4-BE49-F238E27FC236}">
                        <a16:creationId xmlns:a16="http://schemas.microsoft.com/office/drawing/2014/main" id="{4D8367CA-F405-BB75-9D73-4E4F6B7741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8187" y="1893919"/>
                    <a:ext cx="622338" cy="62919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תיבת טקסט 36">
                    <a:extLst>
                      <a:ext uri="{FF2B5EF4-FFF2-40B4-BE49-F238E27FC236}">
                        <a16:creationId xmlns:a16="http://schemas.microsoft.com/office/drawing/2014/main" id="{55B45757-F6B9-81AD-4C65-96A269BB7D0D}"/>
                      </a:ext>
                    </a:extLst>
                  </p:cNvPr>
                  <p:cNvSpPr txBox="1"/>
                  <p:nvPr/>
                </p:nvSpPr>
                <p:spPr>
                  <a:xfrm>
                    <a:off x="3916475" y="4400839"/>
                    <a:ext cx="622338" cy="629198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37" name="תיבת טקסט 36">
                    <a:extLst>
                      <a:ext uri="{FF2B5EF4-FFF2-40B4-BE49-F238E27FC236}">
                        <a16:creationId xmlns:a16="http://schemas.microsoft.com/office/drawing/2014/main" id="{55B45757-F6B9-81AD-4C65-96A269BB7D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16475" y="4400839"/>
                    <a:ext cx="622338" cy="62919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תיבת טקסט 37">
                    <a:extLst>
                      <a:ext uri="{FF2B5EF4-FFF2-40B4-BE49-F238E27FC236}">
                        <a16:creationId xmlns:a16="http://schemas.microsoft.com/office/drawing/2014/main" id="{AE175A0D-7366-4527-956C-DAB1F726F785}"/>
                      </a:ext>
                    </a:extLst>
                  </p:cNvPr>
                  <p:cNvSpPr txBox="1"/>
                  <p:nvPr/>
                </p:nvSpPr>
                <p:spPr>
                  <a:xfrm>
                    <a:off x="2048491" y="3858193"/>
                    <a:ext cx="622338" cy="629198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38" name="תיבת טקסט 37">
                    <a:extLst>
                      <a:ext uri="{FF2B5EF4-FFF2-40B4-BE49-F238E27FC236}">
                        <a16:creationId xmlns:a16="http://schemas.microsoft.com/office/drawing/2014/main" id="{AE175A0D-7366-4527-956C-DAB1F726F7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8491" y="3858193"/>
                    <a:ext cx="622338" cy="62919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תיבת טקסט 38">
                    <a:extLst>
                      <a:ext uri="{FF2B5EF4-FFF2-40B4-BE49-F238E27FC236}">
                        <a16:creationId xmlns:a16="http://schemas.microsoft.com/office/drawing/2014/main" id="{BAD3B3DC-345B-68E7-8774-1582F9F2E436}"/>
                      </a:ext>
                    </a:extLst>
                  </p:cNvPr>
                  <p:cNvSpPr txBox="1"/>
                  <p:nvPr/>
                </p:nvSpPr>
                <p:spPr>
                  <a:xfrm>
                    <a:off x="-814876" y="3103659"/>
                    <a:ext cx="234000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he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he-IL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he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39" name="תיבת טקסט 38">
                    <a:extLst>
                      <a:ext uri="{FF2B5EF4-FFF2-40B4-BE49-F238E27FC236}">
                        <a16:creationId xmlns:a16="http://schemas.microsoft.com/office/drawing/2014/main" id="{BAD3B3DC-345B-68E7-8774-1582F9F2E4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14876" y="3103659"/>
                    <a:ext cx="2340004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41818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תיבת טקסט 39">
                    <a:extLst>
                      <a:ext uri="{FF2B5EF4-FFF2-40B4-BE49-F238E27FC236}">
                        <a16:creationId xmlns:a16="http://schemas.microsoft.com/office/drawing/2014/main" id="{DA89C0F4-FBCF-7394-2AD1-0D20277BA3B4}"/>
                      </a:ext>
                    </a:extLst>
                  </p:cNvPr>
                  <p:cNvSpPr txBox="1"/>
                  <p:nvPr/>
                </p:nvSpPr>
                <p:spPr>
                  <a:xfrm>
                    <a:off x="8741805" y="3073348"/>
                    <a:ext cx="2774588" cy="629199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he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he-IL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he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40" name="תיבת טקסט 39">
                    <a:extLst>
                      <a:ext uri="{FF2B5EF4-FFF2-40B4-BE49-F238E27FC236}">
                        <a16:creationId xmlns:a16="http://schemas.microsoft.com/office/drawing/2014/main" id="{DA89C0F4-FBCF-7394-2AD1-0D20277BA3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41805" y="3073348"/>
                    <a:ext cx="2774588" cy="6291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632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תיבת טקסט 42">
                    <a:extLst>
                      <a:ext uri="{FF2B5EF4-FFF2-40B4-BE49-F238E27FC236}">
                        <a16:creationId xmlns:a16="http://schemas.microsoft.com/office/drawing/2014/main" id="{B566FBBF-7ADA-2DC0-A1C2-B2876D30E560}"/>
                      </a:ext>
                    </a:extLst>
                  </p:cNvPr>
                  <p:cNvSpPr txBox="1"/>
                  <p:nvPr/>
                </p:nvSpPr>
                <p:spPr>
                  <a:xfrm>
                    <a:off x="3315360" y="2785605"/>
                    <a:ext cx="622338" cy="629199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43" name="תיבת טקסט 42">
                    <a:extLst>
                      <a:ext uri="{FF2B5EF4-FFF2-40B4-BE49-F238E27FC236}">
                        <a16:creationId xmlns:a16="http://schemas.microsoft.com/office/drawing/2014/main" id="{B566FBBF-7ADA-2DC0-A1C2-B2876D30E5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5360" y="2785605"/>
                    <a:ext cx="622338" cy="6291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תיבת טקסט 43">
                    <a:extLst>
                      <a:ext uri="{FF2B5EF4-FFF2-40B4-BE49-F238E27FC236}">
                        <a16:creationId xmlns:a16="http://schemas.microsoft.com/office/drawing/2014/main" id="{46048FB1-833E-2F13-6F64-487B6532233D}"/>
                      </a:ext>
                    </a:extLst>
                  </p:cNvPr>
                  <p:cNvSpPr txBox="1"/>
                  <p:nvPr/>
                </p:nvSpPr>
                <p:spPr>
                  <a:xfrm>
                    <a:off x="3221971" y="3524979"/>
                    <a:ext cx="622338" cy="629199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44" name="תיבת טקסט 43">
                    <a:extLst>
                      <a:ext uri="{FF2B5EF4-FFF2-40B4-BE49-F238E27FC236}">
                        <a16:creationId xmlns:a16="http://schemas.microsoft.com/office/drawing/2014/main" id="{46048FB1-833E-2F13-6F64-487B653223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1971" y="3524979"/>
                    <a:ext cx="622338" cy="6291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תיבת טקסט 44">
                    <a:extLst>
                      <a:ext uri="{FF2B5EF4-FFF2-40B4-BE49-F238E27FC236}">
                        <a16:creationId xmlns:a16="http://schemas.microsoft.com/office/drawing/2014/main" id="{153D00EB-3831-7BA3-8FAD-1AE4FB041D71}"/>
                      </a:ext>
                    </a:extLst>
                  </p:cNvPr>
                  <p:cNvSpPr txBox="1"/>
                  <p:nvPr/>
                </p:nvSpPr>
                <p:spPr>
                  <a:xfrm>
                    <a:off x="5331113" y="2915440"/>
                    <a:ext cx="622338" cy="629199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45" name="תיבת טקסט 44">
                    <a:extLst>
                      <a:ext uri="{FF2B5EF4-FFF2-40B4-BE49-F238E27FC236}">
                        <a16:creationId xmlns:a16="http://schemas.microsoft.com/office/drawing/2014/main" id="{153D00EB-3831-7BA3-8FAD-1AE4FB041D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31113" y="2915440"/>
                    <a:ext cx="622338" cy="6291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תיבת טקסט 45">
                    <a:extLst>
                      <a:ext uri="{FF2B5EF4-FFF2-40B4-BE49-F238E27FC236}">
                        <a16:creationId xmlns:a16="http://schemas.microsoft.com/office/drawing/2014/main" id="{7D7059BB-9D4F-A637-5A7B-088194F2BDBD}"/>
                      </a:ext>
                    </a:extLst>
                  </p:cNvPr>
                  <p:cNvSpPr txBox="1"/>
                  <p:nvPr/>
                </p:nvSpPr>
                <p:spPr>
                  <a:xfrm>
                    <a:off x="5778401" y="3589777"/>
                    <a:ext cx="622338" cy="629199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46" name="תיבת טקסט 45">
                    <a:extLst>
                      <a:ext uri="{FF2B5EF4-FFF2-40B4-BE49-F238E27FC236}">
                        <a16:creationId xmlns:a16="http://schemas.microsoft.com/office/drawing/2014/main" id="{7D7059BB-9D4F-A637-5A7B-088194F2BD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8401" y="3589777"/>
                    <a:ext cx="622338" cy="6291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תיבת טקסט 46">
                    <a:extLst>
                      <a:ext uri="{FF2B5EF4-FFF2-40B4-BE49-F238E27FC236}">
                        <a16:creationId xmlns:a16="http://schemas.microsoft.com/office/drawing/2014/main" id="{9541F5AE-2ED4-04FD-6AA0-2AC5D9EBDE22}"/>
                      </a:ext>
                    </a:extLst>
                  </p:cNvPr>
                  <p:cNvSpPr txBox="1"/>
                  <p:nvPr/>
                </p:nvSpPr>
                <p:spPr>
                  <a:xfrm>
                    <a:off x="3026391" y="1702683"/>
                    <a:ext cx="62233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47" name="תיבת טקסט 46">
                    <a:extLst>
                      <a:ext uri="{FF2B5EF4-FFF2-40B4-BE49-F238E27FC236}">
                        <a16:creationId xmlns:a16="http://schemas.microsoft.com/office/drawing/2014/main" id="{9541F5AE-2ED4-04FD-6AA0-2AC5D9EBDE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6391" y="1702683"/>
                    <a:ext cx="622338" cy="46166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39286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תיבת טקסט 47">
                    <a:extLst>
                      <a:ext uri="{FF2B5EF4-FFF2-40B4-BE49-F238E27FC236}">
                        <a16:creationId xmlns:a16="http://schemas.microsoft.com/office/drawing/2014/main" id="{3394D006-8570-FBB0-F56D-1C06F03352DC}"/>
                      </a:ext>
                    </a:extLst>
                  </p:cNvPr>
                  <p:cNvSpPr txBox="1"/>
                  <p:nvPr/>
                </p:nvSpPr>
                <p:spPr>
                  <a:xfrm>
                    <a:off x="4963026" y="1769285"/>
                    <a:ext cx="62233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48" name="תיבת טקסט 47">
                    <a:extLst>
                      <a:ext uri="{FF2B5EF4-FFF2-40B4-BE49-F238E27FC236}">
                        <a16:creationId xmlns:a16="http://schemas.microsoft.com/office/drawing/2014/main" id="{3394D006-8570-FBB0-F56D-1C06F03352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3026" y="1769285"/>
                    <a:ext cx="622338" cy="46166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39286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תיבת טקסט 50">
                    <a:extLst>
                      <a:ext uri="{FF2B5EF4-FFF2-40B4-BE49-F238E27FC236}">
                        <a16:creationId xmlns:a16="http://schemas.microsoft.com/office/drawing/2014/main" id="{B29E3327-8B6B-0814-92E5-8E0044C810BD}"/>
                      </a:ext>
                    </a:extLst>
                  </p:cNvPr>
                  <p:cNvSpPr txBox="1"/>
                  <p:nvPr/>
                </p:nvSpPr>
                <p:spPr>
                  <a:xfrm>
                    <a:off x="2970301" y="4506788"/>
                    <a:ext cx="62233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51" name="תיבת טקסט 50">
                    <a:extLst>
                      <a:ext uri="{FF2B5EF4-FFF2-40B4-BE49-F238E27FC236}">
                        <a16:creationId xmlns:a16="http://schemas.microsoft.com/office/drawing/2014/main" id="{B29E3327-8B6B-0814-92E5-8E0044C810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70301" y="4506788"/>
                    <a:ext cx="622338" cy="46166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439" b="-41071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תיבת טקסט 51">
                    <a:extLst>
                      <a:ext uri="{FF2B5EF4-FFF2-40B4-BE49-F238E27FC236}">
                        <a16:creationId xmlns:a16="http://schemas.microsoft.com/office/drawing/2014/main" id="{F464DAE5-B7AB-D1B7-600E-9ECABDD5C96B}"/>
                      </a:ext>
                    </a:extLst>
                  </p:cNvPr>
                  <p:cNvSpPr txBox="1"/>
                  <p:nvPr/>
                </p:nvSpPr>
                <p:spPr>
                  <a:xfrm>
                    <a:off x="4963026" y="4488422"/>
                    <a:ext cx="62233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he-IL" sz="2400" dirty="0"/>
                  </a:p>
                </p:txBody>
              </p:sp>
            </mc:Choice>
            <mc:Fallback xmlns="">
              <p:sp>
                <p:nvSpPr>
                  <p:cNvPr id="52" name="תיבת טקסט 51">
                    <a:extLst>
                      <a:ext uri="{FF2B5EF4-FFF2-40B4-BE49-F238E27FC236}">
                        <a16:creationId xmlns:a16="http://schemas.microsoft.com/office/drawing/2014/main" id="{F464DAE5-B7AB-D1B7-600E-9ECABDD5C9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3026" y="4488422"/>
                    <a:ext cx="622338" cy="46166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3614" b="-41071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תיבת טקסט 52">
                  <a:extLst>
                    <a:ext uri="{FF2B5EF4-FFF2-40B4-BE49-F238E27FC236}">
                      <a16:creationId xmlns:a16="http://schemas.microsoft.com/office/drawing/2014/main" id="{5DAF613B-79BD-C73D-00EA-F7CD8FAB1B12}"/>
                    </a:ext>
                  </a:extLst>
                </p:cNvPr>
                <p:cNvSpPr txBox="1"/>
                <p:nvPr/>
              </p:nvSpPr>
              <p:spPr>
                <a:xfrm>
                  <a:off x="6399113" y="3684499"/>
                  <a:ext cx="503597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53" name="תיבת טקסט 52">
                  <a:extLst>
                    <a:ext uri="{FF2B5EF4-FFF2-40B4-BE49-F238E27FC236}">
                      <a16:creationId xmlns:a16="http://schemas.microsoft.com/office/drawing/2014/main" id="{5DAF613B-79BD-C73D-00EA-F7CD8FAB1B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9113" y="3684499"/>
                  <a:ext cx="503597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תיבת טקסט 53">
                  <a:extLst>
                    <a:ext uri="{FF2B5EF4-FFF2-40B4-BE49-F238E27FC236}">
                      <a16:creationId xmlns:a16="http://schemas.microsoft.com/office/drawing/2014/main" id="{19B94E7A-25F1-A351-2296-47C52F9821D9}"/>
                    </a:ext>
                  </a:extLst>
                </p:cNvPr>
                <p:cNvSpPr txBox="1"/>
                <p:nvPr/>
              </p:nvSpPr>
              <p:spPr>
                <a:xfrm>
                  <a:off x="7983474" y="3364314"/>
                  <a:ext cx="503597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54" name="תיבת טקסט 53">
                  <a:extLst>
                    <a:ext uri="{FF2B5EF4-FFF2-40B4-BE49-F238E27FC236}">
                      <a16:creationId xmlns:a16="http://schemas.microsoft.com/office/drawing/2014/main" id="{19B94E7A-25F1-A351-2296-47C52F982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3474" y="3364314"/>
                  <a:ext cx="503597" cy="46166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תיבת טקסט 54">
                  <a:extLst>
                    <a:ext uri="{FF2B5EF4-FFF2-40B4-BE49-F238E27FC236}">
                      <a16:creationId xmlns:a16="http://schemas.microsoft.com/office/drawing/2014/main" id="{936C66C8-7D27-FE03-52E3-9CEF71862348}"/>
                    </a:ext>
                  </a:extLst>
                </p:cNvPr>
                <p:cNvSpPr txBox="1"/>
                <p:nvPr/>
              </p:nvSpPr>
              <p:spPr>
                <a:xfrm>
                  <a:off x="6386358" y="1867058"/>
                  <a:ext cx="503597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55" name="תיבת טקסט 54">
                  <a:extLst>
                    <a:ext uri="{FF2B5EF4-FFF2-40B4-BE49-F238E27FC236}">
                      <a16:creationId xmlns:a16="http://schemas.microsoft.com/office/drawing/2014/main" id="{936C66C8-7D27-FE03-52E3-9CEF718623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6358" y="1867058"/>
                  <a:ext cx="503597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תיבת טקסט 55">
                  <a:extLst>
                    <a:ext uri="{FF2B5EF4-FFF2-40B4-BE49-F238E27FC236}">
                      <a16:creationId xmlns:a16="http://schemas.microsoft.com/office/drawing/2014/main" id="{93112592-3018-DFC2-130F-648AAD1B117D}"/>
                    </a:ext>
                  </a:extLst>
                </p:cNvPr>
                <p:cNvSpPr txBox="1"/>
                <p:nvPr/>
              </p:nvSpPr>
              <p:spPr>
                <a:xfrm>
                  <a:off x="8020405" y="2128241"/>
                  <a:ext cx="503597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56" name="תיבת טקסט 55">
                  <a:extLst>
                    <a:ext uri="{FF2B5EF4-FFF2-40B4-BE49-F238E27FC236}">
                      <a16:creationId xmlns:a16="http://schemas.microsoft.com/office/drawing/2014/main" id="{93112592-3018-DFC2-130F-648AAD1B11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0405" y="2128241"/>
                  <a:ext cx="503597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תיבת טקסט 56">
                  <a:extLst>
                    <a:ext uri="{FF2B5EF4-FFF2-40B4-BE49-F238E27FC236}">
                      <a16:creationId xmlns:a16="http://schemas.microsoft.com/office/drawing/2014/main" id="{A871B33B-914E-D521-5257-8E52274D17B6}"/>
                    </a:ext>
                  </a:extLst>
                </p:cNvPr>
                <p:cNvSpPr txBox="1"/>
                <p:nvPr/>
              </p:nvSpPr>
              <p:spPr>
                <a:xfrm>
                  <a:off x="7234141" y="3731730"/>
                  <a:ext cx="503597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57" name="תיבת טקסט 56">
                  <a:extLst>
                    <a:ext uri="{FF2B5EF4-FFF2-40B4-BE49-F238E27FC236}">
                      <a16:creationId xmlns:a16="http://schemas.microsoft.com/office/drawing/2014/main" id="{A871B33B-914E-D521-5257-8E52274D1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4141" y="3731730"/>
                  <a:ext cx="503597" cy="461665"/>
                </a:xfrm>
                <a:prstGeom prst="rect">
                  <a:avLst/>
                </a:prstGeom>
                <a:blipFill>
                  <a:blip r:embed="rId20"/>
                  <a:stretch>
                    <a:fillRect l="-3614" b="-3947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תיבת טקסט 57">
                  <a:extLst>
                    <a:ext uri="{FF2B5EF4-FFF2-40B4-BE49-F238E27FC236}">
                      <a16:creationId xmlns:a16="http://schemas.microsoft.com/office/drawing/2014/main" id="{389949B3-F96F-42E4-1C75-26D66029CEB0}"/>
                    </a:ext>
                  </a:extLst>
                </p:cNvPr>
                <p:cNvSpPr txBox="1"/>
                <p:nvPr/>
              </p:nvSpPr>
              <p:spPr>
                <a:xfrm>
                  <a:off x="7253116" y="1706417"/>
                  <a:ext cx="503597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he-IL" sz="2400" dirty="0"/>
                </a:p>
              </p:txBody>
            </p:sp>
          </mc:Choice>
          <mc:Fallback xmlns="">
            <p:sp>
              <p:nvSpPr>
                <p:cNvPr id="58" name="תיבת טקסט 57">
                  <a:extLst>
                    <a:ext uri="{FF2B5EF4-FFF2-40B4-BE49-F238E27FC236}">
                      <a16:creationId xmlns:a16="http://schemas.microsoft.com/office/drawing/2014/main" id="{389949B3-F96F-42E4-1C75-26D66029CE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3116" y="1706417"/>
                  <a:ext cx="503597" cy="461665"/>
                </a:xfrm>
                <a:prstGeom prst="rect">
                  <a:avLst/>
                </a:prstGeom>
                <a:blipFill>
                  <a:blip r:embed="rId21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089910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30F238-41B4-0793-EA81-328D59B9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 נראה היום?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CFEA2EA-1886-D54E-1689-BF9D0BF0A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262" y="668068"/>
            <a:ext cx="6492240" cy="660047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לוח המשימות המתוגמלות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תרמיל הגב בשלמים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מוט הברזל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בעיית כפל מטריצות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ניתוב משימות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בעיית חיתוך הבד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he-IL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7337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30F238-41B4-0793-EA81-328D59B9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בעיית חיתוך הבד-הגדרה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6662DF0C-75CC-482A-94F7-FA330826F3D2}"/>
              </a:ext>
            </a:extLst>
          </p:cNvPr>
          <p:cNvSpPr/>
          <p:nvPr/>
        </p:nvSpPr>
        <p:spPr>
          <a:xfrm>
            <a:off x="919713" y="1868067"/>
            <a:ext cx="10352574" cy="1160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במפעל הבדים נדרשים לחתוך בדים. המכונה יודעת לחתוך בחיתוך ישר בלבד. אופקי או אנכי.</a:t>
            </a: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he-I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כל חתיכת בד מתומחרת אחרת על פי </a:t>
            </a:r>
            <a:r>
              <a:rPr lang="he-IL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מימדיה</a:t>
            </a:r>
            <a:r>
              <a:rPr lang="he-I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נרצה למקסם את הרווח מכל הבד הנתון על ידי חיתוך לחתיכות בד שסכום המחירים אופטימלי.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E6B4DE7B-8274-9B27-BF98-9515EC03FE8E}"/>
              </a:ext>
            </a:extLst>
          </p:cNvPr>
          <p:cNvSpPr/>
          <p:nvPr/>
        </p:nvSpPr>
        <p:spPr>
          <a:xfrm>
            <a:off x="973372" y="3678769"/>
            <a:ext cx="10298915" cy="2537324"/>
          </a:xfrm>
          <a:prstGeom prst="rect">
            <a:avLst/>
          </a:prstGeom>
          <a:solidFill>
            <a:srgbClr val="E3E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מציין מיקום תוכן 2">
                <a:extLst>
                  <a:ext uri="{FF2B5EF4-FFF2-40B4-BE49-F238E27FC236}">
                    <a16:creationId xmlns:a16="http://schemas.microsoft.com/office/drawing/2014/main" id="{29978B01-5464-52CE-5B05-B8D231EDD3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3372" y="3018200"/>
                <a:ext cx="10298915" cy="3213134"/>
              </a:xfrm>
              <a:prstGeom prst="rect">
                <a:avLst/>
              </a:prstGeom>
              <a:solidFill>
                <a:srgbClr val="E3E9F5"/>
              </a:solidFill>
            </p:spPr>
            <p:txBody>
              <a:bodyPr vert="horz" lIns="0" tIns="45720" rIns="0" bIns="45720" rtlCol="0">
                <a:normAutofit fontScale="25000" lnSpcReduction="20000"/>
              </a:bodyPr>
              <a:lstStyle>
                <a:lvl1pPr marL="91440" indent="-91440" algn="r" defTabSz="914400" rtl="1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he-IL" sz="9600" b="1" dirty="0">
                    <a:solidFill>
                      <a:srgbClr val="44AD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קלט:  </a:t>
                </a:r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חתיכת בד </a:t>
                </a:r>
                <a:r>
                  <a:rPr lang="he-IL" sz="9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במימדים</a:t>
                </a:r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9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9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9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he-IL" sz="9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כאשר </a:t>
                </a:r>
                <a14:m>
                  <m:oMath xmlns:m="http://schemas.openxmlformats.org/officeDocument/2006/math">
                    <m:r>
                      <a:rPr lang="he-IL" sz="9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9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9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9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מספרים טבעיים.</a:t>
                </a:r>
              </a:p>
              <a:p>
                <a:pPr marL="292608" lvl="1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9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גדלים של חתיכות בד עם השווי של כל חתיכה: </a:t>
                </a:r>
                <a14:m>
                  <m:oMath xmlns:m="http://schemas.openxmlformats.org/officeDocument/2006/math">
                    <m:r>
                      <a:rPr lang="en-US" sz="9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9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9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9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9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9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9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9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9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9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),(</m:t>
                    </m:r>
                    <m:r>
                      <a:rPr lang="en-US" sz="9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9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9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9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96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9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9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9600" b="0" i="1" baseline="-25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9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),…(</m:t>
                    </m:r>
                    <m:r>
                      <a:rPr lang="en-US" sz="9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9600" b="0" i="1" baseline="-25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96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9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9600" b="0" i="1" baseline="-25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9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9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𝑣𝑘</m:t>
                    </m:r>
                    <m:r>
                      <a:rPr lang="en-US" sz="9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he-IL" sz="9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he-IL" sz="9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01168" lvl="1" indent="0" algn="just">
                  <a:lnSpc>
                    <a:spcPct val="150000"/>
                  </a:lnSpc>
                  <a:buNone/>
                </a:pPr>
                <a:r>
                  <a:rPr lang="he-IL" sz="9600" b="1" dirty="0">
                    <a:solidFill>
                      <a:srgbClr val="44AD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פלט: </a:t>
                </a:r>
                <a:r>
                  <a:rPr lang="he-IL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אופן חיתוך הבד כך שסכום מחירי החתיכות המתקבלות מקסימלי. האילוצים:</a:t>
                </a:r>
              </a:p>
              <a:p>
                <a:pPr marL="1755648" lvl="2" indent="-1371600" algn="just">
                  <a:lnSpc>
                    <a:spcPct val="150000"/>
                  </a:lnSpc>
                  <a:buAutoNum type="arabicPeriod"/>
                </a:pPr>
                <a:r>
                  <a:rPr lang="he-IL" sz="9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בכל שלב אפשרי לבצע חיתוך מלא אופקי (לכל האורך או לכל הגובה)</a:t>
                </a:r>
              </a:p>
              <a:p>
                <a:pPr marL="1755648" lvl="2" indent="-1371600" algn="just">
                  <a:lnSpc>
                    <a:spcPct val="150000"/>
                  </a:lnSpc>
                  <a:buAutoNum type="arabicPeriod"/>
                </a:pPr>
                <a:r>
                  <a:rPr lang="he-IL" sz="9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ערכה של חתיכה שלא שייכת לקבוצת הגדלים בקלט הוא 0.</a:t>
                </a:r>
              </a:p>
              <a:p>
                <a:pPr marL="1755648" lvl="2" indent="-1371600" algn="just">
                  <a:lnSpc>
                    <a:spcPct val="150000"/>
                  </a:lnSpc>
                  <a:buAutoNum type="arabicPeriod"/>
                </a:pPr>
                <a:r>
                  <a:rPr lang="he-IL" sz="9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יש כיוון לבד (אי אפשר לסובב)</a:t>
                </a:r>
              </a:p>
              <a:p>
                <a:endParaRPr lang="he-IL" dirty="0"/>
              </a:p>
            </p:txBody>
          </p:sp>
        </mc:Choice>
        <mc:Fallback>
          <p:sp>
            <p:nvSpPr>
              <p:cNvPr id="10" name="מציין מיקום תוכן 2">
                <a:extLst>
                  <a:ext uri="{FF2B5EF4-FFF2-40B4-BE49-F238E27FC236}">
                    <a16:creationId xmlns:a16="http://schemas.microsoft.com/office/drawing/2014/main" id="{29978B01-5464-52CE-5B05-B8D231EDD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372" y="3018200"/>
                <a:ext cx="10298915" cy="3213134"/>
              </a:xfrm>
              <a:prstGeom prst="rect">
                <a:avLst/>
              </a:prstGeom>
              <a:blipFill>
                <a:blip r:embed="rId2"/>
                <a:stretch>
                  <a:fillRect r="-1776" b="-360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826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מציין מיקום תוכן 1">
                <a:extLst>
                  <a:ext uri="{FF2B5EF4-FFF2-40B4-BE49-F238E27FC236}">
                    <a16:creationId xmlns:a16="http://schemas.microsoft.com/office/drawing/2014/main" id="{391A2656-4284-4A5B-972A-B7405FAD39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962" y="1956427"/>
                <a:ext cx="10058400" cy="4876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he-IL" sz="2400" u="sng" dirty="0">
                    <a:cs typeface="+mj-cs"/>
                  </a:rPr>
                  <a:t>נתון בד </a:t>
                </a:r>
                <a:r>
                  <a:rPr lang="he-IL" sz="2400" u="sng" dirty="0" err="1">
                    <a:cs typeface="+mj-cs"/>
                  </a:rPr>
                  <a:t>במימדים</a:t>
                </a:r>
                <a:r>
                  <a:rPr lang="he-IL" sz="2400" u="sng" dirty="0"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he-IL" sz="2400" i="1" u="sng" dirty="0" smtClean="0">
                        <a:latin typeface="Cambria Math" panose="02040503050406030204" pitchFamily="18" charset="0"/>
                        <a:cs typeface="+mj-cs"/>
                      </a:rPr>
                      <m:t>6</m:t>
                    </m:r>
                    <m:r>
                      <a:rPr lang="he-IL" sz="2400" i="1" u="sng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×</m:t>
                    </m:r>
                    <m:r>
                      <a:rPr lang="he-IL" sz="2400" i="1" u="sng" dirty="0" smtClean="0">
                        <a:latin typeface="Cambria Math" panose="02040503050406030204" pitchFamily="18" charset="0"/>
                        <a:cs typeface="+mj-cs"/>
                      </a:rPr>
                      <m:t>7</m:t>
                    </m:r>
                  </m:oMath>
                </a14:m>
                <a:r>
                  <a:rPr lang="he-IL" sz="2400" dirty="0">
                    <a:cs typeface="+mj-cs"/>
                  </a:rPr>
                  <a:t>.</a:t>
                </a:r>
              </a:p>
              <a:p>
                <a:pPr algn="just"/>
                <a:endParaRPr lang="he-IL" sz="2400" dirty="0">
                  <a:cs typeface="+mj-cs"/>
                </a:endParaRPr>
              </a:p>
            </p:txBody>
          </p:sp>
        </mc:Choice>
        <mc:Fallback xmlns="">
          <p:sp>
            <p:nvSpPr>
              <p:cNvPr id="2" name="מציין מיקום תוכן 1">
                <a:extLst>
                  <a:ext uri="{FF2B5EF4-FFF2-40B4-BE49-F238E27FC236}">
                    <a16:creationId xmlns:a16="http://schemas.microsoft.com/office/drawing/2014/main" id="{391A2656-4284-4A5B-972A-B7405FAD39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962" y="1956427"/>
                <a:ext cx="10058400" cy="4876800"/>
              </a:xfrm>
              <a:blipFill>
                <a:blip r:embed="rId2"/>
                <a:stretch>
                  <a:fillRect t="-1750" r="-181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כותרת 2">
            <a:extLst>
              <a:ext uri="{FF2B5EF4-FFF2-40B4-BE49-F238E27FC236}">
                <a16:creationId xmlns:a16="http://schemas.microsoft.com/office/drawing/2014/main" id="{E79BA028-C623-4055-BCB9-CF99F73515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e-IL" dirty="0"/>
              <a:t>דוגמא</a:t>
            </a:r>
          </a:p>
        </p:txBody>
      </p:sp>
      <p:grpSp>
        <p:nvGrpSpPr>
          <p:cNvPr id="16" name="קבוצה 15">
            <a:extLst>
              <a:ext uri="{FF2B5EF4-FFF2-40B4-BE49-F238E27FC236}">
                <a16:creationId xmlns:a16="http://schemas.microsoft.com/office/drawing/2014/main" id="{72B96ED8-1002-4F03-5324-C548E92F4C8D}"/>
              </a:ext>
            </a:extLst>
          </p:cNvPr>
          <p:cNvGrpSpPr/>
          <p:nvPr/>
        </p:nvGrpSpPr>
        <p:grpSpPr>
          <a:xfrm>
            <a:off x="-139515" y="2057654"/>
            <a:ext cx="7406327" cy="3638026"/>
            <a:chOff x="-139515" y="2057654"/>
            <a:chExt cx="7406327" cy="3638026"/>
          </a:xfrm>
        </p:grpSpPr>
        <p:sp>
          <p:nvSpPr>
            <p:cNvPr id="4" name="מלבן 3">
              <a:extLst>
                <a:ext uri="{FF2B5EF4-FFF2-40B4-BE49-F238E27FC236}">
                  <a16:creationId xmlns:a16="http://schemas.microsoft.com/office/drawing/2014/main" id="{C079325E-3A08-C924-AEAD-3F9C5D0B5AA7}"/>
                </a:ext>
              </a:extLst>
            </p:cNvPr>
            <p:cNvSpPr/>
            <p:nvPr/>
          </p:nvSpPr>
          <p:spPr>
            <a:xfrm>
              <a:off x="4836812" y="3535680"/>
              <a:ext cx="1620000" cy="21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" name="מלבן 4">
              <a:extLst>
                <a:ext uri="{FF2B5EF4-FFF2-40B4-BE49-F238E27FC236}">
                  <a16:creationId xmlns:a16="http://schemas.microsoft.com/office/drawing/2014/main" id="{791C04AF-9689-399C-88CB-6AAA8854A5F0}"/>
                </a:ext>
              </a:extLst>
            </p:cNvPr>
            <p:cNvSpPr/>
            <p:nvPr/>
          </p:nvSpPr>
          <p:spPr>
            <a:xfrm>
              <a:off x="609600" y="5155680"/>
              <a:ext cx="270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" name="מלבן 5">
              <a:extLst>
                <a:ext uri="{FF2B5EF4-FFF2-40B4-BE49-F238E27FC236}">
                  <a16:creationId xmlns:a16="http://schemas.microsoft.com/office/drawing/2014/main" id="{7506EDF5-FD87-9CF6-EF31-36529B6F622B}"/>
                </a:ext>
              </a:extLst>
            </p:cNvPr>
            <p:cNvSpPr/>
            <p:nvPr/>
          </p:nvSpPr>
          <p:spPr>
            <a:xfrm>
              <a:off x="3499230" y="2455680"/>
              <a:ext cx="1080000" cy="32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EEE496FD-0957-F93C-B8DB-34A1C6D7F819}"/>
                </a:ext>
              </a:extLst>
            </p:cNvPr>
            <p:cNvSpPr txBox="1"/>
            <p:nvPr/>
          </p:nvSpPr>
          <p:spPr>
            <a:xfrm>
              <a:off x="5106812" y="3124583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3</a:t>
              </a:r>
            </a:p>
          </p:txBody>
        </p:sp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EB1F64F9-2FA7-FF77-9FDD-78EB3967AB86}"/>
                </a:ext>
              </a:extLst>
            </p:cNvPr>
            <p:cNvSpPr txBox="1"/>
            <p:nvPr/>
          </p:nvSpPr>
          <p:spPr>
            <a:xfrm>
              <a:off x="6186812" y="4431014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4</a:t>
              </a:r>
            </a:p>
          </p:txBody>
        </p:sp>
        <p:sp>
          <p:nvSpPr>
            <p:cNvPr id="9" name="תיבת טקסט 8">
              <a:extLst>
                <a:ext uri="{FF2B5EF4-FFF2-40B4-BE49-F238E27FC236}">
                  <a16:creationId xmlns:a16="http://schemas.microsoft.com/office/drawing/2014/main" id="{DF410338-12C3-9681-9E63-E619CC33CC39}"/>
                </a:ext>
              </a:extLst>
            </p:cNvPr>
            <p:cNvSpPr txBox="1"/>
            <p:nvPr/>
          </p:nvSpPr>
          <p:spPr>
            <a:xfrm>
              <a:off x="2830168" y="3933162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6</a:t>
              </a:r>
            </a:p>
          </p:txBody>
        </p:sp>
        <p:sp>
          <p:nvSpPr>
            <p:cNvPr id="10" name="תיבת טקסט 9">
              <a:extLst>
                <a:ext uri="{FF2B5EF4-FFF2-40B4-BE49-F238E27FC236}">
                  <a16:creationId xmlns:a16="http://schemas.microsoft.com/office/drawing/2014/main" id="{A5FC636C-E052-31D4-8BA0-FA1E9E84BE27}"/>
                </a:ext>
              </a:extLst>
            </p:cNvPr>
            <p:cNvSpPr txBox="1"/>
            <p:nvPr/>
          </p:nvSpPr>
          <p:spPr>
            <a:xfrm>
              <a:off x="3499230" y="2057654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2</a:t>
              </a:r>
            </a:p>
          </p:txBody>
        </p:sp>
        <p:sp>
          <p:nvSpPr>
            <p:cNvPr id="11" name="תיבת טקסט 10">
              <a:extLst>
                <a:ext uri="{FF2B5EF4-FFF2-40B4-BE49-F238E27FC236}">
                  <a16:creationId xmlns:a16="http://schemas.microsoft.com/office/drawing/2014/main" id="{4FEE3B03-E381-63E5-A4D3-E2F7BECA2870}"/>
                </a:ext>
              </a:extLst>
            </p:cNvPr>
            <p:cNvSpPr txBox="1"/>
            <p:nvPr/>
          </p:nvSpPr>
          <p:spPr>
            <a:xfrm>
              <a:off x="-139515" y="5234015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1</a:t>
              </a:r>
            </a:p>
          </p:txBody>
        </p:sp>
        <p:sp>
          <p:nvSpPr>
            <p:cNvPr id="12" name="תיבת טקסט 11">
              <a:extLst>
                <a:ext uri="{FF2B5EF4-FFF2-40B4-BE49-F238E27FC236}">
                  <a16:creationId xmlns:a16="http://schemas.microsoft.com/office/drawing/2014/main" id="{58C0C8A4-04A3-44C3-DED6-5B4183CB8CF2}"/>
                </a:ext>
              </a:extLst>
            </p:cNvPr>
            <p:cNvSpPr txBox="1"/>
            <p:nvPr/>
          </p:nvSpPr>
          <p:spPr>
            <a:xfrm>
              <a:off x="1419600" y="4733966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5</a:t>
              </a:r>
            </a:p>
          </p:txBody>
        </p:sp>
        <p:sp>
          <p:nvSpPr>
            <p:cNvPr id="13" name="תיבת טקסט 12">
              <a:extLst>
                <a:ext uri="{FF2B5EF4-FFF2-40B4-BE49-F238E27FC236}">
                  <a16:creationId xmlns:a16="http://schemas.microsoft.com/office/drawing/2014/main" id="{C1CFEAC7-EBEE-4DD1-1B90-454571FF4C66}"/>
                </a:ext>
              </a:extLst>
            </p:cNvPr>
            <p:cNvSpPr txBox="1"/>
            <p:nvPr/>
          </p:nvSpPr>
          <p:spPr>
            <a:xfrm>
              <a:off x="5106812" y="4267966"/>
              <a:ext cx="1080000" cy="83099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>
                  <a:solidFill>
                    <a:schemeClr val="bg1"/>
                  </a:solidFill>
                </a:rPr>
                <a:t>300 ש"ח</a:t>
              </a:r>
            </a:p>
          </p:txBody>
        </p:sp>
        <p:sp>
          <p:nvSpPr>
            <p:cNvPr id="14" name="תיבת טקסט 13">
              <a:extLst>
                <a:ext uri="{FF2B5EF4-FFF2-40B4-BE49-F238E27FC236}">
                  <a16:creationId xmlns:a16="http://schemas.microsoft.com/office/drawing/2014/main" id="{10B23643-C8D0-7A4F-43D5-B84D7693D077}"/>
                </a:ext>
              </a:extLst>
            </p:cNvPr>
            <p:cNvSpPr txBox="1"/>
            <p:nvPr/>
          </p:nvSpPr>
          <p:spPr>
            <a:xfrm>
              <a:off x="3499230" y="3595427"/>
              <a:ext cx="1080000" cy="83099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>
                  <a:solidFill>
                    <a:schemeClr val="bg1"/>
                  </a:solidFill>
                </a:rPr>
                <a:t>100 ש"ח</a:t>
              </a:r>
            </a:p>
          </p:txBody>
        </p:sp>
        <p:sp>
          <p:nvSpPr>
            <p:cNvPr id="15" name="תיבת טקסט 14">
              <a:extLst>
                <a:ext uri="{FF2B5EF4-FFF2-40B4-BE49-F238E27FC236}">
                  <a16:creationId xmlns:a16="http://schemas.microsoft.com/office/drawing/2014/main" id="{5AEC223C-67DB-411C-0CD3-BE09F647A1BC}"/>
                </a:ext>
              </a:extLst>
            </p:cNvPr>
            <p:cNvSpPr txBox="1"/>
            <p:nvPr/>
          </p:nvSpPr>
          <p:spPr>
            <a:xfrm>
              <a:off x="811924" y="5234015"/>
              <a:ext cx="2295351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>
                  <a:solidFill>
                    <a:schemeClr val="bg1"/>
                  </a:solidFill>
                </a:rPr>
                <a:t>200 ש"ח</a:t>
              </a:r>
            </a:p>
          </p:txBody>
        </p:sp>
      </p:grp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0DDB0C0C-15EE-98C0-6160-8FCC94E15C6D}"/>
              </a:ext>
            </a:extLst>
          </p:cNvPr>
          <p:cNvSpPr txBox="1"/>
          <p:nvPr/>
        </p:nvSpPr>
        <p:spPr>
          <a:xfrm>
            <a:off x="5792852" y="1824123"/>
            <a:ext cx="18211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2800" b="1" u="sng" dirty="0">
                <a:cs typeface="+mj-cs"/>
              </a:rPr>
              <a:t>מחירון: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70878C4A-731F-CF98-CEA0-B31355D7F92C}"/>
              </a:ext>
            </a:extLst>
          </p:cNvPr>
          <p:cNvSpPr/>
          <p:nvPr/>
        </p:nvSpPr>
        <p:spPr>
          <a:xfrm>
            <a:off x="7800212" y="2519319"/>
            <a:ext cx="3780000" cy="3240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8220C229-F5C6-BD4D-B889-85448F7187C7}"/>
              </a:ext>
            </a:extLst>
          </p:cNvPr>
          <p:cNvSpPr txBox="1"/>
          <p:nvPr/>
        </p:nvSpPr>
        <p:spPr>
          <a:xfrm>
            <a:off x="11202062" y="3844847"/>
            <a:ext cx="10800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/>
              <a:t>6</a:t>
            </a: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E3442F7C-DCC6-A3C8-8A55-D40599612DAD}"/>
              </a:ext>
            </a:extLst>
          </p:cNvPr>
          <p:cNvSpPr txBox="1"/>
          <p:nvPr/>
        </p:nvSpPr>
        <p:spPr>
          <a:xfrm>
            <a:off x="9150212" y="5857454"/>
            <a:ext cx="10800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856404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מציין מיקום תוכן 1">
                <a:extLst>
                  <a:ext uri="{FF2B5EF4-FFF2-40B4-BE49-F238E27FC236}">
                    <a16:creationId xmlns:a16="http://schemas.microsoft.com/office/drawing/2014/main" id="{391A2656-4284-4A5B-972A-B7405FAD39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962" y="1956427"/>
                <a:ext cx="10058400" cy="4876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he-IL" sz="2400" u="sng" dirty="0">
                    <a:cs typeface="+mj-cs"/>
                  </a:rPr>
                  <a:t>נתון בד </a:t>
                </a:r>
                <a:r>
                  <a:rPr lang="he-IL" sz="2400" u="sng" dirty="0" err="1">
                    <a:cs typeface="+mj-cs"/>
                  </a:rPr>
                  <a:t>במימדים</a:t>
                </a:r>
                <a:r>
                  <a:rPr lang="he-IL" sz="2400" u="sng" dirty="0"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he-IL" sz="2400" i="1" u="sng" dirty="0" smtClean="0">
                        <a:latin typeface="Cambria Math" panose="02040503050406030204" pitchFamily="18" charset="0"/>
                        <a:cs typeface="+mj-cs"/>
                      </a:rPr>
                      <m:t>6</m:t>
                    </m:r>
                    <m:r>
                      <a:rPr lang="he-IL" sz="2400" i="1" u="sng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×</m:t>
                    </m:r>
                    <m:r>
                      <a:rPr lang="he-IL" sz="2400" i="1" u="sng" dirty="0" smtClean="0">
                        <a:latin typeface="Cambria Math" panose="02040503050406030204" pitchFamily="18" charset="0"/>
                        <a:cs typeface="+mj-cs"/>
                      </a:rPr>
                      <m:t>7</m:t>
                    </m:r>
                  </m:oMath>
                </a14:m>
                <a:r>
                  <a:rPr lang="he-IL" sz="2400" dirty="0">
                    <a:cs typeface="+mj-cs"/>
                  </a:rPr>
                  <a:t>.</a:t>
                </a:r>
              </a:p>
              <a:p>
                <a:pPr algn="just"/>
                <a:endParaRPr lang="he-IL" sz="2400" dirty="0">
                  <a:cs typeface="+mj-cs"/>
                </a:endParaRPr>
              </a:p>
            </p:txBody>
          </p:sp>
        </mc:Choice>
        <mc:Fallback xmlns="">
          <p:sp>
            <p:nvSpPr>
              <p:cNvPr id="2" name="מציין מיקום תוכן 1">
                <a:extLst>
                  <a:ext uri="{FF2B5EF4-FFF2-40B4-BE49-F238E27FC236}">
                    <a16:creationId xmlns:a16="http://schemas.microsoft.com/office/drawing/2014/main" id="{391A2656-4284-4A5B-972A-B7405FAD39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962" y="1956427"/>
                <a:ext cx="10058400" cy="4876800"/>
              </a:xfrm>
              <a:blipFill>
                <a:blip r:embed="rId2"/>
                <a:stretch>
                  <a:fillRect t="-1750" r="-181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כותרת 2">
            <a:extLst>
              <a:ext uri="{FF2B5EF4-FFF2-40B4-BE49-F238E27FC236}">
                <a16:creationId xmlns:a16="http://schemas.microsoft.com/office/drawing/2014/main" id="{E79BA028-C623-4055-BCB9-CF99F73515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e-IL" dirty="0"/>
              <a:t>דוגמא- פתרון חוקי1</a:t>
            </a:r>
          </a:p>
        </p:txBody>
      </p:sp>
      <p:grpSp>
        <p:nvGrpSpPr>
          <p:cNvPr id="16" name="קבוצה 15">
            <a:extLst>
              <a:ext uri="{FF2B5EF4-FFF2-40B4-BE49-F238E27FC236}">
                <a16:creationId xmlns:a16="http://schemas.microsoft.com/office/drawing/2014/main" id="{72B96ED8-1002-4F03-5324-C548E92F4C8D}"/>
              </a:ext>
            </a:extLst>
          </p:cNvPr>
          <p:cNvGrpSpPr/>
          <p:nvPr/>
        </p:nvGrpSpPr>
        <p:grpSpPr>
          <a:xfrm>
            <a:off x="-139515" y="2057654"/>
            <a:ext cx="7406327" cy="3638026"/>
            <a:chOff x="-139515" y="2057654"/>
            <a:chExt cx="7406327" cy="3638026"/>
          </a:xfrm>
        </p:grpSpPr>
        <p:sp>
          <p:nvSpPr>
            <p:cNvPr id="4" name="מלבן 3">
              <a:extLst>
                <a:ext uri="{FF2B5EF4-FFF2-40B4-BE49-F238E27FC236}">
                  <a16:creationId xmlns:a16="http://schemas.microsoft.com/office/drawing/2014/main" id="{C079325E-3A08-C924-AEAD-3F9C5D0B5AA7}"/>
                </a:ext>
              </a:extLst>
            </p:cNvPr>
            <p:cNvSpPr/>
            <p:nvPr/>
          </p:nvSpPr>
          <p:spPr>
            <a:xfrm>
              <a:off x="4836812" y="3535680"/>
              <a:ext cx="1620000" cy="21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" name="מלבן 4">
              <a:extLst>
                <a:ext uri="{FF2B5EF4-FFF2-40B4-BE49-F238E27FC236}">
                  <a16:creationId xmlns:a16="http://schemas.microsoft.com/office/drawing/2014/main" id="{791C04AF-9689-399C-88CB-6AAA8854A5F0}"/>
                </a:ext>
              </a:extLst>
            </p:cNvPr>
            <p:cNvSpPr/>
            <p:nvPr/>
          </p:nvSpPr>
          <p:spPr>
            <a:xfrm>
              <a:off x="609600" y="5155680"/>
              <a:ext cx="270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" name="מלבן 5">
              <a:extLst>
                <a:ext uri="{FF2B5EF4-FFF2-40B4-BE49-F238E27FC236}">
                  <a16:creationId xmlns:a16="http://schemas.microsoft.com/office/drawing/2014/main" id="{7506EDF5-FD87-9CF6-EF31-36529B6F622B}"/>
                </a:ext>
              </a:extLst>
            </p:cNvPr>
            <p:cNvSpPr/>
            <p:nvPr/>
          </p:nvSpPr>
          <p:spPr>
            <a:xfrm>
              <a:off x="3499230" y="2455680"/>
              <a:ext cx="1080000" cy="32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EEE496FD-0957-F93C-B8DB-34A1C6D7F819}"/>
                </a:ext>
              </a:extLst>
            </p:cNvPr>
            <p:cNvSpPr txBox="1"/>
            <p:nvPr/>
          </p:nvSpPr>
          <p:spPr>
            <a:xfrm>
              <a:off x="5106812" y="3124583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3</a:t>
              </a:r>
            </a:p>
          </p:txBody>
        </p:sp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EB1F64F9-2FA7-FF77-9FDD-78EB3967AB86}"/>
                </a:ext>
              </a:extLst>
            </p:cNvPr>
            <p:cNvSpPr txBox="1"/>
            <p:nvPr/>
          </p:nvSpPr>
          <p:spPr>
            <a:xfrm>
              <a:off x="6186812" y="4431014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4</a:t>
              </a:r>
            </a:p>
          </p:txBody>
        </p:sp>
        <p:sp>
          <p:nvSpPr>
            <p:cNvPr id="9" name="תיבת טקסט 8">
              <a:extLst>
                <a:ext uri="{FF2B5EF4-FFF2-40B4-BE49-F238E27FC236}">
                  <a16:creationId xmlns:a16="http://schemas.microsoft.com/office/drawing/2014/main" id="{DF410338-12C3-9681-9E63-E619CC33CC39}"/>
                </a:ext>
              </a:extLst>
            </p:cNvPr>
            <p:cNvSpPr txBox="1"/>
            <p:nvPr/>
          </p:nvSpPr>
          <p:spPr>
            <a:xfrm>
              <a:off x="2830168" y="3933162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6</a:t>
              </a:r>
            </a:p>
          </p:txBody>
        </p:sp>
        <p:sp>
          <p:nvSpPr>
            <p:cNvPr id="10" name="תיבת טקסט 9">
              <a:extLst>
                <a:ext uri="{FF2B5EF4-FFF2-40B4-BE49-F238E27FC236}">
                  <a16:creationId xmlns:a16="http://schemas.microsoft.com/office/drawing/2014/main" id="{A5FC636C-E052-31D4-8BA0-FA1E9E84BE27}"/>
                </a:ext>
              </a:extLst>
            </p:cNvPr>
            <p:cNvSpPr txBox="1"/>
            <p:nvPr/>
          </p:nvSpPr>
          <p:spPr>
            <a:xfrm>
              <a:off x="3499230" y="2057654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2</a:t>
              </a:r>
            </a:p>
          </p:txBody>
        </p:sp>
        <p:sp>
          <p:nvSpPr>
            <p:cNvPr id="11" name="תיבת טקסט 10">
              <a:extLst>
                <a:ext uri="{FF2B5EF4-FFF2-40B4-BE49-F238E27FC236}">
                  <a16:creationId xmlns:a16="http://schemas.microsoft.com/office/drawing/2014/main" id="{4FEE3B03-E381-63E5-A4D3-E2F7BECA2870}"/>
                </a:ext>
              </a:extLst>
            </p:cNvPr>
            <p:cNvSpPr txBox="1"/>
            <p:nvPr/>
          </p:nvSpPr>
          <p:spPr>
            <a:xfrm>
              <a:off x="-139515" y="5234015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1</a:t>
              </a:r>
            </a:p>
          </p:txBody>
        </p:sp>
        <p:sp>
          <p:nvSpPr>
            <p:cNvPr id="12" name="תיבת טקסט 11">
              <a:extLst>
                <a:ext uri="{FF2B5EF4-FFF2-40B4-BE49-F238E27FC236}">
                  <a16:creationId xmlns:a16="http://schemas.microsoft.com/office/drawing/2014/main" id="{58C0C8A4-04A3-44C3-DED6-5B4183CB8CF2}"/>
                </a:ext>
              </a:extLst>
            </p:cNvPr>
            <p:cNvSpPr txBox="1"/>
            <p:nvPr/>
          </p:nvSpPr>
          <p:spPr>
            <a:xfrm>
              <a:off x="1419600" y="4733966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5</a:t>
              </a:r>
            </a:p>
          </p:txBody>
        </p:sp>
        <p:sp>
          <p:nvSpPr>
            <p:cNvPr id="13" name="תיבת טקסט 12">
              <a:extLst>
                <a:ext uri="{FF2B5EF4-FFF2-40B4-BE49-F238E27FC236}">
                  <a16:creationId xmlns:a16="http://schemas.microsoft.com/office/drawing/2014/main" id="{C1CFEAC7-EBEE-4DD1-1B90-454571FF4C66}"/>
                </a:ext>
              </a:extLst>
            </p:cNvPr>
            <p:cNvSpPr txBox="1"/>
            <p:nvPr/>
          </p:nvSpPr>
          <p:spPr>
            <a:xfrm>
              <a:off x="5106812" y="4267966"/>
              <a:ext cx="1080000" cy="83099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>
                  <a:solidFill>
                    <a:schemeClr val="bg1"/>
                  </a:solidFill>
                </a:rPr>
                <a:t>300 ש"ח</a:t>
              </a:r>
            </a:p>
          </p:txBody>
        </p:sp>
        <p:sp>
          <p:nvSpPr>
            <p:cNvPr id="14" name="תיבת טקסט 13">
              <a:extLst>
                <a:ext uri="{FF2B5EF4-FFF2-40B4-BE49-F238E27FC236}">
                  <a16:creationId xmlns:a16="http://schemas.microsoft.com/office/drawing/2014/main" id="{10B23643-C8D0-7A4F-43D5-B84D7693D077}"/>
                </a:ext>
              </a:extLst>
            </p:cNvPr>
            <p:cNvSpPr txBox="1"/>
            <p:nvPr/>
          </p:nvSpPr>
          <p:spPr>
            <a:xfrm>
              <a:off x="3499230" y="3595427"/>
              <a:ext cx="1080000" cy="83099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>
                  <a:solidFill>
                    <a:schemeClr val="bg1"/>
                  </a:solidFill>
                </a:rPr>
                <a:t>200 ש"ח</a:t>
              </a:r>
            </a:p>
          </p:txBody>
        </p:sp>
        <p:sp>
          <p:nvSpPr>
            <p:cNvPr id="15" name="תיבת טקסט 14">
              <a:extLst>
                <a:ext uri="{FF2B5EF4-FFF2-40B4-BE49-F238E27FC236}">
                  <a16:creationId xmlns:a16="http://schemas.microsoft.com/office/drawing/2014/main" id="{5AEC223C-67DB-411C-0CD3-BE09F647A1BC}"/>
                </a:ext>
              </a:extLst>
            </p:cNvPr>
            <p:cNvSpPr txBox="1"/>
            <p:nvPr/>
          </p:nvSpPr>
          <p:spPr>
            <a:xfrm>
              <a:off x="811924" y="5234015"/>
              <a:ext cx="2295351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>
                  <a:solidFill>
                    <a:schemeClr val="bg1"/>
                  </a:solidFill>
                </a:rPr>
                <a:t>100 ש"ח</a:t>
              </a:r>
            </a:p>
          </p:txBody>
        </p:sp>
      </p:grp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0DDB0C0C-15EE-98C0-6160-8FCC94E15C6D}"/>
              </a:ext>
            </a:extLst>
          </p:cNvPr>
          <p:cNvSpPr txBox="1"/>
          <p:nvPr/>
        </p:nvSpPr>
        <p:spPr>
          <a:xfrm>
            <a:off x="5792852" y="1824123"/>
            <a:ext cx="18211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2800" b="1" u="sng" dirty="0">
                <a:cs typeface="+mj-cs"/>
              </a:rPr>
              <a:t>מחירון: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70878C4A-731F-CF98-CEA0-B31355D7F92C}"/>
              </a:ext>
            </a:extLst>
          </p:cNvPr>
          <p:cNvSpPr/>
          <p:nvPr/>
        </p:nvSpPr>
        <p:spPr>
          <a:xfrm>
            <a:off x="7800212" y="2519319"/>
            <a:ext cx="3780000" cy="3240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8220C229-F5C6-BD4D-B889-85448F7187C7}"/>
              </a:ext>
            </a:extLst>
          </p:cNvPr>
          <p:cNvSpPr txBox="1"/>
          <p:nvPr/>
        </p:nvSpPr>
        <p:spPr>
          <a:xfrm>
            <a:off x="11202062" y="3844847"/>
            <a:ext cx="10800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/>
              <a:t>6</a:t>
            </a: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E3442F7C-DCC6-A3C8-8A55-D40599612DAD}"/>
              </a:ext>
            </a:extLst>
          </p:cNvPr>
          <p:cNvSpPr txBox="1"/>
          <p:nvPr/>
        </p:nvSpPr>
        <p:spPr>
          <a:xfrm>
            <a:off x="9150212" y="5857454"/>
            <a:ext cx="10800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/>
              <a:t>7</a:t>
            </a:r>
          </a:p>
        </p:txBody>
      </p:sp>
      <p:grpSp>
        <p:nvGrpSpPr>
          <p:cNvPr id="23" name="קבוצה 22">
            <a:extLst>
              <a:ext uri="{FF2B5EF4-FFF2-40B4-BE49-F238E27FC236}">
                <a16:creationId xmlns:a16="http://schemas.microsoft.com/office/drawing/2014/main" id="{E50F730B-DA55-CCAA-4087-E428B1236071}"/>
              </a:ext>
            </a:extLst>
          </p:cNvPr>
          <p:cNvGrpSpPr/>
          <p:nvPr/>
        </p:nvGrpSpPr>
        <p:grpSpPr>
          <a:xfrm>
            <a:off x="7812424" y="2513514"/>
            <a:ext cx="1083372" cy="3240000"/>
            <a:chOff x="7812424" y="2513514"/>
            <a:chExt cx="1083372" cy="3240000"/>
          </a:xfrm>
        </p:grpSpPr>
        <p:sp>
          <p:nvSpPr>
            <p:cNvPr id="17" name="מלבן 16">
              <a:extLst>
                <a:ext uri="{FF2B5EF4-FFF2-40B4-BE49-F238E27FC236}">
                  <a16:creationId xmlns:a16="http://schemas.microsoft.com/office/drawing/2014/main" id="{EFF14BF8-3753-EC14-E8BB-D766C6323CF5}"/>
                </a:ext>
              </a:extLst>
            </p:cNvPr>
            <p:cNvSpPr/>
            <p:nvPr/>
          </p:nvSpPr>
          <p:spPr>
            <a:xfrm>
              <a:off x="7815796" y="2513514"/>
              <a:ext cx="1080000" cy="32400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תיבת טקסט 21">
              <a:extLst>
                <a:ext uri="{FF2B5EF4-FFF2-40B4-BE49-F238E27FC236}">
                  <a16:creationId xmlns:a16="http://schemas.microsoft.com/office/drawing/2014/main" id="{51656BFC-2D4A-46B2-2B1F-A2DAD7A196DE}"/>
                </a:ext>
              </a:extLst>
            </p:cNvPr>
            <p:cNvSpPr txBox="1"/>
            <p:nvPr/>
          </p:nvSpPr>
          <p:spPr>
            <a:xfrm>
              <a:off x="7812424" y="3718015"/>
              <a:ext cx="1080000" cy="83099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200 ש"ח</a:t>
              </a:r>
            </a:p>
          </p:txBody>
        </p:sp>
      </p:grpSp>
      <p:grpSp>
        <p:nvGrpSpPr>
          <p:cNvPr id="24" name="קבוצה 23">
            <a:extLst>
              <a:ext uri="{FF2B5EF4-FFF2-40B4-BE49-F238E27FC236}">
                <a16:creationId xmlns:a16="http://schemas.microsoft.com/office/drawing/2014/main" id="{C9834470-A38A-26B7-6E40-DED7B57E678C}"/>
              </a:ext>
            </a:extLst>
          </p:cNvPr>
          <p:cNvGrpSpPr/>
          <p:nvPr/>
        </p:nvGrpSpPr>
        <p:grpSpPr>
          <a:xfrm>
            <a:off x="8894464" y="2513514"/>
            <a:ext cx="1083372" cy="3240000"/>
            <a:chOff x="7812424" y="2513514"/>
            <a:chExt cx="1083372" cy="3240000"/>
          </a:xfrm>
        </p:grpSpPr>
        <p:sp>
          <p:nvSpPr>
            <p:cNvPr id="25" name="מלבן 24">
              <a:extLst>
                <a:ext uri="{FF2B5EF4-FFF2-40B4-BE49-F238E27FC236}">
                  <a16:creationId xmlns:a16="http://schemas.microsoft.com/office/drawing/2014/main" id="{C276B988-04DE-1F70-A5EE-9434D2F4B163}"/>
                </a:ext>
              </a:extLst>
            </p:cNvPr>
            <p:cNvSpPr/>
            <p:nvPr/>
          </p:nvSpPr>
          <p:spPr>
            <a:xfrm>
              <a:off x="7815796" y="2513514"/>
              <a:ext cx="1080000" cy="32400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6" name="תיבת טקסט 25">
              <a:extLst>
                <a:ext uri="{FF2B5EF4-FFF2-40B4-BE49-F238E27FC236}">
                  <a16:creationId xmlns:a16="http://schemas.microsoft.com/office/drawing/2014/main" id="{7EC65034-82EC-EE1A-4DC2-E5327C063C9C}"/>
                </a:ext>
              </a:extLst>
            </p:cNvPr>
            <p:cNvSpPr txBox="1"/>
            <p:nvPr/>
          </p:nvSpPr>
          <p:spPr>
            <a:xfrm>
              <a:off x="7812424" y="3718015"/>
              <a:ext cx="1080000" cy="83099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200 ש"ח</a:t>
              </a:r>
            </a:p>
          </p:txBody>
        </p:sp>
      </p:grpSp>
      <p:grpSp>
        <p:nvGrpSpPr>
          <p:cNvPr id="27" name="קבוצה 26">
            <a:extLst>
              <a:ext uri="{FF2B5EF4-FFF2-40B4-BE49-F238E27FC236}">
                <a16:creationId xmlns:a16="http://schemas.microsoft.com/office/drawing/2014/main" id="{8135A5A5-79DC-A9A3-BFC0-381A131D61D1}"/>
              </a:ext>
            </a:extLst>
          </p:cNvPr>
          <p:cNvGrpSpPr/>
          <p:nvPr/>
        </p:nvGrpSpPr>
        <p:grpSpPr>
          <a:xfrm>
            <a:off x="9976504" y="2513514"/>
            <a:ext cx="1083372" cy="3240000"/>
            <a:chOff x="7812424" y="2513514"/>
            <a:chExt cx="1083372" cy="3240000"/>
          </a:xfrm>
        </p:grpSpPr>
        <p:sp>
          <p:nvSpPr>
            <p:cNvPr id="28" name="מלבן 27">
              <a:extLst>
                <a:ext uri="{FF2B5EF4-FFF2-40B4-BE49-F238E27FC236}">
                  <a16:creationId xmlns:a16="http://schemas.microsoft.com/office/drawing/2014/main" id="{0C70B9A7-01C9-B19E-74AD-ED53D90D8BEA}"/>
                </a:ext>
              </a:extLst>
            </p:cNvPr>
            <p:cNvSpPr/>
            <p:nvPr/>
          </p:nvSpPr>
          <p:spPr>
            <a:xfrm>
              <a:off x="7815796" y="2513514"/>
              <a:ext cx="1080000" cy="32400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9" name="תיבת טקסט 28">
              <a:extLst>
                <a:ext uri="{FF2B5EF4-FFF2-40B4-BE49-F238E27FC236}">
                  <a16:creationId xmlns:a16="http://schemas.microsoft.com/office/drawing/2014/main" id="{442AB358-7E14-EF5D-A36F-8D7085B67D02}"/>
                </a:ext>
              </a:extLst>
            </p:cNvPr>
            <p:cNvSpPr txBox="1"/>
            <p:nvPr/>
          </p:nvSpPr>
          <p:spPr>
            <a:xfrm>
              <a:off x="7812424" y="3718015"/>
              <a:ext cx="1080000" cy="83099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200 ש"ח</a:t>
              </a:r>
            </a:p>
          </p:txBody>
        </p:sp>
      </p:grp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7F539D20-F096-027F-20BE-5948D6292D40}"/>
              </a:ext>
            </a:extLst>
          </p:cNvPr>
          <p:cNvSpPr txBox="1"/>
          <p:nvPr/>
        </p:nvSpPr>
        <p:spPr>
          <a:xfrm>
            <a:off x="413690" y="2647932"/>
            <a:ext cx="2693552" cy="830997"/>
          </a:xfrm>
          <a:prstGeom prst="rect">
            <a:avLst/>
          </a:prstGeom>
          <a:noFill/>
          <a:ln>
            <a:solidFill>
              <a:srgbClr val="EC8A5E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sz="2400" dirty="0">
                <a:cs typeface="+mj-cs"/>
              </a:rPr>
              <a:t>הרווח:</a:t>
            </a:r>
          </a:p>
          <a:p>
            <a:pPr algn="r" rtl="1"/>
            <a:r>
              <a:rPr lang="en-US" sz="2400" dirty="0">
                <a:cs typeface="+mj-cs"/>
              </a:rPr>
              <a:t>200+200+200=600</a:t>
            </a:r>
            <a:endParaRPr lang="he-IL" sz="24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64977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מציין מיקום תוכן 1">
                <a:extLst>
                  <a:ext uri="{FF2B5EF4-FFF2-40B4-BE49-F238E27FC236}">
                    <a16:creationId xmlns:a16="http://schemas.microsoft.com/office/drawing/2014/main" id="{391A2656-4284-4A5B-972A-B7405FAD39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962" y="1956427"/>
                <a:ext cx="10058400" cy="4876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he-IL" sz="2400" u="sng" dirty="0">
                    <a:cs typeface="+mj-cs"/>
                  </a:rPr>
                  <a:t>נתון בד </a:t>
                </a:r>
                <a:r>
                  <a:rPr lang="he-IL" sz="2400" u="sng" dirty="0" err="1">
                    <a:cs typeface="+mj-cs"/>
                  </a:rPr>
                  <a:t>במימדים</a:t>
                </a:r>
                <a:r>
                  <a:rPr lang="he-IL" sz="2400" u="sng" dirty="0"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he-IL" sz="2400" i="1" u="sng" dirty="0" smtClean="0">
                        <a:latin typeface="Cambria Math" panose="02040503050406030204" pitchFamily="18" charset="0"/>
                        <a:cs typeface="+mj-cs"/>
                      </a:rPr>
                      <m:t>6</m:t>
                    </m:r>
                    <m:r>
                      <a:rPr lang="he-IL" sz="2400" i="1" u="sng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×</m:t>
                    </m:r>
                    <m:r>
                      <a:rPr lang="he-IL" sz="2400" i="1" u="sng" dirty="0" smtClean="0">
                        <a:latin typeface="Cambria Math" panose="02040503050406030204" pitchFamily="18" charset="0"/>
                        <a:cs typeface="+mj-cs"/>
                      </a:rPr>
                      <m:t>7</m:t>
                    </m:r>
                  </m:oMath>
                </a14:m>
                <a:r>
                  <a:rPr lang="he-IL" sz="2400" dirty="0">
                    <a:cs typeface="+mj-cs"/>
                  </a:rPr>
                  <a:t>.</a:t>
                </a:r>
              </a:p>
              <a:p>
                <a:pPr algn="just"/>
                <a:endParaRPr lang="he-IL" sz="2400" dirty="0">
                  <a:cs typeface="+mj-cs"/>
                </a:endParaRPr>
              </a:p>
            </p:txBody>
          </p:sp>
        </mc:Choice>
        <mc:Fallback xmlns="">
          <p:sp>
            <p:nvSpPr>
              <p:cNvPr id="2" name="מציין מיקום תוכן 1">
                <a:extLst>
                  <a:ext uri="{FF2B5EF4-FFF2-40B4-BE49-F238E27FC236}">
                    <a16:creationId xmlns:a16="http://schemas.microsoft.com/office/drawing/2014/main" id="{391A2656-4284-4A5B-972A-B7405FAD39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962" y="1956427"/>
                <a:ext cx="10058400" cy="4876800"/>
              </a:xfrm>
              <a:blipFill>
                <a:blip r:embed="rId2"/>
                <a:stretch>
                  <a:fillRect t="-1750" r="-181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כותרת 2">
            <a:extLst>
              <a:ext uri="{FF2B5EF4-FFF2-40B4-BE49-F238E27FC236}">
                <a16:creationId xmlns:a16="http://schemas.microsoft.com/office/drawing/2014/main" id="{E79BA028-C623-4055-BCB9-CF99F73515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e-IL" dirty="0"/>
              <a:t>דוגמא- פתרון חוקי2</a:t>
            </a:r>
          </a:p>
        </p:txBody>
      </p:sp>
      <p:grpSp>
        <p:nvGrpSpPr>
          <p:cNvPr id="16" name="קבוצה 15">
            <a:extLst>
              <a:ext uri="{FF2B5EF4-FFF2-40B4-BE49-F238E27FC236}">
                <a16:creationId xmlns:a16="http://schemas.microsoft.com/office/drawing/2014/main" id="{72B96ED8-1002-4F03-5324-C548E92F4C8D}"/>
              </a:ext>
            </a:extLst>
          </p:cNvPr>
          <p:cNvGrpSpPr/>
          <p:nvPr/>
        </p:nvGrpSpPr>
        <p:grpSpPr>
          <a:xfrm>
            <a:off x="-139515" y="2057654"/>
            <a:ext cx="7406327" cy="3638026"/>
            <a:chOff x="-139515" y="2057654"/>
            <a:chExt cx="7406327" cy="3638026"/>
          </a:xfrm>
        </p:grpSpPr>
        <p:sp>
          <p:nvSpPr>
            <p:cNvPr id="4" name="מלבן 3">
              <a:extLst>
                <a:ext uri="{FF2B5EF4-FFF2-40B4-BE49-F238E27FC236}">
                  <a16:creationId xmlns:a16="http://schemas.microsoft.com/office/drawing/2014/main" id="{C079325E-3A08-C924-AEAD-3F9C5D0B5AA7}"/>
                </a:ext>
              </a:extLst>
            </p:cNvPr>
            <p:cNvSpPr/>
            <p:nvPr/>
          </p:nvSpPr>
          <p:spPr>
            <a:xfrm>
              <a:off x="4836812" y="3535680"/>
              <a:ext cx="1620000" cy="21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" name="מלבן 4">
              <a:extLst>
                <a:ext uri="{FF2B5EF4-FFF2-40B4-BE49-F238E27FC236}">
                  <a16:creationId xmlns:a16="http://schemas.microsoft.com/office/drawing/2014/main" id="{791C04AF-9689-399C-88CB-6AAA8854A5F0}"/>
                </a:ext>
              </a:extLst>
            </p:cNvPr>
            <p:cNvSpPr/>
            <p:nvPr/>
          </p:nvSpPr>
          <p:spPr>
            <a:xfrm>
              <a:off x="609600" y="5155680"/>
              <a:ext cx="270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6" name="מלבן 5">
              <a:extLst>
                <a:ext uri="{FF2B5EF4-FFF2-40B4-BE49-F238E27FC236}">
                  <a16:creationId xmlns:a16="http://schemas.microsoft.com/office/drawing/2014/main" id="{7506EDF5-FD87-9CF6-EF31-36529B6F622B}"/>
                </a:ext>
              </a:extLst>
            </p:cNvPr>
            <p:cNvSpPr/>
            <p:nvPr/>
          </p:nvSpPr>
          <p:spPr>
            <a:xfrm>
              <a:off x="3499230" y="2455680"/>
              <a:ext cx="1080000" cy="32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EEE496FD-0957-F93C-B8DB-34A1C6D7F819}"/>
                </a:ext>
              </a:extLst>
            </p:cNvPr>
            <p:cNvSpPr txBox="1"/>
            <p:nvPr/>
          </p:nvSpPr>
          <p:spPr>
            <a:xfrm>
              <a:off x="5106812" y="3124583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3</a:t>
              </a:r>
            </a:p>
          </p:txBody>
        </p:sp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EB1F64F9-2FA7-FF77-9FDD-78EB3967AB86}"/>
                </a:ext>
              </a:extLst>
            </p:cNvPr>
            <p:cNvSpPr txBox="1"/>
            <p:nvPr/>
          </p:nvSpPr>
          <p:spPr>
            <a:xfrm>
              <a:off x="6186812" y="4431014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4</a:t>
              </a:r>
            </a:p>
          </p:txBody>
        </p:sp>
        <p:sp>
          <p:nvSpPr>
            <p:cNvPr id="9" name="תיבת טקסט 8">
              <a:extLst>
                <a:ext uri="{FF2B5EF4-FFF2-40B4-BE49-F238E27FC236}">
                  <a16:creationId xmlns:a16="http://schemas.microsoft.com/office/drawing/2014/main" id="{DF410338-12C3-9681-9E63-E619CC33CC39}"/>
                </a:ext>
              </a:extLst>
            </p:cNvPr>
            <p:cNvSpPr txBox="1"/>
            <p:nvPr/>
          </p:nvSpPr>
          <p:spPr>
            <a:xfrm>
              <a:off x="2830168" y="3933162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6</a:t>
              </a:r>
            </a:p>
          </p:txBody>
        </p:sp>
        <p:sp>
          <p:nvSpPr>
            <p:cNvPr id="10" name="תיבת טקסט 9">
              <a:extLst>
                <a:ext uri="{FF2B5EF4-FFF2-40B4-BE49-F238E27FC236}">
                  <a16:creationId xmlns:a16="http://schemas.microsoft.com/office/drawing/2014/main" id="{A5FC636C-E052-31D4-8BA0-FA1E9E84BE27}"/>
                </a:ext>
              </a:extLst>
            </p:cNvPr>
            <p:cNvSpPr txBox="1"/>
            <p:nvPr/>
          </p:nvSpPr>
          <p:spPr>
            <a:xfrm>
              <a:off x="3499230" y="2057654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2</a:t>
              </a:r>
            </a:p>
          </p:txBody>
        </p:sp>
        <p:sp>
          <p:nvSpPr>
            <p:cNvPr id="11" name="תיבת טקסט 10">
              <a:extLst>
                <a:ext uri="{FF2B5EF4-FFF2-40B4-BE49-F238E27FC236}">
                  <a16:creationId xmlns:a16="http://schemas.microsoft.com/office/drawing/2014/main" id="{4FEE3B03-E381-63E5-A4D3-E2F7BECA2870}"/>
                </a:ext>
              </a:extLst>
            </p:cNvPr>
            <p:cNvSpPr txBox="1"/>
            <p:nvPr/>
          </p:nvSpPr>
          <p:spPr>
            <a:xfrm>
              <a:off x="-139515" y="5234015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1</a:t>
              </a:r>
            </a:p>
          </p:txBody>
        </p:sp>
        <p:sp>
          <p:nvSpPr>
            <p:cNvPr id="12" name="תיבת טקסט 11">
              <a:extLst>
                <a:ext uri="{FF2B5EF4-FFF2-40B4-BE49-F238E27FC236}">
                  <a16:creationId xmlns:a16="http://schemas.microsoft.com/office/drawing/2014/main" id="{58C0C8A4-04A3-44C3-DED6-5B4183CB8CF2}"/>
                </a:ext>
              </a:extLst>
            </p:cNvPr>
            <p:cNvSpPr txBox="1"/>
            <p:nvPr/>
          </p:nvSpPr>
          <p:spPr>
            <a:xfrm>
              <a:off x="1419600" y="4733966"/>
              <a:ext cx="1080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/>
                <a:t>5</a:t>
              </a:r>
            </a:p>
          </p:txBody>
        </p:sp>
        <p:sp>
          <p:nvSpPr>
            <p:cNvPr id="13" name="תיבת טקסט 12">
              <a:extLst>
                <a:ext uri="{FF2B5EF4-FFF2-40B4-BE49-F238E27FC236}">
                  <a16:creationId xmlns:a16="http://schemas.microsoft.com/office/drawing/2014/main" id="{C1CFEAC7-EBEE-4DD1-1B90-454571FF4C66}"/>
                </a:ext>
              </a:extLst>
            </p:cNvPr>
            <p:cNvSpPr txBox="1"/>
            <p:nvPr/>
          </p:nvSpPr>
          <p:spPr>
            <a:xfrm>
              <a:off x="5106812" y="4267966"/>
              <a:ext cx="1080000" cy="83099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>
                  <a:solidFill>
                    <a:schemeClr val="bg1"/>
                  </a:solidFill>
                </a:rPr>
                <a:t>300 ש"ח</a:t>
              </a:r>
            </a:p>
          </p:txBody>
        </p:sp>
        <p:sp>
          <p:nvSpPr>
            <p:cNvPr id="14" name="תיבת טקסט 13">
              <a:extLst>
                <a:ext uri="{FF2B5EF4-FFF2-40B4-BE49-F238E27FC236}">
                  <a16:creationId xmlns:a16="http://schemas.microsoft.com/office/drawing/2014/main" id="{10B23643-C8D0-7A4F-43D5-B84D7693D077}"/>
                </a:ext>
              </a:extLst>
            </p:cNvPr>
            <p:cNvSpPr txBox="1"/>
            <p:nvPr/>
          </p:nvSpPr>
          <p:spPr>
            <a:xfrm>
              <a:off x="3499230" y="3595427"/>
              <a:ext cx="1080000" cy="83099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>
                  <a:solidFill>
                    <a:schemeClr val="bg1"/>
                  </a:solidFill>
                </a:rPr>
                <a:t>200 ש"ח</a:t>
              </a:r>
            </a:p>
          </p:txBody>
        </p:sp>
        <p:sp>
          <p:nvSpPr>
            <p:cNvPr id="15" name="תיבת טקסט 14">
              <a:extLst>
                <a:ext uri="{FF2B5EF4-FFF2-40B4-BE49-F238E27FC236}">
                  <a16:creationId xmlns:a16="http://schemas.microsoft.com/office/drawing/2014/main" id="{5AEC223C-67DB-411C-0CD3-BE09F647A1BC}"/>
                </a:ext>
              </a:extLst>
            </p:cNvPr>
            <p:cNvSpPr txBox="1"/>
            <p:nvPr/>
          </p:nvSpPr>
          <p:spPr>
            <a:xfrm>
              <a:off x="811924" y="5234015"/>
              <a:ext cx="2295351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b="1" dirty="0">
                  <a:solidFill>
                    <a:schemeClr val="bg1"/>
                  </a:solidFill>
                </a:rPr>
                <a:t>100 ש"ח</a:t>
              </a:r>
            </a:p>
          </p:txBody>
        </p:sp>
      </p:grp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0DDB0C0C-15EE-98C0-6160-8FCC94E15C6D}"/>
              </a:ext>
            </a:extLst>
          </p:cNvPr>
          <p:cNvSpPr txBox="1"/>
          <p:nvPr/>
        </p:nvSpPr>
        <p:spPr>
          <a:xfrm>
            <a:off x="5792852" y="1824123"/>
            <a:ext cx="18211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2800" b="1" u="sng" dirty="0">
                <a:cs typeface="+mj-cs"/>
              </a:rPr>
              <a:t>מחירון: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70878C4A-731F-CF98-CEA0-B31355D7F92C}"/>
              </a:ext>
            </a:extLst>
          </p:cNvPr>
          <p:cNvSpPr/>
          <p:nvPr/>
        </p:nvSpPr>
        <p:spPr>
          <a:xfrm>
            <a:off x="7800212" y="2519319"/>
            <a:ext cx="3780000" cy="3240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8220C229-F5C6-BD4D-B889-85448F7187C7}"/>
              </a:ext>
            </a:extLst>
          </p:cNvPr>
          <p:cNvSpPr txBox="1"/>
          <p:nvPr/>
        </p:nvSpPr>
        <p:spPr>
          <a:xfrm>
            <a:off x="11202062" y="3844847"/>
            <a:ext cx="10800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/>
              <a:t>6</a:t>
            </a: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E3442F7C-DCC6-A3C8-8A55-D40599612DAD}"/>
              </a:ext>
            </a:extLst>
          </p:cNvPr>
          <p:cNvSpPr txBox="1"/>
          <p:nvPr/>
        </p:nvSpPr>
        <p:spPr>
          <a:xfrm>
            <a:off x="9150212" y="5857454"/>
            <a:ext cx="10800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/>
              <a:t>7</a:t>
            </a:r>
          </a:p>
        </p:txBody>
      </p: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7F539D20-F096-027F-20BE-5948D6292D40}"/>
              </a:ext>
            </a:extLst>
          </p:cNvPr>
          <p:cNvSpPr txBox="1"/>
          <p:nvPr/>
        </p:nvSpPr>
        <p:spPr>
          <a:xfrm>
            <a:off x="413690" y="2647932"/>
            <a:ext cx="2693552" cy="830997"/>
          </a:xfrm>
          <a:prstGeom prst="rect">
            <a:avLst/>
          </a:prstGeom>
          <a:noFill/>
          <a:ln>
            <a:solidFill>
              <a:srgbClr val="EC8A5E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sz="2400" dirty="0">
                <a:cs typeface="+mj-cs"/>
              </a:rPr>
              <a:t>הרווח:</a:t>
            </a:r>
          </a:p>
          <a:p>
            <a:pPr algn="r" rtl="1"/>
            <a:r>
              <a:rPr lang="en-US" sz="2400" dirty="0">
                <a:cs typeface="+mj-cs"/>
              </a:rPr>
              <a:t>300+300+100=700</a:t>
            </a:r>
            <a:endParaRPr lang="he-IL" sz="2400" dirty="0">
              <a:cs typeface="+mj-cs"/>
            </a:endParaRPr>
          </a:p>
        </p:txBody>
      </p:sp>
      <p:grpSp>
        <p:nvGrpSpPr>
          <p:cNvPr id="33" name="קבוצה 32">
            <a:extLst>
              <a:ext uri="{FF2B5EF4-FFF2-40B4-BE49-F238E27FC236}">
                <a16:creationId xmlns:a16="http://schemas.microsoft.com/office/drawing/2014/main" id="{C1A80CBB-6358-879E-6E9E-9F923A038547}"/>
              </a:ext>
            </a:extLst>
          </p:cNvPr>
          <p:cNvGrpSpPr/>
          <p:nvPr/>
        </p:nvGrpSpPr>
        <p:grpSpPr>
          <a:xfrm>
            <a:off x="7817344" y="3592827"/>
            <a:ext cx="1620000" cy="2160000"/>
            <a:chOff x="4989212" y="3688080"/>
            <a:chExt cx="1620000" cy="2160000"/>
          </a:xfrm>
        </p:grpSpPr>
        <p:sp>
          <p:nvSpPr>
            <p:cNvPr id="31" name="מלבן 30">
              <a:extLst>
                <a:ext uri="{FF2B5EF4-FFF2-40B4-BE49-F238E27FC236}">
                  <a16:creationId xmlns:a16="http://schemas.microsoft.com/office/drawing/2014/main" id="{ABB87D2A-4DB1-5E92-5310-16E4174C54B4}"/>
                </a:ext>
              </a:extLst>
            </p:cNvPr>
            <p:cNvSpPr/>
            <p:nvPr/>
          </p:nvSpPr>
          <p:spPr>
            <a:xfrm>
              <a:off x="4989212" y="3688080"/>
              <a:ext cx="1620000" cy="21600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2" name="תיבת טקסט 31">
              <a:extLst>
                <a:ext uri="{FF2B5EF4-FFF2-40B4-BE49-F238E27FC236}">
                  <a16:creationId xmlns:a16="http://schemas.microsoft.com/office/drawing/2014/main" id="{B87A3D55-3D66-9006-816E-0920CFB650EC}"/>
                </a:ext>
              </a:extLst>
            </p:cNvPr>
            <p:cNvSpPr txBox="1"/>
            <p:nvPr/>
          </p:nvSpPr>
          <p:spPr>
            <a:xfrm>
              <a:off x="5259212" y="4420366"/>
              <a:ext cx="1080000" cy="83099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>
              <a:defPPr>
                <a:defRPr lang="en-US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he-IL" sz="2400" b="1" dirty="0">
                  <a:solidFill>
                    <a:schemeClr val="tx1"/>
                  </a:solidFill>
                </a:rPr>
                <a:t>300 ש"ח</a:t>
              </a:r>
            </a:p>
          </p:txBody>
        </p:sp>
      </p:grpSp>
      <p:grpSp>
        <p:nvGrpSpPr>
          <p:cNvPr id="34" name="קבוצה 33">
            <a:extLst>
              <a:ext uri="{FF2B5EF4-FFF2-40B4-BE49-F238E27FC236}">
                <a16:creationId xmlns:a16="http://schemas.microsoft.com/office/drawing/2014/main" id="{BAEDAC00-FEA2-CBEE-13E9-384FE34684F6}"/>
              </a:ext>
            </a:extLst>
          </p:cNvPr>
          <p:cNvGrpSpPr/>
          <p:nvPr/>
        </p:nvGrpSpPr>
        <p:grpSpPr>
          <a:xfrm>
            <a:off x="9447370" y="3592827"/>
            <a:ext cx="1620000" cy="2160000"/>
            <a:chOff x="4989212" y="3688080"/>
            <a:chExt cx="1620000" cy="2160000"/>
          </a:xfrm>
        </p:grpSpPr>
        <p:sp>
          <p:nvSpPr>
            <p:cNvPr id="35" name="מלבן 34">
              <a:extLst>
                <a:ext uri="{FF2B5EF4-FFF2-40B4-BE49-F238E27FC236}">
                  <a16:creationId xmlns:a16="http://schemas.microsoft.com/office/drawing/2014/main" id="{02139630-84E5-72FC-2AE2-68D677CBBF20}"/>
                </a:ext>
              </a:extLst>
            </p:cNvPr>
            <p:cNvSpPr/>
            <p:nvPr/>
          </p:nvSpPr>
          <p:spPr>
            <a:xfrm>
              <a:off x="4989212" y="3688080"/>
              <a:ext cx="1620000" cy="21600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6" name="תיבת טקסט 35">
              <a:extLst>
                <a:ext uri="{FF2B5EF4-FFF2-40B4-BE49-F238E27FC236}">
                  <a16:creationId xmlns:a16="http://schemas.microsoft.com/office/drawing/2014/main" id="{FF431E4D-4AAC-CE5F-B126-5F4EC3749C00}"/>
                </a:ext>
              </a:extLst>
            </p:cNvPr>
            <p:cNvSpPr txBox="1"/>
            <p:nvPr/>
          </p:nvSpPr>
          <p:spPr>
            <a:xfrm>
              <a:off x="5259212" y="4420366"/>
              <a:ext cx="1080000" cy="83099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>
              <a:defPPr>
                <a:defRPr lang="en-US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he-IL" sz="2400" b="1" dirty="0">
                  <a:solidFill>
                    <a:schemeClr val="tx1"/>
                  </a:solidFill>
                </a:rPr>
                <a:t>300 ש"ח</a:t>
              </a:r>
            </a:p>
          </p:txBody>
        </p:sp>
      </p:grpSp>
      <p:grpSp>
        <p:nvGrpSpPr>
          <p:cNvPr id="39" name="קבוצה 38">
            <a:extLst>
              <a:ext uri="{FF2B5EF4-FFF2-40B4-BE49-F238E27FC236}">
                <a16:creationId xmlns:a16="http://schemas.microsoft.com/office/drawing/2014/main" id="{F95ACE71-DD04-7514-401A-25FEA054658F}"/>
              </a:ext>
            </a:extLst>
          </p:cNvPr>
          <p:cNvGrpSpPr/>
          <p:nvPr/>
        </p:nvGrpSpPr>
        <p:grpSpPr>
          <a:xfrm>
            <a:off x="7812092" y="3034240"/>
            <a:ext cx="2700000" cy="540000"/>
            <a:chOff x="762000" y="5308080"/>
            <a:chExt cx="2700000" cy="540000"/>
          </a:xfrm>
          <a:noFill/>
        </p:grpSpPr>
        <p:sp>
          <p:nvSpPr>
            <p:cNvPr id="37" name="מלבן 36">
              <a:extLst>
                <a:ext uri="{FF2B5EF4-FFF2-40B4-BE49-F238E27FC236}">
                  <a16:creationId xmlns:a16="http://schemas.microsoft.com/office/drawing/2014/main" id="{89979AC1-6D93-BBD6-38CD-B0772929BF9B}"/>
                </a:ext>
              </a:extLst>
            </p:cNvPr>
            <p:cNvSpPr/>
            <p:nvPr/>
          </p:nvSpPr>
          <p:spPr>
            <a:xfrm>
              <a:off x="762000" y="5308080"/>
              <a:ext cx="2700000" cy="5400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38" name="תיבת טקסט 37">
              <a:extLst>
                <a:ext uri="{FF2B5EF4-FFF2-40B4-BE49-F238E27FC236}">
                  <a16:creationId xmlns:a16="http://schemas.microsoft.com/office/drawing/2014/main" id="{A7926673-62D0-E88B-2AE8-37595D5A0858}"/>
                </a:ext>
              </a:extLst>
            </p:cNvPr>
            <p:cNvSpPr txBox="1"/>
            <p:nvPr/>
          </p:nvSpPr>
          <p:spPr>
            <a:xfrm>
              <a:off x="964324" y="5386415"/>
              <a:ext cx="2295351" cy="461665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>
              <a:defPPr>
                <a:defRPr lang="en-US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he-IL" sz="2400" b="1" dirty="0">
                  <a:solidFill>
                    <a:schemeClr val="tx1"/>
                  </a:solidFill>
                </a:rPr>
                <a:t>100 ש"ח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88351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3A4BBDA-113B-1AE5-A07A-FF401499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תתי בעיות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5076567-7B9D-F4A4-B0AA-0B374B611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415" y="1888490"/>
            <a:ext cx="10304970" cy="222226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he-IL" sz="2800" b="1" u="sng" spc="-50" dirty="0">
                <a:latin typeface="+mj-lt"/>
                <a:ea typeface="+mj-ea"/>
                <a:cs typeface="+mj-cs"/>
              </a:rPr>
              <a:t>בהינתן חתיכת בד בגודל </a:t>
            </a:r>
            <a:r>
              <a:rPr lang="en-US" sz="2800" b="1" u="sng" spc="-50" dirty="0">
                <a:latin typeface="+mj-lt"/>
                <a:ea typeface="+mj-ea"/>
                <a:cs typeface="+mj-cs"/>
              </a:rPr>
              <a:t>n*m</a:t>
            </a:r>
            <a:r>
              <a:rPr lang="he-IL" sz="2800" b="1" u="sng" spc="-50" dirty="0">
                <a:latin typeface="+mj-lt"/>
                <a:ea typeface="+mj-ea"/>
                <a:cs typeface="+mj-cs"/>
              </a:rPr>
              <a:t> , הפעולות שנוכל לבצע עליה הן: </a:t>
            </a:r>
            <a:endParaRPr lang="he-IL" sz="2800" spc="-50" dirty="0">
              <a:latin typeface="+mj-lt"/>
              <a:ea typeface="+mj-ea"/>
              <a:cs typeface="+mj-cs"/>
            </a:endParaRPr>
          </a:p>
          <a:p>
            <a:pPr algn="just">
              <a:lnSpc>
                <a:spcPct val="100000"/>
              </a:lnSpc>
            </a:pPr>
            <a:endParaRPr lang="he-IL" sz="2800" spc="-50" dirty="0">
              <a:latin typeface="+mj-lt"/>
              <a:ea typeface="+mj-ea"/>
              <a:cs typeface="+mj-cs"/>
            </a:endParaRPr>
          </a:p>
          <a:p>
            <a:pPr algn="just">
              <a:lnSpc>
                <a:spcPct val="100000"/>
              </a:lnSpc>
            </a:pPr>
            <a:endParaRPr lang="he-IL" sz="2800" spc="-50" dirty="0"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81E5CAEB-350B-7203-4E78-AE7E72C96064}"/>
                  </a:ext>
                </a:extLst>
              </p:cNvPr>
              <p:cNvSpPr txBox="1"/>
              <p:nvPr/>
            </p:nvSpPr>
            <p:spPr>
              <a:xfrm>
                <a:off x="6656212" y="2774506"/>
                <a:ext cx="4754740" cy="95410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marL="514350" indent="-514350" algn="ctr" rtl="1">
                  <a:buAutoNum type="arabicPeriod"/>
                </a:pPr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חיתוך אופקי באינדקס </a:t>
                </a:r>
                <a14:m>
                  <m:oMath xmlns:m="http://schemas.openxmlformats.org/officeDocument/2006/math"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𝑘</m:t>
                    </m:r>
                  </m:oMath>
                </a14:m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. </a:t>
                </a:r>
              </a:p>
              <a:p>
                <a:pPr algn="ctr" rtl="1"/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החתיכות </a:t>
                </a:r>
                <a:r>
                  <a:rPr lang="he-IL" sz="2800" spc="-50" dirty="0" err="1">
                    <a:latin typeface="+mj-lt"/>
                    <a:ea typeface="+mj-ea"/>
                    <a:cs typeface="+mj-cs"/>
                  </a:rPr>
                  <a:t>שיווצרו</a:t>
                </a:r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(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𝑘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,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𝑚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) (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𝑛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−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𝑘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,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𝑚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)</m:t>
                    </m:r>
                  </m:oMath>
                </a14:m>
                <a:endParaRPr lang="he-IL" sz="2800" dirty="0"/>
              </a:p>
            </p:txBody>
          </p:sp>
        </mc:Choice>
        <mc:Fallback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81E5CAEB-350B-7203-4E78-AE7E72C96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212" y="2774506"/>
                <a:ext cx="4754740" cy="954107"/>
              </a:xfrm>
              <a:prstGeom prst="rect">
                <a:avLst/>
              </a:prstGeom>
              <a:blipFill>
                <a:blip r:embed="rId2"/>
                <a:stretch>
                  <a:fillRect t="-5660" r="-2046" b="-1572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תיבת טקסט 12">
                <a:extLst>
                  <a:ext uri="{FF2B5EF4-FFF2-40B4-BE49-F238E27FC236}">
                    <a16:creationId xmlns:a16="http://schemas.microsoft.com/office/drawing/2014/main" id="{42E1E536-6B54-FC22-6C30-1068EEE2D27E}"/>
                  </a:ext>
                </a:extLst>
              </p:cNvPr>
              <p:cNvSpPr txBox="1"/>
              <p:nvPr/>
            </p:nvSpPr>
            <p:spPr>
              <a:xfrm>
                <a:off x="1219200" y="2781548"/>
                <a:ext cx="4508500" cy="95410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 rtl="1">
                  <a:lnSpc>
                    <a:spcPct val="100000"/>
                  </a:lnSpc>
                </a:pPr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2. חיתוך אנכי באינדקס </a:t>
                </a:r>
                <a14:m>
                  <m:oMath xmlns:m="http://schemas.openxmlformats.org/officeDocument/2006/math"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𝑙</m:t>
                    </m:r>
                  </m:oMath>
                </a14:m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. </a:t>
                </a:r>
              </a:p>
              <a:p>
                <a:pPr algn="ctr" rtl="1">
                  <a:lnSpc>
                    <a:spcPct val="100000"/>
                  </a:lnSpc>
                </a:pPr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החתיכות </a:t>
                </a:r>
                <a:r>
                  <a:rPr lang="he-IL" sz="2800" spc="-50" dirty="0" err="1">
                    <a:latin typeface="+mj-lt"/>
                    <a:ea typeface="+mj-ea"/>
                    <a:cs typeface="+mj-cs"/>
                  </a:rPr>
                  <a:t>שיווצרו</a:t>
                </a:r>
                <a:r>
                  <a:rPr lang="he-IL" sz="2800" spc="-50" dirty="0">
                    <a:latin typeface="+mj-lt"/>
                    <a:ea typeface="+mj-ea"/>
                    <a:cs typeface="+mj-cs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800" i="1" spc="-50" dirty="0" smtClean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(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𝑛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,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𝑙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) (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𝑛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,</m:t>
                    </m:r>
                    <m:r>
                      <a:rPr lang="en-US" sz="2800" i="1" spc="-50" dirty="0" err="1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𝑚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−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𝑙</m:t>
                    </m:r>
                    <m:r>
                      <a:rPr lang="en-US" sz="2800" i="1" spc="-50" dirty="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)</m:t>
                    </m:r>
                  </m:oMath>
                </a14:m>
                <a:endParaRPr lang="he-IL" sz="2800" spc="-50" dirty="0">
                  <a:latin typeface="+mj-lt"/>
                  <a:ea typeface="+mj-ea"/>
                  <a:cs typeface="+mj-cs"/>
                </a:endParaRPr>
              </a:p>
            </p:txBody>
          </p:sp>
        </mc:Choice>
        <mc:Fallback>
          <p:sp>
            <p:nvSpPr>
              <p:cNvPr id="13" name="תיבת טקסט 12">
                <a:extLst>
                  <a:ext uri="{FF2B5EF4-FFF2-40B4-BE49-F238E27FC236}">
                    <a16:creationId xmlns:a16="http://schemas.microsoft.com/office/drawing/2014/main" id="{42E1E536-6B54-FC22-6C30-1068EEE2D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781548"/>
                <a:ext cx="4508500" cy="954107"/>
              </a:xfrm>
              <a:prstGeom prst="rect">
                <a:avLst/>
              </a:prstGeom>
              <a:blipFill>
                <a:blip r:embed="rId3"/>
                <a:stretch>
                  <a:fillRect t="-5660" r="-1887" b="-1572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89F7D39D-420B-6847-7F9D-A906BF65E556}"/>
              </a:ext>
            </a:extLst>
          </p:cNvPr>
          <p:cNvSpPr txBox="1"/>
          <p:nvPr/>
        </p:nvSpPr>
        <p:spPr>
          <a:xfrm>
            <a:off x="5114385" y="5706554"/>
            <a:ext cx="6096000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he-IL" sz="2800" spc="-50" dirty="0">
                <a:latin typeface="+mj-lt"/>
                <a:ea typeface="+mj-ea"/>
                <a:cs typeface="+mj-cs"/>
              </a:rPr>
              <a:t>3. לא נחתוך כלל. נשאר עם חתיכה בגודל </a:t>
            </a:r>
            <a:r>
              <a:rPr lang="en-US" sz="2800" spc="-50" dirty="0">
                <a:latin typeface="+mj-lt"/>
                <a:ea typeface="+mj-ea"/>
                <a:cs typeface="+mj-cs"/>
              </a:rPr>
              <a:t>n*m</a:t>
            </a:r>
            <a:r>
              <a:rPr lang="he-IL" sz="2800" spc="-50" dirty="0">
                <a:latin typeface="+mj-lt"/>
                <a:ea typeface="+mj-ea"/>
                <a:cs typeface="+mj-cs"/>
              </a:rPr>
              <a:t>.</a:t>
            </a:r>
            <a:endParaRPr lang="he-IL" sz="2000" spc="-50" dirty="0">
              <a:latin typeface="+mj-lt"/>
              <a:ea typeface="+mj-ea"/>
              <a:cs typeface="+mj-cs"/>
            </a:endParaRPr>
          </a:p>
        </p:txBody>
      </p:sp>
      <p:grpSp>
        <p:nvGrpSpPr>
          <p:cNvPr id="21" name="קבוצה 20">
            <a:extLst>
              <a:ext uri="{FF2B5EF4-FFF2-40B4-BE49-F238E27FC236}">
                <a16:creationId xmlns:a16="http://schemas.microsoft.com/office/drawing/2014/main" id="{D6B3AF42-EB97-B0D1-A04B-6F2DE4B35F42}"/>
              </a:ext>
            </a:extLst>
          </p:cNvPr>
          <p:cNvGrpSpPr/>
          <p:nvPr/>
        </p:nvGrpSpPr>
        <p:grpSpPr>
          <a:xfrm>
            <a:off x="6706676" y="3891808"/>
            <a:ext cx="4957012" cy="1394848"/>
            <a:chOff x="6706676" y="3891808"/>
            <a:chExt cx="4957012" cy="1394848"/>
          </a:xfrm>
        </p:grpSpPr>
        <p:grpSp>
          <p:nvGrpSpPr>
            <p:cNvPr id="9" name="קבוצה 8">
              <a:extLst>
                <a:ext uri="{FF2B5EF4-FFF2-40B4-BE49-F238E27FC236}">
                  <a16:creationId xmlns:a16="http://schemas.microsoft.com/office/drawing/2014/main" id="{51CD724F-A309-6EF7-469F-AC4F0C7E3C21}"/>
                </a:ext>
              </a:extLst>
            </p:cNvPr>
            <p:cNvGrpSpPr/>
            <p:nvPr/>
          </p:nvGrpSpPr>
          <p:grpSpPr>
            <a:xfrm>
              <a:off x="7695952" y="3891808"/>
              <a:ext cx="3203824" cy="1394841"/>
              <a:chOff x="199776" y="2421509"/>
              <a:chExt cx="3203824" cy="1394841"/>
            </a:xfrm>
          </p:grpSpPr>
          <p:sp>
            <p:nvSpPr>
              <p:cNvPr id="4" name="מלבן 3">
                <a:extLst>
                  <a:ext uri="{FF2B5EF4-FFF2-40B4-BE49-F238E27FC236}">
                    <a16:creationId xmlns:a16="http://schemas.microsoft.com/office/drawing/2014/main" id="{0BF89F34-041F-C9C4-131B-5A833868D518}"/>
                  </a:ext>
                </a:extLst>
              </p:cNvPr>
              <p:cNvSpPr/>
              <p:nvPr/>
            </p:nvSpPr>
            <p:spPr>
              <a:xfrm>
                <a:off x="431800" y="2806700"/>
                <a:ext cx="2730500" cy="1009650"/>
              </a:xfrm>
              <a:prstGeom prst="rect">
                <a:avLst/>
              </a:prstGeom>
              <a:blipFill>
                <a:blip r:embed="rId4"/>
                <a:tile tx="0" ty="0" sx="100000" sy="100000" flip="none" algn="tl"/>
              </a:blip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he-IL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7" name="מחבר ישר 6">
                <a:extLst>
                  <a:ext uri="{FF2B5EF4-FFF2-40B4-BE49-F238E27FC236}">
                    <a16:creationId xmlns:a16="http://schemas.microsoft.com/office/drawing/2014/main" id="{10689541-76A8-AAF6-83D2-440E298633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9776" y="3375025"/>
                <a:ext cx="3203824" cy="127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תיבת טקסט 7">
                    <a:extLst>
                      <a:ext uri="{FF2B5EF4-FFF2-40B4-BE49-F238E27FC236}">
                        <a16:creationId xmlns:a16="http://schemas.microsoft.com/office/drawing/2014/main" id="{BCF50E64-2565-9BB9-2F38-B15E2680B23E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312" y="2421509"/>
                    <a:ext cx="108000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oMath>
                      </m:oMathPara>
                    </a14:m>
                    <a:endParaRPr lang="he-IL" sz="2000" b="1" dirty="0"/>
                  </a:p>
                </p:txBody>
              </p:sp>
            </mc:Choice>
            <mc:Fallback>
              <p:sp>
                <p:nvSpPr>
                  <p:cNvPr id="8" name="תיבת טקסט 7">
                    <a:extLst>
                      <a:ext uri="{FF2B5EF4-FFF2-40B4-BE49-F238E27FC236}">
                        <a16:creationId xmlns:a16="http://schemas.microsoft.com/office/drawing/2014/main" id="{BCF50E64-2565-9BB9-2F38-B15E2680B2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312" y="2421509"/>
                    <a:ext cx="1080000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תיבת טקסט 15">
                  <a:extLst>
                    <a:ext uri="{FF2B5EF4-FFF2-40B4-BE49-F238E27FC236}">
                      <a16:creationId xmlns:a16="http://schemas.microsoft.com/office/drawing/2014/main" id="{9BBD532A-A52F-7831-1330-1F247A3BAC17}"/>
                    </a:ext>
                  </a:extLst>
                </p:cNvPr>
                <p:cNvSpPr txBox="1"/>
                <p:nvPr/>
              </p:nvSpPr>
              <p:spPr>
                <a:xfrm>
                  <a:off x="10583688" y="4542928"/>
                  <a:ext cx="1080000" cy="400110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oMath>
                    </m:oMathPara>
                  </a14:m>
                  <a:endParaRPr lang="he-IL" sz="2000" b="1" dirty="0"/>
                </a:p>
              </p:txBody>
            </p:sp>
          </mc:Choice>
          <mc:Fallback>
            <p:sp>
              <p:nvSpPr>
                <p:cNvPr id="16" name="תיבת טקסט 15">
                  <a:extLst>
                    <a:ext uri="{FF2B5EF4-FFF2-40B4-BE49-F238E27FC236}">
                      <a16:creationId xmlns:a16="http://schemas.microsoft.com/office/drawing/2014/main" id="{9BBD532A-A52F-7831-1330-1F247A3BAC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3688" y="4542928"/>
                  <a:ext cx="108000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תיבת טקסט 16">
                  <a:extLst>
                    <a:ext uri="{FF2B5EF4-FFF2-40B4-BE49-F238E27FC236}">
                      <a16:creationId xmlns:a16="http://schemas.microsoft.com/office/drawing/2014/main" id="{E4CCC5F9-F7F1-8E4C-6BA7-93F13A7E1491}"/>
                    </a:ext>
                  </a:extLst>
                </p:cNvPr>
                <p:cNvSpPr txBox="1"/>
                <p:nvPr/>
              </p:nvSpPr>
              <p:spPr>
                <a:xfrm>
                  <a:off x="6914652" y="4323007"/>
                  <a:ext cx="1080000" cy="400110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oMath>
                    </m:oMathPara>
                  </a14:m>
                  <a:endParaRPr lang="he-IL" sz="2000" b="1" dirty="0"/>
                </a:p>
              </p:txBody>
            </p:sp>
          </mc:Choice>
          <mc:Fallback>
            <p:sp>
              <p:nvSpPr>
                <p:cNvPr id="17" name="תיבת טקסט 16">
                  <a:extLst>
                    <a:ext uri="{FF2B5EF4-FFF2-40B4-BE49-F238E27FC236}">
                      <a16:creationId xmlns:a16="http://schemas.microsoft.com/office/drawing/2014/main" id="{E4CCC5F9-F7F1-8E4C-6BA7-93F13A7E1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4652" y="4323007"/>
                  <a:ext cx="1080000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תיבת טקסט 17">
                  <a:extLst>
                    <a:ext uri="{FF2B5EF4-FFF2-40B4-BE49-F238E27FC236}">
                      <a16:creationId xmlns:a16="http://schemas.microsoft.com/office/drawing/2014/main" id="{233C1EA8-BBCF-BB2F-AB0A-FBCE24887A83}"/>
                    </a:ext>
                  </a:extLst>
                </p:cNvPr>
                <p:cNvSpPr txBox="1"/>
                <p:nvPr/>
              </p:nvSpPr>
              <p:spPr>
                <a:xfrm>
                  <a:off x="6706676" y="4847516"/>
                  <a:ext cx="1080000" cy="400110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oMath>
                    </m:oMathPara>
                  </a14:m>
                  <a:endParaRPr lang="he-IL" sz="2000" b="1" dirty="0"/>
                </a:p>
              </p:txBody>
            </p:sp>
          </mc:Choice>
          <mc:Fallback>
            <p:sp>
              <p:nvSpPr>
                <p:cNvPr id="18" name="תיבת טקסט 17">
                  <a:extLst>
                    <a:ext uri="{FF2B5EF4-FFF2-40B4-BE49-F238E27FC236}">
                      <a16:creationId xmlns:a16="http://schemas.microsoft.com/office/drawing/2014/main" id="{233C1EA8-BBCF-BB2F-AB0A-FBCE24887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6676" y="4847516"/>
                  <a:ext cx="1080000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תיבת טקסט 18">
                  <a:extLst>
                    <a:ext uri="{FF2B5EF4-FFF2-40B4-BE49-F238E27FC236}">
                      <a16:creationId xmlns:a16="http://schemas.microsoft.com/office/drawing/2014/main" id="{E7D93F63-392B-6EF1-503F-9743692EE6AC}"/>
                    </a:ext>
                  </a:extLst>
                </p:cNvPr>
                <p:cNvSpPr txBox="1"/>
                <p:nvPr/>
              </p:nvSpPr>
              <p:spPr>
                <a:xfrm>
                  <a:off x="7236488" y="4253818"/>
                  <a:ext cx="1080000" cy="523220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</m:oMath>
                    </m:oMathPara>
                  </a14:m>
                  <a:endParaRPr lang="he-IL" sz="2800" b="1" dirty="0"/>
                </a:p>
              </p:txBody>
            </p:sp>
          </mc:Choice>
          <mc:Fallback>
            <p:sp>
              <p:nvSpPr>
                <p:cNvPr id="19" name="תיבת טקסט 18">
                  <a:extLst>
                    <a:ext uri="{FF2B5EF4-FFF2-40B4-BE49-F238E27FC236}">
                      <a16:creationId xmlns:a16="http://schemas.microsoft.com/office/drawing/2014/main" id="{E7D93F63-392B-6EF1-503F-9743692EE6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488" y="4253818"/>
                  <a:ext cx="1080000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תיבת טקסט 19">
                  <a:extLst>
                    <a:ext uri="{FF2B5EF4-FFF2-40B4-BE49-F238E27FC236}">
                      <a16:creationId xmlns:a16="http://schemas.microsoft.com/office/drawing/2014/main" id="{BD0392B0-2BE6-6014-57D7-E008A9D317A0}"/>
                    </a:ext>
                  </a:extLst>
                </p:cNvPr>
                <p:cNvSpPr txBox="1"/>
                <p:nvPr/>
              </p:nvSpPr>
              <p:spPr>
                <a:xfrm>
                  <a:off x="7228832" y="4824991"/>
                  <a:ext cx="1080000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</m:oMath>
                    </m:oMathPara>
                  </a14:m>
                  <a:endParaRPr lang="he-IL" sz="2400" b="1" dirty="0"/>
                </a:p>
              </p:txBody>
            </p:sp>
          </mc:Choice>
          <mc:Fallback>
            <p:sp>
              <p:nvSpPr>
                <p:cNvPr id="20" name="תיבת טקסט 19">
                  <a:extLst>
                    <a:ext uri="{FF2B5EF4-FFF2-40B4-BE49-F238E27FC236}">
                      <a16:creationId xmlns:a16="http://schemas.microsoft.com/office/drawing/2014/main" id="{BD0392B0-2BE6-6014-57D7-E008A9D3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832" y="4824991"/>
                  <a:ext cx="1080000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1333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קבוצה 21">
            <a:extLst>
              <a:ext uri="{FF2B5EF4-FFF2-40B4-BE49-F238E27FC236}">
                <a16:creationId xmlns:a16="http://schemas.microsoft.com/office/drawing/2014/main" id="{A1ABEBA5-1307-0AEC-0850-D87B36D7ABC4}"/>
              </a:ext>
            </a:extLst>
          </p:cNvPr>
          <p:cNvGrpSpPr/>
          <p:nvPr/>
        </p:nvGrpSpPr>
        <p:grpSpPr>
          <a:xfrm>
            <a:off x="1871856" y="3811536"/>
            <a:ext cx="3646812" cy="2156628"/>
            <a:chOff x="7927976" y="3891808"/>
            <a:chExt cx="3646812" cy="2156628"/>
          </a:xfrm>
        </p:grpSpPr>
        <p:grpSp>
          <p:nvGrpSpPr>
            <p:cNvPr id="23" name="קבוצה 22">
              <a:extLst>
                <a:ext uri="{FF2B5EF4-FFF2-40B4-BE49-F238E27FC236}">
                  <a16:creationId xmlns:a16="http://schemas.microsoft.com/office/drawing/2014/main" id="{AFE6C5B3-6228-E95B-510A-A5C2EE111336}"/>
                </a:ext>
              </a:extLst>
            </p:cNvPr>
            <p:cNvGrpSpPr/>
            <p:nvPr/>
          </p:nvGrpSpPr>
          <p:grpSpPr>
            <a:xfrm>
              <a:off x="7927976" y="3891808"/>
              <a:ext cx="2730500" cy="1543792"/>
              <a:chOff x="431800" y="2421509"/>
              <a:chExt cx="2730500" cy="1543792"/>
            </a:xfrm>
          </p:grpSpPr>
          <p:sp>
            <p:nvSpPr>
              <p:cNvPr id="29" name="מלבן 28">
                <a:extLst>
                  <a:ext uri="{FF2B5EF4-FFF2-40B4-BE49-F238E27FC236}">
                    <a16:creationId xmlns:a16="http://schemas.microsoft.com/office/drawing/2014/main" id="{7C7DBB5B-0B3D-B8B3-E430-52075A88F62F}"/>
                  </a:ext>
                </a:extLst>
              </p:cNvPr>
              <p:cNvSpPr/>
              <p:nvPr/>
            </p:nvSpPr>
            <p:spPr>
              <a:xfrm>
                <a:off x="431800" y="2806700"/>
                <a:ext cx="2730500" cy="1009650"/>
              </a:xfrm>
              <a:prstGeom prst="rect">
                <a:avLst/>
              </a:prstGeom>
              <a:blipFill>
                <a:blip r:embed="rId4"/>
                <a:tile tx="0" ty="0" sx="100000" sy="100000" flip="none" algn="tl"/>
              </a:blip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he-IL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30" name="מחבר ישר 29">
                <a:extLst>
                  <a:ext uri="{FF2B5EF4-FFF2-40B4-BE49-F238E27FC236}">
                    <a16:creationId xmlns:a16="http://schemas.microsoft.com/office/drawing/2014/main" id="{9F5929D8-EF73-1EAC-8030-73FFB1B42C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3312" y="2659664"/>
                <a:ext cx="0" cy="1305637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תיבת טקסט 30">
                    <a:extLst>
                      <a:ext uri="{FF2B5EF4-FFF2-40B4-BE49-F238E27FC236}">
                        <a16:creationId xmlns:a16="http://schemas.microsoft.com/office/drawing/2014/main" id="{E2F82AE8-53BA-CDA1-E384-D1CDC8C3AE5A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312" y="2421509"/>
                    <a:ext cx="108000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oMath>
                      </m:oMathPara>
                    </a14:m>
                    <a:endParaRPr lang="he-IL" sz="2000" b="1" dirty="0"/>
                  </a:p>
                </p:txBody>
              </p:sp>
            </mc:Choice>
            <mc:Fallback>
              <p:sp>
                <p:nvSpPr>
                  <p:cNvPr id="31" name="תיבת טקסט 30">
                    <a:extLst>
                      <a:ext uri="{FF2B5EF4-FFF2-40B4-BE49-F238E27FC236}">
                        <a16:creationId xmlns:a16="http://schemas.microsoft.com/office/drawing/2014/main" id="{E2F82AE8-53BA-CDA1-E384-D1CDC8C3AE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312" y="2421509"/>
                    <a:ext cx="1080000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תיבת טקסט 23">
                  <a:extLst>
                    <a:ext uri="{FF2B5EF4-FFF2-40B4-BE49-F238E27FC236}">
                      <a16:creationId xmlns:a16="http://schemas.microsoft.com/office/drawing/2014/main" id="{78891450-6FC8-942E-9A82-D23B29D01AF8}"/>
                    </a:ext>
                  </a:extLst>
                </p:cNvPr>
                <p:cNvSpPr txBox="1"/>
                <p:nvPr/>
              </p:nvSpPr>
              <p:spPr>
                <a:xfrm>
                  <a:off x="10494788" y="4542928"/>
                  <a:ext cx="1080000" cy="400110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oMath>
                    </m:oMathPara>
                  </a14:m>
                  <a:endParaRPr lang="he-IL" sz="2000" b="1" dirty="0"/>
                </a:p>
              </p:txBody>
            </p:sp>
          </mc:Choice>
          <mc:Fallback>
            <p:sp>
              <p:nvSpPr>
                <p:cNvPr id="24" name="תיבת טקסט 23">
                  <a:extLst>
                    <a:ext uri="{FF2B5EF4-FFF2-40B4-BE49-F238E27FC236}">
                      <a16:creationId xmlns:a16="http://schemas.microsoft.com/office/drawing/2014/main" id="{78891450-6FC8-942E-9A82-D23B29D01A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94788" y="4542928"/>
                  <a:ext cx="1080000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תיבת טקסט 24">
                  <a:extLst>
                    <a:ext uri="{FF2B5EF4-FFF2-40B4-BE49-F238E27FC236}">
                      <a16:creationId xmlns:a16="http://schemas.microsoft.com/office/drawing/2014/main" id="{0E032F43-6F08-FE2A-1E88-4BB7CB5C404B}"/>
                    </a:ext>
                  </a:extLst>
                </p:cNvPr>
                <p:cNvSpPr txBox="1"/>
                <p:nvPr/>
              </p:nvSpPr>
              <p:spPr>
                <a:xfrm>
                  <a:off x="8449702" y="5648326"/>
                  <a:ext cx="1080000" cy="400110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𝒍</m:t>
                        </m:r>
                      </m:oMath>
                    </m:oMathPara>
                  </a14:m>
                  <a:endParaRPr lang="he-IL" sz="2000" b="1" dirty="0"/>
                </a:p>
              </p:txBody>
            </p:sp>
          </mc:Choice>
          <mc:Fallback>
            <p:sp>
              <p:nvSpPr>
                <p:cNvPr id="25" name="תיבת טקסט 24">
                  <a:extLst>
                    <a:ext uri="{FF2B5EF4-FFF2-40B4-BE49-F238E27FC236}">
                      <a16:creationId xmlns:a16="http://schemas.microsoft.com/office/drawing/2014/main" id="{0E032F43-6F08-FE2A-1E88-4BB7CB5C40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9702" y="5648326"/>
                  <a:ext cx="1080000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תיבת טקסט 25">
                  <a:extLst>
                    <a:ext uri="{FF2B5EF4-FFF2-40B4-BE49-F238E27FC236}">
                      <a16:creationId xmlns:a16="http://schemas.microsoft.com/office/drawing/2014/main" id="{166F7EF8-10DC-8F5C-9C4B-EAFA964BE47A}"/>
                    </a:ext>
                  </a:extLst>
                </p:cNvPr>
                <p:cNvSpPr txBox="1"/>
                <p:nvPr/>
              </p:nvSpPr>
              <p:spPr>
                <a:xfrm>
                  <a:off x="9806617" y="5448953"/>
                  <a:ext cx="1080000" cy="400110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𝒍</m:t>
                        </m:r>
                      </m:oMath>
                    </m:oMathPara>
                  </a14:m>
                  <a:endParaRPr lang="he-IL" sz="2000" b="1" dirty="0"/>
                </a:p>
              </p:txBody>
            </p:sp>
          </mc:Choice>
          <mc:Fallback>
            <p:sp>
              <p:nvSpPr>
                <p:cNvPr id="26" name="תיבת טקסט 25">
                  <a:extLst>
                    <a:ext uri="{FF2B5EF4-FFF2-40B4-BE49-F238E27FC236}">
                      <a16:creationId xmlns:a16="http://schemas.microsoft.com/office/drawing/2014/main" id="{166F7EF8-10DC-8F5C-9C4B-EAFA964BE4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6617" y="5448953"/>
                  <a:ext cx="1080000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תיבת טקסט 26">
                  <a:extLst>
                    <a:ext uri="{FF2B5EF4-FFF2-40B4-BE49-F238E27FC236}">
                      <a16:creationId xmlns:a16="http://schemas.microsoft.com/office/drawing/2014/main" id="{0727CBD7-1551-F578-B5A1-CD5DA5477A56}"/>
                    </a:ext>
                  </a:extLst>
                </p:cNvPr>
                <p:cNvSpPr txBox="1"/>
                <p:nvPr/>
              </p:nvSpPr>
              <p:spPr>
                <a:xfrm rot="16200000">
                  <a:off x="9751213" y="5109579"/>
                  <a:ext cx="1080000" cy="58477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</m:oMath>
                    </m:oMathPara>
                  </a14:m>
                  <a:endParaRPr lang="he-IL" sz="3200" b="1" dirty="0"/>
                </a:p>
              </p:txBody>
            </p:sp>
          </mc:Choice>
          <mc:Fallback>
            <p:sp>
              <p:nvSpPr>
                <p:cNvPr id="27" name="תיבת טקסט 26">
                  <a:extLst>
                    <a:ext uri="{FF2B5EF4-FFF2-40B4-BE49-F238E27FC236}">
                      <a16:creationId xmlns:a16="http://schemas.microsoft.com/office/drawing/2014/main" id="{0727CBD7-1551-F578-B5A1-CD5DA5477A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9751213" y="5109579"/>
                  <a:ext cx="1080000" cy="58477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תיבת טקסט 27">
                  <a:extLst>
                    <a:ext uri="{FF2B5EF4-FFF2-40B4-BE49-F238E27FC236}">
                      <a16:creationId xmlns:a16="http://schemas.microsoft.com/office/drawing/2014/main" id="{D2368671-334C-7654-A66A-7057B24B20D1}"/>
                    </a:ext>
                  </a:extLst>
                </p:cNvPr>
                <p:cNvSpPr txBox="1"/>
                <p:nvPr/>
              </p:nvSpPr>
              <p:spPr>
                <a:xfrm rot="16200000">
                  <a:off x="8549147" y="4973934"/>
                  <a:ext cx="653363" cy="923330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5400" b="1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</m:oMath>
                    </m:oMathPara>
                  </a14:m>
                  <a:endParaRPr lang="he-IL" sz="5400" b="1" dirty="0"/>
                </a:p>
              </p:txBody>
            </p:sp>
          </mc:Choice>
          <mc:Fallback>
            <p:sp>
              <p:nvSpPr>
                <p:cNvPr id="28" name="תיבת טקסט 27">
                  <a:extLst>
                    <a:ext uri="{FF2B5EF4-FFF2-40B4-BE49-F238E27FC236}">
                      <a16:creationId xmlns:a16="http://schemas.microsoft.com/office/drawing/2014/main" id="{D2368671-334C-7654-A66A-7057B24B20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8549147" y="4973934"/>
                  <a:ext cx="653363" cy="92333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312605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41B1BCB-DB86-CA91-E2AD-DBF25C99B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תתי הבעיות ונוסחת הרקורסיה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מציין מיקום תוכן 3">
                <a:extLst>
                  <a:ext uri="{FF2B5EF4-FFF2-40B4-BE49-F238E27FC236}">
                    <a16:creationId xmlns:a16="http://schemas.microsoft.com/office/drawing/2014/main" id="{FB9BBF1F-8759-579E-EF9A-72FC8D3D12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5757" y="1737360"/>
                <a:ext cx="10641446" cy="46605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  <a:defRPr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itchFamily="18" charset="0"/>
                    <a:cs typeface="+mj-cs"/>
                  </a:rPr>
                  <a:t> 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itchFamily="18" charset="0"/>
                    <a:cs typeface="+mj-cs"/>
                  </a:rPr>
                  <a:t>נסמן:</a:t>
                </a:r>
              </a:p>
              <a:p>
                <a:pPr marL="292608" lvl="1" indent="0" algn="just">
                  <a:lnSpc>
                    <a:spcPct val="100000"/>
                  </a:lnSpc>
                  <a:buNone/>
                  <a:defRPr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(</m:t>
                    </m:r>
                    <m:r>
                      <a:rPr lang="en-US" sz="24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𝑎</m:t>
                    </m:r>
                    <m:r>
                      <a:rPr lang="en-US" sz="24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,</m:t>
                    </m:r>
                    <m:r>
                      <a:rPr lang="en-US" sz="24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𝑏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)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itchFamily="18" charset="0"/>
                    <a:cs typeface="+mj-cs"/>
                  </a:rPr>
                  <a:t> = הרווח המקסימלי מחתיכה בגודל </a:t>
                </a:r>
                <a14:m>
                  <m:oMath xmlns:m="http://schemas.openxmlformats.org/officeDocument/2006/math">
                    <m:r>
                      <a:rPr lang="he-IL" sz="2400" i="1" spc="-5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he-IL" sz="2400" i="1" spc="-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he-IL" sz="2400" i="1" spc="-5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itchFamily="18" charset="0"/>
                    <a:cs typeface="+mj-cs"/>
                  </a:rPr>
                  <a:t>. </a:t>
                </a:r>
              </a:p>
              <a:p>
                <a:pPr marL="292608" lvl="1" indent="0" algn="just">
                  <a:lnSpc>
                    <a:spcPct val="100000"/>
                  </a:lnSpc>
                  <a:buNone/>
                  <a:defRPr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pc="-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𝑣</m:t>
                    </m:r>
                    <m:d>
                      <m:dPr>
                        <m:ctrlPr>
                          <a:rPr lang="he-IL" sz="2400" i="1" spc="-5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dPr>
                      <m:e>
                        <m:r>
                          <a:rPr lang="he-IL" sz="2400" i="1" spc="-5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𝑎</m:t>
                        </m:r>
                        <m:r>
                          <a:rPr lang="en-US" sz="2400" b="0" i="1" spc="-5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,</m:t>
                        </m:r>
                        <m:r>
                          <a:rPr lang="he-IL" sz="2400" i="1" spc="-5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𝑏</m:t>
                        </m:r>
                      </m:e>
                    </m:d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itchFamily="18" charset="0"/>
                    <a:cs typeface="+mj-cs"/>
                  </a:rPr>
                  <a:t> = השווי של חתיכת בד בגודל </a:t>
                </a:r>
                <a14:m>
                  <m:oMath xmlns:m="http://schemas.openxmlformats.org/officeDocument/2006/math">
                    <m:r>
                      <a:rPr lang="he-IL" sz="2400" i="1" spc="-5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he-IL" sz="2400" i="1" spc="-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he-IL" sz="2400" i="1" spc="-5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itchFamily="18" charset="0"/>
                    <a:cs typeface="+mj-cs"/>
                  </a:rPr>
                  <a:t> לפי המחירון (חתיכה עצמה ללא חיתוך, אם חתיכה בגודל זה לא מופיעה במחירון אז </a:t>
                </a:r>
                <a14:m>
                  <m:oMath xmlns:m="http://schemas.openxmlformats.org/officeDocument/2006/math">
                    <m:r>
                      <a:rPr lang="en-US" sz="2400" i="1" spc="-5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he-IL" sz="2400" i="1" spc="-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e-IL" sz="2400" i="1" spc="-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 spc="-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e-IL" sz="2400" i="1" spc="-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itchFamily="18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itchFamily="18" charset="0"/>
                  </a:rPr>
                  <a:t>=0</a:t>
                </a:r>
                <a:r>
                  <a:rPr lang="he-IL" sz="2400" dirty="0">
                    <a:solidFill>
                      <a:schemeClr val="tx1"/>
                    </a:solidFill>
                    <a:latin typeface="Times New Roman" pitchFamily="18" charset="0"/>
                  </a:rPr>
                  <a:t>.</a:t>
                </a:r>
                <a:endParaRPr lang="he-IL" sz="2400" dirty="0">
                  <a:solidFill>
                    <a:schemeClr val="tx1"/>
                  </a:solidFill>
                  <a:latin typeface="Times New Roman" pitchFamily="18" charset="0"/>
                  <a:cs typeface="+mj-cs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  <a:defRPr/>
                </a:pPr>
                <a:r>
                  <a:rPr lang="he-IL" sz="2400" dirty="0">
                    <a:solidFill>
                      <a:schemeClr val="tx1"/>
                    </a:solidFill>
                    <a:latin typeface="Times New Roman" pitchFamily="18" charset="0"/>
                    <a:cs typeface="+mj-cs"/>
                  </a:rPr>
                  <a:t>נרצה לחשב את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𝑓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Times New Roman" pitchFamily="18" charset="0"/>
                    <a:cs typeface="+mj-cs"/>
                  </a:rPr>
                  <a:t> לכל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𝑎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sz="2400" spc="-5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 ו-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sz="2400" spc="-50" dirty="0">
                    <a:solidFill>
                      <a:schemeClr val="tx1"/>
                    </a:solidFill>
                  </a:rPr>
                  <a:t> .</a:t>
                </a:r>
              </a:p>
              <a:p>
                <a:pPr marL="0" indent="0" algn="just">
                  <a:lnSpc>
                    <a:spcPct val="100000"/>
                  </a:lnSpc>
                  <a:buNone/>
                  <a:defRPr/>
                </a:pPr>
                <a:r>
                  <a:rPr lang="he-IL" sz="2800" dirty="0">
                    <a:solidFill>
                      <a:schemeClr val="tx1"/>
                    </a:solidFill>
                    <a:latin typeface="Times New Roman" pitchFamily="18" charset="0"/>
                    <a:cs typeface="+mj-cs"/>
                  </a:rPr>
                  <a:t>הנוסחה:</a:t>
                </a:r>
              </a:p>
              <a:p>
                <a:pPr marL="0" indent="0" algn="just">
                  <a:lnSpc>
                    <a:spcPct val="10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he-IL" sz="2400" i="1" spc="-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𝑓</m:t>
                      </m:r>
                      <m:d>
                        <m:dPr>
                          <m:ctrlPr>
                            <a:rPr lang="he-IL" sz="2400" i="1" spc="-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2400" b="0" i="1" spc="-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𝑎</m:t>
                          </m:r>
                          <m:r>
                            <a:rPr lang="en-US" sz="2400" b="0" i="1" spc="-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,</m:t>
                          </m:r>
                          <m:r>
                            <a:rPr lang="he-IL" sz="2400" i="1" spc="-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𝑏</m:t>
                          </m:r>
                        </m:e>
                      </m:d>
                      <m:r>
                        <a:rPr lang="he-IL" sz="2400" i="1" spc="-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=</m:t>
                      </m:r>
                      <m:r>
                        <a:rPr lang="en-US" sz="2400" b="0" i="1" spc="-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𝑚𝑎𝑥</m:t>
                      </m:r>
                      <m:d>
                        <m:dPr>
                          <m:begChr m:val="{"/>
                          <m:endChr m:val=""/>
                          <m:ctrlPr>
                            <a:rPr lang="he-IL" sz="2400" i="1" spc="-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he-IL" sz="2400" i="1" spc="-5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pc="-5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</a:rPr>
                                  <m:t>𝑣</m:t>
                                </m:r>
                                <m:d>
                                  <m:dPr>
                                    <m:ctrlP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</m:ctrlPr>
                                  </m:dPr>
                                  <m:e>
                                    <m: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𝑎</m:t>
                                    </m:r>
                                    <m:r>
                                      <a:rPr lang="en-US" sz="2400" b="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,</m:t>
                                    </m:r>
                                    <m: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he-IL" sz="2400" b="0" i="1" spc="-5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</a:rPr>
                                  <m:t>   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limLow>
                                  <m:limLowPr>
                                    <m:ctrlP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he-IL" sz="2400" b="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0</m:t>
                                    </m:r>
                                    <m:r>
                                      <a:rPr lang="en-US" sz="2400" b="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&lt;</m:t>
                                    </m:r>
                                    <m:r>
                                      <a:rPr lang="en-US" sz="2400" b="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𝑘</m:t>
                                    </m:r>
                                    <m:r>
                                      <a:rPr lang="en-US" sz="2400" b="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&lt;</m:t>
                                    </m:r>
                                    <m:r>
                                      <a:rPr lang="en-US" sz="2400" b="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𝑎</m:t>
                                    </m:r>
                                  </m:lim>
                                </m:limLow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</m:ctrlPr>
                                  </m:dPr>
                                  <m:e>
                                    <m: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he-IL" sz="240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he-IL" sz="2400" i="1" spc="-5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j-ea"/>
                                                <a:cs typeface="+mj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he-IL" sz="2400" i="1" spc="-5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j-ea"/>
                                                <a:cs typeface="+mj-cs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pc="-5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+mj-ea"/>
                                                <a:cs typeface="+mj-cs"/>
                                              </a:rPr>
                                              <m:t>,</m:t>
                                            </m:r>
                                          </m:sub>
                                        </m:sSub>
                                        <m:r>
                                          <a:rPr lang="he-IL" sz="240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+</m:t>
                                    </m:r>
                                    <m: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he-IL" sz="240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he-IL" sz="240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  <m:t>𝑎</m:t>
                                        </m:r>
                                        <m:r>
                                          <a:rPr lang="he-IL" sz="240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  <m:t>−</m:t>
                                        </m:r>
                                        <m:r>
                                          <a:rPr lang="he-IL" sz="240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  <m:t>𝑘</m:t>
                                        </m:r>
                                        <m:r>
                                          <a:rPr lang="he-IL" sz="240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  <m:t>,</m:t>
                                        </m:r>
                                        <m:r>
                                          <a:rPr lang="he-IL" sz="240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mr>
                            <m:mr>
                              <m:e>
                                <m:limLow>
                                  <m:limLowPr>
                                    <m:ctrlP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0</m:t>
                                    </m:r>
                                    <m:r>
                                      <a:rPr lang="en-US" sz="2400" b="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&lt;</m:t>
                                    </m:r>
                                    <m: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1</m:t>
                                    </m:r>
                                    <m: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&lt;</m:t>
                                    </m:r>
                                    <m: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𝑏</m:t>
                                    </m:r>
                                  </m:lim>
                                </m:limLow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</m:ctrlPr>
                                  </m:dPr>
                                  <m:e>
                                    <m: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he-IL" sz="240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he-IL" sz="240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  <m:t>𝑎</m:t>
                                        </m:r>
                                        <m:r>
                                          <a:rPr lang="en-US" sz="2400" b="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  <m:t>,</m:t>
                                        </m:r>
                                        <m:r>
                                          <a:rPr lang="en-US" sz="2400" b="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  <m:t>𝑙</m:t>
                                        </m:r>
                                      </m:e>
                                    </m:d>
                                    <m:r>
                                      <a:rPr lang="he-IL" sz="2400" b="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+</m:t>
                                    </m:r>
                                    <m:r>
                                      <a:rPr lang="he-IL" sz="2400" i="1" spc="-5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j-ea"/>
                                        <a:cs typeface="+mj-cs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he-IL" sz="240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he-IL" sz="240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  <m:t>𝑎</m:t>
                                        </m:r>
                                        <m:r>
                                          <a:rPr lang="en-US" sz="2400" b="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  <m:t>,</m:t>
                                        </m:r>
                                        <m:r>
                                          <a:rPr lang="he-IL" sz="240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  <m:t>𝑏</m:t>
                                        </m:r>
                                        <m:r>
                                          <a:rPr lang="he-IL" sz="240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  <m:t>−</m:t>
                                        </m:r>
                                        <m:r>
                                          <a:rPr lang="en-US" sz="2400" b="0" i="1" spc="-5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j-ea"/>
                                            <a:cs typeface="+mj-cs"/>
                                          </a:rPr>
                                          <m:t>𝑙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he-IL" sz="2800" spc="-50" dirty="0">
                  <a:solidFill>
                    <a:schemeClr val="tx1"/>
                  </a:solidFill>
                  <a:latin typeface="+mj-lt"/>
                  <a:ea typeface="+mj-ea"/>
                  <a:cs typeface="+mj-cs"/>
                </a:endParaRPr>
              </a:p>
            </p:txBody>
          </p:sp>
        </mc:Choice>
        <mc:Fallback>
          <p:sp>
            <p:nvSpPr>
              <p:cNvPr id="4" name="מציין מיקום תוכן 3">
                <a:extLst>
                  <a:ext uri="{FF2B5EF4-FFF2-40B4-BE49-F238E27FC236}">
                    <a16:creationId xmlns:a16="http://schemas.microsoft.com/office/drawing/2014/main" id="{FB9BBF1F-8759-579E-EF9A-72FC8D3D12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5757" y="1737360"/>
                <a:ext cx="10641446" cy="4660507"/>
              </a:xfrm>
              <a:prstGeom prst="rect">
                <a:avLst/>
              </a:prstGeom>
              <a:blipFill>
                <a:blip r:embed="rId2"/>
                <a:stretch>
                  <a:fillRect l="-2405" t="-1307" r="-206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151BD3E-FA84-1445-DB28-9627CA76ACE0}"/>
              </a:ext>
            </a:extLst>
          </p:cNvPr>
          <p:cNvSpPr txBox="1"/>
          <p:nvPr/>
        </p:nvSpPr>
        <p:spPr>
          <a:xfrm>
            <a:off x="7093643" y="4577834"/>
            <a:ext cx="2108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2400" dirty="0">
                <a:solidFill>
                  <a:schemeClr val="tx1"/>
                </a:solidFill>
                <a:latin typeface="Times New Roman" pitchFamily="18" charset="0"/>
                <a:cs typeface="+mj-cs"/>
              </a:rPr>
              <a:t>לא חותכים</a:t>
            </a:r>
            <a:endParaRPr lang="he-IL" sz="2400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D3078860-B77E-5121-BD59-F68E2FC28F83}"/>
              </a:ext>
            </a:extLst>
          </p:cNvPr>
          <p:cNvSpPr txBox="1"/>
          <p:nvPr/>
        </p:nvSpPr>
        <p:spPr>
          <a:xfrm>
            <a:off x="7093643" y="5141099"/>
            <a:ext cx="2108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2400" dirty="0">
                <a:solidFill>
                  <a:schemeClr val="tx1"/>
                </a:solidFill>
                <a:latin typeface="Times New Roman" pitchFamily="18" charset="0"/>
                <a:cs typeface="+mj-cs"/>
              </a:rPr>
              <a:t>חיתוך אופקי</a:t>
            </a:r>
            <a:endParaRPr lang="he-IL" sz="2400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294F1C82-17B6-3EA6-37B7-98A374A6846C}"/>
              </a:ext>
            </a:extLst>
          </p:cNvPr>
          <p:cNvSpPr txBox="1"/>
          <p:nvPr/>
        </p:nvSpPr>
        <p:spPr>
          <a:xfrm>
            <a:off x="7093643" y="5678795"/>
            <a:ext cx="2108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2400" dirty="0">
                <a:solidFill>
                  <a:schemeClr val="tx1"/>
                </a:solidFill>
                <a:latin typeface="Times New Roman" pitchFamily="18" charset="0"/>
                <a:cs typeface="+mj-cs"/>
              </a:rPr>
              <a:t>חיתוך אנכי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26241857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1203590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he-IL" dirty="0"/>
              <a:t>הטבלה</a:t>
            </a:r>
            <a:endParaRPr lang="en-US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7679-9071-4B88-AF75-F8DDC3CE3689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מציין מיקום תוכן 2">
                <a:extLst>
                  <a:ext uri="{FF2B5EF4-FFF2-40B4-BE49-F238E27FC236}">
                    <a16:creationId xmlns:a16="http://schemas.microsoft.com/office/drawing/2014/main" id="{8F33BFDB-2B0D-4077-BE32-2F593F3176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5041" y="2100995"/>
                <a:ext cx="10665229" cy="402336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he-IL" sz="2400" dirty="0">
                    <a:solidFill>
                      <a:schemeClr val="tx1"/>
                    </a:solidFill>
                    <a:cs typeface="+mj-cs"/>
                  </a:rPr>
                  <a:t>נבנה טבלה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𝑀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cs typeface="+mj-cs"/>
                  </a:rPr>
                  <a:t> בגודל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×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𝑚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cs typeface="+mj-cs"/>
                  </a:rPr>
                  <a:t> .</a:t>
                </a:r>
              </a:p>
              <a:p>
                <a:pPr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he-IL" sz="2400" dirty="0">
                    <a:solidFill>
                      <a:schemeClr val="tx1"/>
                    </a:solidFill>
                    <a:cs typeface="+mj-cs"/>
                  </a:rPr>
                  <a:t>נמלא בתא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𝑀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[</m:t>
                    </m:r>
                    <m:r>
                      <a:rPr lang="en-US" sz="24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𝑎</m:t>
                    </m:r>
                    <m:r>
                      <a:rPr lang="en-US" sz="24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,</m:t>
                    </m:r>
                    <m:r>
                      <a:rPr lang="en-US" sz="24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𝑏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]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cs typeface="+mj-cs"/>
                  </a:rPr>
                  <a:t> את הערך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(</m:t>
                    </m:r>
                    <m:r>
                      <a:rPr lang="en-US" sz="24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𝑎</m:t>
                    </m:r>
                    <m:r>
                      <a:rPr lang="en-US" sz="24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,</m:t>
                    </m:r>
                    <m:r>
                      <a:rPr lang="en-US" sz="24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𝑏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)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cs typeface="+mj-cs"/>
                  </a:rPr>
                  <a:t>. כלומר הרווח המקסימלי מחיתוך בד בגודל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𝑎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×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j-cs"/>
                      </a:rPr>
                      <m:t>𝑏</m:t>
                    </m:r>
                  </m:oMath>
                </a14:m>
                <a:r>
                  <a:rPr lang="he-IL" sz="2400" dirty="0">
                    <a:solidFill>
                      <a:schemeClr val="tx1"/>
                    </a:solidFill>
                    <a:cs typeface="+mj-cs"/>
                  </a:rPr>
                  <a:t>.</a:t>
                </a:r>
              </a:p>
              <a:p>
                <a:pPr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he-IL" sz="2400" dirty="0">
                  <a:solidFill>
                    <a:schemeClr val="tx1"/>
                  </a:solidFill>
                  <a:cs typeface="+mj-cs"/>
                </a:endParaRPr>
              </a:p>
            </p:txBody>
          </p:sp>
        </mc:Choice>
        <mc:Fallback>
          <p:sp>
            <p:nvSpPr>
              <p:cNvPr id="10" name="מציין מיקום תוכן 2">
                <a:extLst>
                  <a:ext uri="{FF2B5EF4-FFF2-40B4-BE49-F238E27FC236}">
                    <a16:creationId xmlns:a16="http://schemas.microsoft.com/office/drawing/2014/main" id="{8F33BFDB-2B0D-4077-BE32-2F593F3176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5041" y="2100995"/>
                <a:ext cx="10665229" cy="4023360"/>
              </a:xfrm>
              <a:blipFill>
                <a:blip r:embed="rId3"/>
                <a:stretch>
                  <a:fillRect t="-1212" r="-165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טבלה 7">
                <a:extLst>
                  <a:ext uri="{FF2B5EF4-FFF2-40B4-BE49-F238E27FC236}">
                    <a16:creationId xmlns:a16="http://schemas.microsoft.com/office/drawing/2014/main" id="{9C40DCCD-63DE-7E99-1838-E308E08AB3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9380112"/>
                  </p:ext>
                </p:extLst>
              </p:nvPr>
            </p:nvGraphicFramePr>
            <p:xfrm>
              <a:off x="3806027" y="3429000"/>
              <a:ext cx="5579272" cy="2622616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697409">
                      <a:extLst>
                        <a:ext uri="{9D8B030D-6E8A-4147-A177-3AD203B41FA5}">
                          <a16:colId xmlns:a16="http://schemas.microsoft.com/office/drawing/2014/main" val="3504273213"/>
                        </a:ext>
                      </a:extLst>
                    </a:gridCol>
                    <a:gridCol w="697409">
                      <a:extLst>
                        <a:ext uri="{9D8B030D-6E8A-4147-A177-3AD203B41FA5}">
                          <a16:colId xmlns:a16="http://schemas.microsoft.com/office/drawing/2014/main" val="2379545491"/>
                        </a:ext>
                      </a:extLst>
                    </a:gridCol>
                    <a:gridCol w="697409">
                      <a:extLst>
                        <a:ext uri="{9D8B030D-6E8A-4147-A177-3AD203B41FA5}">
                          <a16:colId xmlns:a16="http://schemas.microsoft.com/office/drawing/2014/main" val="3329033583"/>
                        </a:ext>
                      </a:extLst>
                    </a:gridCol>
                    <a:gridCol w="697409">
                      <a:extLst>
                        <a:ext uri="{9D8B030D-6E8A-4147-A177-3AD203B41FA5}">
                          <a16:colId xmlns:a16="http://schemas.microsoft.com/office/drawing/2014/main" val="121923962"/>
                        </a:ext>
                      </a:extLst>
                    </a:gridCol>
                    <a:gridCol w="697409">
                      <a:extLst>
                        <a:ext uri="{9D8B030D-6E8A-4147-A177-3AD203B41FA5}">
                          <a16:colId xmlns:a16="http://schemas.microsoft.com/office/drawing/2014/main" val="2324036006"/>
                        </a:ext>
                      </a:extLst>
                    </a:gridCol>
                    <a:gridCol w="697409">
                      <a:extLst>
                        <a:ext uri="{9D8B030D-6E8A-4147-A177-3AD203B41FA5}">
                          <a16:colId xmlns:a16="http://schemas.microsoft.com/office/drawing/2014/main" val="3399992306"/>
                        </a:ext>
                      </a:extLst>
                    </a:gridCol>
                    <a:gridCol w="697409">
                      <a:extLst>
                        <a:ext uri="{9D8B030D-6E8A-4147-A177-3AD203B41FA5}">
                          <a16:colId xmlns:a16="http://schemas.microsoft.com/office/drawing/2014/main" val="2649801500"/>
                        </a:ext>
                      </a:extLst>
                    </a:gridCol>
                    <a:gridCol w="697409">
                      <a:extLst>
                        <a:ext uri="{9D8B030D-6E8A-4147-A177-3AD203B41FA5}">
                          <a16:colId xmlns:a16="http://schemas.microsoft.com/office/drawing/2014/main" val="168429369"/>
                        </a:ext>
                      </a:extLst>
                    </a:gridCol>
                  </a:tblGrid>
                  <a:tr h="54610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(</a:t>
                          </a:r>
                          <a:r>
                            <a:rPr lang="en-US" dirty="0" err="1"/>
                            <a:t>n,m</a:t>
                          </a:r>
                          <a:r>
                            <a:rPr lang="en-US" dirty="0"/>
                            <a:t>)</a:t>
                          </a:r>
                          <a:endParaRPr lang="he-I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27318485"/>
                      </a:ext>
                    </a:extLst>
                  </a:tr>
                  <a:tr h="519129"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 dirty="0" err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 dirty="0" err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050033"/>
                      </a:ext>
                    </a:extLst>
                  </a:tr>
                  <a:tr h="519129"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3527923"/>
                      </a:ext>
                    </a:extLst>
                  </a:tr>
                  <a:tr h="519129"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7986406"/>
                      </a:ext>
                    </a:extLst>
                  </a:tr>
                  <a:tr h="519129"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835547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טבלה 7">
                <a:extLst>
                  <a:ext uri="{FF2B5EF4-FFF2-40B4-BE49-F238E27FC236}">
                    <a16:creationId xmlns:a16="http://schemas.microsoft.com/office/drawing/2014/main" id="{9C40DCCD-63DE-7E99-1838-E308E08AB3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9380112"/>
                  </p:ext>
                </p:extLst>
              </p:nvPr>
            </p:nvGraphicFramePr>
            <p:xfrm>
              <a:off x="3806027" y="3429000"/>
              <a:ext cx="5579272" cy="2622616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697409">
                      <a:extLst>
                        <a:ext uri="{9D8B030D-6E8A-4147-A177-3AD203B41FA5}">
                          <a16:colId xmlns:a16="http://schemas.microsoft.com/office/drawing/2014/main" val="3504273213"/>
                        </a:ext>
                      </a:extLst>
                    </a:gridCol>
                    <a:gridCol w="697409">
                      <a:extLst>
                        <a:ext uri="{9D8B030D-6E8A-4147-A177-3AD203B41FA5}">
                          <a16:colId xmlns:a16="http://schemas.microsoft.com/office/drawing/2014/main" val="2379545491"/>
                        </a:ext>
                      </a:extLst>
                    </a:gridCol>
                    <a:gridCol w="697409">
                      <a:extLst>
                        <a:ext uri="{9D8B030D-6E8A-4147-A177-3AD203B41FA5}">
                          <a16:colId xmlns:a16="http://schemas.microsoft.com/office/drawing/2014/main" val="3329033583"/>
                        </a:ext>
                      </a:extLst>
                    </a:gridCol>
                    <a:gridCol w="697409">
                      <a:extLst>
                        <a:ext uri="{9D8B030D-6E8A-4147-A177-3AD203B41FA5}">
                          <a16:colId xmlns:a16="http://schemas.microsoft.com/office/drawing/2014/main" val="121923962"/>
                        </a:ext>
                      </a:extLst>
                    </a:gridCol>
                    <a:gridCol w="697409">
                      <a:extLst>
                        <a:ext uri="{9D8B030D-6E8A-4147-A177-3AD203B41FA5}">
                          <a16:colId xmlns:a16="http://schemas.microsoft.com/office/drawing/2014/main" val="2324036006"/>
                        </a:ext>
                      </a:extLst>
                    </a:gridCol>
                    <a:gridCol w="697409">
                      <a:extLst>
                        <a:ext uri="{9D8B030D-6E8A-4147-A177-3AD203B41FA5}">
                          <a16:colId xmlns:a16="http://schemas.microsoft.com/office/drawing/2014/main" val="3399992306"/>
                        </a:ext>
                      </a:extLst>
                    </a:gridCol>
                    <a:gridCol w="697409">
                      <a:extLst>
                        <a:ext uri="{9D8B030D-6E8A-4147-A177-3AD203B41FA5}">
                          <a16:colId xmlns:a16="http://schemas.microsoft.com/office/drawing/2014/main" val="2649801500"/>
                        </a:ext>
                      </a:extLst>
                    </a:gridCol>
                    <a:gridCol w="697409">
                      <a:extLst>
                        <a:ext uri="{9D8B030D-6E8A-4147-A177-3AD203B41FA5}">
                          <a16:colId xmlns:a16="http://schemas.microsoft.com/office/drawing/2014/main" val="168429369"/>
                        </a:ext>
                      </a:extLst>
                    </a:gridCol>
                  </a:tblGrid>
                  <a:tr h="54610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en-US" dirty="0"/>
                            <a:t>(</a:t>
                          </a:r>
                          <a:r>
                            <a:rPr lang="en-US" dirty="0" err="1"/>
                            <a:t>n,m</a:t>
                          </a:r>
                          <a:r>
                            <a:rPr lang="en-US" dirty="0"/>
                            <a:t>)</a:t>
                          </a:r>
                          <a:endParaRPr lang="he-I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27318485"/>
                      </a:ext>
                    </a:extLst>
                  </a:tr>
                  <a:tr h="519129"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2632" t="-107059" r="-403509" b="-3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050033"/>
                      </a:ext>
                    </a:extLst>
                  </a:tr>
                  <a:tr h="519129"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3527923"/>
                      </a:ext>
                    </a:extLst>
                  </a:tr>
                  <a:tr h="519129"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7986406"/>
                      </a:ext>
                    </a:extLst>
                  </a:tr>
                  <a:tr h="519129"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835547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AB1D8CCA-9BE7-FCB3-5709-8ACC4FEAD8A4}"/>
              </a:ext>
            </a:extLst>
          </p:cNvPr>
          <p:cNvSpPr txBox="1"/>
          <p:nvPr/>
        </p:nvSpPr>
        <p:spPr>
          <a:xfrm>
            <a:off x="739972" y="4163614"/>
            <a:ext cx="2294736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rtl="1"/>
            <a:r>
              <a:rPr lang="he-IL" sz="1800" dirty="0">
                <a:solidFill>
                  <a:schemeClr val="tx1"/>
                </a:solidFill>
                <a:cs typeface="+mj-cs"/>
              </a:rPr>
              <a:t>משבצות שנדרשות לצורך חישוב תא </a:t>
            </a:r>
            <a:r>
              <a:rPr lang="en-US" sz="1800" dirty="0">
                <a:solidFill>
                  <a:schemeClr val="tx1"/>
                </a:solidFill>
                <a:cs typeface="+mj-cs"/>
              </a:rPr>
              <a:t>(</a:t>
            </a:r>
            <a:r>
              <a:rPr lang="en-US" sz="1800" dirty="0" err="1">
                <a:solidFill>
                  <a:schemeClr val="tx1"/>
                </a:solidFill>
                <a:cs typeface="+mj-cs"/>
              </a:rPr>
              <a:t>i,j</a:t>
            </a:r>
            <a:r>
              <a:rPr lang="en-US" sz="1800" dirty="0">
                <a:solidFill>
                  <a:schemeClr val="tx1"/>
                </a:solidFill>
                <a:cs typeface="+mj-cs"/>
              </a:rPr>
              <a:t>)</a:t>
            </a:r>
            <a:endParaRPr lang="he-IL" dirty="0"/>
          </a:p>
        </p:txBody>
      </p:sp>
      <p:cxnSp>
        <p:nvCxnSpPr>
          <p:cNvPr id="20" name="מחבר חץ ישר 19">
            <a:extLst>
              <a:ext uri="{FF2B5EF4-FFF2-40B4-BE49-F238E27FC236}">
                <a16:creationId xmlns:a16="http://schemas.microsoft.com/office/drawing/2014/main" id="{85726F01-8F1D-0EE4-6E4D-5B2802C2DEA8}"/>
              </a:ext>
            </a:extLst>
          </p:cNvPr>
          <p:cNvCxnSpPr>
            <a:cxnSpLocks/>
          </p:cNvCxnSpPr>
          <p:nvPr/>
        </p:nvCxnSpPr>
        <p:spPr>
          <a:xfrm flipV="1">
            <a:off x="3100883" y="4229005"/>
            <a:ext cx="638969" cy="188823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חץ ישר 21">
            <a:extLst>
              <a:ext uri="{FF2B5EF4-FFF2-40B4-BE49-F238E27FC236}">
                <a16:creationId xmlns:a16="http://schemas.microsoft.com/office/drawing/2014/main" id="{1EF514DD-9494-D148-575E-BE0D9A511F6B}"/>
              </a:ext>
            </a:extLst>
          </p:cNvPr>
          <p:cNvCxnSpPr>
            <a:cxnSpLocks/>
          </p:cNvCxnSpPr>
          <p:nvPr/>
        </p:nvCxnSpPr>
        <p:spPr>
          <a:xfrm>
            <a:off x="3100883" y="4480263"/>
            <a:ext cx="3364811" cy="546858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DBBB100E-2D29-5F34-CD39-7CA599F828A2}"/>
              </a:ext>
            </a:extLst>
          </p:cNvPr>
          <p:cNvSpPr txBox="1"/>
          <p:nvPr/>
        </p:nvSpPr>
        <p:spPr>
          <a:xfrm>
            <a:off x="9704692" y="4229005"/>
            <a:ext cx="2294736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rtl="1"/>
            <a:r>
              <a:rPr lang="he-IL" sz="1800" dirty="0">
                <a:solidFill>
                  <a:schemeClr val="tx1"/>
                </a:solidFill>
                <a:cs typeface="+mj-cs"/>
              </a:rPr>
              <a:t>הרווח המקסימלי עבור חתיכה בגודל </a:t>
            </a:r>
            <a:r>
              <a:rPr lang="en-US" sz="1800" dirty="0">
                <a:solidFill>
                  <a:schemeClr val="tx1"/>
                </a:solidFill>
                <a:cs typeface="+mj-cs"/>
              </a:rPr>
              <a:t>(n*m)</a:t>
            </a:r>
            <a:endParaRPr lang="he-IL" dirty="0"/>
          </a:p>
        </p:txBody>
      </p:sp>
      <p:cxnSp>
        <p:nvCxnSpPr>
          <p:cNvPr id="28" name="מחבר חץ ישר 27">
            <a:extLst>
              <a:ext uri="{FF2B5EF4-FFF2-40B4-BE49-F238E27FC236}">
                <a16:creationId xmlns:a16="http://schemas.microsoft.com/office/drawing/2014/main" id="{B9F3DF89-95F7-DDFF-D7ED-629FD6C94112}"/>
              </a:ext>
            </a:extLst>
          </p:cNvPr>
          <p:cNvCxnSpPr>
            <a:cxnSpLocks/>
          </p:cNvCxnSpPr>
          <p:nvPr/>
        </p:nvCxnSpPr>
        <p:spPr>
          <a:xfrm flipH="1" flipV="1">
            <a:off x="9483778" y="3845612"/>
            <a:ext cx="253218" cy="572216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31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A81317-5E9D-3317-D459-EA9140E4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e-IL" sz="4400" dirty="0"/>
              <a:t>הטבלה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503DBE2-DB22-1DF3-4E81-80C7D8317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6892" y="2078137"/>
            <a:ext cx="9808788" cy="402336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he-IL" sz="3600" spc="-5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סדר מילוי הטבלה: </a:t>
            </a:r>
            <a:r>
              <a:rPr lang="he-IL" sz="3600" spc="-50" dirty="0">
                <a:latin typeface="+mj-lt"/>
                <a:ea typeface="+mj-ea"/>
                <a:cs typeface="+mj-cs"/>
              </a:rPr>
              <a:t>נשים לב שמילוי התא ה-</a:t>
            </a:r>
            <a:r>
              <a:rPr lang="en-US" sz="3600" spc="-50" dirty="0">
                <a:latin typeface="+mj-lt"/>
                <a:ea typeface="+mj-ea"/>
                <a:cs typeface="+mj-cs"/>
              </a:rPr>
              <a:t>(</a:t>
            </a:r>
            <a:r>
              <a:rPr lang="en-US" sz="3600" spc="-50" dirty="0" err="1">
                <a:latin typeface="+mj-lt"/>
                <a:ea typeface="+mj-ea"/>
                <a:cs typeface="+mj-cs"/>
              </a:rPr>
              <a:t>i,j</a:t>
            </a:r>
            <a:r>
              <a:rPr lang="en-US" sz="3600" spc="-50" dirty="0">
                <a:latin typeface="+mj-lt"/>
                <a:ea typeface="+mj-ea"/>
                <a:cs typeface="+mj-cs"/>
              </a:rPr>
              <a:t>)</a:t>
            </a:r>
            <a:r>
              <a:rPr lang="he-IL" sz="3600" spc="-50" dirty="0">
                <a:latin typeface="+mj-lt"/>
                <a:ea typeface="+mj-ea"/>
                <a:cs typeface="+mj-cs"/>
              </a:rPr>
              <a:t> מסתמך על התאים בעמודה שלו תחתיו ובשורה שלו משמאלו. ולכן נמלא את הטבלה בשורות מהפינה השמאלית התחתונה ימינה ואז מעלה.</a:t>
            </a:r>
          </a:p>
          <a:p>
            <a:pPr algn="just">
              <a:lnSpc>
                <a:spcPct val="150000"/>
              </a:lnSpc>
            </a:pPr>
            <a:r>
              <a:rPr lang="he-IL" sz="3600" spc="-5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אופן חילוץ הפתרון: </a:t>
            </a:r>
            <a:r>
              <a:rPr lang="he-IL" sz="3600" spc="-50" dirty="0">
                <a:latin typeface="+mj-lt"/>
                <a:ea typeface="+mj-ea"/>
                <a:cs typeface="+mj-cs"/>
              </a:rPr>
              <a:t>בכל שלב במילוי הטבלה נשמור ערכים שיעזרו לנו לדעת כיצד הגענו לערך האופטימלי באותו התא: 1. אי חיתוך 2. חיתוך אופקי 3. חיתוך אנכי. ונשמור גם את האינדקס שבו ביצענו את החיתוך במידה והיה.</a:t>
            </a:r>
          </a:p>
          <a:p>
            <a:pPr algn="just">
              <a:lnSpc>
                <a:spcPct val="150000"/>
              </a:lnSpc>
            </a:pPr>
            <a:r>
              <a:rPr lang="he-IL" sz="3600" spc="-50" dirty="0">
                <a:latin typeface="+mj-lt"/>
                <a:ea typeface="+mj-ea"/>
                <a:cs typeface="+mj-cs"/>
              </a:rPr>
              <a:t>כשנסיים למלא את הטבלה נעבור עליה החל מתא </a:t>
            </a:r>
            <a:r>
              <a:rPr lang="en-US" sz="3600" spc="-50" dirty="0">
                <a:latin typeface="+mj-lt"/>
                <a:ea typeface="+mj-ea"/>
                <a:cs typeface="+mj-cs"/>
              </a:rPr>
              <a:t>(</a:t>
            </a:r>
            <a:r>
              <a:rPr lang="en-US" sz="3600" spc="-50" dirty="0" err="1">
                <a:latin typeface="+mj-lt"/>
                <a:ea typeface="+mj-ea"/>
                <a:cs typeface="+mj-cs"/>
              </a:rPr>
              <a:t>n,m</a:t>
            </a:r>
            <a:r>
              <a:rPr lang="en-US" sz="3600" spc="-50" dirty="0">
                <a:latin typeface="+mj-lt"/>
                <a:ea typeface="+mj-ea"/>
                <a:cs typeface="+mj-cs"/>
              </a:rPr>
              <a:t>)</a:t>
            </a:r>
            <a:r>
              <a:rPr lang="he-IL" sz="3600" spc="-50" dirty="0">
                <a:latin typeface="+mj-lt"/>
                <a:ea typeface="+mj-ea"/>
                <a:cs typeface="+mj-cs"/>
              </a:rPr>
              <a:t> ונשחזר על פי ערכים אלו.</a:t>
            </a:r>
          </a:p>
        </p:txBody>
      </p:sp>
    </p:spTree>
    <p:extLst>
      <p:ext uri="{BB962C8B-B14F-4D97-AF65-F5344CB8AC3E}">
        <p14:creationId xmlns:p14="http://schemas.microsoft.com/office/powerpoint/2010/main" val="14021597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B7CD88-DF80-3AC3-C9DA-D6111639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ניתוח זמן ריצה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0763" y="1846263"/>
                <a:ext cx="9894599" cy="4022725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הטבלה בגודל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he-IL" sz="18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זמן מילוי כל תא: 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he-IL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he-IL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סה"כ זמן ריצה: 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he-IL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94A62AB-7CEF-11FC-7F97-D182233CD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0763" y="1846263"/>
                <a:ext cx="9894599" cy="4022725"/>
              </a:xfrm>
              <a:blipFill>
                <a:blip r:embed="rId2"/>
                <a:stretch>
                  <a:fillRect r="-24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4822310"/>
      </p:ext>
    </p:extLst>
  </p:cSld>
  <p:clrMapOvr>
    <a:masterClrMapping/>
  </p:clrMapOvr>
</p:sld>
</file>

<file path=ppt/theme/theme1.xml><?xml version="1.0" encoding="utf-8"?>
<a:theme xmlns:a="http://schemas.openxmlformats.org/drawingml/2006/main" name="מבט לאחור">
  <a:themeElements>
    <a:clrScheme name="מבט לאחור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מבט לאחור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בט לאחור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41760</TotalTime>
  <Words>2778</Words>
  <Application>Microsoft Office PowerPoint</Application>
  <PresentationFormat>מסך רחב</PresentationFormat>
  <Paragraphs>578</Paragraphs>
  <Slides>59</Slides>
  <Notes>1</Notes>
  <HiddenSlides>0</HiddenSlides>
  <MMClips>0</MMClips>
  <ScaleCrop>false</ScaleCrop>
  <HeadingPairs>
    <vt:vector size="8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שרתי OLE מוטבעים</vt:lpstr>
      </vt:variant>
      <vt:variant>
        <vt:i4>1</vt:i4>
      </vt:variant>
      <vt:variant>
        <vt:lpstr>כותרות שקופיות</vt:lpstr>
      </vt:variant>
      <vt:variant>
        <vt:i4>59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Times New Roman</vt:lpstr>
      <vt:lpstr>מבט לאחור</vt:lpstr>
      <vt:lpstr>Equation</vt:lpstr>
      <vt:lpstr>תכנות דינאמי Dynamic Programming</vt:lpstr>
      <vt:lpstr>תזכורת-שלבים לפתרון בעזרת תכנון דינאמי</vt:lpstr>
      <vt:lpstr>מה נראה היום?</vt:lpstr>
      <vt:lpstr>בעיית לוח המשימות המתוגמלות- הגדרה</vt:lpstr>
      <vt:lpstr>לוח המשימות המתוגמלות-דוגמא</vt:lpstr>
      <vt:lpstr>נוסחת הרקורסיה</vt:lpstr>
      <vt:lpstr>הטבלה</vt:lpstr>
      <vt:lpstr>ניתוח זמן ריצה</vt:lpstr>
      <vt:lpstr>דוגמא</vt:lpstr>
      <vt:lpstr>מה נראה היום?</vt:lpstr>
      <vt:lpstr>תרמיל הגב בשלמים</vt:lpstr>
      <vt:lpstr>בעיית תרמיל הגב בשלמים- הגדרה</vt:lpstr>
      <vt:lpstr>מצגת של PowerPoint‏</vt:lpstr>
      <vt:lpstr>מצגת של PowerPoint‏</vt:lpstr>
      <vt:lpstr>תכנון דינאמי</vt:lpstr>
      <vt:lpstr>הטבלה</vt:lpstr>
      <vt:lpstr>דוגמא</vt:lpstr>
      <vt:lpstr>האלגוריתם</vt:lpstr>
      <vt:lpstr>ניתוח זמן ריצה</vt:lpstr>
      <vt:lpstr>בעיית תרמיל הגב בשלמים- עם חזרות</vt:lpstr>
      <vt:lpstr>הנוסחה הרקורסיבית</vt:lpstr>
      <vt:lpstr>הטבלה</vt:lpstr>
      <vt:lpstr>האלגוריתם</vt:lpstr>
      <vt:lpstr>מה נראה היום?</vt:lpstr>
      <vt:lpstr>בעיית מוט הברזל- הגדרה</vt:lpstr>
      <vt:lpstr>בעיית מוט הברזל- דוגמא</vt:lpstr>
      <vt:lpstr>בעיית מוט הברזל- חשיבה רקורסיבית</vt:lpstr>
      <vt:lpstr>נוסחה רקורסיבית</vt:lpstr>
      <vt:lpstr>הטבלה</vt:lpstr>
      <vt:lpstr>ניתוח זמן ריצה</vt:lpstr>
      <vt:lpstr>בעיית מוט הברזל- דוגמא</vt:lpstr>
      <vt:lpstr>האלגוריתם</vt:lpstr>
      <vt:lpstr>מה נראה היום?</vt:lpstr>
      <vt:lpstr>בעיית כפל מטריצות- הגדרה</vt:lpstr>
      <vt:lpstr>דוגמא</vt:lpstr>
      <vt:lpstr>תכנון דינאמי</vt:lpstr>
      <vt:lpstr>נוסחת הרקורסיה</vt:lpstr>
      <vt:lpstr>נוסחת רקורסיה כללית</vt:lpstr>
      <vt:lpstr>הטבלה</vt:lpstr>
      <vt:lpstr>דוגמה למילוי הטבלה</vt:lpstr>
      <vt:lpstr>חילוץ הפתרון</vt:lpstr>
      <vt:lpstr>זמן ריצה</vt:lpstr>
      <vt:lpstr>מה נראה היום?</vt:lpstr>
      <vt:lpstr>בעיית ניתוב משימות</vt:lpstr>
      <vt:lpstr>סימונים</vt:lpstr>
      <vt:lpstr>נוסחת הרקורסיה</vt:lpstr>
      <vt:lpstr>הטבלה</vt:lpstr>
      <vt:lpstr>חילוץ הפתרון וניתוח זמן ריצה</vt:lpstr>
      <vt:lpstr>דוגמא</vt:lpstr>
      <vt:lpstr>מה נראה היום?</vt:lpstr>
      <vt:lpstr>בעיית חיתוך הבד-הגדרה</vt:lpstr>
      <vt:lpstr>דוגמא</vt:lpstr>
      <vt:lpstr>דוגמא- פתרון חוקי1</vt:lpstr>
      <vt:lpstr>דוגמא- פתרון חוקי2</vt:lpstr>
      <vt:lpstr>תתי בעיות</vt:lpstr>
      <vt:lpstr>תתי הבעיות ונוסחת הרקורסיה</vt:lpstr>
      <vt:lpstr>הטבלה</vt:lpstr>
      <vt:lpstr>הטבלה</vt:lpstr>
      <vt:lpstr>ניתוח זמן ריצה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הקדמה והצגת מושג האלגוריתם</dc:title>
  <dc:creator>רבקה וינגרטן</dc:creator>
  <cp:lastModifiedBy>רבקה וינגרטן</cp:lastModifiedBy>
  <cp:revision>148</cp:revision>
  <cp:lastPrinted>2023-04-17T06:33:36Z</cp:lastPrinted>
  <dcterms:created xsi:type="dcterms:W3CDTF">2023-01-28T23:08:55Z</dcterms:created>
  <dcterms:modified xsi:type="dcterms:W3CDTF">2023-06-04T07:54:58Z</dcterms:modified>
</cp:coreProperties>
</file>