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51"/>
  </p:notesMasterIdLst>
  <p:sldIdLst>
    <p:sldId id="256" r:id="rId2"/>
    <p:sldId id="753" r:id="rId3"/>
    <p:sldId id="689" r:id="rId4"/>
    <p:sldId id="448" r:id="rId5"/>
    <p:sldId id="257" r:id="rId6"/>
    <p:sldId id="745" r:id="rId7"/>
    <p:sldId id="746" r:id="rId8"/>
    <p:sldId id="677" r:id="rId9"/>
    <p:sldId id="646" r:id="rId10"/>
    <p:sldId id="580" r:id="rId11"/>
    <p:sldId id="747" r:id="rId12"/>
    <p:sldId id="749" r:id="rId13"/>
    <p:sldId id="750" r:id="rId14"/>
    <p:sldId id="666" r:id="rId15"/>
    <p:sldId id="754" r:id="rId16"/>
    <p:sldId id="725" r:id="rId17"/>
    <p:sldId id="751" r:id="rId18"/>
    <p:sldId id="581" r:id="rId19"/>
    <p:sldId id="639" r:id="rId20"/>
    <p:sldId id="686" r:id="rId21"/>
    <p:sldId id="622" r:id="rId22"/>
    <p:sldId id="690" r:id="rId23"/>
    <p:sldId id="691" r:id="rId24"/>
    <p:sldId id="692" r:id="rId25"/>
    <p:sldId id="693" r:id="rId26"/>
    <p:sldId id="694" r:id="rId27"/>
    <p:sldId id="695" r:id="rId28"/>
    <p:sldId id="696" r:id="rId29"/>
    <p:sldId id="697" r:id="rId30"/>
    <p:sldId id="698" r:id="rId31"/>
    <p:sldId id="699" r:id="rId32"/>
    <p:sldId id="700" r:id="rId33"/>
    <p:sldId id="701" r:id="rId34"/>
    <p:sldId id="702" r:id="rId35"/>
    <p:sldId id="703" r:id="rId36"/>
    <p:sldId id="641" r:id="rId37"/>
    <p:sldId id="752" r:id="rId38"/>
    <p:sldId id="654" r:id="rId39"/>
    <p:sldId id="755" r:id="rId40"/>
    <p:sldId id="756" r:id="rId41"/>
    <p:sldId id="757" r:id="rId42"/>
    <p:sldId id="758" r:id="rId43"/>
    <p:sldId id="759" r:id="rId44"/>
    <p:sldId id="679" r:id="rId45"/>
    <p:sldId id="762" r:id="rId46"/>
    <p:sldId id="761" r:id="rId47"/>
    <p:sldId id="763" r:id="rId48"/>
    <p:sldId id="764" r:id="rId49"/>
    <p:sldId id="680" r:id="rId50"/>
  </p:sldIdLst>
  <p:sldSz cx="12192000" cy="6858000"/>
  <p:notesSz cx="9929813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6DBF"/>
    <a:srgbClr val="964399"/>
    <a:srgbClr val="EE4010"/>
    <a:srgbClr val="F3704B"/>
    <a:srgbClr val="EC8A5E"/>
    <a:srgbClr val="00B050"/>
    <a:srgbClr val="FFFF50"/>
    <a:srgbClr val="40749B"/>
    <a:srgbClr val="FF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סגנון בהיר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סגנון בהיר 3 - הדגשה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1822" autoAdjust="0"/>
  </p:normalViewPr>
  <p:slideViewPr>
    <p:cSldViewPr snapToGrid="0">
      <p:cViewPr>
        <p:scale>
          <a:sx n="66" d="100"/>
          <a:sy n="66" d="100"/>
        </p:scale>
        <p:origin x="9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5625812" y="0"/>
            <a:ext cx="4304001" cy="341242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2320" y="0"/>
            <a:ext cx="4304001" cy="341242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58D8182-D62D-461A-B70F-A92F1142DE1C}" type="datetimeFigureOut">
              <a:rPr lang="he-IL" smtClean="0"/>
              <a:t>כ"ג/סיון/תשפ"ד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8287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992518" y="3271143"/>
            <a:ext cx="7944778" cy="2676687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5625812" y="6456433"/>
            <a:ext cx="4304001" cy="34124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2320" y="6456433"/>
            <a:ext cx="4304001" cy="34124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E496242-7E78-4A0D-966D-5BE25B02ED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8443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כ"ג/סיון/תשפ"ד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49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כ"ג/סיון/תשפ"ד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614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כ"ג/סיון/תשפ"ד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845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כ"ג/סיון/תשפ"ד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3225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כ"ג/סיון/תשפ"ד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55010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כ"ג/סיון/תשפ"ד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6786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כ"ג/סיון/תשפ"ד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966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FED67DB-4D9C-40C4-B300-882312968343}" type="datetimeFigureOut">
              <a:rPr lang="he-IL" smtClean="0"/>
              <a:t>כ"ג/סיון/תשפ"ד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502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כ"ג/סיון/תשפ"ד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7564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כ"ג/סיון/תשפ"ד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8376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כ"ג/סיון/תשפ"ד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873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FED67DB-4D9C-40C4-B300-882312968343}" type="datetimeFigureOut">
              <a:rPr lang="he-IL" smtClean="0"/>
              <a:t>כ"ג/סיון/תשפ"ד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048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r" defTabSz="914400" rtl="1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6.png"/><Relationship Id="rId4" Type="http://schemas.openxmlformats.org/officeDocument/2006/relationships/image" Target="../media/image29.png"/><Relationship Id="rId9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7.png"/><Relationship Id="rId5" Type="http://schemas.openxmlformats.org/officeDocument/2006/relationships/image" Target="../media/image30.png"/><Relationship Id="rId10" Type="http://schemas.openxmlformats.org/officeDocument/2006/relationships/image" Target="../media/image36.png"/><Relationship Id="rId4" Type="http://schemas.openxmlformats.org/officeDocument/2006/relationships/image" Target="../media/image29.png"/><Relationship Id="rId9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7.png"/><Relationship Id="rId5" Type="http://schemas.openxmlformats.org/officeDocument/2006/relationships/image" Target="../media/image30.png"/><Relationship Id="rId10" Type="http://schemas.openxmlformats.org/officeDocument/2006/relationships/image" Target="../media/image36.png"/><Relationship Id="rId4" Type="http://schemas.openxmlformats.org/officeDocument/2006/relationships/image" Target="../media/image29.png"/><Relationship Id="rId9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12" Type="http://schemas.openxmlformats.org/officeDocument/2006/relationships/image" Target="../media/image4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9.png"/><Relationship Id="rId5" Type="http://schemas.openxmlformats.org/officeDocument/2006/relationships/image" Target="../media/image30.png"/><Relationship Id="rId10" Type="http://schemas.openxmlformats.org/officeDocument/2006/relationships/image" Target="../media/image37.png"/><Relationship Id="rId4" Type="http://schemas.openxmlformats.org/officeDocument/2006/relationships/image" Target="../media/image29.png"/><Relationship Id="rId9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41.png"/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12" Type="http://schemas.openxmlformats.org/officeDocument/2006/relationships/image" Target="../media/image4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9.png"/><Relationship Id="rId5" Type="http://schemas.openxmlformats.org/officeDocument/2006/relationships/image" Target="../media/image30.png"/><Relationship Id="rId10" Type="http://schemas.openxmlformats.org/officeDocument/2006/relationships/image" Target="../media/image37.png"/><Relationship Id="rId4" Type="http://schemas.openxmlformats.org/officeDocument/2006/relationships/image" Target="../media/image29.png"/><Relationship Id="rId9" Type="http://schemas.openxmlformats.org/officeDocument/2006/relationships/image" Target="../media/image36.png"/><Relationship Id="rId1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41.png"/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12" Type="http://schemas.openxmlformats.org/officeDocument/2006/relationships/image" Target="../media/image4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9.png"/><Relationship Id="rId5" Type="http://schemas.openxmlformats.org/officeDocument/2006/relationships/image" Target="../media/image30.png"/><Relationship Id="rId15" Type="http://schemas.openxmlformats.org/officeDocument/2006/relationships/image" Target="../media/image43.png"/><Relationship Id="rId10" Type="http://schemas.openxmlformats.org/officeDocument/2006/relationships/image" Target="../media/image37.png"/><Relationship Id="rId4" Type="http://schemas.openxmlformats.org/officeDocument/2006/relationships/image" Target="../media/image29.png"/><Relationship Id="rId9" Type="http://schemas.openxmlformats.org/officeDocument/2006/relationships/image" Target="../media/image36.png"/><Relationship Id="rId1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41.png"/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12" Type="http://schemas.openxmlformats.org/officeDocument/2006/relationships/image" Target="../media/image4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9.png"/><Relationship Id="rId5" Type="http://schemas.openxmlformats.org/officeDocument/2006/relationships/image" Target="../media/image30.png"/><Relationship Id="rId15" Type="http://schemas.openxmlformats.org/officeDocument/2006/relationships/image" Target="../media/image44.png"/><Relationship Id="rId10" Type="http://schemas.openxmlformats.org/officeDocument/2006/relationships/image" Target="../media/image37.png"/><Relationship Id="rId4" Type="http://schemas.openxmlformats.org/officeDocument/2006/relationships/image" Target="../media/image29.png"/><Relationship Id="rId9" Type="http://schemas.openxmlformats.org/officeDocument/2006/relationships/image" Target="../media/image36.png"/><Relationship Id="rId1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41.png"/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12" Type="http://schemas.openxmlformats.org/officeDocument/2006/relationships/image" Target="../media/image40.png"/><Relationship Id="rId2" Type="http://schemas.openxmlformats.org/officeDocument/2006/relationships/image" Target="../media/image27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9.png"/><Relationship Id="rId5" Type="http://schemas.openxmlformats.org/officeDocument/2006/relationships/image" Target="../media/image30.png"/><Relationship Id="rId15" Type="http://schemas.openxmlformats.org/officeDocument/2006/relationships/image" Target="../media/image44.png"/><Relationship Id="rId10" Type="http://schemas.openxmlformats.org/officeDocument/2006/relationships/image" Target="../media/image37.png"/><Relationship Id="rId4" Type="http://schemas.openxmlformats.org/officeDocument/2006/relationships/image" Target="../media/image29.png"/><Relationship Id="rId9" Type="http://schemas.openxmlformats.org/officeDocument/2006/relationships/image" Target="../media/image36.png"/><Relationship Id="rId1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5EFDA9-1D17-6DE0-2BE5-2D269D7099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he-IL" sz="7200" dirty="0"/>
              <a:t>תכנות דינאמי</a:t>
            </a:r>
            <a:br>
              <a:rPr lang="he-IL" sz="7200" dirty="0"/>
            </a:br>
            <a:r>
              <a:rPr lang="en-US" sz="7200" dirty="0"/>
              <a:t>Dynamic Programming</a:t>
            </a:r>
            <a:endParaRPr lang="he-IL" sz="7200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8C12A35-AF78-933B-5247-64232FC01A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he-IL" dirty="0"/>
              <a:t>תרגילים נוספים</a:t>
            </a:r>
          </a:p>
          <a:p>
            <a:pPr algn="ctr"/>
            <a:r>
              <a:rPr lang="he-IL" dirty="0"/>
              <a:t>©ר. גוטליב 058-3247666</a:t>
            </a:r>
          </a:p>
        </p:txBody>
      </p:sp>
    </p:spTree>
    <p:extLst>
      <p:ext uri="{BB962C8B-B14F-4D97-AF65-F5344CB8AC3E}">
        <p14:creationId xmlns:p14="http://schemas.microsoft.com/office/powerpoint/2010/main" val="381445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72D425-E64E-F19B-86DA-97D4959A0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6000" dirty="0"/>
              <a:t>תת מחרוזת משותפת ארוכה ביותר-</a:t>
            </a:r>
            <a:r>
              <a:rPr lang="en-US" sz="6000" dirty="0"/>
              <a:t>LCS</a:t>
            </a:r>
            <a:r>
              <a:rPr lang="he-IL" sz="6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664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105BC8D-0442-C48E-0BF3-A2B1B3EC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תזכורת-שלבים לפתרון בעזרת תכנון דינאמי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92F61AF-1D13-BB40-658A-D4AEAC19F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81014"/>
            <a:ext cx="1005840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e-IL" sz="3200" dirty="0">
                <a:cs typeface="+mj-cs"/>
              </a:rPr>
              <a:t> </a:t>
            </a:r>
            <a:r>
              <a:rPr lang="he-IL" sz="3200" b="1" dirty="0">
                <a:cs typeface="+mj-cs"/>
              </a:rPr>
              <a:t>הגדרת תתי הבעיות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3200" dirty="0">
                <a:cs typeface="+mj-cs"/>
              </a:rPr>
              <a:t> </a:t>
            </a:r>
            <a:r>
              <a:rPr lang="he-IL" sz="3200" b="1" dirty="0">
                <a:cs typeface="+mj-cs"/>
              </a:rPr>
              <a:t>כתיבת נוסחה רקורסיבית </a:t>
            </a:r>
            <a:r>
              <a:rPr lang="he-IL" sz="3200" dirty="0">
                <a:cs typeface="+mj-cs"/>
              </a:rPr>
              <a:t>המקשרת בין תתי בעיות קטנות לבעיות גדולות יותר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3200" b="1" dirty="0">
                <a:cs typeface="+mj-cs"/>
              </a:rPr>
              <a:t>הגדרת טבלה</a:t>
            </a:r>
            <a:r>
              <a:rPr lang="he-IL" sz="3200" dirty="0">
                <a:cs typeface="+mj-cs"/>
              </a:rPr>
              <a:t>, סדר מילויה ואופן חילוץ הפתרון האופטימלי ממנה.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3200" b="1" dirty="0">
                <a:cs typeface="+mj-cs"/>
              </a:rPr>
              <a:t>כתיבת </a:t>
            </a:r>
            <a:r>
              <a:rPr lang="he-IL" sz="3200" b="1" dirty="0" err="1">
                <a:cs typeface="+mj-cs"/>
              </a:rPr>
              <a:t>פסאודו</a:t>
            </a:r>
            <a:r>
              <a:rPr lang="he-IL" sz="3200" b="1" dirty="0">
                <a:cs typeface="+mj-cs"/>
              </a:rPr>
              <a:t> קוד- </a:t>
            </a:r>
            <a:r>
              <a:rPr lang="he-IL" sz="3200" dirty="0">
                <a:cs typeface="+mj-cs"/>
              </a:rPr>
              <a:t>לא תמיד חובה.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3200" b="1" dirty="0">
                <a:cs typeface="+mj-cs"/>
              </a:rPr>
              <a:t>ניתוח זמן ריצה, </a:t>
            </a:r>
            <a:r>
              <a:rPr lang="he-IL" sz="3200" dirty="0">
                <a:cs typeface="+mj-cs"/>
              </a:rPr>
              <a:t>לרוב- מספר התאים כפול הזמן </a:t>
            </a:r>
            <a:r>
              <a:rPr lang="he-IL" sz="3200" dirty="0" err="1">
                <a:cs typeface="+mj-cs"/>
              </a:rPr>
              <a:t>למלוי</a:t>
            </a:r>
            <a:r>
              <a:rPr lang="he-IL" sz="3200" dirty="0">
                <a:cs typeface="+mj-cs"/>
              </a:rPr>
              <a:t> תא אחד.</a:t>
            </a:r>
          </a:p>
        </p:txBody>
      </p:sp>
    </p:spTree>
    <p:extLst>
      <p:ext uri="{BB962C8B-B14F-4D97-AF65-F5344CB8AC3E}">
        <p14:creationId xmlns:p14="http://schemas.microsoft.com/office/powerpoint/2010/main" val="3967090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3BD602-60BA-BF5C-64EA-A28B871D8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תת מחרוזת משותפת ארוכה ביותר- הגדרה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30F70000-B2FC-4456-A5D1-9FEF8AD52918}"/>
              </a:ext>
            </a:extLst>
          </p:cNvPr>
          <p:cNvSpPr/>
          <p:nvPr/>
        </p:nvSpPr>
        <p:spPr>
          <a:xfrm>
            <a:off x="1438656" y="2514600"/>
            <a:ext cx="9473184" cy="2816560"/>
          </a:xfrm>
          <a:prstGeom prst="rect">
            <a:avLst/>
          </a:prstGeom>
          <a:solidFill>
            <a:srgbClr val="E3E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00D3A60C-D806-4582-AFCE-620491374840}"/>
              </a:ext>
            </a:extLst>
          </p:cNvPr>
          <p:cNvSpPr/>
          <p:nvPr/>
        </p:nvSpPr>
        <p:spPr>
          <a:xfrm>
            <a:off x="1438656" y="2394806"/>
            <a:ext cx="9473184" cy="630936"/>
          </a:xfrm>
          <a:prstGeom prst="rect">
            <a:avLst/>
          </a:prstGeom>
          <a:solidFill>
            <a:srgbClr val="C9D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7CE4F0-5B30-40AD-BD9B-F50772E54EFF}"/>
                  </a:ext>
                </a:extLst>
              </p:cNvPr>
              <p:cNvSpPr txBox="1"/>
              <p:nvPr/>
            </p:nvSpPr>
            <p:spPr>
              <a:xfrm>
                <a:off x="2115313" y="2300318"/>
                <a:ext cx="8814816" cy="289053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he-IL" sz="3200" b="1" dirty="0">
                    <a:solidFill>
                      <a:srgbClr val="006CB7"/>
                    </a:solidFill>
                    <a:cs typeface="+mj-cs"/>
                  </a:rPr>
                  <a:t>תת מחרוזת משותפת אופטימלית</a:t>
                </a:r>
              </a:p>
              <a:p>
                <a:pPr algn="r">
                  <a:lnSpc>
                    <a:spcPts val="4300"/>
                  </a:lnSpc>
                </a:pPr>
                <a:r>
                  <a:rPr lang="he-IL" sz="2800" dirty="0">
                    <a:solidFill>
                      <a:srgbClr val="006CB7"/>
                    </a:solidFill>
                    <a:cs typeface="+mj-cs"/>
                  </a:rPr>
                  <a:t>קלט: </a:t>
                </a:r>
              </a:p>
              <a:p>
                <a:pPr algn="just" rtl="1">
                  <a:lnSpc>
                    <a:spcPct val="150000"/>
                  </a:lnSpc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שתי מחרוזות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=&lt;</m:t>
                    </m:r>
                    <m:sSub>
                      <m:sSubPr>
                        <m:ctrlP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=&lt;</m:t>
                    </m:r>
                    <m:sSub>
                      <m:sSubPr>
                        <m:ctrlP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lang="he-IL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/>
                <a:r>
                  <a:rPr lang="he-IL" sz="2800" dirty="0">
                    <a:solidFill>
                      <a:srgbClr val="006CB7"/>
                    </a:solidFill>
                    <a:cs typeface="+mj-cs"/>
                  </a:rPr>
                  <a:t>פלט: </a:t>
                </a:r>
              </a:p>
              <a:p>
                <a:pPr algn="r"/>
                <a:r>
                  <a:rPr lang="he-IL" sz="2800" dirty="0">
                    <a:cs typeface="+mj-cs"/>
                  </a:rPr>
                  <a:t>תת מחרוזת משותפת ארוכה ביותר של שתי המחרוזות הנתונות. (תמ"א)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7CE4F0-5B30-40AD-BD9B-F50772E54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313" y="2300318"/>
                <a:ext cx="8814816" cy="2890535"/>
              </a:xfrm>
              <a:prstGeom prst="rect">
                <a:avLst/>
              </a:prstGeom>
              <a:blipFill>
                <a:blip r:embed="rId2"/>
                <a:stretch>
                  <a:fillRect r="-1660" b="-484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5738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3BD602-60BA-BF5C-64EA-A28B871D8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תמ"א- הסבר הבעיה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13AC39CD-C6C1-C491-2730-96AE966C7454}"/>
              </a:ext>
            </a:extLst>
          </p:cNvPr>
          <p:cNvSpPr/>
          <p:nvPr/>
        </p:nvSpPr>
        <p:spPr>
          <a:xfrm>
            <a:off x="9982200" y="2026920"/>
            <a:ext cx="1173163" cy="1097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מציין מיקום תוכן 4">
            <a:extLst>
              <a:ext uri="{FF2B5EF4-FFF2-40B4-BE49-F238E27FC236}">
                <a16:creationId xmlns:a16="http://schemas.microsoft.com/office/drawing/2014/main" id="{7F4DCE60-BAA8-1B87-4B74-9D178C3AD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e-IL" sz="4500" b="1" dirty="0">
                <a:cs typeface="+mj-cs"/>
              </a:rPr>
              <a:t>מהי תת מחרוזת? </a:t>
            </a:r>
          </a:p>
          <a:p>
            <a:pPr algn="r" rtl="1">
              <a:tabLst>
                <a:tab pos="161925" algn="l"/>
                <a:tab pos="9305925" algn="r"/>
              </a:tabLst>
            </a:pPr>
            <a:r>
              <a:rPr lang="he-IL" sz="4000" dirty="0">
                <a:cs typeface="+mj-cs"/>
              </a:rPr>
              <a:t>בהינתן סדרה של תווים, תת מחרוזת היא סדרת </a:t>
            </a:r>
            <a:r>
              <a:rPr lang="he-IL" sz="4000" dirty="0" err="1">
                <a:cs typeface="+mj-cs"/>
              </a:rPr>
              <a:t>תוים</a:t>
            </a:r>
            <a:r>
              <a:rPr lang="he-IL" sz="4000" dirty="0">
                <a:cs typeface="+mj-cs"/>
              </a:rPr>
              <a:t> מתוך המחרוזת הנתונה, בסדר הנתון אבל לאו דווקא ברצף.</a:t>
            </a:r>
          </a:p>
          <a:p>
            <a:pPr algn="r" rtl="1">
              <a:tabLst>
                <a:tab pos="161925" algn="l"/>
                <a:tab pos="9305925" algn="r"/>
              </a:tabLst>
            </a:pPr>
            <a:r>
              <a:rPr lang="he-IL" sz="4000" b="1" u="sng" dirty="0">
                <a:cs typeface="+mj-cs"/>
              </a:rPr>
              <a:t>לדוגמא </a:t>
            </a:r>
          </a:p>
          <a:p>
            <a:pPr marL="0" indent="0" algn="r" rtl="1">
              <a:lnSpc>
                <a:spcPct val="120000"/>
              </a:lnSpc>
              <a:tabLst>
                <a:tab pos="161925" algn="l"/>
                <a:tab pos="9305925" algn="r"/>
              </a:tabLst>
            </a:pPr>
            <a:r>
              <a:rPr lang="he-IL" sz="4500" dirty="0">
                <a:cs typeface="+mj-cs"/>
              </a:rPr>
              <a:t>עבור המחרוזת הנתונה</a:t>
            </a:r>
            <a:r>
              <a:rPr lang="en-US" sz="1800" dirty="0">
                <a:solidFill>
                  <a:srgbClr val="3333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29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5800" dirty="0" err="1"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5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5800" dirty="0" err="1">
                <a:solidFill>
                  <a:srgbClr val="00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5800" dirty="0" err="1">
                <a:solidFill>
                  <a:srgbClr val="9933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5800" dirty="0" err="1">
                <a:solidFill>
                  <a:srgbClr val="00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5800" dirty="0" err="1"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58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5800" dirty="0" err="1">
                <a:solidFill>
                  <a:srgbClr val="FF66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5800" dirty="0" err="1">
                <a:solidFill>
                  <a:srgbClr val="3366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4500" dirty="0">
                <a:solidFill>
                  <a:srgbClr val="3366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</a:t>
            </a:r>
            <a:r>
              <a:rPr lang="en-US" sz="2800" dirty="0">
                <a:solidFill>
                  <a:srgbClr val="3366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: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 rtl="1">
              <a:lnSpc>
                <a:spcPct val="120000"/>
              </a:lnSpc>
              <a:tabLst>
                <a:tab pos="161925" algn="l"/>
                <a:tab pos="9305925" algn="r"/>
              </a:tabLst>
            </a:pPr>
            <a:r>
              <a:rPr lang="he-IL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tabLst>
                <a:tab pos="161925" algn="l"/>
                <a:tab pos="9305925" algn="r"/>
              </a:tabLst>
            </a:pPr>
            <a:r>
              <a:rPr lang="he-IL" sz="4000" dirty="0">
                <a:cs typeface="+mj-cs"/>
              </a:rPr>
              <a:t>תתי מחרוזות של המחרוזת הנתונה הן למשל:</a:t>
            </a:r>
            <a:endParaRPr lang="en-US" sz="4000" dirty="0">
              <a:cs typeface="+mj-cs"/>
            </a:endParaRPr>
          </a:p>
          <a:p>
            <a:pPr marL="0" indent="0"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tabLst>
                <a:tab pos="161925" algn="l"/>
                <a:tab pos="9305925" algn="r"/>
              </a:tabLst>
            </a:pPr>
            <a:r>
              <a:rPr lang="he-IL" sz="45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4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tabLst>
                <a:tab pos="161925" algn="l"/>
                <a:tab pos="5105400" algn="l"/>
                <a:tab pos="9305925" algn="r"/>
              </a:tabLst>
            </a:pPr>
            <a:r>
              <a:rPr lang="en-US" sz="4500" dirty="0" err="1"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4500" dirty="0" err="1">
                <a:solidFill>
                  <a:srgbClr val="00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4500" dirty="0" err="1"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4500" dirty="0" err="1">
                <a:solidFill>
                  <a:srgbClr val="FF66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he-IL" sz="4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,</a:t>
            </a:r>
            <a:r>
              <a:rPr lang="en-US" sz="4500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4500" dirty="0" err="1">
                <a:solidFill>
                  <a:srgbClr val="00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4500" dirty="0" err="1"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4500" dirty="0" err="1">
                <a:solidFill>
                  <a:srgbClr val="FF66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4500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45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he-IL" sz="2600" dirty="0"/>
          </a:p>
        </p:txBody>
      </p:sp>
    </p:spTree>
    <p:extLst>
      <p:ext uri="{BB962C8B-B14F-4D97-AF65-F5344CB8AC3E}">
        <p14:creationId xmlns:p14="http://schemas.microsoft.com/office/powerpoint/2010/main" val="4197842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3BD602-60BA-BF5C-64EA-A28B871D8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תמ"א- הסבר הבעיה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13AC39CD-C6C1-C491-2730-96AE966C7454}"/>
              </a:ext>
            </a:extLst>
          </p:cNvPr>
          <p:cNvSpPr/>
          <p:nvPr/>
        </p:nvSpPr>
        <p:spPr>
          <a:xfrm>
            <a:off x="9982200" y="2026920"/>
            <a:ext cx="1173163" cy="1097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מציין מיקום תוכן 4">
            <a:extLst>
              <a:ext uri="{FF2B5EF4-FFF2-40B4-BE49-F238E27FC236}">
                <a16:creationId xmlns:a16="http://schemas.microsoft.com/office/drawing/2014/main" id="{7F4DCE60-BAA8-1B87-4B74-9D178C3AD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820" y="1845733"/>
            <a:ext cx="11071860" cy="4725663"/>
          </a:xfrm>
        </p:spPr>
        <p:txBody>
          <a:bodyPr>
            <a:normAutofit fontScale="70000" lnSpcReduction="20000"/>
          </a:bodyPr>
          <a:lstStyle/>
          <a:p>
            <a:r>
              <a:rPr lang="he-IL" sz="4500" b="1" dirty="0">
                <a:cs typeface="+mj-cs"/>
              </a:rPr>
              <a:t>מהי תת מחרוזת משותפת? </a:t>
            </a:r>
          </a:p>
          <a:p>
            <a:pPr algn="r" rtl="1">
              <a:tabLst>
                <a:tab pos="161925" algn="l"/>
                <a:tab pos="9305925" algn="r"/>
              </a:tabLst>
            </a:pPr>
            <a:r>
              <a:rPr lang="he-IL" sz="4000" dirty="0">
                <a:cs typeface="+mj-cs"/>
              </a:rPr>
              <a:t>בהינתן 2 מחרוזות, תת מחרוזת משותפת היא תת מחרוזת המופיעה בשתי המחרוזות הנתונות.</a:t>
            </a:r>
          </a:p>
          <a:p>
            <a:pPr algn="r" rtl="1">
              <a:lnSpc>
                <a:spcPct val="120000"/>
              </a:lnSpc>
              <a:tabLst>
                <a:tab pos="161925" algn="l"/>
                <a:tab pos="9305925" algn="r"/>
              </a:tabLst>
            </a:pPr>
            <a:r>
              <a:rPr lang="he-IL" sz="5100" b="1" u="sng" dirty="0">
                <a:cs typeface="+mj-cs"/>
              </a:rPr>
              <a:t>לדוגמא </a:t>
            </a:r>
          </a:p>
          <a:p>
            <a:pPr marL="0" indent="0" rtl="1">
              <a:lnSpc>
                <a:spcPct val="120000"/>
              </a:lnSpc>
              <a:tabLst>
                <a:tab pos="161925" algn="l"/>
                <a:tab pos="9305925" algn="r"/>
              </a:tabLst>
            </a:pPr>
            <a:r>
              <a:rPr lang="he-IL" sz="5100" dirty="0">
                <a:cs typeface="+mj-cs"/>
              </a:rPr>
              <a:t>עבור המחרוזות הנתונות:</a:t>
            </a:r>
          </a:p>
          <a:p>
            <a:pPr marL="0" indent="0" algn="ctr" rtl="1">
              <a:lnSpc>
                <a:spcPct val="120000"/>
              </a:lnSpc>
              <a:tabLst>
                <a:tab pos="161925" algn="l"/>
                <a:tab pos="9305925" algn="r"/>
              </a:tabLst>
            </a:pPr>
            <a:r>
              <a:rPr lang="he-IL" sz="5100" dirty="0">
                <a:cs typeface="+mj-cs"/>
              </a:rPr>
              <a:t>  </a:t>
            </a:r>
            <a:r>
              <a:rPr lang="en-US" sz="4000" b="1" dirty="0">
                <a:solidFill>
                  <a:srgbClr val="EE401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X=&lt;</a:t>
            </a:r>
            <a:r>
              <a:rPr lang="en-US" sz="4000" b="1" dirty="0" err="1">
                <a:solidFill>
                  <a:srgbClr val="EE401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a,b,c,b,a,a,b</a:t>
            </a:r>
            <a:r>
              <a:rPr lang="en-US" sz="4000" b="1" dirty="0">
                <a:solidFill>
                  <a:srgbClr val="EE401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&gt;</a:t>
            </a:r>
            <a:r>
              <a:rPr lang="he-IL" sz="4000" b="1" dirty="0">
                <a:solidFill>
                  <a:srgbClr val="EE401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4000" b="1" dirty="0">
                <a:solidFill>
                  <a:srgbClr val="EE401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Y=&lt;</a:t>
            </a:r>
            <a:r>
              <a:rPr lang="en-US" sz="4000" b="1" dirty="0" err="1">
                <a:solidFill>
                  <a:srgbClr val="EE401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b,a,a,c,a,c,b,a</a:t>
            </a:r>
            <a:r>
              <a:rPr lang="en-US" sz="4000" b="1" dirty="0">
                <a:solidFill>
                  <a:srgbClr val="EE401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&gt;</a:t>
            </a:r>
            <a:endParaRPr lang="he-IL" sz="4000" b="1" dirty="0">
              <a:solidFill>
                <a:srgbClr val="EE401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rtl="1">
              <a:lnSpc>
                <a:spcPct val="120000"/>
              </a:lnSpc>
              <a:tabLst>
                <a:tab pos="161925" algn="l"/>
                <a:tab pos="9305925" algn="r"/>
              </a:tabLst>
            </a:pPr>
            <a:r>
              <a:rPr lang="he-IL" sz="5100" dirty="0">
                <a:cs typeface="+mj-cs"/>
              </a:rPr>
              <a:t>תתי מחרוזות משותפות הן:</a:t>
            </a:r>
          </a:p>
          <a:p>
            <a:pPr marL="0" indent="0" algn="ctr" rtl="1">
              <a:lnSpc>
                <a:spcPct val="120000"/>
              </a:lnSpc>
              <a:tabLst>
                <a:tab pos="161925" algn="l"/>
                <a:tab pos="9305925" algn="r"/>
              </a:tabLst>
            </a:pPr>
            <a:r>
              <a:rPr lang="he-IL" sz="5100" dirty="0">
                <a:cs typeface="+mj-cs"/>
              </a:rPr>
              <a:t> </a:t>
            </a:r>
            <a:r>
              <a:rPr lang="en-US" sz="4000" b="1" dirty="0">
                <a:solidFill>
                  <a:srgbClr val="EE4010"/>
                </a:solidFill>
                <a:latin typeface="Times New Roman" panose="02020603050405020304" pitchFamily="18" charset="0"/>
              </a:rPr>
              <a:t>&lt;</a:t>
            </a:r>
            <a:r>
              <a:rPr lang="en-US" sz="4000" b="1" dirty="0" err="1">
                <a:solidFill>
                  <a:srgbClr val="EE4010"/>
                </a:solidFill>
                <a:latin typeface="Times New Roman" panose="02020603050405020304" pitchFamily="18" charset="0"/>
              </a:rPr>
              <a:t>a,b</a:t>
            </a:r>
            <a:r>
              <a:rPr lang="en-US" sz="4000" b="1" dirty="0">
                <a:solidFill>
                  <a:srgbClr val="EE4010"/>
                </a:solidFill>
                <a:latin typeface="Times New Roman" panose="02020603050405020304" pitchFamily="18" charset="0"/>
              </a:rPr>
              <a:t>&gt;, &lt;</a:t>
            </a:r>
            <a:r>
              <a:rPr lang="en-US" sz="4000" b="1" dirty="0" err="1">
                <a:solidFill>
                  <a:srgbClr val="EE4010"/>
                </a:solidFill>
                <a:latin typeface="Times New Roman" panose="02020603050405020304" pitchFamily="18" charset="0"/>
              </a:rPr>
              <a:t>a,a,b</a:t>
            </a:r>
            <a:r>
              <a:rPr lang="en-US" sz="4000" b="1" dirty="0">
                <a:solidFill>
                  <a:srgbClr val="EE4010"/>
                </a:solidFill>
                <a:latin typeface="Times New Roman" panose="02020603050405020304" pitchFamily="18" charset="0"/>
              </a:rPr>
              <a:t>&gt;, &lt;</a:t>
            </a:r>
            <a:r>
              <a:rPr lang="en-US" sz="4000" b="1" dirty="0" err="1">
                <a:solidFill>
                  <a:srgbClr val="EE4010"/>
                </a:solidFill>
                <a:latin typeface="Times New Roman" panose="02020603050405020304" pitchFamily="18" charset="0"/>
              </a:rPr>
              <a:t>a,a,a,b</a:t>
            </a:r>
            <a:r>
              <a:rPr lang="en-US" sz="4000" b="1" dirty="0">
                <a:solidFill>
                  <a:srgbClr val="EE4010"/>
                </a:solidFill>
                <a:latin typeface="Times New Roman" panose="02020603050405020304" pitchFamily="18" charset="0"/>
              </a:rPr>
              <a:t>&gt;, &lt;</a:t>
            </a:r>
            <a:r>
              <a:rPr lang="en-US" sz="4000" b="1" dirty="0" err="1">
                <a:solidFill>
                  <a:srgbClr val="EE4010"/>
                </a:solidFill>
                <a:latin typeface="Times New Roman" panose="02020603050405020304" pitchFamily="18" charset="0"/>
              </a:rPr>
              <a:t>b,c,a,b</a:t>
            </a:r>
            <a:r>
              <a:rPr lang="en-US" sz="4000" b="1" dirty="0">
                <a:solidFill>
                  <a:srgbClr val="EE4010"/>
                </a:solidFill>
                <a:latin typeface="Times New Roman" panose="02020603050405020304" pitchFamily="18" charset="0"/>
              </a:rPr>
              <a:t>&gt;, &lt;</a:t>
            </a:r>
            <a:r>
              <a:rPr lang="en-US" sz="4000" b="1" dirty="0" err="1">
                <a:solidFill>
                  <a:srgbClr val="EE4010"/>
                </a:solidFill>
                <a:latin typeface="Times New Roman" panose="02020603050405020304" pitchFamily="18" charset="0"/>
              </a:rPr>
              <a:t>a,c,b,a</a:t>
            </a:r>
            <a:r>
              <a:rPr lang="en-US" sz="4000" b="1" dirty="0">
                <a:solidFill>
                  <a:srgbClr val="EE4010"/>
                </a:solidFill>
                <a:latin typeface="Times New Roman" panose="02020603050405020304" pitchFamily="18" charset="0"/>
              </a:rPr>
              <a:t>&gt;</a:t>
            </a:r>
            <a:endParaRPr lang="he-IL" sz="4000" b="1" dirty="0">
              <a:solidFill>
                <a:srgbClr val="EE4010"/>
              </a:solidFill>
              <a:latin typeface="Times New Roman" panose="02020603050405020304" pitchFamily="18" charset="0"/>
            </a:endParaRPr>
          </a:p>
          <a:p>
            <a:pPr marL="0" indent="0" algn="ctr" rtl="1">
              <a:lnSpc>
                <a:spcPct val="120000"/>
              </a:lnSpc>
              <a:tabLst>
                <a:tab pos="161925" algn="l"/>
                <a:tab pos="9305925" algn="r"/>
              </a:tabLst>
            </a:pPr>
            <a:endParaRPr lang="he-IL" sz="2600" dirty="0">
              <a:solidFill>
                <a:srgbClr val="EE401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645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3BD602-60BA-BF5C-64EA-A28B871D8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תמ"א- הסבר הבעיה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13AC39CD-C6C1-C491-2730-96AE966C7454}"/>
              </a:ext>
            </a:extLst>
          </p:cNvPr>
          <p:cNvSpPr/>
          <p:nvPr/>
        </p:nvSpPr>
        <p:spPr>
          <a:xfrm>
            <a:off x="9982200" y="2026920"/>
            <a:ext cx="1173163" cy="1097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מציין מיקום תוכן 4">
            <a:extLst>
              <a:ext uri="{FF2B5EF4-FFF2-40B4-BE49-F238E27FC236}">
                <a16:creationId xmlns:a16="http://schemas.microsoft.com/office/drawing/2014/main" id="{7F4DCE60-BAA8-1B87-4B74-9D178C3AD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479" y="1845733"/>
            <a:ext cx="10881043" cy="4725663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he-IL" sz="4000" b="1" dirty="0">
                <a:cs typeface="+mj-cs"/>
              </a:rPr>
              <a:t>אנחנו מחפשים תת מחרוזת המשותפת לשתי המחרוזות שהיא ארוכה ביותר. כלומר מספר התווים בה הוא המקסימום.</a:t>
            </a:r>
          </a:p>
          <a:p>
            <a:pPr algn="just">
              <a:lnSpc>
                <a:spcPct val="150000"/>
              </a:lnSpc>
            </a:pPr>
            <a:r>
              <a:rPr lang="he-IL" sz="3600" dirty="0">
                <a:cs typeface="+mj-cs"/>
              </a:rPr>
              <a:t>עבור הדוגמא לעיל, תת המחרוזת המשותפת הארוכה ביותר היא באורך 4 ויש כמה אפשרויות נכונות מתאימות.</a:t>
            </a:r>
          </a:p>
          <a:p>
            <a:pPr algn="ctr" rtl="1">
              <a:lnSpc>
                <a:spcPct val="150000"/>
              </a:lnSpc>
              <a:tabLst>
                <a:tab pos="161925" algn="l"/>
                <a:tab pos="9305925" algn="r"/>
              </a:tabLst>
            </a:pPr>
            <a:r>
              <a:rPr lang="en-US" sz="4000" b="1" dirty="0">
                <a:solidFill>
                  <a:srgbClr val="EE4010"/>
                </a:solidFill>
                <a:latin typeface="Times New Roman" panose="02020603050405020304" pitchFamily="18" charset="0"/>
              </a:rPr>
              <a:t>&lt;</a:t>
            </a:r>
            <a:r>
              <a:rPr lang="en-US" sz="4000" b="1" dirty="0" err="1">
                <a:solidFill>
                  <a:srgbClr val="EE4010"/>
                </a:solidFill>
                <a:latin typeface="Times New Roman" panose="02020603050405020304" pitchFamily="18" charset="0"/>
              </a:rPr>
              <a:t>a,a,a,b</a:t>
            </a:r>
            <a:r>
              <a:rPr lang="en-US" sz="4000" b="1" dirty="0">
                <a:solidFill>
                  <a:srgbClr val="EE4010"/>
                </a:solidFill>
                <a:latin typeface="Times New Roman" panose="02020603050405020304" pitchFamily="18" charset="0"/>
              </a:rPr>
              <a:t>&gt;, &lt;</a:t>
            </a:r>
            <a:r>
              <a:rPr lang="en-US" sz="4000" b="1" dirty="0" err="1">
                <a:solidFill>
                  <a:srgbClr val="EE4010"/>
                </a:solidFill>
                <a:latin typeface="Times New Roman" panose="02020603050405020304" pitchFamily="18" charset="0"/>
              </a:rPr>
              <a:t>b,c,a,b</a:t>
            </a:r>
            <a:r>
              <a:rPr lang="en-US" sz="4000" b="1" dirty="0">
                <a:solidFill>
                  <a:srgbClr val="EE4010"/>
                </a:solidFill>
                <a:latin typeface="Times New Roman" panose="02020603050405020304" pitchFamily="18" charset="0"/>
              </a:rPr>
              <a:t>&gt;, &lt;</a:t>
            </a:r>
            <a:r>
              <a:rPr lang="en-US" sz="4000" b="1" dirty="0" err="1">
                <a:solidFill>
                  <a:srgbClr val="EE4010"/>
                </a:solidFill>
                <a:latin typeface="Times New Roman" panose="02020603050405020304" pitchFamily="18" charset="0"/>
              </a:rPr>
              <a:t>a,c,b,a</a:t>
            </a:r>
            <a:r>
              <a:rPr lang="en-US" sz="4000" b="1" dirty="0">
                <a:solidFill>
                  <a:srgbClr val="EE4010"/>
                </a:solidFill>
                <a:latin typeface="Times New Roman" panose="02020603050405020304" pitchFamily="18" charset="0"/>
              </a:rPr>
              <a:t>&gt;</a:t>
            </a:r>
            <a:endParaRPr lang="he-IL" sz="4000" b="1" dirty="0">
              <a:solidFill>
                <a:srgbClr val="EE4010"/>
              </a:solidFill>
              <a:latin typeface="Times New Roman" panose="02020603050405020304" pitchFamily="18" charset="0"/>
            </a:endParaRPr>
          </a:p>
          <a:p>
            <a:pPr marL="0" indent="0" algn="ctr" rtl="1">
              <a:lnSpc>
                <a:spcPct val="120000"/>
              </a:lnSpc>
              <a:tabLst>
                <a:tab pos="161925" algn="l"/>
                <a:tab pos="9305925" algn="r"/>
              </a:tabLst>
            </a:pPr>
            <a:endParaRPr lang="he-IL" sz="2600" dirty="0">
              <a:solidFill>
                <a:srgbClr val="EE401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642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תמ"א - חשיבה רקורסיבית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6280" y="1846263"/>
                <a:ext cx="11338559" cy="4022725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he-IL" sz="3200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תובנה:</a:t>
                </a: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בהינתן 2 מחרוזות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=&lt;</m:t>
                    </m:r>
                    <m:sSub>
                      <m:sSubPr>
                        <m:ctrlPr>
                          <a:rPr lang="en-US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,….,</m:t>
                    </m:r>
                    <m:sSub>
                      <m:sSubPr>
                        <m:ctrlPr>
                          <a:rPr lang="en-US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=&lt;</m:t>
                    </m:r>
                    <m:sSub>
                      <m:sSubPr>
                        <m:ctrlPr>
                          <a:rPr lang="en-US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</m:t>
                    </m:r>
                    <m:sSub>
                      <m:sSubPr>
                        <m:ctrlPr>
                          <a:rPr lang="en-US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lang="he-IL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92608" lvl="1" indent="0" algn="just">
                  <a:lnSpc>
                    <a:spcPct val="150000"/>
                  </a:lnSpc>
                  <a:buNone/>
                </a:pPr>
                <a:r>
                  <a:rPr lang="he-IL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אם מתקיים: </a:t>
                </a:r>
                <a:r>
                  <a:rPr lang="en-US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he-IL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3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he-IL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כלומר התו האחרון במחרוזת אחת שווה לתו האחרון במחרוזת </a:t>
                </a:r>
                <a:r>
                  <a:rPr lang="he-IL" sz="3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השניה</a:t>
                </a:r>
                <a:r>
                  <a:rPr lang="he-IL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אזי בהכרח בתת המחרוזת המשותפת הארוכה ביותר התו האחרון קיים.</a:t>
                </a:r>
              </a:p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נסמן ב-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32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32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את אורך </a:t>
                </a:r>
                <a:r>
                  <a:rPr lang="he-IL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התמ"א</a:t>
                </a: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של התחיליות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=&lt;</m:t>
                    </m:r>
                    <m:sSub>
                      <m:sSubPr>
                        <m:ctrlP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,….,</m:t>
                    </m:r>
                    <m:sSub>
                      <m:sSubPr>
                        <m:ctrlP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=&lt;</m:t>
                    </m:r>
                    <m:sSub>
                      <m:sSubPr>
                        <m:ctrlP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</m:t>
                    </m:r>
                    <m:sSub>
                      <m:sSubPr>
                        <m:ctrlP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lang="he-IL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he-IL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he-IL" sz="18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6280" y="1846263"/>
                <a:ext cx="11338559" cy="4022725"/>
              </a:xfrm>
              <a:blipFill>
                <a:blip r:embed="rId2"/>
                <a:stretch>
                  <a:fillRect l="-2905" r="-2098" b="-53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203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661992-0FBA-C720-0C70-ABA99738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נוסחת הרקורסיה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מציין מיקום תוכן 3">
                <a:extLst>
                  <a:ext uri="{FF2B5EF4-FFF2-40B4-BE49-F238E27FC236}">
                    <a16:creationId xmlns:a16="http://schemas.microsoft.com/office/drawing/2014/main" id="{C8F2E88B-AE26-4529-9D22-2C5A4EADD1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0520" y="1937174"/>
                <a:ext cx="11490960" cy="504274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he-IL" sz="2800" b="1" u="sng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נוסחת הרקורסיה:</a:t>
                </a:r>
                <a:r>
                  <a:rPr lang="he-IL" sz="2800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 </a:t>
                </a:r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עבור תתי הבעיות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8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8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he-IL" sz="2800" spc="-50" dirty="0">
                  <a:latin typeface="+mj-lt"/>
                  <a:ea typeface="+mj-ea"/>
                  <a:cs typeface="+mj-cs"/>
                </a:endParaRPr>
              </a:p>
              <a:p>
                <a:pPr algn="just"/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נבחין בין 2 מקרים שיכולים להתרחש עבור התווים האחרונים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 ו-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:</a:t>
                </a:r>
              </a:p>
              <a:p>
                <a:pPr lvl="2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he-IL" sz="2800" i="1" spc="-5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, ואז המשך חיפוש </a:t>
                </a:r>
                <a:r>
                  <a:rPr lang="he-IL" sz="2800" spc="-50" dirty="0" err="1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התמ"א</a:t>
                </a:r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 יהיה בהכרח עם הסרת תווים אלו מהמחרוזות כלומר עם תת הבעיה 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8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8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2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he-IL" sz="2800" i="1" spc="-5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, אזי נבדוק את אורך </a:t>
                </a:r>
                <a:r>
                  <a:rPr lang="he-IL" sz="2800" spc="-50" dirty="0" err="1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התמ"א</a:t>
                </a:r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 ללא התו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 ואת אורך </a:t>
                </a:r>
                <a:r>
                  <a:rPr lang="he-IL" sz="2800" spc="-50" dirty="0" err="1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התמ"א</a:t>
                </a:r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 ללא התו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 </a:t>
                </a:r>
                <a:r>
                  <a:rPr lang="he-IL" sz="2800" spc="-50" dirty="0" err="1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ומביניהם</a:t>
                </a:r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 כמובן נבחר את האפשרות הארוכה יותר.</a:t>
                </a:r>
              </a:p>
              <a:p>
                <a:pPr marL="384048" lvl="2" indent="0" algn="just">
                  <a:buNone/>
                </a:pPr>
                <a:endParaRPr lang="en-US" sz="2800" b="0" spc="-50" dirty="0">
                  <a:solidFill>
                    <a:schemeClr val="tx1"/>
                  </a:solidFill>
                  <a:latin typeface="+mj-lt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5" name="מציין מיקום תוכן 3">
                <a:extLst>
                  <a:ext uri="{FF2B5EF4-FFF2-40B4-BE49-F238E27FC236}">
                    <a16:creationId xmlns:a16="http://schemas.microsoft.com/office/drawing/2014/main" id="{C8F2E88B-AE26-4529-9D22-2C5A4EADD1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520" y="1937174"/>
                <a:ext cx="11490960" cy="5042746"/>
              </a:xfrm>
              <a:blipFill>
                <a:blip r:embed="rId2"/>
                <a:stretch>
                  <a:fillRect l="-2653" t="-2177" r="-191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לבן 2">
                <a:extLst>
                  <a:ext uri="{FF2B5EF4-FFF2-40B4-BE49-F238E27FC236}">
                    <a16:creationId xmlns:a16="http://schemas.microsoft.com/office/drawing/2014/main" id="{3E9A4F82-E10B-DD53-2172-14CF6633A564}"/>
                  </a:ext>
                </a:extLst>
              </p:cNvPr>
              <p:cNvSpPr/>
              <p:nvPr/>
            </p:nvSpPr>
            <p:spPr>
              <a:xfrm>
                <a:off x="592099" y="4099895"/>
                <a:ext cx="10563581" cy="19543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:endParaRPr lang="he-I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he-IL" sz="24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max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⁡{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sz="24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}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מלבן 2">
                <a:extLst>
                  <a:ext uri="{FF2B5EF4-FFF2-40B4-BE49-F238E27FC236}">
                    <a16:creationId xmlns:a16="http://schemas.microsoft.com/office/drawing/2014/main" id="{3E9A4F82-E10B-DD53-2172-14CF6633A5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99" y="4099895"/>
                <a:ext cx="10563581" cy="19543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B6E4927B-4D6D-28AF-98F4-90005FE003E0}"/>
                  </a:ext>
                </a:extLst>
              </p:cNvPr>
              <p:cNvSpPr txBox="1"/>
              <p:nvPr/>
            </p:nvSpPr>
            <p:spPr>
              <a:xfrm>
                <a:off x="6029803" y="4730489"/>
                <a:ext cx="275844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r" rtl="1"/>
                <a:r>
                  <a:rPr lang="he-IL" sz="24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he-IL" sz="2400" b="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אם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he-IL" sz="2400" dirty="0">
                    <a:solidFill>
                      <a:schemeClr val="tx1"/>
                    </a:solidFill>
                  </a:rPr>
                  <a:t> 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או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he-I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B6E4927B-4D6D-28AF-98F4-90005FE00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803" y="4730489"/>
                <a:ext cx="2758440" cy="461665"/>
              </a:xfrm>
              <a:prstGeom prst="rect">
                <a:avLst/>
              </a:prstGeom>
              <a:blipFill>
                <a:blip r:embed="rId4"/>
                <a:stretch>
                  <a:fillRect t="-11842" r="-3311" b="-2763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תיבת טקסט 5">
                <a:extLst>
                  <a:ext uri="{FF2B5EF4-FFF2-40B4-BE49-F238E27FC236}">
                    <a16:creationId xmlns:a16="http://schemas.microsoft.com/office/drawing/2014/main" id="{DA1A6F04-7F7D-16F8-13D9-F97EE8382050}"/>
                  </a:ext>
                </a:extLst>
              </p:cNvPr>
              <p:cNvSpPr txBox="1"/>
              <p:nvPr/>
            </p:nvSpPr>
            <p:spPr>
              <a:xfrm>
                <a:off x="5272164" y="5087390"/>
                <a:ext cx="3485599" cy="49141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r" rtl="1"/>
                <a:r>
                  <a:rPr lang="en-US" sz="2400" dirty="0"/>
                  <a:t> </a:t>
                </a:r>
                <a:r>
                  <a:rPr lang="he-I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אם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he-IL" sz="2400" i="1" spc="-5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he-I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תיבת טקסט 5">
                <a:extLst>
                  <a:ext uri="{FF2B5EF4-FFF2-40B4-BE49-F238E27FC236}">
                    <a16:creationId xmlns:a16="http://schemas.microsoft.com/office/drawing/2014/main" id="{DA1A6F04-7F7D-16F8-13D9-F97EE8382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64" y="5087390"/>
                <a:ext cx="3485599" cy="491417"/>
              </a:xfrm>
              <a:prstGeom prst="rect">
                <a:avLst/>
              </a:prstGeom>
              <a:blipFill>
                <a:blip r:embed="rId5"/>
                <a:stretch>
                  <a:fillRect t="-10000" r="-699" b="-225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B2E5E796-B6BE-ABD5-3996-6FB905A6D535}"/>
                  </a:ext>
                </a:extLst>
              </p:cNvPr>
              <p:cNvSpPr txBox="1"/>
              <p:nvPr/>
            </p:nvSpPr>
            <p:spPr>
              <a:xfrm>
                <a:off x="2665718" y="5532912"/>
                <a:ext cx="6092045" cy="49141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r" rtl="1"/>
                <a:r>
                  <a:rPr lang="en-US" sz="2400" dirty="0"/>
                  <a:t> </a:t>
                </a:r>
                <a:r>
                  <a:rPr lang="he-I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אם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he-IL" sz="2400" i="1" spc="-5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B2E5E796-B6BE-ABD5-3996-6FB905A6D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718" y="5532912"/>
                <a:ext cx="6092045" cy="491417"/>
              </a:xfrm>
              <a:prstGeom prst="rect">
                <a:avLst/>
              </a:prstGeom>
              <a:blipFill>
                <a:blip r:embed="rId6"/>
                <a:stretch>
                  <a:fillRect t="-10000" r="-400" b="-225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2702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3BD602-60BA-BF5C-64EA-A28B871D8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35952"/>
            <a:ext cx="10058400" cy="1450757"/>
          </a:xfrm>
        </p:spPr>
        <p:txBody>
          <a:bodyPr/>
          <a:lstStyle/>
          <a:p>
            <a:pPr algn="ctr"/>
            <a:r>
              <a:rPr lang="he-IL" dirty="0"/>
              <a:t>הטבלה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ציין מיקום תוכן 3">
                <a:extLst>
                  <a:ext uri="{FF2B5EF4-FFF2-40B4-BE49-F238E27FC236}">
                    <a16:creationId xmlns:a16="http://schemas.microsoft.com/office/drawing/2014/main" id="{C8F2E88B-AE26-4529-9D22-2C5A4EADD1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2440" y="1998078"/>
                <a:ext cx="11247120" cy="4661746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he-IL" sz="2800" b="1" u="sng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הגדרת טבלה:</a:t>
                </a:r>
                <a:r>
                  <a:rPr lang="he-IL" sz="2800" b="1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 </a:t>
                </a:r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נבנה טבלה </a:t>
                </a:r>
                <a14:m>
                  <m:oMath xmlns:m="http://schemas.openxmlformats.org/officeDocument/2006/math">
                    <m:r>
                      <a:rPr lang="en-US" sz="2800" i="1" spc="-5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𝑀</m:t>
                    </m:r>
                  </m:oMath>
                </a14:m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 דו </a:t>
                </a:r>
                <a:r>
                  <a:rPr lang="he-IL" sz="2800" spc="-50" dirty="0" err="1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מימדית</a:t>
                </a:r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 בגודל </a:t>
                </a:r>
                <a14:m>
                  <m:oMath xmlns:m="http://schemas.openxmlformats.org/officeDocument/2006/math">
                    <m:r>
                      <a:rPr lang="en-US" sz="2800" i="1" spc="-5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𝑛</m:t>
                    </m:r>
                    <m:r>
                      <a:rPr lang="en-US" sz="2800" i="1" spc="-5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×</m:t>
                    </m:r>
                    <m:r>
                      <a:rPr lang="en-US" sz="2800" b="0" i="1" spc="-5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𝑚</m:t>
                    </m:r>
                  </m:oMath>
                </a14:m>
                <a:r>
                  <a:rPr lang="he-IL" sz="28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800" b="1" u="sng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אופן מילוי:</a:t>
                </a:r>
                <a:r>
                  <a:rPr lang="he-IL" sz="2800" b="1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 </a:t>
                </a: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הטבלה תמולא בהדרגתיות על פי התאים שמולאו בהתאם לנוסחה הרקורסיבית לעיל. נמלא את הטבלה בשורות משמאל לימין, ובכך בכל שלב התאים שנזדקק להם יהיו כבר מלאים.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he-IL" sz="2800" b="1" u="sng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חילוץ הפתרון:</a:t>
                </a:r>
                <a:r>
                  <a:rPr lang="he-IL" sz="2800" b="1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 </a:t>
                </a:r>
                <a:r>
                  <a:rPr lang="he-IL" sz="26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בעת מילוי הטבלה, בכל תא נשמור מצביע לתא בטבלה שנתן את המקסימום. כאשר הטבלה מלאה ונרצה לחלץ את </a:t>
                </a:r>
                <a:r>
                  <a:rPr lang="he-IL" sz="2600" spc="-50" dirty="0" err="1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את</a:t>
                </a:r>
                <a:r>
                  <a:rPr lang="he-IL" sz="26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 תת המחרוזת המשותפת, נעבור על הטבלה מהתא </a:t>
                </a:r>
                <a:r>
                  <a:rPr lang="en-US" sz="26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[</a:t>
                </a:r>
                <a:r>
                  <a:rPr lang="en-US" sz="2600" spc="-50" dirty="0" err="1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m,n</a:t>
                </a:r>
                <a:r>
                  <a:rPr lang="en-US" sz="26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]</a:t>
                </a:r>
                <a:r>
                  <a:rPr lang="he-IL" sz="26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 ונלך בעקבות החיצים. אם החץ מוביל לתא האלכסוני- כלומר ל-</a:t>
                </a:r>
                <a:r>
                  <a:rPr lang="en-US" sz="26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[i-1,j-1]</a:t>
                </a:r>
                <a:r>
                  <a:rPr lang="he-IL" sz="26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 נוסיף את התו הנוכחי (ששווה בעמודה ובשורה) לתת המחרוזת שנחזיר כפלט. </a:t>
                </a:r>
                <a:endParaRPr lang="he-IL" sz="2600" spc="-50" dirty="0">
                  <a:latin typeface="+mj-lt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4" name="מציין מיקום תוכן 3">
                <a:extLst>
                  <a:ext uri="{FF2B5EF4-FFF2-40B4-BE49-F238E27FC236}">
                    <a16:creationId xmlns:a16="http://schemas.microsoft.com/office/drawing/2014/main" id="{C8F2E88B-AE26-4529-9D22-2C5A4EADD1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2440" y="1998078"/>
                <a:ext cx="11247120" cy="4661746"/>
              </a:xfrm>
              <a:blipFill>
                <a:blip r:embed="rId2"/>
                <a:stretch>
                  <a:fillRect l="-2764" t="-1178" r="-195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7302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EFCA46F-614A-A281-463D-D165E9264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דוגמא</a:t>
            </a:r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7EC6A434-8EC2-00E6-AFDF-5356CB7D11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1283496"/>
              </p:ext>
            </p:extLst>
          </p:nvPr>
        </p:nvGraphicFramePr>
        <p:xfrm>
          <a:off x="2057399" y="1996440"/>
          <a:ext cx="8077202" cy="3975463"/>
        </p:xfrm>
        <a:graphic>
          <a:graphicData uri="http://schemas.openxmlformats.org/drawingml/2006/table">
            <a:tbl>
              <a:tblPr rtl="1" firstRow="1" firstCol="1" lastRow="1" lastCol="1" bandRow="1" bandCol="1">
                <a:tableStyleId>{5C22544A-7EE6-4342-B048-85BDC9FD1C3A}</a:tableStyleId>
              </a:tblPr>
              <a:tblGrid>
                <a:gridCol w="807531">
                  <a:extLst>
                    <a:ext uri="{9D8B030D-6E8A-4147-A177-3AD203B41FA5}">
                      <a16:colId xmlns:a16="http://schemas.microsoft.com/office/drawing/2014/main" val="3140754773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3359430634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1417327726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2901444264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3792113642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2896312607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1151473078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2988162236"/>
                    </a:ext>
                  </a:extLst>
                </a:gridCol>
                <a:gridCol w="808477">
                  <a:extLst>
                    <a:ext uri="{9D8B030D-6E8A-4147-A177-3AD203B41FA5}">
                      <a16:colId xmlns:a16="http://schemas.microsoft.com/office/drawing/2014/main" val="3556982242"/>
                    </a:ext>
                  </a:extLst>
                </a:gridCol>
                <a:gridCol w="808477">
                  <a:extLst>
                    <a:ext uri="{9D8B030D-6E8A-4147-A177-3AD203B41FA5}">
                      <a16:colId xmlns:a16="http://schemas.microsoft.com/office/drawing/2014/main" val="660973236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r>
                        <a:rPr lang="he-IL" sz="1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        </a:t>
                      </a:r>
                      <a:r>
                        <a:rPr lang="en-US" sz="1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      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824622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652905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785269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357605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en-US" sz="18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27827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9528071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491274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628501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2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578342"/>
                  </a:ext>
                </a:extLst>
              </a:tr>
            </a:tbl>
          </a:graphicData>
        </a:graphic>
      </p:graphicFrame>
      <p:sp>
        <p:nvSpPr>
          <p:cNvPr id="5" name="Line 1">
            <a:extLst>
              <a:ext uri="{FF2B5EF4-FFF2-40B4-BE49-F238E27FC236}">
                <a16:creationId xmlns:a16="http://schemas.microsoft.com/office/drawing/2014/main" id="{70735A9B-84A1-5EC3-776D-F5ACC4894526}"/>
              </a:ext>
            </a:extLst>
          </p:cNvPr>
          <p:cNvSpPr>
            <a:spLocks noChangeShapeType="1"/>
          </p:cNvSpPr>
          <p:nvPr/>
        </p:nvSpPr>
        <p:spPr bwMode="auto">
          <a:xfrm>
            <a:off x="-76200" y="4763"/>
            <a:ext cx="561975" cy="342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3630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0A63593-8610-CEFB-A292-BE71AF129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6624" y="336898"/>
            <a:ext cx="10058400" cy="1450757"/>
          </a:xfrm>
        </p:spPr>
        <p:txBody>
          <a:bodyPr/>
          <a:lstStyle/>
          <a:p>
            <a:pPr algn="ctr"/>
            <a:r>
              <a:rPr lang="he-IL" dirty="0"/>
              <a:t>תמ"א- </a:t>
            </a:r>
            <a:r>
              <a:rPr lang="he-IL" dirty="0" err="1"/>
              <a:t>פסאודו</a:t>
            </a:r>
            <a:r>
              <a:rPr lang="he-IL" dirty="0"/>
              <a:t> קוד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54084B-60D5-72FA-319C-5AB7A9CE8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5251" y="336898"/>
            <a:ext cx="4534190" cy="452431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        LCS – length(X,Y)</a:t>
            </a:r>
            <a:endParaRPr kumimoji="0" lang="en-US" altLang="he-IL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    </a:t>
            </a:r>
            <a:endParaRPr kumimoji="0" lang="en-US" altLang="he-IL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               m=length(X)</a:t>
            </a:r>
            <a:endParaRPr kumimoji="0" lang="en-US" altLang="he-IL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               n=length(Y) </a:t>
            </a:r>
            <a:endParaRPr kumimoji="0" lang="en-US" altLang="he-IL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               for </a:t>
            </a:r>
            <a:r>
              <a:rPr kumimoji="0" lang="en-US" altLang="he-IL" sz="28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US" altLang="he-IL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=1 to m do C[i,0]=0</a:t>
            </a:r>
            <a:endParaRPr kumimoji="0" lang="en-US" altLang="he-IL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               for j=1 to n do C[0,j]=0</a:t>
            </a:r>
            <a:endParaRPr kumimoji="0" lang="en-US" altLang="he-IL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               for </a:t>
            </a:r>
            <a:r>
              <a:rPr kumimoji="0" lang="en-US" altLang="he-IL" sz="28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US" altLang="he-IL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=1 to m do</a:t>
            </a:r>
            <a:endParaRPr kumimoji="0" lang="en-US" altLang="he-IL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                       for j=1 to n do</a:t>
            </a:r>
            <a:endParaRPr kumimoji="0" lang="en-US" altLang="he-IL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    </a:t>
            </a:r>
            <a:endParaRPr kumimoji="0" lang="en-US" altLang="he-IL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endParaRPr kumimoji="0" lang="en-US" altLang="he-IL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CED305C7-1E48-372F-7064-EBE31BB070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435" y="3925282"/>
                <a:ext cx="7483011" cy="22467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61925" algn="l"/>
                    <a:tab pos="9305925" algn="r"/>
                  </a:tabLst>
                </a:pPr>
                <a:r>
                  <a:rPr kumimoji="0" lang="en-US" altLang="he-IL" sz="14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                              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if  x</a:t>
                </a:r>
                <a:r>
                  <a:rPr lang="en-US" altLang="he-IL" sz="2800" baseline="-250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i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=</a:t>
                </a:r>
                <a:r>
                  <a:rPr lang="en-US" altLang="he-IL" sz="28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y</a:t>
                </a:r>
                <a:r>
                  <a:rPr lang="en-US" altLang="he-IL" sz="2800" baseline="-200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j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 then  C[</a:t>
                </a:r>
                <a:r>
                  <a:rPr lang="en-US" altLang="he-IL" sz="28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i,j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]=C[i-1,j-1]+1 ,  b[</a:t>
                </a:r>
                <a:r>
                  <a:rPr lang="en-US" altLang="he-IL" sz="28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i,j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]='</a:t>
                </a:r>
                <a14:m>
                  <m:oMath xmlns:m="http://schemas.openxmlformats.org/officeDocument/2006/math">
                    <m:r>
                      <a:rPr lang="en-US" altLang="he-IL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↖</m:t>
                    </m:r>
                  </m:oMath>
                </a14:m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’</a:t>
                </a: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61925" algn="l"/>
                    <a:tab pos="9305925" algn="r"/>
                  </a:tabLst>
                </a:pP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                              else if  C[i-1,j]</a:t>
                </a:r>
                <a14:m>
                  <m:oMath xmlns:m="http://schemas.openxmlformats.org/officeDocument/2006/math">
                    <m:r>
                      <a:rPr lang="en-US" altLang="he-IL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C[i,j-1] then</a:t>
                </a:r>
                <a:r>
                  <a:rPr lang="he-IL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  </a:t>
                </a:r>
                <a:endParaRPr lang="en-US" altLang="he-IL" sz="2800" dirty="0">
                  <a:solidFill>
                    <a:srgbClr val="000000"/>
                  </a:solidFill>
                  <a:latin typeface="Aptos Narrow" panose="020B0004020202020204" pitchFamily="34" charset="0"/>
                </a:endParaRP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61925" algn="l"/>
                    <a:tab pos="9305925" algn="r"/>
                  </a:tabLst>
                </a:pPr>
                <a:r>
                  <a:rPr lang="he-IL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                            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   C[</a:t>
                </a:r>
                <a:r>
                  <a:rPr lang="en-US" altLang="he-IL" sz="28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i,j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]=C[i-1,j] , b[</a:t>
                </a:r>
                <a:r>
                  <a:rPr lang="en-US" altLang="he-IL" sz="28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i,j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]=' ↑ '</a:t>
                </a: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61925" algn="l"/>
                    <a:tab pos="9305925" algn="r"/>
                  </a:tabLst>
                </a:pP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                                     else C[</a:t>
                </a:r>
                <a:r>
                  <a:rPr lang="en-US" altLang="he-IL" sz="28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i,j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]= C[i,j-1] }, b[</a:t>
                </a:r>
                <a:r>
                  <a:rPr lang="en-US" altLang="he-IL" sz="28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i,j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]=' ← '</a:t>
                </a: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61925" algn="l"/>
                    <a:tab pos="9305925" algn="r"/>
                  </a:tabLst>
                </a:pP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     return C[</a:t>
                </a:r>
                <a:r>
                  <a:rPr lang="en-US" altLang="he-IL" sz="28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m,n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]</a:t>
                </a: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CED305C7-1E48-372F-7064-EBE31BB070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435" y="3925282"/>
                <a:ext cx="7483011" cy="2246769"/>
              </a:xfrm>
              <a:prstGeom prst="rect">
                <a:avLst/>
              </a:prstGeom>
              <a:blipFill>
                <a:blip r:embed="rId2"/>
                <a:stretch>
                  <a:fillRect l="-1793" t="-2446" r="-570" b="-733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C49B5A5-36DC-0C75-6DA0-0ACC7B901EF2}"/>
              </a:ext>
            </a:extLst>
          </p:cNvPr>
          <p:cNvSpPr txBox="1"/>
          <p:nvPr/>
        </p:nvSpPr>
        <p:spPr>
          <a:xfrm>
            <a:off x="8367685" y="2392690"/>
            <a:ext cx="3215640" cy="310854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1">
            <a:spAutoFit/>
          </a:bodyPr>
          <a:lstStyle/>
          <a:p>
            <a:pPr algn="just" rtl="1"/>
            <a:r>
              <a:rPr lang="he-I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מטריצה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he-I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היא מטריצת החישובים של תתי הבעיות המחושבות באופן דינאמי.</a:t>
            </a:r>
          </a:p>
          <a:p>
            <a:pPr algn="just" rtl="1"/>
            <a:r>
              <a:rPr lang="he-I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המטריצה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he-I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מיועדת לשמירת החיצים. בשביל שחזור </a:t>
            </a:r>
            <a:r>
              <a:rPr lang="he-IL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התמ"א</a:t>
            </a:r>
            <a:r>
              <a:rPr lang="he-I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01837A13-7523-7264-92C9-F6E202B3F6FE}"/>
              </a:ext>
            </a:extLst>
          </p:cNvPr>
          <p:cNvSpPr/>
          <p:nvPr/>
        </p:nvSpPr>
        <p:spPr>
          <a:xfrm>
            <a:off x="212434" y="336898"/>
            <a:ext cx="7483011" cy="5835153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55631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EE402BA-4A47-3E2F-26D9-4E2F1346E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חילוץ תת המחרוזת המשותפת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0ACC7145-DC38-1F36-109B-2442541C8A2A}"/>
              </a:ext>
            </a:extLst>
          </p:cNvPr>
          <p:cNvSpPr/>
          <p:nvPr/>
        </p:nvSpPr>
        <p:spPr>
          <a:xfrm>
            <a:off x="557213" y="286603"/>
            <a:ext cx="4371975" cy="2682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CCF61EB-5394-56E1-A1F5-E5075882B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913" y="1249718"/>
            <a:ext cx="5040419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he-IL" sz="2800" dirty="0">
                <a:solidFill>
                  <a:srgbClr val="000000"/>
                </a:solidFill>
                <a:latin typeface="Aptos Narrow" panose="020B0004020202020204" pitchFamily="34" charset="0"/>
              </a:rPr>
              <a:t>lcs is a empty list</a:t>
            </a:r>
          </a:p>
          <a:p>
            <a:pPr defTabSz="914400"/>
            <a:r>
              <a:rPr lang="en-US" altLang="he-IL" sz="2800" dirty="0" err="1">
                <a:solidFill>
                  <a:srgbClr val="000000"/>
                </a:solidFill>
                <a:latin typeface="Aptos Narrow" panose="020B0004020202020204" pitchFamily="34" charset="0"/>
              </a:rPr>
              <a:t>i</a:t>
            </a:r>
            <a:r>
              <a:rPr lang="en-US" altLang="he-IL" sz="2800" dirty="0">
                <a:solidFill>
                  <a:srgbClr val="000000"/>
                </a:solidFill>
                <a:latin typeface="Aptos Narrow" panose="020B0004020202020204" pitchFamily="34" charset="0"/>
              </a:rPr>
              <a:t>=</a:t>
            </a:r>
            <a:r>
              <a:rPr lang="en-US" altLang="he-IL" sz="2800" dirty="0" err="1">
                <a:solidFill>
                  <a:srgbClr val="000000"/>
                </a:solidFill>
                <a:latin typeface="Aptos Narrow" panose="020B0004020202020204" pitchFamily="34" charset="0"/>
              </a:rPr>
              <a:t>n,j</a:t>
            </a:r>
            <a:r>
              <a:rPr lang="en-US" altLang="he-IL" sz="2800" dirty="0">
                <a:solidFill>
                  <a:srgbClr val="000000"/>
                </a:solidFill>
                <a:latin typeface="Aptos Narrow" panose="020B0004020202020204" pitchFamily="34" charset="0"/>
              </a:rPr>
              <a:t>=m</a:t>
            </a:r>
          </a:p>
          <a:p>
            <a:pPr defTabSz="914400"/>
            <a:r>
              <a:rPr lang="en-US" altLang="he-IL" sz="2800" dirty="0" err="1">
                <a:solidFill>
                  <a:srgbClr val="000000"/>
                </a:solidFill>
                <a:latin typeface="Aptos Narrow" panose="020B0004020202020204" pitchFamily="34" charset="0"/>
              </a:rPr>
              <a:t>Print_LCS</a:t>
            </a:r>
            <a:r>
              <a:rPr lang="en-US" altLang="he-IL" sz="2800" dirty="0">
                <a:solidFill>
                  <a:srgbClr val="000000"/>
                </a:solidFill>
                <a:latin typeface="Aptos Narrow" panose="020B0004020202020204" pitchFamily="34" charset="0"/>
              </a:rPr>
              <a:t>(</a:t>
            </a:r>
            <a:r>
              <a:rPr lang="en-US" altLang="he-IL" sz="2800" dirty="0" err="1">
                <a:solidFill>
                  <a:srgbClr val="000000"/>
                </a:solidFill>
                <a:latin typeface="Aptos Narrow" panose="020B0004020202020204" pitchFamily="34" charset="0"/>
              </a:rPr>
              <a:t>b,i,j,lcs</a:t>
            </a:r>
            <a:r>
              <a:rPr lang="en-US" altLang="he-IL" sz="2800" dirty="0">
                <a:solidFill>
                  <a:srgbClr val="000000"/>
                </a:solidFill>
                <a:latin typeface="Aptos Narrow" panose="020B0004020202020204" pitchFamily="34" charset="0"/>
              </a:rPr>
              <a:t>)</a:t>
            </a:r>
          </a:p>
          <a:p>
            <a:pPr defTabSz="914400"/>
            <a:r>
              <a:rPr lang="en-US" altLang="he-IL" sz="2800" dirty="0">
                <a:solidFill>
                  <a:srgbClr val="000000"/>
                </a:solidFill>
                <a:latin typeface="Aptos Narrow" panose="020B0004020202020204" pitchFamily="34" charset="0"/>
              </a:rPr>
              <a:t>                  if (</a:t>
            </a:r>
            <a:r>
              <a:rPr lang="en-US" altLang="he-IL" sz="2800" dirty="0" err="1">
                <a:solidFill>
                  <a:srgbClr val="000000"/>
                </a:solidFill>
                <a:latin typeface="Aptos Narrow" panose="020B0004020202020204" pitchFamily="34" charset="0"/>
              </a:rPr>
              <a:t>i</a:t>
            </a:r>
            <a:r>
              <a:rPr lang="en-US" altLang="he-IL" sz="2800" dirty="0">
                <a:solidFill>
                  <a:srgbClr val="000000"/>
                </a:solidFill>
                <a:latin typeface="Aptos Narrow" panose="020B0004020202020204" pitchFamily="34" charset="0"/>
              </a:rPr>
              <a:t>=0) or (j=0) then return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endParaRPr kumimoji="0" lang="en-US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B2908C85-746C-1A47-99E8-7C173F19A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0160" y="2969260"/>
                <a:ext cx="5763116" cy="31085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1925" algn="l"/>
                    <a:tab pos="9305925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R="0" lvl="0" indent="0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kumimoji="0" lang="en-US" altLang="he-IL" sz="14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                 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if  b[</a:t>
                </a:r>
                <a:r>
                  <a:rPr lang="en-US" altLang="he-IL" sz="28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i,j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] = ' </a:t>
                </a:r>
                <a14:m>
                  <m:oMath xmlns:m="http://schemas.openxmlformats.org/officeDocument/2006/math">
                    <m:r>
                      <a:rPr lang="en-US" altLang="he-IL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↖</m:t>
                    </m:r>
                  </m:oMath>
                </a14:m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'  then </a:t>
                </a:r>
              </a:p>
              <a:p>
                <a:pPr marR="0" lvl="0" indent="0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                       add x</a:t>
                </a:r>
                <a:r>
                  <a:rPr lang="en-US" altLang="he-IL" sz="2800" baseline="-250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i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to the </a:t>
                </a:r>
                <a:r>
                  <a:rPr lang="en-US" altLang="he-IL" sz="28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beggining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of lcs</a:t>
                </a:r>
              </a:p>
              <a:p>
                <a:pPr marR="0" lvl="0" indent="0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he-IL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                      </a:t>
                </a:r>
                <a:r>
                  <a:rPr lang="en-US" altLang="he-IL" sz="28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Print_LCS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(b,i-1,j-1,lcs);</a:t>
                </a:r>
              </a:p>
              <a:p>
                <a:pPr marR="0" lvl="0" indent="0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he-IL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                 else</a:t>
                </a:r>
              </a:p>
              <a:p>
                <a:pPr marR="0" lvl="0" indent="0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                          if  b[</a:t>
                </a:r>
                <a:r>
                  <a:rPr lang="en-US" altLang="he-IL" sz="28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i,j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] = ' ↑ '  then</a:t>
                </a:r>
              </a:p>
              <a:p>
                <a:pPr marR="0" lvl="0" indent="0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                               </a:t>
                </a:r>
                <a:r>
                  <a:rPr lang="en-US" altLang="he-IL" sz="28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Print_LCS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(b,i-1,j,lcs);</a:t>
                </a:r>
              </a:p>
              <a:p>
                <a:pPr marR="0" lvl="0" indent="0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                          else  </a:t>
                </a:r>
                <a:r>
                  <a:rPr lang="en-US" altLang="he-IL" sz="28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Print_LCS</a:t>
                </a:r>
                <a:r>
                  <a:rPr lang="en-US" altLang="he-IL" sz="28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(b,i,j-1,lcs)</a:t>
                </a: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B2908C85-746C-1A47-99E8-7C173F19A3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0160" y="2969260"/>
                <a:ext cx="5763116" cy="3108543"/>
              </a:xfrm>
              <a:prstGeom prst="rect">
                <a:avLst/>
              </a:prstGeom>
              <a:blipFill>
                <a:blip r:embed="rId2"/>
                <a:stretch>
                  <a:fillRect l="-2222" t="-1569" r="-1270" b="-509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DEAED3F2-E998-E23F-6DD4-A14B033EA916}"/>
              </a:ext>
            </a:extLst>
          </p:cNvPr>
          <p:cNvSpPr txBox="1"/>
          <p:nvPr/>
        </p:nvSpPr>
        <p:spPr>
          <a:xfrm>
            <a:off x="7924800" y="2599631"/>
            <a:ext cx="3932845" cy="310854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1">
            <a:spAutoFit/>
          </a:bodyPr>
          <a:lstStyle/>
          <a:p>
            <a:pPr algn="just" rtl="1"/>
            <a:r>
              <a:rPr lang="he-I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ניצור רשימת פלט ריקה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he-I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rtl="1"/>
            <a:r>
              <a:rPr lang="he-I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נעבור על המטריצה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he-I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החל מהתא האחרון ונלך בעקבות החיצים. אם החץ אלכסוני, נוסיף את התו הנוכחי (שזהה ב-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he-I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וב-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he-I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ונמשיך ברקורסיה לתא הבא.</a:t>
            </a:r>
          </a:p>
        </p:txBody>
      </p:sp>
    </p:spTree>
    <p:extLst>
      <p:ext uri="{BB962C8B-B14F-4D97-AF65-F5344CB8AC3E}">
        <p14:creationId xmlns:p14="http://schemas.microsoft.com/office/powerpoint/2010/main" val="1874632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09B2329-A677-1398-ABED-1240699C8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ניתוח זמן ריצה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A8DB4A3-CBD5-1511-593F-F82644B2F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he-IL" sz="3200" b="1" u="sng" spc="-5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בניית המטריצה הדינאמית:</a:t>
            </a:r>
          </a:p>
          <a:p>
            <a:pPr algn="just"/>
            <a:endParaRPr lang="he-IL" sz="3200" spc="-50" dirty="0">
              <a:latin typeface="+mj-lt"/>
              <a:ea typeface="+mj-ea"/>
              <a:cs typeface="+mj-cs"/>
            </a:endParaRPr>
          </a:p>
          <a:p>
            <a:pPr algn="just"/>
            <a:endParaRPr lang="he-IL" sz="3200" spc="-50" dirty="0">
              <a:latin typeface="+mj-lt"/>
              <a:ea typeface="+mj-ea"/>
              <a:cs typeface="+mj-cs"/>
            </a:endParaRPr>
          </a:p>
          <a:p>
            <a:pPr algn="just"/>
            <a:endParaRPr lang="he-IL" sz="3200" b="1" u="sng" spc="-50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he-IL" sz="3200" b="1" u="sng" spc="-5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חילוץ המחרוזת המשותפת: </a:t>
            </a:r>
          </a:p>
          <a:p>
            <a:pPr algn="just"/>
            <a:endParaRPr lang="he-IL" sz="3200" spc="-50" dirty="0">
              <a:latin typeface="+mj-lt"/>
              <a:ea typeface="+mj-ea"/>
              <a:cs typeface="+mj-cs"/>
            </a:endParaRPr>
          </a:p>
          <a:p>
            <a:pPr algn="just"/>
            <a:endParaRPr lang="he-IL" sz="3200" spc="-50" dirty="0">
              <a:latin typeface="+mj-lt"/>
              <a:ea typeface="+mj-ea"/>
              <a:cs typeface="+mj-cs"/>
            </a:endParaRPr>
          </a:p>
          <a:p>
            <a:pPr algn="just"/>
            <a:endParaRPr lang="he-IL" sz="18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C3D5A210-2F2F-A0A9-268E-EEC56EB82B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833" t="67931" r="13000" b="6781"/>
          <a:stretch/>
        </p:blipFill>
        <p:spPr>
          <a:xfrm>
            <a:off x="3925419" y="2453273"/>
            <a:ext cx="4341162" cy="13462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מציין מיקום תוכן 2">
                <a:extLst>
                  <a:ext uri="{FF2B5EF4-FFF2-40B4-BE49-F238E27FC236}">
                    <a16:creationId xmlns:a16="http://schemas.microsoft.com/office/drawing/2014/main" id="{BF151F23-01CA-D68F-058D-DA1F0B9FAD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16859" y="2696744"/>
                <a:ext cx="1638300" cy="54919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0" tIns="45720" rIns="0" bIns="45720" rtlCol="0">
                <a:normAutofit fontScale="85000" lnSpcReduction="10000"/>
              </a:bodyPr>
              <a:lstStyle>
                <a:lvl1pPr marL="91440" indent="-91440" algn="r" defTabSz="914400" rtl="1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6" name="מציין מיקום תוכן 2">
                <a:extLst>
                  <a:ext uri="{FF2B5EF4-FFF2-40B4-BE49-F238E27FC236}">
                    <a16:creationId xmlns:a16="http://schemas.microsoft.com/office/drawing/2014/main" id="{BF151F23-01CA-D68F-058D-DA1F0B9FA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859" y="2696744"/>
                <a:ext cx="1638300" cy="5491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מציין מיקום תוכן 2">
                <a:extLst>
                  <a:ext uri="{FF2B5EF4-FFF2-40B4-BE49-F238E27FC236}">
                    <a16:creationId xmlns:a16="http://schemas.microsoft.com/office/drawing/2014/main" id="{4701B44F-59C6-BD25-2353-3A29ECAE67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2019" y="2757705"/>
                <a:ext cx="1386840" cy="54919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0" tIns="45720" rIns="0" bIns="45720" rtlCol="0">
                <a:normAutofit fontScale="92500"/>
              </a:bodyPr>
              <a:lstStyle>
                <a:lvl1pPr marL="91440" indent="-91440" algn="r" defTabSz="914400" rtl="1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7" name="מציין מיקום תוכן 2">
                <a:extLst>
                  <a:ext uri="{FF2B5EF4-FFF2-40B4-BE49-F238E27FC236}">
                    <a16:creationId xmlns:a16="http://schemas.microsoft.com/office/drawing/2014/main" id="{4701B44F-59C6-BD25-2353-3A29ECAE6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019" y="2757705"/>
                <a:ext cx="1386840" cy="5491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ציין מיקום תוכן 2">
                <a:extLst>
                  <a:ext uri="{FF2B5EF4-FFF2-40B4-BE49-F238E27FC236}">
                    <a16:creationId xmlns:a16="http://schemas.microsoft.com/office/drawing/2014/main" id="{B67E7DFB-42B7-2CFD-1B1C-32C6BF7174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1711" y="2757705"/>
                <a:ext cx="1638300" cy="54919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0" tIns="45720" rIns="0" bIns="45720" rtlCol="0">
                <a:normAutofit fontScale="85000" lnSpcReduction="10000"/>
              </a:bodyPr>
              <a:lstStyle>
                <a:lvl1pPr marL="91440" indent="-91440" algn="r" defTabSz="914400" rtl="1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8" name="מציין מיקום תוכן 2">
                <a:extLst>
                  <a:ext uri="{FF2B5EF4-FFF2-40B4-BE49-F238E27FC236}">
                    <a16:creationId xmlns:a16="http://schemas.microsoft.com/office/drawing/2014/main" id="{B67E7DFB-42B7-2CFD-1B1C-32C6BF717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711" y="2757705"/>
                <a:ext cx="1638300" cy="5491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מציין מיקום תוכן 2">
                <a:extLst>
                  <a:ext uri="{FF2B5EF4-FFF2-40B4-BE49-F238E27FC236}">
                    <a16:creationId xmlns:a16="http://schemas.microsoft.com/office/drawing/2014/main" id="{F7AC6DB0-916E-8B0B-0174-FA8C92478B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20690" y="4361125"/>
                <a:ext cx="1638300" cy="54919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0" tIns="45720" rIns="0" bIns="45720" rtlCol="0">
                <a:normAutofit fontScale="85000" lnSpcReduction="10000"/>
              </a:bodyPr>
              <a:lstStyle>
                <a:lvl1pPr marL="91440" indent="-91440" algn="r" defTabSz="914400" rtl="1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9" name="מציין מיקום תוכן 2">
                <a:extLst>
                  <a:ext uri="{FF2B5EF4-FFF2-40B4-BE49-F238E27FC236}">
                    <a16:creationId xmlns:a16="http://schemas.microsoft.com/office/drawing/2014/main" id="{F7AC6DB0-916E-8B0B-0174-FA8C92478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690" y="4361125"/>
                <a:ext cx="1638300" cy="5491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2411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72D425-E64E-F19B-86DA-97D4959A0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461308" cy="3566160"/>
          </a:xfrm>
        </p:spPr>
        <p:txBody>
          <a:bodyPr>
            <a:normAutofit/>
          </a:bodyPr>
          <a:lstStyle/>
          <a:p>
            <a:pPr algn="ctr"/>
            <a:r>
              <a:rPr lang="he-IL" sz="5600" dirty="0"/>
              <a:t>מרחק עריכה בין מחרוזות- </a:t>
            </a:r>
            <a:r>
              <a:rPr lang="en-US" sz="5600" dirty="0"/>
              <a:t>Edit Distance</a:t>
            </a:r>
            <a:endParaRPr lang="he-IL" sz="5600" dirty="0"/>
          </a:p>
        </p:txBody>
      </p:sp>
    </p:spTree>
    <p:extLst>
      <p:ext uri="{BB962C8B-B14F-4D97-AF65-F5344CB8AC3E}">
        <p14:creationId xmlns:p14="http://schemas.microsoft.com/office/powerpoint/2010/main" val="4102525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30F238-41B4-0793-EA81-328D59B9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בעיית המרחק בין מחרוזות- הגדרה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6662DF0C-75CC-482A-94F7-FA330826F3D2}"/>
              </a:ext>
            </a:extLst>
          </p:cNvPr>
          <p:cNvSpPr/>
          <p:nvPr/>
        </p:nvSpPr>
        <p:spPr>
          <a:xfrm>
            <a:off x="919713" y="1954141"/>
            <a:ext cx="10298915" cy="29497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המטרה: לבצע פעולות על מילה אחת על מנת להפוך אותה למילה אחרת.</a:t>
            </a: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הפעולות המותרות הן: </a:t>
            </a:r>
            <a:r>
              <a:rPr lang="en-US" sz="2400" b="1" dirty="0">
                <a:solidFill>
                  <a:srgbClr val="BD6DB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replace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insert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delete</a:t>
            </a:r>
            <a:endParaRPr lang="he-IL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ה</a:t>
            </a:r>
            <a:r>
              <a:rPr lang="he-IL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מרחק</a:t>
            </a: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בין שתי מילים מוגדר להיות סידרת הפעולות הזולה ביותר המעבירה בין מילה למילה.</a:t>
            </a: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endParaRPr lang="he-IL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E6B4DE7B-8274-9B27-BF98-9515EC03FE8E}"/>
              </a:ext>
            </a:extLst>
          </p:cNvPr>
          <p:cNvSpPr/>
          <p:nvPr/>
        </p:nvSpPr>
        <p:spPr>
          <a:xfrm>
            <a:off x="856765" y="3627119"/>
            <a:ext cx="10298915" cy="2407921"/>
          </a:xfrm>
          <a:prstGeom prst="rect">
            <a:avLst/>
          </a:prstGeom>
          <a:solidFill>
            <a:srgbClr val="E3E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מציין מיקום תוכן 2">
                <a:extLst>
                  <a:ext uri="{FF2B5EF4-FFF2-40B4-BE49-F238E27FC236}">
                    <a16:creationId xmlns:a16="http://schemas.microsoft.com/office/drawing/2014/main" id="{29978B01-5464-52CE-5B05-B8D231EDD3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2561" y="3627119"/>
                <a:ext cx="9723119" cy="1873069"/>
              </a:xfrm>
              <a:prstGeom prst="rect">
                <a:avLst/>
              </a:prstGeom>
              <a:solidFill>
                <a:srgbClr val="E3E9F5"/>
              </a:solidFill>
            </p:spPr>
            <p:txBody>
              <a:bodyPr vert="horz" lIns="0" tIns="45720" rIns="0" bIns="45720" rtlCol="0">
                <a:noAutofit/>
              </a:bodyPr>
              <a:lstStyle>
                <a:lvl1pPr marL="91440" indent="-91440" algn="r" defTabSz="914400" rtl="1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he-IL" sz="2800" b="1" dirty="0">
                    <a:solidFill>
                      <a:srgbClr val="44AD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קלט: </a:t>
                </a:r>
              </a:p>
              <a:p>
                <a:pPr marL="292608" lvl="1" indent="0" algn="just">
                  <a:lnSpc>
                    <a:spcPct val="100000"/>
                  </a:lnSpc>
                  <a:buNone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שתי מחרוזות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=&lt;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=&lt;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92608" lvl="1" indent="0" algn="just">
                  <a:lnSpc>
                    <a:spcPct val="100000"/>
                  </a:lnSpc>
                  <a:buNone/>
                </a:pPr>
                <a:r>
                  <a:rPr lang="he-IL" sz="2800" b="1" dirty="0">
                    <a:solidFill>
                      <a:srgbClr val="44AD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פלט: </a:t>
                </a:r>
              </a:p>
              <a:p>
                <a:pPr marL="292608" lvl="1" indent="0" algn="just">
                  <a:lnSpc>
                    <a:spcPct val="100000"/>
                  </a:lnSpc>
                  <a:buNone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המרחק בין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he-I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ל-</a:t>
                </a:r>
                <a:r>
                  <a:rPr lang="en-US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he-I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המספר המינימלי של פעולות הנדרשות (</a:t>
                </a:r>
                <a:r>
                  <a:rPr lang="he-IL" sz="2400" dirty="0">
                    <a:solidFill>
                      <a:schemeClr val="bg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הוספות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he-IL" sz="2400" dirty="0">
                    <a:solidFill>
                      <a:srgbClr val="92D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מחיקות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ו</a:t>
                </a:r>
                <a:r>
                  <a:rPr lang="he-IL" sz="2400" dirty="0">
                    <a:solidFill>
                      <a:srgbClr val="BD6DB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החלפות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של תווים) על מנת להפוך מחרוזת אחת </a:t>
                </a:r>
                <a:r>
                  <a:rPr lang="he-IL" sz="2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לשניה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92608" lvl="1" indent="0" algn="just">
                  <a:lnSpc>
                    <a:spcPct val="100000"/>
                  </a:lnSpc>
                  <a:buNone/>
                </a:pPr>
                <a:endParaRPr lang="he-I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he-IL" sz="600" dirty="0"/>
              </a:p>
            </p:txBody>
          </p:sp>
        </mc:Choice>
        <mc:Fallback xmlns="">
          <p:sp>
            <p:nvSpPr>
              <p:cNvPr id="10" name="מציין מיקום תוכן 2">
                <a:extLst>
                  <a:ext uri="{FF2B5EF4-FFF2-40B4-BE49-F238E27FC236}">
                    <a16:creationId xmlns:a16="http://schemas.microsoft.com/office/drawing/2014/main" id="{29978B01-5464-52CE-5B05-B8D231EDD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561" y="3627119"/>
                <a:ext cx="9723119" cy="1873069"/>
              </a:xfrm>
              <a:prstGeom prst="rect">
                <a:avLst/>
              </a:prstGeom>
              <a:blipFill>
                <a:blip r:embed="rId2"/>
                <a:stretch>
                  <a:fillRect l="-2633" t="-3257" r="-2194" b="-2768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346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1">
            <a:extLst>
              <a:ext uri="{FF2B5EF4-FFF2-40B4-BE49-F238E27FC236}">
                <a16:creationId xmlns:a16="http://schemas.microsoft.com/office/drawing/2014/main" id="{2FFB2AA3-FAA1-CDEA-0324-C94E67F5F473}"/>
              </a:ext>
            </a:extLst>
          </p:cNvPr>
          <p:cNvSpPr txBox="1">
            <a:spLocks/>
          </p:cNvSpPr>
          <p:nvPr/>
        </p:nvSpPr>
        <p:spPr>
          <a:xfrm>
            <a:off x="1097280" y="181672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dirty="0"/>
              <a:t>בעיית המרחק- דוגמא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מלבן 6">
                <a:extLst>
                  <a:ext uri="{FF2B5EF4-FFF2-40B4-BE49-F238E27FC236}">
                    <a16:creationId xmlns:a16="http://schemas.microsoft.com/office/drawing/2014/main" id="{95291F42-55FA-52DA-35C7-BEF6F30D1489}"/>
                  </a:ext>
                </a:extLst>
              </p:cNvPr>
              <p:cNvSpPr/>
              <p:nvPr/>
            </p:nvSpPr>
            <p:spPr>
              <a:xfrm>
                <a:off x="1155589" y="2023444"/>
                <a:ext cx="9941781" cy="46040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e-IL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נתונות המחרוזות: </a:t>
                </a:r>
                <a:r>
                  <a:rPr lang="en-US" sz="2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babb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he-IL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ו-</a:t>
                </a:r>
                <a:r>
                  <a:rPr lang="he-IL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abbc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e-IL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תהליך העריכה של </a:t>
                </a:r>
                <a:r>
                  <a:rPr lang="en-US" sz="2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abbc</a:t>
                </a:r>
                <a:r>
                  <a:rPr lang="he-IL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למחרוזת </a:t>
                </a:r>
                <a:r>
                  <a:rPr lang="en-US" sz="2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babb</a:t>
                </a:r>
                <a:r>
                  <a:rPr lang="he-IL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יכול להיות התהליך הבא:</a:t>
                </a:r>
              </a:p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:endParaRPr lang="he-I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32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abbc</a:t>
                </a:r>
                <a:r>
                  <a:rPr 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:r>
                  <a:rPr lang="en-US" sz="32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bbc</a:t>
                </a:r>
                <a:r>
                  <a:rPr 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US" sz="3200" dirty="0">
                    <a:solidFill>
                      <a:srgbClr val="92D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delete(a)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en-US" sz="32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babc</a:t>
                </a:r>
                <a:r>
                  <a:rPr 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en-US" sz="3200" dirty="0">
                    <a:solidFill>
                      <a:schemeClr val="bg2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insert(a)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en-US" sz="32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babb</a:t>
                </a:r>
                <a:r>
                  <a:rPr 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en-US" sz="3200" dirty="0">
                    <a:solidFill>
                      <a:srgbClr val="9643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replace(c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9643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sz="3200" dirty="0">
                    <a:solidFill>
                      <a:srgbClr val="9643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</a:t>
                </a:r>
                <a:endParaRPr lang="he-IL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מלבן 6">
                <a:extLst>
                  <a:ext uri="{FF2B5EF4-FFF2-40B4-BE49-F238E27FC236}">
                    <a16:creationId xmlns:a16="http://schemas.microsoft.com/office/drawing/2014/main" id="{95291F42-55FA-52DA-35C7-BEF6F30D14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89" y="2023444"/>
                <a:ext cx="9941781" cy="4604017"/>
              </a:xfrm>
              <a:prstGeom prst="rect">
                <a:avLst/>
              </a:prstGeom>
              <a:blipFill>
                <a:blip r:embed="rId2"/>
                <a:stretch>
                  <a:fillRect l="-1595" t="-1589" r="-128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4113EBA-F5CE-1A72-5BD8-D2FA21B3254B}"/>
              </a:ext>
            </a:extLst>
          </p:cNvPr>
          <p:cNvSpPr txBox="1"/>
          <p:nvPr/>
        </p:nvSpPr>
        <p:spPr>
          <a:xfrm>
            <a:off x="7315200" y="4325452"/>
            <a:ext cx="3566160" cy="138499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1">
            <a:spAutoFit/>
          </a:bodyPr>
          <a:lstStyle/>
          <a:p>
            <a:pPr algn="just" rtl="1"/>
            <a:r>
              <a:rPr lang="he-IL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מספר השלבים שביצענו-3.</a:t>
            </a:r>
          </a:p>
          <a:p>
            <a:pPr algn="just" rtl="1"/>
            <a:r>
              <a:rPr lang="he-IL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האם זהו מרחק העריכה בין המחרוזות?</a:t>
            </a:r>
          </a:p>
        </p:txBody>
      </p:sp>
    </p:spTree>
    <p:extLst>
      <p:ext uri="{BB962C8B-B14F-4D97-AF65-F5344CB8AC3E}">
        <p14:creationId xmlns:p14="http://schemas.microsoft.com/office/powerpoint/2010/main" val="398765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1">
            <a:extLst>
              <a:ext uri="{FF2B5EF4-FFF2-40B4-BE49-F238E27FC236}">
                <a16:creationId xmlns:a16="http://schemas.microsoft.com/office/drawing/2014/main" id="{2FFB2AA3-FAA1-CDEA-0324-C94E67F5F473}"/>
              </a:ext>
            </a:extLst>
          </p:cNvPr>
          <p:cNvSpPr txBox="1">
            <a:spLocks/>
          </p:cNvSpPr>
          <p:nvPr/>
        </p:nvSpPr>
        <p:spPr>
          <a:xfrm>
            <a:off x="1097280" y="181672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dirty="0"/>
              <a:t>בעיית המרחק- דוגמאות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95291F42-55FA-52DA-35C7-BEF6F30D1489}"/>
              </a:ext>
            </a:extLst>
          </p:cNvPr>
          <p:cNvSpPr/>
          <p:nvPr/>
        </p:nvSpPr>
        <p:spPr>
          <a:xfrm>
            <a:off x="1155589" y="2023444"/>
            <a:ext cx="9941781" cy="3974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יש תהליך עריכה זול יותר!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להלן תהליך עריכה בעל 2 שלבים בלבד:</a:t>
            </a: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endParaRPr lang="he-IL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abbc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abb           </a:t>
            </a:r>
            <a:r>
              <a:rPr lang="en-US" sz="32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delete(c)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insert(b)</a:t>
            </a:r>
            <a:endParaRPr lang="he-IL" sz="32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4113EBA-F5CE-1A72-5BD8-D2FA21B3254B}"/>
              </a:ext>
            </a:extLst>
          </p:cNvPr>
          <p:cNvSpPr txBox="1"/>
          <p:nvPr/>
        </p:nvSpPr>
        <p:spPr>
          <a:xfrm>
            <a:off x="7391400" y="4325452"/>
            <a:ext cx="3489960" cy="138499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1">
            <a:spAutoFit/>
          </a:bodyPr>
          <a:lstStyle/>
          <a:p>
            <a:pPr algn="just" rtl="1"/>
            <a:r>
              <a:rPr lang="he-IL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מספר השלבים שביצענו-2.</a:t>
            </a:r>
          </a:p>
          <a:p>
            <a:pPr algn="just" rtl="1"/>
            <a:r>
              <a:rPr lang="he-IL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זהו אכן המרחק בין המחרוזות.</a:t>
            </a:r>
          </a:p>
        </p:txBody>
      </p:sp>
    </p:spTree>
    <p:extLst>
      <p:ext uri="{BB962C8B-B14F-4D97-AF65-F5344CB8AC3E}">
        <p14:creationId xmlns:p14="http://schemas.microsoft.com/office/powerpoint/2010/main" val="211349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6657182-1192-E87D-7388-B167E267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בעיית המרחק- תכנון דינאמי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ציין מיקום תוכן 7">
                <a:extLst>
                  <a:ext uri="{FF2B5EF4-FFF2-40B4-BE49-F238E27FC236}">
                    <a16:creationId xmlns:a16="http://schemas.microsoft.com/office/drawing/2014/main" id="{B66383C9-0289-E8C5-E543-CCC562DFBE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9640" y="1802257"/>
                <a:ext cx="10896600" cy="48603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1"/>
                <a:r>
                  <a:rPr lang="he-IL" sz="2800" b="1" dirty="0">
                    <a:solidFill>
                      <a:schemeClr val="accent1">
                        <a:lumMod val="75000"/>
                      </a:schemeClr>
                    </a:solidFill>
                    <a:cs typeface="+mj-cs"/>
                  </a:rPr>
                  <a:t>תתי הבעיות: </a:t>
                </a:r>
                <a:r>
                  <a:rPr lang="he-IL" sz="2800" dirty="0">
                    <a:cs typeface="+mj-cs"/>
                  </a:rPr>
                  <a:t>בהינתן שתי מחרוזות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𝐴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[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,…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] </m:t>
                    </m:r>
                  </m:oMath>
                </a14:m>
                <a:r>
                  <a:rPr lang="he-IL" sz="2800" dirty="0">
                    <a:cs typeface="+mj-cs"/>
                  </a:rPr>
                  <a:t>   ו–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  <a:cs typeface="+mj-cs"/>
                          </a:rPr>
                          <m:t>,…,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  <a:cs typeface="+mj-cs"/>
                          </a:rPr>
                          <m:t>𝑚</m:t>
                        </m:r>
                      </m:e>
                    </m:d>
                    <m:r>
                      <a:rPr lang="en-US" sz="2800" b="0" i="1" dirty="0" smtClean="0">
                        <a:latin typeface="Cambria Math" panose="02040503050406030204" pitchFamily="18" charset="0"/>
                        <a:cs typeface="+mj-cs"/>
                      </a:rPr>
                      <m:t>  </m:t>
                    </m:r>
                  </m:oMath>
                </a14:m>
                <a:r>
                  <a:rPr lang="he-IL" sz="2800" dirty="0">
                    <a:cs typeface="+mj-cs"/>
                  </a:rPr>
                  <a:t>  נסמן:</a:t>
                </a:r>
              </a:p>
              <a:p>
                <a:pPr algn="ctr"/>
                <a:r>
                  <a:rPr lang="he-IL" sz="2800" dirty="0">
                    <a:cs typeface="+mj-cs"/>
                  </a:rPr>
                  <a:t> מרחק העריכה בין התחיליות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𝐴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[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,…</m:t>
                    </m:r>
                    <m:r>
                      <a:rPr lang="en-US" sz="2800" i="1" dirty="0" err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+mj-cs"/>
                      </a:rPr>
                      <m:t>]</m:t>
                    </m:r>
                    <m:r>
                      <a:rPr lang="he-IL" sz="2800" i="1" dirty="0"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sz="2800" dirty="0">
                    <a:cs typeface="+mj-cs"/>
                  </a:rPr>
                  <a:t>  ו-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𝐵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[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,…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𝑗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] </m:t>
                    </m:r>
                  </m:oMath>
                </a14:m>
                <a:r>
                  <a:rPr lang="he-IL" sz="2800" dirty="0">
                    <a:cs typeface="+mj-cs"/>
                  </a:rPr>
                  <a:t>=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𝐷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(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  <a:cs typeface="+mj-cs"/>
                      </a:rPr>
                      <m:t>,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  <a:cs typeface="+mj-cs"/>
                      </a:rPr>
                      <m:t>𝑗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)</m:t>
                    </m:r>
                  </m:oMath>
                </a14:m>
                <a:endParaRPr lang="he-IL" sz="2800" dirty="0">
                  <a:cs typeface="+mj-cs"/>
                </a:endParaRPr>
              </a:p>
              <a:p>
                <a:pPr algn="just" rtl="1"/>
                <a:r>
                  <a:rPr lang="he-IL" sz="2400" dirty="0">
                    <a:cs typeface="+mj-cs"/>
                  </a:rPr>
                  <a:t>על מנת לחשב את תת הבעיות, נחלק למקרים על פי התבוננות בתו האחרון בכל אחד מהתחיליות, לצורך העניין נניח שהעריכה מתבצעת החל מהמחרוזת </a:t>
                </a:r>
                <a:r>
                  <a:rPr lang="en-US" sz="2400" dirty="0">
                    <a:cs typeface="+mj-cs"/>
                  </a:rPr>
                  <a:t>A</a:t>
                </a:r>
                <a:r>
                  <a:rPr lang="he-IL" sz="2400" dirty="0">
                    <a:cs typeface="+mj-cs"/>
                  </a:rPr>
                  <a:t> עד להפיכתה למחרוזת </a:t>
                </a:r>
                <a:r>
                  <a:rPr lang="en-US" sz="2400" dirty="0">
                    <a:cs typeface="+mj-cs"/>
                  </a:rPr>
                  <a:t>B</a:t>
                </a:r>
                <a:r>
                  <a:rPr lang="he-IL" sz="2400" dirty="0">
                    <a:cs typeface="+mj-cs"/>
                  </a:rPr>
                  <a:t>: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he-IL" sz="2600" dirty="0">
                    <a:cs typeface="+mj-cs"/>
                  </a:rPr>
                  <a:t> אם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  <a:cs typeface="+mj-cs"/>
                      </a:rPr>
                      <m:t>𝐴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cs typeface="+mj-cs"/>
                      </a:rPr>
                      <m:t>[</m:t>
                    </m:r>
                    <m:r>
                      <a:rPr lang="en-US" sz="2600" i="1" dirty="0" err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cs typeface="+mj-cs"/>
                      </a:rPr>
                      <m:t>]=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cs typeface="+mj-cs"/>
                      </a:rPr>
                      <m:t>𝐵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cs typeface="+mj-cs"/>
                      </a:rPr>
                      <m:t>[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cs typeface="+mj-cs"/>
                      </a:rPr>
                      <m:t>𝑗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cs typeface="+mj-cs"/>
                      </a:rPr>
                      <m:t>] </m:t>
                    </m:r>
                  </m:oMath>
                </a14:m>
                <a:r>
                  <a:rPr lang="he-IL" sz="2600" dirty="0">
                    <a:cs typeface="+mj-cs"/>
                  </a:rPr>
                  <a:t> אזי אין צורך לבצע עריכה עבור תו זה.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he-IL" sz="2600" dirty="0">
                    <a:cs typeface="+mj-cs"/>
                  </a:rPr>
                  <a:t> אם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  <a:cs typeface="+mj-cs"/>
                      </a:rPr>
                      <m:t>𝐴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cs typeface="+mj-cs"/>
                      </a:rPr>
                      <m:t>[</m:t>
                    </m:r>
                    <m:r>
                      <a:rPr lang="en-US" sz="2600" i="1" dirty="0" err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cs typeface="+mj-cs"/>
                      </a:rPr>
                      <m:t>]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≠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cs typeface="+mj-cs"/>
                      </a:rPr>
                      <m:t>𝐵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cs typeface="+mj-cs"/>
                      </a:rPr>
                      <m:t>[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cs typeface="+mj-cs"/>
                      </a:rPr>
                      <m:t>𝑗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cs typeface="+mj-cs"/>
                      </a:rPr>
                      <m:t>] </m:t>
                    </m:r>
                  </m:oMath>
                </a14:m>
                <a:r>
                  <a:rPr lang="he-IL" sz="2600" dirty="0">
                    <a:cs typeface="+mj-cs"/>
                  </a:rPr>
                  <a:t>  אזי נבדוק איזו פעולה כדאית</a:t>
                </a:r>
                <a:r>
                  <a:rPr lang="he-IL" sz="2800" dirty="0">
                    <a:cs typeface="+mj-cs"/>
                  </a:rPr>
                  <a:t>:</a:t>
                </a:r>
              </a:p>
              <a:p>
                <a:pPr lvl="2" algn="just">
                  <a:buFont typeface="Wingdings" panose="05000000000000000000" pitchFamily="2" charset="2"/>
                  <a:buChar char="Ø"/>
                </a:pPr>
                <a:r>
                  <a:rPr lang="he-IL" sz="2400" dirty="0">
                    <a:solidFill>
                      <a:schemeClr val="bg2">
                        <a:lumMod val="75000"/>
                      </a:schemeClr>
                    </a:solidFill>
                    <a:cs typeface="+mj-cs"/>
                  </a:rPr>
                  <a:t>הכנסת</a:t>
                </a:r>
                <a:r>
                  <a:rPr lang="he-IL" sz="2400" dirty="0">
                    <a:cs typeface="+mj-cs"/>
                  </a:rPr>
                  <a:t> התו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𝐵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[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𝑗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] </m:t>
                    </m:r>
                  </m:oMath>
                </a14:m>
                <a:r>
                  <a:rPr lang="he-IL" sz="2400" dirty="0">
                    <a:cs typeface="+mj-cs"/>
                  </a:rPr>
                  <a:t> לתוך המחרוזת </a:t>
                </a:r>
                <a:r>
                  <a:rPr lang="en-US" sz="2400" dirty="0">
                    <a:cs typeface="+mj-cs"/>
                  </a:rPr>
                  <a:t>A</a:t>
                </a:r>
                <a:r>
                  <a:rPr lang="he-IL" sz="2400" dirty="0">
                    <a:cs typeface="+mj-cs"/>
                  </a:rPr>
                  <a:t> </a:t>
                </a:r>
              </a:p>
              <a:p>
                <a:pPr lvl="2" algn="just">
                  <a:buFont typeface="Wingdings" panose="05000000000000000000" pitchFamily="2" charset="2"/>
                  <a:buChar char="Ø"/>
                </a:pPr>
                <a:r>
                  <a:rPr lang="he-IL" sz="2400" dirty="0">
                    <a:cs typeface="+mj-cs"/>
                  </a:rPr>
                  <a:t> </a:t>
                </a:r>
                <a:r>
                  <a:rPr lang="he-IL" sz="2400" dirty="0">
                    <a:solidFill>
                      <a:srgbClr val="92D050"/>
                    </a:solidFill>
                    <a:cs typeface="+mj-cs"/>
                  </a:rPr>
                  <a:t>מחיקת</a:t>
                </a:r>
                <a:r>
                  <a:rPr lang="he-IL" sz="2400" dirty="0">
                    <a:cs typeface="+mj-cs"/>
                  </a:rPr>
                  <a:t> התו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𝐴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[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]</m:t>
                    </m:r>
                  </m:oMath>
                </a14:m>
                <a:r>
                  <a:rPr lang="he-IL" sz="2400" dirty="0">
                    <a:cs typeface="+mj-cs"/>
                  </a:rPr>
                  <a:t> מהמחרוזת </a:t>
                </a:r>
                <a:r>
                  <a:rPr lang="en-US" sz="2400" dirty="0">
                    <a:cs typeface="+mj-cs"/>
                  </a:rPr>
                  <a:t>A</a:t>
                </a:r>
                <a:endParaRPr lang="he-IL" sz="2400" dirty="0">
                  <a:cs typeface="+mj-cs"/>
                </a:endParaRPr>
              </a:p>
              <a:p>
                <a:pPr lvl="2" algn="just">
                  <a:buFont typeface="Wingdings" panose="05000000000000000000" pitchFamily="2" charset="2"/>
                  <a:buChar char="Ø"/>
                </a:pPr>
                <a:r>
                  <a:rPr lang="he-IL" sz="2400" dirty="0">
                    <a:cs typeface="+mj-cs"/>
                  </a:rPr>
                  <a:t> </a:t>
                </a:r>
                <a:r>
                  <a:rPr lang="he-IL" sz="2400" dirty="0">
                    <a:solidFill>
                      <a:srgbClr val="BD6DBF"/>
                    </a:solidFill>
                    <a:cs typeface="+mj-cs"/>
                  </a:rPr>
                  <a:t>החלפת</a:t>
                </a:r>
                <a:r>
                  <a:rPr lang="he-IL" sz="2400" dirty="0">
                    <a:cs typeface="+mj-cs"/>
                  </a:rPr>
                  <a:t> התו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+mj-cs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+mj-c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+mj-cs"/>
                      </a:rPr>
                      <m:t>]</m:t>
                    </m:r>
                  </m:oMath>
                </a14:m>
                <a:r>
                  <a:rPr lang="he-IL" sz="2400" dirty="0">
                    <a:cs typeface="+mj-cs"/>
                  </a:rPr>
                  <a:t> להיות התו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he-IL" sz="2400" dirty="0">
                  <a:cs typeface="+mj-cs"/>
                </a:endParaRPr>
              </a:p>
              <a:p>
                <a:pPr algn="just" rtl="1"/>
                <a:endParaRPr lang="he-IL" sz="2800" dirty="0">
                  <a:cs typeface="+mj-cs"/>
                </a:endParaRPr>
              </a:p>
            </p:txBody>
          </p:sp>
        </mc:Choice>
        <mc:Fallback xmlns="">
          <p:sp>
            <p:nvSpPr>
              <p:cNvPr id="8" name="מציין מיקום תוכן 7">
                <a:extLst>
                  <a:ext uri="{FF2B5EF4-FFF2-40B4-BE49-F238E27FC236}">
                    <a16:creationId xmlns:a16="http://schemas.microsoft.com/office/drawing/2014/main" id="{B66383C9-0289-E8C5-E543-CCC562DFBE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9640" y="1802257"/>
                <a:ext cx="10896600" cy="4860305"/>
              </a:xfrm>
              <a:prstGeom prst="rect">
                <a:avLst/>
              </a:prstGeom>
              <a:blipFill>
                <a:blip r:embed="rId2"/>
                <a:stretch>
                  <a:fillRect l="-2462" t="-2384" r="-201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מלבן 2">
            <a:extLst>
              <a:ext uri="{FF2B5EF4-FFF2-40B4-BE49-F238E27FC236}">
                <a16:creationId xmlns:a16="http://schemas.microsoft.com/office/drawing/2014/main" id="{46802BF8-EE50-7163-3F29-D92083B25E01}"/>
              </a:ext>
            </a:extLst>
          </p:cNvPr>
          <p:cNvSpPr/>
          <p:nvPr/>
        </p:nvSpPr>
        <p:spPr>
          <a:xfrm>
            <a:off x="1554480" y="2331720"/>
            <a:ext cx="9601200" cy="5181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9251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6657182-1192-E87D-7388-B167E267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נוסחת הנסיגה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82FE952B-46E1-1EC1-16B4-8EC25CD76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341" y="2932221"/>
            <a:ext cx="2501305" cy="1450757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CC28986A-171B-73A3-68CD-0019104CE3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238"/>
          <a:stretch/>
        </p:blipFill>
        <p:spPr>
          <a:xfrm>
            <a:off x="1024550" y="2241757"/>
            <a:ext cx="5368631" cy="118757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3D939525-1C9C-0819-36D1-9326AAB3C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009898"/>
            <a:ext cx="4391406" cy="800578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D3E45C87-34F6-A611-C905-B7320528F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9320" y="3825741"/>
            <a:ext cx="4391406" cy="988949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3B3C521F-7096-0E9E-DA10-73707A53C6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397" y="4644737"/>
            <a:ext cx="6308758" cy="826424"/>
          </a:xfrm>
          <a:prstGeom prst="rect">
            <a:avLst/>
          </a:prstGeom>
        </p:spPr>
      </p:pic>
      <p:sp>
        <p:nvSpPr>
          <p:cNvPr id="13" name="מציין מיקום תוכן 7">
            <a:extLst>
              <a:ext uri="{FF2B5EF4-FFF2-40B4-BE49-F238E27FC236}">
                <a16:creationId xmlns:a16="http://schemas.microsoft.com/office/drawing/2014/main" id="{8264AF41-CAC3-3D73-EB9A-A4004AF03B37}"/>
              </a:ext>
            </a:extLst>
          </p:cNvPr>
          <p:cNvSpPr txBox="1">
            <a:spLocks/>
          </p:cNvSpPr>
          <p:nvPr/>
        </p:nvSpPr>
        <p:spPr>
          <a:xfrm>
            <a:off x="6903720" y="2141968"/>
            <a:ext cx="4892040" cy="86793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91440" indent="-91440" algn="r" defTabSz="914400" rtl="1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he-IL" sz="2800" dirty="0">
                <a:cs typeface="+mj-cs"/>
              </a:rPr>
              <a:t>נסמן ב-</a:t>
            </a:r>
            <a:r>
              <a:rPr lang="en-US" sz="2800" dirty="0">
                <a:cs typeface="+mj-cs"/>
              </a:rPr>
              <a:t>D(</a:t>
            </a:r>
            <a:r>
              <a:rPr lang="en-US" sz="2800" dirty="0" err="1">
                <a:cs typeface="+mj-cs"/>
              </a:rPr>
              <a:t>i,j</a:t>
            </a:r>
            <a:r>
              <a:rPr lang="en-US" sz="2800" dirty="0">
                <a:cs typeface="+mj-cs"/>
              </a:rPr>
              <a:t>)</a:t>
            </a:r>
            <a:r>
              <a:rPr lang="he-IL" sz="2800" dirty="0">
                <a:cs typeface="+mj-cs"/>
              </a:rPr>
              <a:t> את המרחק בין התחיליות </a:t>
            </a:r>
            <a:r>
              <a:rPr lang="en-US" sz="2800" dirty="0"/>
              <a:t>A[1,…</a:t>
            </a:r>
            <a:r>
              <a:rPr lang="en-US" sz="2800" dirty="0" err="1"/>
              <a:t>i</a:t>
            </a:r>
            <a:r>
              <a:rPr lang="en-US" sz="2800" dirty="0"/>
              <a:t>]</a:t>
            </a:r>
            <a:r>
              <a:rPr lang="he-IL" sz="2800" dirty="0"/>
              <a:t> ו- </a:t>
            </a:r>
            <a:r>
              <a:rPr lang="en-US" sz="2800" dirty="0"/>
              <a:t>B[1,…,j]</a:t>
            </a:r>
            <a:r>
              <a:rPr lang="he-IL" sz="2800" dirty="0">
                <a:cs typeface="+mj-cs"/>
              </a:rPr>
              <a:t> .</a:t>
            </a: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B95510D6-E7D0-3435-6AB5-F8BFF5C199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206" y="3458330"/>
            <a:ext cx="5329702" cy="174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74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F1C48A5-6E65-4253-4527-F348B2227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הטבלה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ציין מיקום תוכן 2">
                <a:extLst>
                  <a:ext uri="{FF2B5EF4-FFF2-40B4-BE49-F238E27FC236}">
                    <a16:creationId xmlns:a16="http://schemas.microsoft.com/office/drawing/2014/main" id="{ECB28D98-1AE6-CF7C-7976-39CEEFCDBB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3099" y="2103121"/>
                <a:ext cx="10865802" cy="3703320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נגדיר טבלה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בגודל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he-IL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he-IL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להתבוננות בכל תתי הבעיות של המחרוזות הנתונות.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הטבלה תמולא בהדרגתיות על פי התאים שמולאו בהתאם לנוסחה הרקורסיבית לעיל. כל תא מסתמך על 3 תאים- התא שמעליו, התא שמשמאלו והתא שנמצא באלכסון אליו.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600" b="1" u="sng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סדר מילוי הטבלה:</a:t>
                </a:r>
                <a:r>
                  <a:rPr lang="he-IL" sz="2600" b="1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 </a:t>
                </a:r>
                <a:r>
                  <a:rPr lang="he-IL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תחילה, לכל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he-IL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]=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]=</m:t>
                    </m:r>
                    <m:r>
                      <a:rPr lang="en-US" sz="2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he-IL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e-IL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נמשיך בשורות משמאל לימין.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he-IL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מציין מיקום תוכן 2">
                <a:extLst>
                  <a:ext uri="{FF2B5EF4-FFF2-40B4-BE49-F238E27FC236}">
                    <a16:creationId xmlns:a16="http://schemas.microsoft.com/office/drawing/2014/main" id="{ECB28D98-1AE6-CF7C-7976-39CEEFCDBB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3099" y="2103121"/>
                <a:ext cx="10865802" cy="3703320"/>
              </a:xfrm>
              <a:blipFill>
                <a:blip r:embed="rId2"/>
                <a:stretch>
                  <a:fillRect l="-2413" t="-1645" r="-19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434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12112A-D562-CBC1-3121-63DF7D1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911443"/>
            <a:ext cx="6217920" cy="1679357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4000" dirty="0"/>
              <a:t>המחשה</a:t>
            </a:r>
            <a:br>
              <a:rPr lang="he-IL" sz="4000" dirty="0"/>
            </a:br>
            <a:r>
              <a:rPr lang="he-IL" sz="3200" dirty="0"/>
              <a:t>השוואה בין המחרוזת:</a:t>
            </a:r>
            <a:endParaRPr lang="he-IL" sz="4000" dirty="0"/>
          </a:p>
        </p:txBody>
      </p:sp>
      <p:pic>
        <p:nvPicPr>
          <p:cNvPr id="7" name="מציין מיקום תוכן 6">
            <a:extLst>
              <a:ext uri="{FF2B5EF4-FFF2-40B4-BE49-F238E27FC236}">
                <a16:creationId xmlns:a16="http://schemas.microsoft.com/office/drawing/2014/main" id="{87183057-26D5-0E5A-47CF-58D127026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7831" y="271543"/>
            <a:ext cx="6580222" cy="6022577"/>
          </a:xfr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51687206-CAD5-7315-7A52-FACC50564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60" y="2682240"/>
            <a:ext cx="3269894" cy="64407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38E7C07-1F39-DD05-01A6-209D44B70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573" y="3326310"/>
            <a:ext cx="3967707" cy="50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4134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12112A-D562-CBC1-3121-63DF7D1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911443"/>
            <a:ext cx="6217920" cy="1679357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4000" dirty="0"/>
              <a:t>המחשה</a:t>
            </a:r>
            <a:br>
              <a:rPr lang="he-IL" sz="4000" dirty="0"/>
            </a:br>
            <a:r>
              <a:rPr lang="he-IL" sz="3200" dirty="0"/>
              <a:t>השוואה בין המחרוזת:</a:t>
            </a:r>
            <a:endParaRPr lang="he-IL" sz="4000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1687206-CAD5-7315-7A52-FACC5056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560" y="2682240"/>
            <a:ext cx="3269894" cy="64407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38E7C07-1F39-DD05-01A6-209D44B7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73" y="3326310"/>
            <a:ext cx="3967707" cy="506779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B6AD576-15C4-7161-C1B1-F30BA12811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51"/>
          <a:stretch/>
        </p:blipFill>
        <p:spPr>
          <a:xfrm>
            <a:off x="1447800" y="411479"/>
            <a:ext cx="6410733" cy="583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60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12112A-D562-CBC1-3121-63DF7D1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911443"/>
            <a:ext cx="6217920" cy="1679357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4000" dirty="0"/>
              <a:t>המחשה</a:t>
            </a:r>
            <a:br>
              <a:rPr lang="he-IL" sz="4000" dirty="0"/>
            </a:br>
            <a:r>
              <a:rPr lang="he-IL" sz="3200" dirty="0"/>
              <a:t>השוואה בין המחרוזת:</a:t>
            </a:r>
            <a:endParaRPr lang="he-IL" sz="4000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1687206-CAD5-7315-7A52-FACC5056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560" y="2682240"/>
            <a:ext cx="3269894" cy="64407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38E7C07-1F39-DD05-01A6-209D44B7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73" y="3326310"/>
            <a:ext cx="3967707" cy="506779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B6AD576-15C4-7161-C1B1-F30BA12811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51"/>
          <a:stretch/>
        </p:blipFill>
        <p:spPr>
          <a:xfrm>
            <a:off x="1447800" y="411479"/>
            <a:ext cx="6410733" cy="5836921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A5056F9-A60B-B424-60AA-B822AEB24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279" y="609600"/>
            <a:ext cx="6290505" cy="566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042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12112A-D562-CBC1-3121-63DF7D1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911443"/>
            <a:ext cx="6217920" cy="1679357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4000" dirty="0"/>
              <a:t>המחשה</a:t>
            </a:r>
            <a:br>
              <a:rPr lang="he-IL" sz="4000" dirty="0"/>
            </a:br>
            <a:r>
              <a:rPr lang="he-IL" sz="3200" dirty="0"/>
              <a:t>השוואה בין המחרוזת:</a:t>
            </a:r>
            <a:endParaRPr lang="he-IL" sz="4000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1687206-CAD5-7315-7A52-FACC5056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067" y="2682240"/>
            <a:ext cx="3269894" cy="64407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38E7C07-1F39-DD05-01A6-209D44B7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73" y="3326310"/>
            <a:ext cx="3967707" cy="506779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B6AD576-15C4-7161-C1B1-F30BA12811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51"/>
          <a:stretch/>
        </p:blipFill>
        <p:spPr>
          <a:xfrm>
            <a:off x="1447800" y="411479"/>
            <a:ext cx="6410733" cy="5836921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A5056F9-A60B-B424-60AA-B822AEB24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279" y="609600"/>
            <a:ext cx="6290505" cy="566145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96DF1FAF-5A9F-F0C7-1614-6F04731BD5C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41" b="9488"/>
          <a:stretch/>
        </p:blipFill>
        <p:spPr>
          <a:xfrm>
            <a:off x="1341120" y="624841"/>
            <a:ext cx="6517413" cy="5623560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DB3AAF54-C290-9690-61D0-44B9DA559B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8645" y="6263642"/>
            <a:ext cx="6827104" cy="56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5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12112A-D562-CBC1-3121-63DF7D1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911443"/>
            <a:ext cx="6217920" cy="1679357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4000" dirty="0"/>
              <a:t>המחשה</a:t>
            </a:r>
            <a:br>
              <a:rPr lang="he-IL" sz="4000" dirty="0"/>
            </a:br>
            <a:r>
              <a:rPr lang="he-IL" sz="3200" dirty="0"/>
              <a:t>השוואה בין המחרוזת:</a:t>
            </a:r>
            <a:endParaRPr lang="he-IL" sz="4000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1687206-CAD5-7315-7A52-FACC5056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067" y="2682240"/>
            <a:ext cx="3269894" cy="64407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38E7C07-1F39-DD05-01A6-209D44B7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73" y="3326310"/>
            <a:ext cx="3967707" cy="506779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B6AD576-15C4-7161-C1B1-F30BA12811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51"/>
          <a:stretch/>
        </p:blipFill>
        <p:spPr>
          <a:xfrm>
            <a:off x="1447800" y="411479"/>
            <a:ext cx="6410733" cy="5836921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A5056F9-A60B-B424-60AA-B822AEB24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279" y="609600"/>
            <a:ext cx="6290505" cy="566145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96DF1FAF-5A9F-F0C7-1614-6F04731BD5C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41" b="9488"/>
          <a:stretch/>
        </p:blipFill>
        <p:spPr>
          <a:xfrm>
            <a:off x="1341120" y="624841"/>
            <a:ext cx="6517413" cy="5623560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DB3AAF54-C290-9690-61D0-44B9DA559B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8645" y="6263642"/>
            <a:ext cx="6827104" cy="566826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F686815-3686-BACB-D63E-29005955FF8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1787"/>
          <a:stretch/>
        </p:blipFill>
        <p:spPr>
          <a:xfrm>
            <a:off x="1417319" y="575177"/>
            <a:ext cx="6243094" cy="565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349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12112A-D562-CBC1-3121-63DF7D1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911443"/>
            <a:ext cx="6217920" cy="1679357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4000" dirty="0"/>
              <a:t>המחשה</a:t>
            </a:r>
            <a:br>
              <a:rPr lang="he-IL" sz="4000" dirty="0"/>
            </a:br>
            <a:r>
              <a:rPr lang="he-IL" sz="3200" dirty="0"/>
              <a:t>השוואה בין המחרוזת:</a:t>
            </a:r>
            <a:endParaRPr lang="he-IL" sz="4000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1687206-CAD5-7315-7A52-FACC5056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067" y="2682240"/>
            <a:ext cx="3269894" cy="64407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38E7C07-1F39-DD05-01A6-209D44B7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73" y="3326310"/>
            <a:ext cx="3967707" cy="506779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B6AD576-15C4-7161-C1B1-F30BA12811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51"/>
          <a:stretch/>
        </p:blipFill>
        <p:spPr>
          <a:xfrm>
            <a:off x="1447800" y="411479"/>
            <a:ext cx="6410733" cy="5836921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A5056F9-A60B-B424-60AA-B822AEB24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279" y="609600"/>
            <a:ext cx="6290505" cy="566145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96DF1FAF-5A9F-F0C7-1614-6F04731BD5C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41" b="9488"/>
          <a:stretch/>
        </p:blipFill>
        <p:spPr>
          <a:xfrm>
            <a:off x="1341120" y="624841"/>
            <a:ext cx="6517413" cy="562356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F686815-3686-BACB-D63E-29005955FF8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787"/>
          <a:stretch/>
        </p:blipFill>
        <p:spPr>
          <a:xfrm>
            <a:off x="1417319" y="575177"/>
            <a:ext cx="6243094" cy="5657982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4AECD290-A68F-56A7-D0A1-DDA4CC26C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5846" y="578665"/>
            <a:ext cx="6254062" cy="5658437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611C57D6-3BF7-03B3-EACD-35F7E04F93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0550" y="6212115"/>
            <a:ext cx="6517413" cy="61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908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12112A-D562-CBC1-3121-63DF7D1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911443"/>
            <a:ext cx="6217920" cy="1679357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4000" dirty="0"/>
              <a:t>המחשה</a:t>
            </a:r>
            <a:br>
              <a:rPr lang="he-IL" sz="4000" dirty="0"/>
            </a:br>
            <a:r>
              <a:rPr lang="he-IL" sz="3200" dirty="0"/>
              <a:t>השוואה בין המחרוזת:</a:t>
            </a:r>
            <a:endParaRPr lang="he-IL" sz="4000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1687206-CAD5-7315-7A52-FACC5056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067" y="2682240"/>
            <a:ext cx="3269894" cy="64407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38E7C07-1F39-DD05-01A6-209D44B7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73" y="3326310"/>
            <a:ext cx="3967707" cy="506779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B6AD576-15C4-7161-C1B1-F30BA12811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51"/>
          <a:stretch/>
        </p:blipFill>
        <p:spPr>
          <a:xfrm>
            <a:off x="1447800" y="411479"/>
            <a:ext cx="6410733" cy="5836921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A5056F9-A60B-B424-60AA-B822AEB24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279" y="609600"/>
            <a:ext cx="6290505" cy="566145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96DF1FAF-5A9F-F0C7-1614-6F04731BD5C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41" b="9488"/>
          <a:stretch/>
        </p:blipFill>
        <p:spPr>
          <a:xfrm>
            <a:off x="1341120" y="624841"/>
            <a:ext cx="6517413" cy="562356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F686815-3686-BACB-D63E-29005955FF8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787"/>
          <a:stretch/>
        </p:blipFill>
        <p:spPr>
          <a:xfrm>
            <a:off x="1417319" y="575177"/>
            <a:ext cx="6243094" cy="5657982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4AECD290-A68F-56A7-D0A1-DDA4CC26C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5846" y="578665"/>
            <a:ext cx="6254062" cy="5658437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611C57D6-3BF7-03B3-EACD-35F7E04F93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0550" y="6212115"/>
            <a:ext cx="6517413" cy="61263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7D9C75F2-8E81-45C8-D341-8BB735FBE4E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1832"/>
          <a:stretch/>
        </p:blipFill>
        <p:spPr>
          <a:xfrm>
            <a:off x="1555635" y="580304"/>
            <a:ext cx="6132824" cy="569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9098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12112A-D562-CBC1-3121-63DF7D1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911443"/>
            <a:ext cx="6217920" cy="1679357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4000" dirty="0"/>
              <a:t>המחשה</a:t>
            </a:r>
            <a:br>
              <a:rPr lang="he-IL" sz="4000" dirty="0"/>
            </a:br>
            <a:r>
              <a:rPr lang="he-IL" sz="3200" dirty="0"/>
              <a:t>השוואה בין המחרוזת:</a:t>
            </a:r>
            <a:endParaRPr lang="he-IL" sz="4000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1687206-CAD5-7315-7A52-FACC5056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067" y="2682240"/>
            <a:ext cx="3269894" cy="64407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38E7C07-1F39-DD05-01A6-209D44B7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73" y="3326310"/>
            <a:ext cx="3967707" cy="506779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B6AD576-15C4-7161-C1B1-F30BA12811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51"/>
          <a:stretch/>
        </p:blipFill>
        <p:spPr>
          <a:xfrm>
            <a:off x="1447800" y="411479"/>
            <a:ext cx="6410733" cy="5836921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A5056F9-A60B-B424-60AA-B822AEB24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279" y="609600"/>
            <a:ext cx="6290505" cy="566145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96DF1FAF-5A9F-F0C7-1614-6F04731BD5C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41" b="9488"/>
          <a:stretch/>
        </p:blipFill>
        <p:spPr>
          <a:xfrm>
            <a:off x="1341120" y="624841"/>
            <a:ext cx="6517413" cy="562356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F686815-3686-BACB-D63E-29005955FF8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787"/>
          <a:stretch/>
        </p:blipFill>
        <p:spPr>
          <a:xfrm>
            <a:off x="1417319" y="575177"/>
            <a:ext cx="6243094" cy="5657982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4AECD290-A68F-56A7-D0A1-DDA4CC26C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5846" y="578665"/>
            <a:ext cx="6254062" cy="5658437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611C57D6-3BF7-03B3-EACD-35F7E04F93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0550" y="6212115"/>
            <a:ext cx="6517413" cy="61263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7D9C75F2-8E81-45C8-D341-8BB735FBE4E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1832"/>
          <a:stretch/>
        </p:blipFill>
        <p:spPr>
          <a:xfrm>
            <a:off x="1555635" y="580304"/>
            <a:ext cx="6132824" cy="5690751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3E8FB7C5-C988-0A96-C7DE-6EC657624D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8033" y="631282"/>
            <a:ext cx="6201873" cy="5655014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624AAF3D-22CF-68A5-52FA-01EBD0E599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6592" y="6292515"/>
            <a:ext cx="6517413" cy="5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70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12112A-D562-CBC1-3121-63DF7D1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911443"/>
            <a:ext cx="6217920" cy="1679357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4000" dirty="0"/>
              <a:t>המחשה</a:t>
            </a:r>
            <a:br>
              <a:rPr lang="he-IL" sz="4000" dirty="0"/>
            </a:br>
            <a:r>
              <a:rPr lang="he-IL" sz="3200" dirty="0"/>
              <a:t>השוואה בין המחרוזת:</a:t>
            </a:r>
            <a:endParaRPr lang="he-IL" sz="4000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1687206-CAD5-7315-7A52-FACC5056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067" y="2682240"/>
            <a:ext cx="3269894" cy="64407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38E7C07-1F39-DD05-01A6-209D44B7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73" y="3326310"/>
            <a:ext cx="3967707" cy="506779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B6AD576-15C4-7161-C1B1-F30BA12811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51"/>
          <a:stretch/>
        </p:blipFill>
        <p:spPr>
          <a:xfrm>
            <a:off x="1447800" y="411479"/>
            <a:ext cx="6410733" cy="5836921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A5056F9-A60B-B424-60AA-B822AEB24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279" y="609600"/>
            <a:ext cx="6290505" cy="566145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96DF1FAF-5A9F-F0C7-1614-6F04731BD5C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41" b="9488"/>
          <a:stretch/>
        </p:blipFill>
        <p:spPr>
          <a:xfrm>
            <a:off x="1341120" y="624841"/>
            <a:ext cx="6517413" cy="562356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F686815-3686-BACB-D63E-29005955FF8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787"/>
          <a:stretch/>
        </p:blipFill>
        <p:spPr>
          <a:xfrm>
            <a:off x="1417319" y="575177"/>
            <a:ext cx="6243094" cy="5657982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4AECD290-A68F-56A7-D0A1-DDA4CC26C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5846" y="578665"/>
            <a:ext cx="6254062" cy="5658437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611C57D6-3BF7-03B3-EACD-35F7E04F93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0550" y="6212115"/>
            <a:ext cx="6517413" cy="61263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7D9C75F2-8E81-45C8-D341-8BB735FBE4E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1832"/>
          <a:stretch/>
        </p:blipFill>
        <p:spPr>
          <a:xfrm>
            <a:off x="1555635" y="580304"/>
            <a:ext cx="6132824" cy="5690751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3E8FB7C5-C988-0A96-C7DE-6EC657624D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8033" y="631282"/>
            <a:ext cx="6201873" cy="5655014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624AAF3D-22CF-68A5-52FA-01EBD0E599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6592" y="6292515"/>
            <a:ext cx="6517413" cy="538135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3FA26FB8-B5DD-FFEB-C4EC-E2AC959A4D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4258" y="569433"/>
            <a:ext cx="6285648" cy="56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60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12112A-D562-CBC1-3121-63DF7D1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911443"/>
            <a:ext cx="6217920" cy="1679357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4000" dirty="0"/>
              <a:t>המחשה</a:t>
            </a:r>
            <a:br>
              <a:rPr lang="he-IL" sz="4000" dirty="0"/>
            </a:br>
            <a:r>
              <a:rPr lang="he-IL" sz="3200" dirty="0"/>
              <a:t>השוואה בין המחרוזת:</a:t>
            </a:r>
            <a:endParaRPr lang="he-IL" sz="4000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1687206-CAD5-7315-7A52-FACC5056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067" y="2682240"/>
            <a:ext cx="3269894" cy="64407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38E7C07-1F39-DD05-01A6-209D44B7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73" y="3326310"/>
            <a:ext cx="3967707" cy="506779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B6AD576-15C4-7161-C1B1-F30BA12811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51"/>
          <a:stretch/>
        </p:blipFill>
        <p:spPr>
          <a:xfrm>
            <a:off x="1447800" y="411479"/>
            <a:ext cx="6410733" cy="5836921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A5056F9-A60B-B424-60AA-B822AEB24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279" y="609600"/>
            <a:ext cx="6290505" cy="566145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96DF1FAF-5A9F-F0C7-1614-6F04731BD5C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41" b="9488"/>
          <a:stretch/>
        </p:blipFill>
        <p:spPr>
          <a:xfrm>
            <a:off x="1341120" y="624841"/>
            <a:ext cx="6517413" cy="562356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F686815-3686-BACB-D63E-29005955FF8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787"/>
          <a:stretch/>
        </p:blipFill>
        <p:spPr>
          <a:xfrm>
            <a:off x="1417319" y="575177"/>
            <a:ext cx="6243094" cy="5657982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4AECD290-A68F-56A7-D0A1-DDA4CC26C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5846" y="578665"/>
            <a:ext cx="6254062" cy="565843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7D9C75F2-8E81-45C8-D341-8BB735FBE4E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1832"/>
          <a:stretch/>
        </p:blipFill>
        <p:spPr>
          <a:xfrm>
            <a:off x="1555635" y="580304"/>
            <a:ext cx="6132824" cy="5690751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3E8FB7C5-C988-0A96-C7DE-6EC657624D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8033" y="631282"/>
            <a:ext cx="6201873" cy="5655014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3FA26FB8-B5DD-FFEB-C4EC-E2AC959A4DC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4258" y="569433"/>
            <a:ext cx="6285648" cy="5673328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B3FB118E-0428-416A-8992-B9657358FF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3362" y="584651"/>
            <a:ext cx="6333731" cy="572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98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12112A-D562-CBC1-3121-63DF7D1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911443"/>
            <a:ext cx="6217920" cy="1679357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4000" dirty="0"/>
              <a:t>המחשה</a:t>
            </a:r>
            <a:br>
              <a:rPr lang="he-IL" sz="4000" dirty="0"/>
            </a:br>
            <a:r>
              <a:rPr lang="he-IL" sz="3200" dirty="0"/>
              <a:t>השוואה בין המחרוזת:</a:t>
            </a:r>
            <a:endParaRPr lang="he-IL" sz="4000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1687206-CAD5-7315-7A52-FACC5056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067" y="2682240"/>
            <a:ext cx="3269894" cy="64407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38E7C07-1F39-DD05-01A6-209D44B7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73" y="3326310"/>
            <a:ext cx="3967707" cy="506779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B6AD576-15C4-7161-C1B1-F30BA12811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51"/>
          <a:stretch/>
        </p:blipFill>
        <p:spPr>
          <a:xfrm>
            <a:off x="1447800" y="411479"/>
            <a:ext cx="6410733" cy="5836921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A5056F9-A60B-B424-60AA-B822AEB24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279" y="609600"/>
            <a:ext cx="6290505" cy="566145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96DF1FAF-5A9F-F0C7-1614-6F04731BD5C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41" b="9488"/>
          <a:stretch/>
        </p:blipFill>
        <p:spPr>
          <a:xfrm>
            <a:off x="1341120" y="624841"/>
            <a:ext cx="6517413" cy="562356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F686815-3686-BACB-D63E-29005955FF8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787"/>
          <a:stretch/>
        </p:blipFill>
        <p:spPr>
          <a:xfrm>
            <a:off x="1417319" y="575177"/>
            <a:ext cx="6243094" cy="5657982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4AECD290-A68F-56A7-D0A1-DDA4CC26C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5846" y="578665"/>
            <a:ext cx="6254062" cy="565843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7D9C75F2-8E81-45C8-D341-8BB735FBE4E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1832"/>
          <a:stretch/>
        </p:blipFill>
        <p:spPr>
          <a:xfrm>
            <a:off x="1555635" y="580304"/>
            <a:ext cx="6132824" cy="5690751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3E8FB7C5-C988-0A96-C7DE-6EC657624D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8033" y="631282"/>
            <a:ext cx="6201873" cy="5655014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3FA26FB8-B5DD-FFEB-C4EC-E2AC959A4DC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4258" y="569433"/>
            <a:ext cx="6285648" cy="5673328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B3FB118E-0428-416A-8992-B9657358FF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3362" y="584651"/>
            <a:ext cx="6333731" cy="5721596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A844DA3B-0655-1048-FFB7-8723E99BD85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42384" y="631282"/>
            <a:ext cx="6127509" cy="5617919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61C7A0B0-1DB4-937A-E295-740F55B02E4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99033" y="6210183"/>
            <a:ext cx="6551847" cy="57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26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12112A-D562-CBC1-3121-63DF7D1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911443"/>
            <a:ext cx="6217920" cy="1679357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4000" dirty="0"/>
              <a:t>המחשה</a:t>
            </a:r>
            <a:br>
              <a:rPr lang="he-IL" sz="4000" dirty="0"/>
            </a:br>
            <a:r>
              <a:rPr lang="he-IL" sz="3200" dirty="0"/>
              <a:t>השוואה בין המחרוזת:</a:t>
            </a:r>
            <a:endParaRPr lang="he-IL" sz="4000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1687206-CAD5-7315-7A52-FACC5056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067" y="2682240"/>
            <a:ext cx="3269894" cy="64407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38E7C07-1F39-DD05-01A6-209D44B7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73" y="3326310"/>
            <a:ext cx="3967707" cy="506779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B6AD576-15C4-7161-C1B1-F30BA12811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51"/>
          <a:stretch/>
        </p:blipFill>
        <p:spPr>
          <a:xfrm>
            <a:off x="1447800" y="411479"/>
            <a:ext cx="6410733" cy="5836921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A5056F9-A60B-B424-60AA-B822AEB24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279" y="609600"/>
            <a:ext cx="6290505" cy="566145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96DF1FAF-5A9F-F0C7-1614-6F04731BD5C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41" b="9488"/>
          <a:stretch/>
        </p:blipFill>
        <p:spPr>
          <a:xfrm>
            <a:off x="1341120" y="624841"/>
            <a:ext cx="6517413" cy="562356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F686815-3686-BACB-D63E-29005955FF8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787"/>
          <a:stretch/>
        </p:blipFill>
        <p:spPr>
          <a:xfrm>
            <a:off x="1417319" y="575177"/>
            <a:ext cx="6243094" cy="5657982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4AECD290-A68F-56A7-D0A1-DDA4CC26C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5846" y="578665"/>
            <a:ext cx="6254062" cy="565843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7D9C75F2-8E81-45C8-D341-8BB735FBE4E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1832"/>
          <a:stretch/>
        </p:blipFill>
        <p:spPr>
          <a:xfrm>
            <a:off x="1555635" y="580304"/>
            <a:ext cx="6132824" cy="5690751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3E8FB7C5-C988-0A96-C7DE-6EC657624D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8033" y="631282"/>
            <a:ext cx="6201873" cy="5655014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3FA26FB8-B5DD-FFEB-C4EC-E2AC959A4DC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4258" y="569433"/>
            <a:ext cx="6285648" cy="5673328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B3FB118E-0428-416A-8992-B9657358FF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3362" y="584651"/>
            <a:ext cx="6333731" cy="5721596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A844DA3B-0655-1048-FFB7-8723E99BD85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42384" y="631282"/>
            <a:ext cx="6127509" cy="5617919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61C7A0B0-1DB4-937A-E295-740F55B02E4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99033" y="6210183"/>
            <a:ext cx="6551847" cy="571311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8620AE40-E528-EA09-AEDE-2D1995812CD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45005" y="663366"/>
            <a:ext cx="6254953" cy="560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8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12112A-D562-CBC1-3121-63DF7D1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911443"/>
            <a:ext cx="6217920" cy="1679357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4000" dirty="0"/>
              <a:t>המחשה</a:t>
            </a:r>
            <a:br>
              <a:rPr lang="he-IL" sz="4000" dirty="0"/>
            </a:br>
            <a:r>
              <a:rPr lang="he-IL" sz="3200" dirty="0"/>
              <a:t>השוואה בין המחרוזת:</a:t>
            </a:r>
            <a:endParaRPr lang="he-IL" sz="4000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1687206-CAD5-7315-7A52-FACC5056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067" y="2682240"/>
            <a:ext cx="3269894" cy="64407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38E7C07-1F39-DD05-01A6-209D44B7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73" y="3326310"/>
            <a:ext cx="3967707" cy="506779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B6AD576-15C4-7161-C1B1-F30BA12811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51"/>
          <a:stretch/>
        </p:blipFill>
        <p:spPr>
          <a:xfrm>
            <a:off x="1447800" y="411479"/>
            <a:ext cx="6410733" cy="5836921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A5056F9-A60B-B424-60AA-B822AEB24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279" y="609600"/>
            <a:ext cx="6290505" cy="566145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96DF1FAF-5A9F-F0C7-1614-6F04731BD5C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41" b="9488"/>
          <a:stretch/>
        </p:blipFill>
        <p:spPr>
          <a:xfrm>
            <a:off x="1341120" y="624841"/>
            <a:ext cx="6517413" cy="562356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F686815-3686-BACB-D63E-29005955FF8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787"/>
          <a:stretch/>
        </p:blipFill>
        <p:spPr>
          <a:xfrm>
            <a:off x="1417319" y="575177"/>
            <a:ext cx="6243094" cy="5657982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4AECD290-A68F-56A7-D0A1-DDA4CC26C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5846" y="578665"/>
            <a:ext cx="6254062" cy="565843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7D9C75F2-8E81-45C8-D341-8BB735FBE4E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1832"/>
          <a:stretch/>
        </p:blipFill>
        <p:spPr>
          <a:xfrm>
            <a:off x="1555635" y="580304"/>
            <a:ext cx="6132824" cy="5690751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3E8FB7C5-C988-0A96-C7DE-6EC657624D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8033" y="631282"/>
            <a:ext cx="6201873" cy="5655014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3FA26FB8-B5DD-FFEB-C4EC-E2AC959A4DC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4258" y="569433"/>
            <a:ext cx="6285648" cy="5673328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B3FB118E-0428-416A-8992-B9657358FF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3362" y="584651"/>
            <a:ext cx="6333731" cy="5721596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A844DA3B-0655-1048-FFB7-8723E99BD85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42384" y="631282"/>
            <a:ext cx="6127509" cy="5617919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8620AE40-E528-EA09-AEDE-2D1995812CD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5005" y="663366"/>
            <a:ext cx="6254953" cy="5608318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3EB4A345-F7ED-757F-DAE5-B4A538CD62C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42389" y="621264"/>
            <a:ext cx="6185615" cy="558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339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12112A-D562-CBC1-3121-63DF7D1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911443"/>
            <a:ext cx="6217920" cy="1679357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4000" dirty="0"/>
              <a:t>המחשה</a:t>
            </a:r>
            <a:br>
              <a:rPr lang="he-IL" sz="4000" dirty="0"/>
            </a:br>
            <a:r>
              <a:rPr lang="he-IL" sz="3200" dirty="0"/>
              <a:t>השוואה בין המחרוזת:</a:t>
            </a:r>
            <a:endParaRPr lang="he-IL" sz="4000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1687206-CAD5-7315-7A52-FACC5056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067" y="2682240"/>
            <a:ext cx="3269894" cy="64407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38E7C07-1F39-DD05-01A6-209D44B7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73" y="3326310"/>
            <a:ext cx="3967707" cy="506779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B6AD576-15C4-7161-C1B1-F30BA12811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51"/>
          <a:stretch/>
        </p:blipFill>
        <p:spPr>
          <a:xfrm>
            <a:off x="1447800" y="411479"/>
            <a:ext cx="6410733" cy="5836921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A5056F9-A60B-B424-60AA-B822AEB24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279" y="609600"/>
            <a:ext cx="6290505" cy="566145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96DF1FAF-5A9F-F0C7-1614-6F04731BD5C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41" b="9488"/>
          <a:stretch/>
        </p:blipFill>
        <p:spPr>
          <a:xfrm>
            <a:off x="1341120" y="624841"/>
            <a:ext cx="6517413" cy="562356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F686815-3686-BACB-D63E-29005955FF8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787"/>
          <a:stretch/>
        </p:blipFill>
        <p:spPr>
          <a:xfrm>
            <a:off x="1417319" y="575177"/>
            <a:ext cx="6243094" cy="5657982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4AECD290-A68F-56A7-D0A1-DDA4CC26C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5846" y="578665"/>
            <a:ext cx="6254062" cy="565843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7D9C75F2-8E81-45C8-D341-8BB735FBE4E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1832"/>
          <a:stretch/>
        </p:blipFill>
        <p:spPr>
          <a:xfrm>
            <a:off x="1555635" y="580304"/>
            <a:ext cx="6132824" cy="5690751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3E8FB7C5-C988-0A96-C7DE-6EC657624D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8033" y="631282"/>
            <a:ext cx="6201873" cy="5655014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3FA26FB8-B5DD-FFEB-C4EC-E2AC959A4DC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4258" y="569433"/>
            <a:ext cx="6285648" cy="5673328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B3FB118E-0428-416A-8992-B9657358FF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3362" y="584651"/>
            <a:ext cx="6333731" cy="5721596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A844DA3B-0655-1048-FFB7-8723E99BD85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42384" y="631282"/>
            <a:ext cx="6127509" cy="5617919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8620AE40-E528-EA09-AEDE-2D1995812CD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5005" y="663366"/>
            <a:ext cx="6254953" cy="5608318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3EB4A345-F7ED-757F-DAE5-B4A538CD62C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42389" y="621264"/>
            <a:ext cx="6185615" cy="5589411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858945A2-2328-9FF7-A0A1-19593397988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81758" y="670396"/>
            <a:ext cx="6209927" cy="561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36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C45EB5C-EBC1-7D8F-EFA5-23DAF0ADF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מרחק עריכה- האלגוריתם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927A9C7B-274B-0EBE-9385-CA7441F4B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13" y="1628775"/>
            <a:ext cx="665797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094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942A168-D894-9C4B-2B65-A7488938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חילוץ הפתרון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1ACAB7C1-5458-740C-691B-E279EC5BAD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195560" cy="4597929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המרחק המינימלי ימצא בתא הימני למטה-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8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8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על מנת לשחזר את תהליך העריכה, בעת מילוי כל תא שמרנו חץ לתא ממנו התקבל הערך המינימלי.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לאחר מילוי הטבלה נלך העקבות החיצים- כל סוג של חץ מסמל פעולה אחרת:</a:t>
                </a:r>
              </a:p>
              <a:p>
                <a:pPr marL="635508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חץ משמאל- ביצענו הכנסה</a:t>
                </a:r>
              </a:p>
              <a:p>
                <a:pPr marL="635508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חץ מלמעלה- ביצענו מחיקה</a:t>
                </a:r>
              </a:p>
              <a:p>
                <a:pPr marL="635508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חץ מאלכסון- אם התווים זהים, לא התבצעה פעולה, אם התווים לא זהים אז ביצענו החלפה.</a:t>
                </a: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1ACAB7C1-5458-740C-691B-E279EC5BAD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195560" cy="4597929"/>
              </a:xfrm>
              <a:blipFill>
                <a:blip r:embed="rId2"/>
                <a:stretch>
                  <a:fillRect t="-1459" r="-203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92708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3AF0F00-CA45-E9B1-EA13-5E3013D3B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ניתוח זמן ריצה</a:t>
            </a:r>
          </a:p>
        </p:txBody>
      </p:sp>
      <p:pic>
        <p:nvPicPr>
          <p:cNvPr id="6" name="מציין מיקום תוכן 3">
            <a:extLst>
              <a:ext uri="{FF2B5EF4-FFF2-40B4-BE49-F238E27FC236}">
                <a16:creationId xmlns:a16="http://schemas.microsoft.com/office/drawing/2014/main" id="{8D333972-AE06-32EC-00F8-CDC943F76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6305" b="42138"/>
          <a:stretch/>
        </p:blipFill>
        <p:spPr>
          <a:xfrm>
            <a:off x="3835083" y="2635885"/>
            <a:ext cx="4821237" cy="121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587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72D425-E64E-F19B-86DA-97D4959A0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461308" cy="3566160"/>
          </a:xfrm>
        </p:spPr>
        <p:txBody>
          <a:bodyPr>
            <a:normAutofit/>
          </a:bodyPr>
          <a:lstStyle/>
          <a:p>
            <a:pPr algn="ctr"/>
            <a:r>
              <a:rPr lang="he-IL" sz="5600" dirty="0"/>
              <a:t>חלוקה מינימלית </a:t>
            </a:r>
            <a:r>
              <a:rPr lang="he-IL" sz="5600" dirty="0" err="1"/>
              <a:t>לפלינדרומים</a:t>
            </a:r>
            <a:endParaRPr lang="he-IL" sz="5600" dirty="0"/>
          </a:p>
        </p:txBody>
      </p:sp>
    </p:spTree>
    <p:extLst>
      <p:ext uri="{BB962C8B-B14F-4D97-AF65-F5344CB8AC3E}">
        <p14:creationId xmlns:p14="http://schemas.microsoft.com/office/powerpoint/2010/main" val="5459831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30F238-41B4-0793-EA81-328D59B9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חלוקה מינימלית </a:t>
            </a:r>
            <a:r>
              <a:rPr lang="he-IL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לפלינדרומים</a:t>
            </a:r>
            <a:r>
              <a:rPr lang="he-IL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הגדרה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6662DF0C-75CC-482A-94F7-FA330826F3D2}"/>
              </a:ext>
            </a:extLst>
          </p:cNvPr>
          <p:cNvSpPr/>
          <p:nvPr/>
        </p:nvSpPr>
        <p:spPr>
          <a:xfrm>
            <a:off x="856764" y="2170695"/>
            <a:ext cx="10298915" cy="1456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המטרה: לחלק מחרוזת נתונה לחלקים כך שכל חלק מהווה תת מחרוזת שהיא </a:t>
            </a:r>
            <a:r>
              <a:rPr lang="he-I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פלינדרום</a:t>
            </a: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endParaRPr lang="he-IL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E6B4DE7B-8274-9B27-BF98-9515EC03FE8E}"/>
              </a:ext>
            </a:extLst>
          </p:cNvPr>
          <p:cNvSpPr/>
          <p:nvPr/>
        </p:nvSpPr>
        <p:spPr>
          <a:xfrm>
            <a:off x="856765" y="3359692"/>
            <a:ext cx="10298915" cy="2855371"/>
          </a:xfrm>
          <a:prstGeom prst="rect">
            <a:avLst/>
          </a:prstGeom>
          <a:solidFill>
            <a:srgbClr val="E3E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מציין מיקום תוכן 2">
                <a:extLst>
                  <a:ext uri="{FF2B5EF4-FFF2-40B4-BE49-F238E27FC236}">
                    <a16:creationId xmlns:a16="http://schemas.microsoft.com/office/drawing/2014/main" id="{29978B01-5464-52CE-5B05-B8D231EDD3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2561" y="3555679"/>
                <a:ext cx="9723119" cy="1873069"/>
              </a:xfrm>
              <a:prstGeom prst="rect">
                <a:avLst/>
              </a:prstGeom>
              <a:solidFill>
                <a:srgbClr val="E3E9F5"/>
              </a:solidFill>
            </p:spPr>
            <p:txBody>
              <a:bodyPr vert="horz" lIns="0" tIns="45720" rIns="0" bIns="45720" rtlCol="0">
                <a:noAutofit/>
              </a:bodyPr>
              <a:lstStyle>
                <a:lvl1pPr marL="91440" indent="-91440" algn="r" defTabSz="914400" rtl="1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he-IL" sz="2800" b="1" dirty="0">
                    <a:solidFill>
                      <a:srgbClr val="44AD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קלט: </a:t>
                </a:r>
              </a:p>
              <a:p>
                <a:pPr marL="292608" lvl="1" indent="0" algn="just">
                  <a:lnSpc>
                    <a:spcPct val="100000"/>
                  </a:lnSpc>
                  <a:buNone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מחרוזת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=&lt;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lang="he-IL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92608" lvl="1" indent="0" algn="just">
                  <a:lnSpc>
                    <a:spcPct val="100000"/>
                  </a:lnSpc>
                  <a:buNone/>
                </a:pPr>
                <a:r>
                  <a:rPr lang="he-IL" sz="2800" b="1" dirty="0">
                    <a:solidFill>
                      <a:srgbClr val="44AD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פלט: </a:t>
                </a:r>
              </a:p>
              <a:p>
                <a:pPr marL="292608" lvl="1" indent="0" algn="just">
                  <a:lnSpc>
                    <a:spcPct val="150000"/>
                  </a:lnSpc>
                  <a:buNone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המספר המינימלי של חיתוכים במחרוזת כך שנקבל תתי מחרוזות המחלקות את המחרוזת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he-IL" sz="2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לפלינדרומים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92608" lvl="1" indent="0" algn="just">
                  <a:lnSpc>
                    <a:spcPct val="100000"/>
                  </a:lnSpc>
                  <a:buNone/>
                </a:pPr>
                <a:endParaRPr lang="he-I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he-IL" sz="600" dirty="0"/>
              </a:p>
            </p:txBody>
          </p:sp>
        </mc:Choice>
        <mc:Fallback xmlns="">
          <p:sp>
            <p:nvSpPr>
              <p:cNvPr id="10" name="מציין מיקום תוכן 2">
                <a:extLst>
                  <a:ext uri="{FF2B5EF4-FFF2-40B4-BE49-F238E27FC236}">
                    <a16:creationId xmlns:a16="http://schemas.microsoft.com/office/drawing/2014/main" id="{29978B01-5464-52CE-5B05-B8D231EDD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561" y="3555679"/>
                <a:ext cx="9723119" cy="1873069"/>
              </a:xfrm>
              <a:prstGeom prst="rect">
                <a:avLst/>
              </a:prstGeom>
              <a:blipFill>
                <a:blip r:embed="rId2"/>
                <a:stretch>
                  <a:fillRect l="-2696" t="-3247" r="-2194" b="-4318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44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1">
            <a:extLst>
              <a:ext uri="{FF2B5EF4-FFF2-40B4-BE49-F238E27FC236}">
                <a16:creationId xmlns:a16="http://schemas.microsoft.com/office/drawing/2014/main" id="{2FFB2AA3-FAA1-CDEA-0324-C94E67F5F473}"/>
              </a:ext>
            </a:extLst>
          </p:cNvPr>
          <p:cNvSpPr txBox="1">
            <a:spLocks/>
          </p:cNvSpPr>
          <p:nvPr/>
        </p:nvSpPr>
        <p:spPr>
          <a:xfrm>
            <a:off x="1097280" y="181672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dirty="0"/>
              <a:t>חלוקה </a:t>
            </a:r>
            <a:r>
              <a:rPr lang="he-IL" dirty="0" err="1"/>
              <a:t>לפלינדרומים</a:t>
            </a:r>
            <a:r>
              <a:rPr lang="he-IL" dirty="0"/>
              <a:t>- דוגמא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95291F42-55FA-52DA-35C7-BEF6F30D1489}"/>
              </a:ext>
            </a:extLst>
          </p:cNvPr>
          <p:cNvSpPr/>
          <p:nvPr/>
        </p:nvSpPr>
        <p:spPr>
          <a:xfrm>
            <a:off x="1155589" y="2023444"/>
            <a:ext cx="9941781" cy="5204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נתונה המחרוזת: </a:t>
            </a: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חלוקה תקינה </a:t>
            </a:r>
            <a:r>
              <a:rPr lang="he-IL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לפלינדרומים</a:t>
            </a:r>
            <a:r>
              <a:rPr lang="he-IL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יכולה להיות החלוקה הבאה:</a:t>
            </a: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endParaRPr lang="he-IL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endParaRPr lang="he-IL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endParaRPr lang="he-IL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דוגמאות נוספות:</a:t>
            </a: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geek</a:t>
            </a: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מספר החלוקות המינימלי הוא 2.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|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k</a:t>
            </a: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aaaa</a:t>
            </a: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מספר החלוקות הוא 0 כי זה כבר </a:t>
            </a:r>
            <a:r>
              <a:rPr lang="he-I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פלינדרום</a:t>
            </a: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endParaRPr lang="he-IL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4113EBA-F5CE-1A72-5BD8-D2FA21B3254B}"/>
              </a:ext>
            </a:extLst>
          </p:cNvPr>
          <p:cNvSpPr txBox="1"/>
          <p:nvPr/>
        </p:nvSpPr>
        <p:spPr>
          <a:xfrm>
            <a:off x="1206611" y="3378997"/>
            <a:ext cx="9829800" cy="11339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1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מספר החלוקות הוא 3. (ביצענו 3 "חיתוכים" במחרוזת וקיבלנו 4 </a:t>
            </a:r>
            <a:r>
              <a:rPr lang="he-I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פלינדרומים</a:t>
            </a: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rtl="1">
              <a:lnSpc>
                <a:spcPct val="150000"/>
              </a:lnSpc>
            </a:pP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האם זהו מספר החלוקות המינימלי?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9B043392-6161-A414-048D-02DED45F6D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795" t="53462" r="4628" b="14073"/>
          <a:stretch/>
        </p:blipFill>
        <p:spPr>
          <a:xfrm>
            <a:off x="385762" y="2600524"/>
            <a:ext cx="3929063" cy="532249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AA5E4165-4CC7-3ADA-3B03-08F1E3CBC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837" y="2068275"/>
            <a:ext cx="2690812" cy="53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91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6657182-1192-E87D-7388-B167E267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חלוקה </a:t>
            </a:r>
            <a:r>
              <a:rPr lang="he-IL" dirty="0" err="1"/>
              <a:t>לפלינדרומים</a:t>
            </a:r>
            <a:r>
              <a:rPr lang="he-IL" dirty="0"/>
              <a:t> - תכנון דינאמי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ציין מיקום תוכן 7">
                <a:extLst>
                  <a:ext uri="{FF2B5EF4-FFF2-40B4-BE49-F238E27FC236}">
                    <a16:creationId xmlns:a16="http://schemas.microsoft.com/office/drawing/2014/main" id="{B66383C9-0289-E8C5-E543-CCC562DFBE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9640" y="1802257"/>
                <a:ext cx="10896600" cy="4847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1"/>
                <a:r>
                  <a:rPr lang="he-IL" sz="2800" b="1" dirty="0">
                    <a:solidFill>
                      <a:schemeClr val="accent1">
                        <a:lumMod val="75000"/>
                      </a:schemeClr>
                    </a:solidFill>
                    <a:cs typeface="+mj-cs"/>
                  </a:rPr>
                  <a:t>תתי הבעיות: </a:t>
                </a:r>
                <a:r>
                  <a:rPr lang="he-IL" sz="2800" dirty="0">
                    <a:cs typeface="+mj-cs"/>
                  </a:rPr>
                  <a:t>בהינתן מחרוזת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cs typeface="+mj-cs"/>
                      </a:rPr>
                      <m:t>X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[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,…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] </m:t>
                    </m:r>
                  </m:oMath>
                </a14:m>
                <a:r>
                  <a:rPr lang="he-IL" sz="2800" dirty="0">
                    <a:cs typeface="+mj-cs"/>
                  </a:rPr>
                  <a:t> נסמן:</a:t>
                </a:r>
              </a:p>
              <a:p>
                <a:pPr algn="ctr"/>
                <a:r>
                  <a:rPr lang="he-IL" sz="2800" dirty="0">
                    <a:cs typeface="+mj-cs"/>
                  </a:rPr>
                  <a:t> מספר החיתוכים המינימלי של תת המחרוזת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,…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]</m:t>
                    </m:r>
                    <m:r>
                      <a:rPr lang="he-IL" sz="2800" i="1" dirty="0"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sz="2800" dirty="0">
                    <a:cs typeface="+mj-cs"/>
                  </a:rPr>
                  <a:t>לפלינדרומים =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cs typeface="+mj-cs"/>
                      </a:rPr>
                      <m:t>𝑇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cs typeface="+mj-cs"/>
                      </a:rPr>
                      <m:t>[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  <a:cs typeface="+mj-cs"/>
                      </a:rPr>
                      <m:t>,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  <a:cs typeface="+mj-cs"/>
                      </a:rPr>
                      <m:t>𝑗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cs typeface="+mj-cs"/>
                      </a:rPr>
                      <m:t>]</m:t>
                    </m:r>
                  </m:oMath>
                </a14:m>
                <a:endParaRPr lang="he-IL" sz="2800" dirty="0">
                  <a:cs typeface="+mj-cs"/>
                </a:endParaRPr>
              </a:p>
              <a:p>
                <a:pPr algn="just" rtl="1"/>
                <a:r>
                  <a:rPr lang="he-IL" sz="2400" dirty="0">
                    <a:cs typeface="+mj-cs"/>
                  </a:rPr>
                  <a:t>על מנת לחשב כל אחת מתתי הבעיות, נתבונן ב-2 מקרים אפשריים: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he-IL" sz="2600" dirty="0"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he-IL" sz="2600" dirty="0">
                    <a:cs typeface="+mj-cs"/>
                  </a:rPr>
                  <a:t>הוא </a:t>
                </a:r>
                <a:r>
                  <a:rPr lang="he-IL" sz="2600" dirty="0" err="1">
                    <a:cs typeface="+mj-cs"/>
                  </a:rPr>
                  <a:t>פלינדרום</a:t>
                </a:r>
                <a:r>
                  <a:rPr lang="he-IL" sz="2600" dirty="0">
                    <a:cs typeface="+mj-cs"/>
                  </a:rPr>
                  <a:t>, ואז אין צורך לבצע חלוקה.</a:t>
                </a:r>
              </a:p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sz="2600" dirty="0"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he-IL" sz="2600" dirty="0">
                    <a:cs typeface="+mj-cs"/>
                  </a:rPr>
                  <a:t>אינו </a:t>
                </a:r>
                <a:r>
                  <a:rPr lang="he-IL" sz="2600" dirty="0" err="1">
                    <a:cs typeface="+mj-cs"/>
                  </a:rPr>
                  <a:t>פלינדרום</a:t>
                </a:r>
                <a:r>
                  <a:rPr lang="he-IL" sz="2600" dirty="0">
                    <a:cs typeface="+mj-cs"/>
                  </a:rPr>
                  <a:t> אזי צריך לבצע לפחות חלוקה אחת במחרוזת.</a:t>
                </a:r>
                <a:endParaRPr lang="he-IL" sz="2400" dirty="0">
                  <a:cs typeface="+mj-cs"/>
                </a:endParaRPr>
              </a:p>
              <a:p>
                <a:pPr marL="292608" lvl="1" indent="0" algn="just">
                  <a:lnSpc>
                    <a:spcPct val="100000"/>
                  </a:lnSpc>
                  <a:buNone/>
                </a:pPr>
                <a:r>
                  <a:rPr lang="he-IL" sz="2800" dirty="0">
                    <a:cs typeface="+mj-cs"/>
                  </a:rPr>
                  <a:t>נבדוק איזו חלוקה כדאית: לכל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𝑗</m:t>
                    </m:r>
                  </m:oMath>
                </a14:m>
                <a:r>
                  <a:rPr lang="he-IL" sz="2800" dirty="0">
                    <a:cs typeface="+mj-cs"/>
                  </a:rPr>
                  <a:t> נתבונן בחלוקה אחרי התו ה-</a:t>
                </a:r>
                <a:r>
                  <a:rPr lang="en-U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sz="2800" dirty="0">
                    <a:cs typeface="+mj-cs"/>
                  </a:rPr>
                  <a:t>המותירה 2 תתי בעיות-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sz="2800" dirty="0"/>
                  <a:t> ו-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sz="2800" dirty="0">
                    <a:cs typeface="+mj-cs"/>
                  </a:rPr>
                  <a:t>. נבחר כמובן את מיקום החיתוך </a:t>
                </a:r>
                <a:r>
                  <a:rPr lang="he-IL" sz="2800" dirty="0" err="1">
                    <a:cs typeface="+mj-cs"/>
                  </a:rPr>
                  <a:t>שיתן</a:t>
                </a:r>
                <a:r>
                  <a:rPr lang="he-IL" sz="2800" dirty="0">
                    <a:cs typeface="+mj-cs"/>
                  </a:rPr>
                  <a:t> לנו סה"כ תתי בעיות זולות.</a:t>
                </a:r>
              </a:p>
              <a:p>
                <a:pPr algn="just" rtl="1"/>
                <a:endParaRPr lang="he-IL" sz="2800" dirty="0">
                  <a:cs typeface="+mj-cs"/>
                </a:endParaRPr>
              </a:p>
            </p:txBody>
          </p:sp>
        </mc:Choice>
        <mc:Fallback xmlns="">
          <p:sp>
            <p:nvSpPr>
              <p:cNvPr id="8" name="מציין מיקום תוכן 7">
                <a:extLst>
                  <a:ext uri="{FF2B5EF4-FFF2-40B4-BE49-F238E27FC236}">
                    <a16:creationId xmlns:a16="http://schemas.microsoft.com/office/drawing/2014/main" id="{B66383C9-0289-E8C5-E543-CCC562DFBE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9640" y="1802257"/>
                <a:ext cx="10896600" cy="4847737"/>
              </a:xfrm>
              <a:prstGeom prst="rect">
                <a:avLst/>
              </a:prstGeom>
              <a:blipFill>
                <a:blip r:embed="rId2"/>
                <a:stretch>
                  <a:fillRect l="-2910" t="-2264" r="-201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מלבן 2">
            <a:extLst>
              <a:ext uri="{FF2B5EF4-FFF2-40B4-BE49-F238E27FC236}">
                <a16:creationId xmlns:a16="http://schemas.microsoft.com/office/drawing/2014/main" id="{46802BF8-EE50-7163-3F29-D92083B25E01}"/>
              </a:ext>
            </a:extLst>
          </p:cNvPr>
          <p:cNvSpPr/>
          <p:nvPr/>
        </p:nvSpPr>
        <p:spPr>
          <a:xfrm>
            <a:off x="1554480" y="2331720"/>
            <a:ext cx="9601200" cy="5181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92440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661992-0FBA-C720-0C70-ABA99738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נוסחת הרקורסיה</a:t>
            </a:r>
          </a:p>
        </p:txBody>
      </p:sp>
      <p:sp>
        <p:nvSpPr>
          <p:cNvPr id="5" name="מציין מיקום תוכן 3">
            <a:extLst>
              <a:ext uri="{FF2B5EF4-FFF2-40B4-BE49-F238E27FC236}">
                <a16:creationId xmlns:a16="http://schemas.microsoft.com/office/drawing/2014/main" id="{C8F2E88B-AE26-4529-9D22-2C5A4EADD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04775"/>
            <a:ext cx="11490960" cy="5042746"/>
          </a:xfrm>
        </p:spPr>
        <p:txBody>
          <a:bodyPr>
            <a:normAutofit/>
          </a:bodyPr>
          <a:lstStyle/>
          <a:p>
            <a:pPr algn="just"/>
            <a:r>
              <a:rPr lang="he-IL" sz="2800" b="1" u="sng" spc="-5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נוסחת הרקורסיה:</a:t>
            </a:r>
            <a:endParaRPr lang="en-US" sz="2800" b="0" spc="-5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לבן 2">
                <a:extLst>
                  <a:ext uri="{FF2B5EF4-FFF2-40B4-BE49-F238E27FC236}">
                    <a16:creationId xmlns:a16="http://schemas.microsoft.com/office/drawing/2014/main" id="{3E9A4F82-E10B-DD53-2172-14CF6633A564}"/>
                  </a:ext>
                </a:extLst>
              </p:cNvPr>
              <p:cNvSpPr/>
              <p:nvPr/>
            </p:nvSpPr>
            <p:spPr>
              <a:xfrm>
                <a:off x="1628419" y="2082896"/>
                <a:ext cx="10563581" cy="28219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:endParaRPr lang="he-IL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 rtl="1"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T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/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}+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מלבן 2">
                <a:extLst>
                  <a:ext uri="{FF2B5EF4-FFF2-40B4-BE49-F238E27FC236}">
                    <a16:creationId xmlns:a16="http://schemas.microsoft.com/office/drawing/2014/main" id="{3E9A4F82-E10B-DD53-2172-14CF6633A5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419" y="2082896"/>
                <a:ext cx="10563581" cy="2821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B6E4927B-4D6D-28AF-98F4-90005FE003E0}"/>
                  </a:ext>
                </a:extLst>
              </p:cNvPr>
              <p:cNvSpPr txBox="1"/>
              <p:nvPr/>
            </p:nvSpPr>
            <p:spPr>
              <a:xfrm>
                <a:off x="7668342" y="3424079"/>
                <a:ext cx="337804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r" rtl="1"/>
                <a:r>
                  <a:rPr lang="he-IL" sz="24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he-IL" sz="2400" b="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אם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he-IL" sz="2400" dirty="0">
                    <a:cs typeface="+mj-cs"/>
                  </a:rPr>
                  <a:t> הוא </a:t>
                </a:r>
                <a:r>
                  <a:rPr lang="he-IL" sz="2400" dirty="0" err="1">
                    <a:cs typeface="+mj-cs"/>
                  </a:rPr>
                  <a:t>פלינדרום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he-I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B6E4927B-4D6D-28AF-98F4-90005FE00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342" y="3424079"/>
                <a:ext cx="3378040" cy="461665"/>
              </a:xfrm>
              <a:prstGeom prst="rect">
                <a:avLst/>
              </a:prstGeom>
              <a:blipFill>
                <a:blip r:embed="rId3"/>
                <a:stretch>
                  <a:fillRect t="-10667" r="-2708" b="-3066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DDBC99B6-ADAE-F310-5E03-0B8792EEBA14}"/>
                  </a:ext>
                </a:extLst>
              </p:cNvPr>
              <p:cNvSpPr txBox="1"/>
              <p:nvPr/>
            </p:nvSpPr>
            <p:spPr>
              <a:xfrm>
                <a:off x="7668342" y="4164483"/>
                <a:ext cx="337804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r" rtl="1"/>
                <a:r>
                  <a:rPr lang="he-IL" sz="24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he-IL" sz="2400" b="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אם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he-IL" sz="2400" dirty="0">
                    <a:cs typeface="+mj-cs"/>
                  </a:rPr>
                  <a:t> אינו </a:t>
                </a:r>
                <a:r>
                  <a:rPr lang="he-IL" sz="2400" dirty="0" err="1">
                    <a:cs typeface="+mj-cs"/>
                  </a:rPr>
                  <a:t>פלינדרום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he-I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DDBC99B6-ADAE-F310-5E03-0B8792EEB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342" y="4164483"/>
                <a:ext cx="3378040" cy="461665"/>
              </a:xfrm>
              <a:prstGeom prst="rect">
                <a:avLst/>
              </a:prstGeom>
              <a:blipFill>
                <a:blip r:embed="rId4"/>
                <a:stretch>
                  <a:fillRect t="-10526" r="-2708" b="-2894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2341C26C-2E77-1558-FD67-79C421778992}"/>
                  </a:ext>
                </a:extLst>
              </p:cNvPr>
              <p:cNvSpPr txBox="1"/>
              <p:nvPr/>
            </p:nvSpPr>
            <p:spPr>
              <a:xfrm>
                <a:off x="3035144" y="4681277"/>
                <a:ext cx="1551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≤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𝑘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&lt;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𝑗</m:t>
                    </m:r>
                  </m:oMath>
                </a14:m>
                <a:r>
                  <a:rPr lang="he-IL" sz="1800" dirty="0">
                    <a:cs typeface="+mj-cs"/>
                  </a:rPr>
                  <a:t> </a:t>
                </a:r>
                <a:endParaRPr lang="he-IL" dirty="0"/>
              </a:p>
            </p:txBody>
          </p:sp>
        </mc:Choice>
        <mc:Fallback xmlns=""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2341C26C-2E77-1558-FD67-79C421778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144" y="4681277"/>
                <a:ext cx="1551144" cy="369332"/>
              </a:xfrm>
              <a:prstGeom prst="rect">
                <a:avLst/>
              </a:prstGeom>
              <a:blipFill>
                <a:blip r:embed="rId5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4791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הטבלה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23622" y="2201569"/>
                <a:ext cx="6263166" cy="4022725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נגדיר טבלה בגודל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)×(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סדר מילוי הטבלה: תחילה נמלא את האלכסון הראשי באפסים ואז נמשיך החל מנקודה שמאלית עליונה לנקודה ימנית תחתונה באלכסונים שהולכים וקטנים. על פי הנוסחה לעיל..</a:t>
                </a:r>
              </a:p>
              <a:p>
                <a:pPr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הפתרון ימצא בתא 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[0,n]</a:t>
                </a: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23622" y="2201569"/>
                <a:ext cx="6263166" cy="4022725"/>
              </a:xfrm>
              <a:blipFill>
                <a:blip r:embed="rId2"/>
                <a:stretch>
                  <a:fillRect l="-5063" t="-1667" r="-33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טבלה 6">
            <a:extLst>
              <a:ext uri="{FF2B5EF4-FFF2-40B4-BE49-F238E27FC236}">
                <a16:creationId xmlns:a16="http://schemas.microsoft.com/office/drawing/2014/main" id="{A7C40CEB-BD3F-82FF-D95F-BE37C155A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635366"/>
              </p:ext>
            </p:extLst>
          </p:nvPr>
        </p:nvGraphicFramePr>
        <p:xfrm>
          <a:off x="1036638" y="2500044"/>
          <a:ext cx="3513670" cy="2404535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702734">
                  <a:extLst>
                    <a:ext uri="{9D8B030D-6E8A-4147-A177-3AD203B41FA5}">
                      <a16:colId xmlns:a16="http://schemas.microsoft.com/office/drawing/2014/main" val="2760054794"/>
                    </a:ext>
                  </a:extLst>
                </a:gridCol>
                <a:gridCol w="702734">
                  <a:extLst>
                    <a:ext uri="{9D8B030D-6E8A-4147-A177-3AD203B41FA5}">
                      <a16:colId xmlns:a16="http://schemas.microsoft.com/office/drawing/2014/main" val="3109417163"/>
                    </a:ext>
                  </a:extLst>
                </a:gridCol>
                <a:gridCol w="702734">
                  <a:extLst>
                    <a:ext uri="{9D8B030D-6E8A-4147-A177-3AD203B41FA5}">
                      <a16:colId xmlns:a16="http://schemas.microsoft.com/office/drawing/2014/main" val="1880727885"/>
                    </a:ext>
                  </a:extLst>
                </a:gridCol>
                <a:gridCol w="702734">
                  <a:extLst>
                    <a:ext uri="{9D8B030D-6E8A-4147-A177-3AD203B41FA5}">
                      <a16:colId xmlns:a16="http://schemas.microsoft.com/office/drawing/2014/main" val="1660402459"/>
                    </a:ext>
                  </a:extLst>
                </a:gridCol>
                <a:gridCol w="702734">
                  <a:extLst>
                    <a:ext uri="{9D8B030D-6E8A-4147-A177-3AD203B41FA5}">
                      <a16:colId xmlns:a16="http://schemas.microsoft.com/office/drawing/2014/main" val="1610062709"/>
                    </a:ext>
                  </a:extLst>
                </a:gridCol>
              </a:tblGrid>
              <a:tr h="480907"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[0,n]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he-IL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3446505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ctr" rtl="1"/>
                      <a:endParaRPr lang="he-IL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9342517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ctr" rtl="1"/>
                      <a:endParaRPr lang="he-IL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929365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ctr" rtl="1"/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5483241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19254"/>
                  </a:ext>
                </a:extLst>
              </a:tr>
            </a:tbl>
          </a:graphicData>
        </a:graphic>
      </p:graphicFrame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35111FDB-FFBE-626D-EED2-8E6D07621995}"/>
              </a:ext>
            </a:extLst>
          </p:cNvPr>
          <p:cNvCxnSpPr/>
          <p:nvPr/>
        </p:nvCxnSpPr>
        <p:spPr>
          <a:xfrm flipH="1" flipV="1">
            <a:off x="762000" y="2179320"/>
            <a:ext cx="274638" cy="3200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8586E5EC-E722-4D44-FC16-31F4D60F72DA}"/>
                  </a:ext>
                </a:extLst>
              </p:cNvPr>
              <p:cNvSpPr txBox="1"/>
              <p:nvPr/>
            </p:nvSpPr>
            <p:spPr>
              <a:xfrm>
                <a:off x="224443" y="2243347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8586E5EC-E722-4D44-FC16-31F4D60F7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43" y="2243347"/>
                <a:ext cx="103632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C8CD6E12-09EA-7C85-D795-AB1D3975F7C6}"/>
                  </a:ext>
                </a:extLst>
              </p:cNvPr>
              <p:cNvSpPr txBox="1"/>
              <p:nvPr/>
            </p:nvSpPr>
            <p:spPr>
              <a:xfrm>
                <a:off x="474891" y="1951977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C8CD6E12-09EA-7C85-D795-AB1D3975F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91" y="1951977"/>
                <a:ext cx="1036320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A941F689-9ECD-00AD-8BBE-069D938195B5}"/>
                  </a:ext>
                </a:extLst>
              </p:cNvPr>
              <p:cNvSpPr txBox="1"/>
              <p:nvPr/>
            </p:nvSpPr>
            <p:spPr>
              <a:xfrm>
                <a:off x="1602651" y="2108507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A941F689-9ECD-00AD-8BBE-069D93819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51" y="2108507"/>
                <a:ext cx="103632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תיבת טקסט 11">
                <a:extLst>
                  <a:ext uri="{FF2B5EF4-FFF2-40B4-BE49-F238E27FC236}">
                    <a16:creationId xmlns:a16="http://schemas.microsoft.com/office/drawing/2014/main" id="{D373762C-3AD2-EEC5-147C-5406BB78F52B}"/>
                  </a:ext>
                </a:extLst>
              </p:cNvPr>
              <p:cNvSpPr txBox="1"/>
              <p:nvPr/>
            </p:nvSpPr>
            <p:spPr>
              <a:xfrm>
                <a:off x="913547" y="2096334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12" name="תיבת טקסט 11">
                <a:extLst>
                  <a:ext uri="{FF2B5EF4-FFF2-40B4-BE49-F238E27FC236}">
                    <a16:creationId xmlns:a16="http://schemas.microsoft.com/office/drawing/2014/main" id="{D373762C-3AD2-EEC5-147C-5406BB78F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47" y="2096334"/>
                <a:ext cx="103632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תיבת טקסט 12">
                <a:extLst>
                  <a:ext uri="{FF2B5EF4-FFF2-40B4-BE49-F238E27FC236}">
                    <a16:creationId xmlns:a16="http://schemas.microsoft.com/office/drawing/2014/main" id="{8836A8AE-64FA-5A85-A8B2-A9672F02481B}"/>
                  </a:ext>
                </a:extLst>
              </p:cNvPr>
              <p:cNvSpPr txBox="1"/>
              <p:nvPr/>
            </p:nvSpPr>
            <p:spPr>
              <a:xfrm>
                <a:off x="339603" y="4418986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13" name="תיבת טקסט 12">
                <a:extLst>
                  <a:ext uri="{FF2B5EF4-FFF2-40B4-BE49-F238E27FC236}">
                    <a16:creationId xmlns:a16="http://schemas.microsoft.com/office/drawing/2014/main" id="{8836A8AE-64FA-5A85-A8B2-A9672F024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03" y="4418986"/>
                <a:ext cx="103632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תיבת טקסט 13">
                <a:extLst>
                  <a:ext uri="{FF2B5EF4-FFF2-40B4-BE49-F238E27FC236}">
                    <a16:creationId xmlns:a16="http://schemas.microsoft.com/office/drawing/2014/main" id="{BB90F20F-2EA1-2C6B-88D0-D99BE150FF0B}"/>
                  </a:ext>
                </a:extLst>
              </p:cNvPr>
              <p:cNvSpPr txBox="1"/>
              <p:nvPr/>
            </p:nvSpPr>
            <p:spPr>
              <a:xfrm rot="16200000">
                <a:off x="205851" y="3806819"/>
                <a:ext cx="1036320" cy="58477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14" name="תיבת טקסט 13">
                <a:extLst>
                  <a:ext uri="{FF2B5EF4-FFF2-40B4-BE49-F238E27FC236}">
                    <a16:creationId xmlns:a16="http://schemas.microsoft.com/office/drawing/2014/main" id="{BB90F20F-2EA1-2C6B-88D0-D99BE150F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05851" y="3806819"/>
                <a:ext cx="103632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תיבת טקסט 14">
                <a:extLst>
                  <a:ext uri="{FF2B5EF4-FFF2-40B4-BE49-F238E27FC236}">
                    <a16:creationId xmlns:a16="http://schemas.microsoft.com/office/drawing/2014/main" id="{B8E5B53B-DFD9-FEBF-267F-A97F0BED197F}"/>
                  </a:ext>
                </a:extLst>
              </p:cNvPr>
              <p:cNvSpPr txBox="1"/>
              <p:nvPr/>
            </p:nvSpPr>
            <p:spPr>
              <a:xfrm>
                <a:off x="2623181" y="1909182"/>
                <a:ext cx="1036320" cy="58477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15" name="תיבת טקסט 14">
                <a:extLst>
                  <a:ext uri="{FF2B5EF4-FFF2-40B4-BE49-F238E27FC236}">
                    <a16:creationId xmlns:a16="http://schemas.microsoft.com/office/drawing/2014/main" id="{B8E5B53B-DFD9-FEBF-267F-A97F0BED1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181" y="1909182"/>
                <a:ext cx="1036320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75D377E7-B92D-F1AC-032A-DAB330BD1E54}"/>
                  </a:ext>
                </a:extLst>
              </p:cNvPr>
              <p:cNvSpPr txBox="1"/>
              <p:nvPr/>
            </p:nvSpPr>
            <p:spPr>
              <a:xfrm>
                <a:off x="374819" y="2554242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75D377E7-B92D-F1AC-032A-DAB330BD1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19" y="2554242"/>
                <a:ext cx="103632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D2425112-6F89-5A4A-AAAB-0278D77D1E75}"/>
                  </a:ext>
                </a:extLst>
              </p:cNvPr>
              <p:cNvSpPr txBox="1"/>
              <p:nvPr/>
            </p:nvSpPr>
            <p:spPr>
              <a:xfrm>
                <a:off x="374819" y="3065432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D2425112-6F89-5A4A-AAAB-0278D77D1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19" y="3065432"/>
                <a:ext cx="103632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2730B9FA-74D6-254B-B2A3-30AC362D6FCF}"/>
                  </a:ext>
                </a:extLst>
              </p:cNvPr>
              <p:cNvSpPr txBox="1"/>
              <p:nvPr/>
            </p:nvSpPr>
            <p:spPr>
              <a:xfrm>
                <a:off x="3696461" y="2067357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he-IL" sz="2000" dirty="0"/>
              </a:p>
            </p:txBody>
          </p:sp>
        </mc:Choice>
        <mc:Fallback xmlns="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2730B9FA-74D6-254B-B2A3-30AC362D6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461" y="2067357"/>
                <a:ext cx="1036320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1696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בדיקה האם תת המחרוזת </a:t>
            </a:r>
            <a:r>
              <a:rPr lang="he-IL" dirty="0" err="1"/>
              <a:t>פלינדרום</a:t>
            </a:r>
            <a:endParaRPr lang="he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3013" y="1737360"/>
                <a:ext cx="10577918" cy="4520193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נשים לב, שבנוסף לחישוב תתי הבעיות על פי הנוסחה הרקורסיבית, אנחנו זקוקים גם לחישוב נוסף עבור כל תת מחרוזת – עלינו לדעת האם הוא </a:t>
                </a:r>
                <a:r>
                  <a:rPr lang="he-IL" sz="2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פלינדרום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או לא.</a:t>
                </a:r>
              </a:p>
              <a:p>
                <a:pPr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אפשרות ראשונה היא לבדוק בכל פעם מחדש האם תת המחרוזת הנוכחית מהווה </a:t>
                </a:r>
                <a:r>
                  <a:rPr lang="he-IL" sz="2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פלינדרום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על ידי </a:t>
                </a:r>
                <a:r>
                  <a:rPr lang="he-IL" sz="2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פונקצייה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ייעודית. אפשרות זו תגרום לכך שזמן מילוי כל תא יהיה לינארי.</a:t>
                </a:r>
              </a:p>
              <a:p>
                <a:pPr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אפשרות אחרת היא לפתור את הבעיה הזו גם באופן דינאמי: נשמור מטריצה נוספת 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P-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בוליאנית.</a:t>
                </a:r>
              </a:p>
              <a:p>
                <a:pPr marL="201168" lvl="1" indent="0" algn="just">
                  <a:lnSpc>
                    <a:spcPct val="100000"/>
                  </a:lnSpc>
                  <a:buNone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אם תת המחרוזת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היא </a:t>
                </a:r>
                <a:r>
                  <a:rPr lang="he-IL" sz="2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פלינדרום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אז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𝑡𝑟𝑢𝑒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201168" lvl="1" indent="0" algn="just">
                  <a:lnSpc>
                    <a:spcPct val="100000"/>
                  </a:lnSpc>
                  <a:buNone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למילוי תא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4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לכל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he-IL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נבדוק:</a:t>
                </a:r>
              </a:p>
              <a:p>
                <a:pPr marL="384048" lvl="2" indent="0" algn="just">
                  <a:lnSpc>
                    <a:spcPct val="100000"/>
                  </a:lnSpc>
                  <a:buNone/>
                </a:pPr>
                <a:r>
                  <a:rPr lang="he-IL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אם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sz="2400" b="1" i="1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1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sz="2400" b="1" i="1" baseline="-25000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𝒋</m:t>
                    </m:r>
                  </m:oMath>
                </a14:m>
                <a:r>
                  <a:rPr lang="he-IL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וגם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400" b="1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sz="2400" b="1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𝒋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]=</m:t>
                    </m:r>
                    <m:r>
                      <a:rPr lang="en-US" sz="2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𝒕𝒓𝒖𝒆</m:t>
                    </m:r>
                    <m:r>
                      <a:rPr lang="he-IL" sz="2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e-IL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אזי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4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]=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𝑡𝑟𝑢𝑒</m:t>
                    </m:r>
                  </m:oMath>
                </a14:m>
                <a:endParaRPr lang="he-IL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84048" lvl="2" indent="0" algn="just">
                  <a:lnSpc>
                    <a:spcPct val="100000"/>
                  </a:lnSpc>
                  <a:buNone/>
                </a:pPr>
                <a:r>
                  <a:rPr lang="he-IL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אחרת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4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]=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𝑓𝑎𝑙𝑠𝑒</m:t>
                    </m:r>
                    <m:r>
                      <a:rPr lang="he-IL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he-IL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algn="just">
                  <a:lnSpc>
                    <a:spcPct val="100000"/>
                  </a:lnSpc>
                </a:pPr>
                <a:endParaRPr lang="he-IL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he-IL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3013" y="1737360"/>
                <a:ext cx="10577918" cy="4520193"/>
              </a:xfrm>
              <a:blipFill>
                <a:blip r:embed="rId2"/>
                <a:stretch>
                  <a:fillRect l="-2478" t="-1348" r="-19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1660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EFCA46F-614A-A281-463D-D165E926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0" y="-73457"/>
            <a:ext cx="10058400" cy="1450757"/>
          </a:xfrm>
        </p:spPr>
        <p:txBody>
          <a:bodyPr/>
          <a:lstStyle/>
          <a:p>
            <a:pPr algn="ctr"/>
            <a:r>
              <a:rPr lang="he-IL" dirty="0"/>
              <a:t>דוגמא למילוי המטריצה </a:t>
            </a:r>
            <a:r>
              <a:rPr lang="en-US" dirty="0"/>
              <a:t>P</a:t>
            </a:r>
            <a:endParaRPr lang="he-IL" dirty="0"/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7EC6A434-8EC2-00E6-AFDF-5356CB7D11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7851765"/>
              </p:ext>
            </p:extLst>
          </p:nvPr>
        </p:nvGraphicFramePr>
        <p:xfrm>
          <a:off x="2461638" y="2695950"/>
          <a:ext cx="7268725" cy="3975463"/>
        </p:xfrm>
        <a:graphic>
          <a:graphicData uri="http://schemas.openxmlformats.org/drawingml/2006/table">
            <a:tbl>
              <a:tblPr rtl="1" firstRow="1" firstCol="1" lastRow="1" lastCol="1" bandRow="1" bandCol="1">
                <a:tableStyleId>{5C22544A-7EE6-4342-B048-85BDC9FD1C3A}</a:tableStyleId>
              </a:tblPr>
              <a:tblGrid>
                <a:gridCol w="807531">
                  <a:extLst>
                    <a:ext uri="{9D8B030D-6E8A-4147-A177-3AD203B41FA5}">
                      <a16:colId xmlns:a16="http://schemas.microsoft.com/office/drawing/2014/main" val="3140754773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3359430634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1417327726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2901444264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3792113642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2896312607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1151473078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2988162236"/>
                    </a:ext>
                  </a:extLst>
                </a:gridCol>
                <a:gridCol w="808477">
                  <a:extLst>
                    <a:ext uri="{9D8B030D-6E8A-4147-A177-3AD203B41FA5}">
                      <a16:colId xmlns:a16="http://schemas.microsoft.com/office/drawing/2014/main" val="660973236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824622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785269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357605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27827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9528071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491274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628501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578342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6500243"/>
                  </a:ext>
                </a:extLst>
              </a:tr>
            </a:tbl>
          </a:graphicData>
        </a:graphic>
      </p:graphicFrame>
      <p:sp>
        <p:nvSpPr>
          <p:cNvPr id="5" name="Line 1">
            <a:extLst>
              <a:ext uri="{FF2B5EF4-FFF2-40B4-BE49-F238E27FC236}">
                <a16:creationId xmlns:a16="http://schemas.microsoft.com/office/drawing/2014/main" id="{70735A9B-84A1-5EC3-776D-F5ACC4894526}"/>
              </a:ext>
            </a:extLst>
          </p:cNvPr>
          <p:cNvSpPr>
            <a:spLocks noChangeShapeType="1"/>
          </p:cNvSpPr>
          <p:nvPr/>
        </p:nvSpPr>
        <p:spPr bwMode="auto">
          <a:xfrm>
            <a:off x="-76200" y="4763"/>
            <a:ext cx="561975" cy="342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9D367792-A4C8-C174-D8CA-98AA15D92DA9}"/>
              </a:ext>
            </a:extLst>
          </p:cNvPr>
          <p:cNvSpPr/>
          <p:nvPr/>
        </p:nvSpPr>
        <p:spPr>
          <a:xfrm>
            <a:off x="3028950" y="1614351"/>
            <a:ext cx="6872288" cy="700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aphicFrame>
        <p:nvGraphicFramePr>
          <p:cNvPr id="6" name="טבלה 5">
            <a:extLst>
              <a:ext uri="{FF2B5EF4-FFF2-40B4-BE49-F238E27FC236}">
                <a16:creationId xmlns:a16="http://schemas.microsoft.com/office/drawing/2014/main" id="{5113068F-9999-58CF-17A4-B1DAD3F89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679805"/>
              </p:ext>
            </p:extLst>
          </p:nvPr>
        </p:nvGraphicFramePr>
        <p:xfrm>
          <a:off x="3270115" y="1935803"/>
          <a:ext cx="6460248" cy="561703"/>
        </p:xfrm>
        <a:graphic>
          <a:graphicData uri="http://schemas.openxmlformats.org/drawingml/2006/table">
            <a:tbl>
              <a:tblPr rtl="1" firstRow="1" firstCol="1" lastRow="1" lastCol="1" bandRow="1" bandCol="1">
                <a:tableStyleId>{5C22544A-7EE6-4342-B048-85BDC9FD1C3A}</a:tableStyleId>
              </a:tblPr>
              <a:tblGrid>
                <a:gridCol w="807531">
                  <a:extLst>
                    <a:ext uri="{9D8B030D-6E8A-4147-A177-3AD203B41FA5}">
                      <a16:colId xmlns:a16="http://schemas.microsoft.com/office/drawing/2014/main" val="2274845142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123444622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3413275194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572678029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2452464576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1629797739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330011826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2258710706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5225138"/>
                  </a:ext>
                </a:extLst>
              </a:tr>
            </a:tbl>
          </a:graphicData>
        </a:graphic>
      </p:graphicFrame>
      <p:graphicFrame>
        <p:nvGraphicFramePr>
          <p:cNvPr id="7" name="טבלה 6">
            <a:extLst>
              <a:ext uri="{FF2B5EF4-FFF2-40B4-BE49-F238E27FC236}">
                <a16:creationId xmlns:a16="http://schemas.microsoft.com/office/drawing/2014/main" id="{F9E8F615-D446-640D-3142-E5BD76DC6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578109"/>
              </p:ext>
            </p:extLst>
          </p:nvPr>
        </p:nvGraphicFramePr>
        <p:xfrm>
          <a:off x="3270115" y="1614351"/>
          <a:ext cx="6461088" cy="36576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807636">
                  <a:extLst>
                    <a:ext uri="{9D8B030D-6E8A-4147-A177-3AD203B41FA5}">
                      <a16:colId xmlns:a16="http://schemas.microsoft.com/office/drawing/2014/main" val="1375512587"/>
                    </a:ext>
                  </a:extLst>
                </a:gridCol>
                <a:gridCol w="807636">
                  <a:extLst>
                    <a:ext uri="{9D8B030D-6E8A-4147-A177-3AD203B41FA5}">
                      <a16:colId xmlns:a16="http://schemas.microsoft.com/office/drawing/2014/main" val="3133045018"/>
                    </a:ext>
                  </a:extLst>
                </a:gridCol>
                <a:gridCol w="807636">
                  <a:extLst>
                    <a:ext uri="{9D8B030D-6E8A-4147-A177-3AD203B41FA5}">
                      <a16:colId xmlns:a16="http://schemas.microsoft.com/office/drawing/2014/main" val="2201271316"/>
                    </a:ext>
                  </a:extLst>
                </a:gridCol>
                <a:gridCol w="807636">
                  <a:extLst>
                    <a:ext uri="{9D8B030D-6E8A-4147-A177-3AD203B41FA5}">
                      <a16:colId xmlns:a16="http://schemas.microsoft.com/office/drawing/2014/main" val="1729919558"/>
                    </a:ext>
                  </a:extLst>
                </a:gridCol>
                <a:gridCol w="807636">
                  <a:extLst>
                    <a:ext uri="{9D8B030D-6E8A-4147-A177-3AD203B41FA5}">
                      <a16:colId xmlns:a16="http://schemas.microsoft.com/office/drawing/2014/main" val="2352715274"/>
                    </a:ext>
                  </a:extLst>
                </a:gridCol>
                <a:gridCol w="807636">
                  <a:extLst>
                    <a:ext uri="{9D8B030D-6E8A-4147-A177-3AD203B41FA5}">
                      <a16:colId xmlns:a16="http://schemas.microsoft.com/office/drawing/2014/main" val="169761202"/>
                    </a:ext>
                  </a:extLst>
                </a:gridCol>
                <a:gridCol w="807636">
                  <a:extLst>
                    <a:ext uri="{9D8B030D-6E8A-4147-A177-3AD203B41FA5}">
                      <a16:colId xmlns:a16="http://schemas.microsoft.com/office/drawing/2014/main" val="2037673065"/>
                    </a:ext>
                  </a:extLst>
                </a:gridCol>
                <a:gridCol w="807636">
                  <a:extLst>
                    <a:ext uri="{9D8B030D-6E8A-4147-A177-3AD203B41FA5}">
                      <a16:colId xmlns:a16="http://schemas.microsoft.com/office/drawing/2014/main" val="1382436604"/>
                    </a:ext>
                  </a:extLst>
                </a:gridCol>
              </a:tblGrid>
              <a:tr h="163059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7769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51406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EFCA46F-614A-A281-463D-D165E926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0120" y="-159159"/>
            <a:ext cx="10058400" cy="1450757"/>
          </a:xfrm>
        </p:spPr>
        <p:txBody>
          <a:bodyPr/>
          <a:lstStyle/>
          <a:p>
            <a:pPr algn="ctr"/>
            <a:r>
              <a:rPr lang="he-IL" dirty="0"/>
              <a:t>דוגמא למילוי המטריצה </a:t>
            </a:r>
            <a:r>
              <a:rPr lang="en-US" dirty="0"/>
              <a:t>T</a:t>
            </a:r>
            <a:endParaRPr lang="he-IL" dirty="0"/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7EC6A434-8EC2-00E6-AFDF-5356CB7D11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3885231"/>
              </p:ext>
            </p:extLst>
          </p:nvPr>
        </p:nvGraphicFramePr>
        <p:xfrm>
          <a:off x="232772" y="2695950"/>
          <a:ext cx="7268725" cy="3975463"/>
        </p:xfrm>
        <a:graphic>
          <a:graphicData uri="http://schemas.openxmlformats.org/drawingml/2006/table">
            <a:tbl>
              <a:tblPr rtl="1" firstRow="1" firstCol="1" lastRow="1" lastCol="1" bandRow="1" bandCol="1">
                <a:tableStyleId>{5C22544A-7EE6-4342-B048-85BDC9FD1C3A}</a:tableStyleId>
              </a:tblPr>
              <a:tblGrid>
                <a:gridCol w="807531">
                  <a:extLst>
                    <a:ext uri="{9D8B030D-6E8A-4147-A177-3AD203B41FA5}">
                      <a16:colId xmlns:a16="http://schemas.microsoft.com/office/drawing/2014/main" val="3140754773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3359430634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1417327726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2901444264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3792113642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2896312607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1151473078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2988162236"/>
                    </a:ext>
                  </a:extLst>
                </a:gridCol>
                <a:gridCol w="808477">
                  <a:extLst>
                    <a:ext uri="{9D8B030D-6E8A-4147-A177-3AD203B41FA5}">
                      <a16:colId xmlns:a16="http://schemas.microsoft.com/office/drawing/2014/main" val="660973236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824622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785269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357605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27827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9528071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he-IL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491274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628501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578342"/>
                  </a:ext>
                </a:extLst>
              </a:tr>
              <a:tr h="421277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\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6500243"/>
                  </a:ext>
                </a:extLst>
              </a:tr>
            </a:tbl>
          </a:graphicData>
        </a:graphic>
      </p:graphicFrame>
      <p:sp>
        <p:nvSpPr>
          <p:cNvPr id="5" name="Line 1">
            <a:extLst>
              <a:ext uri="{FF2B5EF4-FFF2-40B4-BE49-F238E27FC236}">
                <a16:creationId xmlns:a16="http://schemas.microsoft.com/office/drawing/2014/main" id="{70735A9B-84A1-5EC3-776D-F5ACC4894526}"/>
              </a:ext>
            </a:extLst>
          </p:cNvPr>
          <p:cNvSpPr>
            <a:spLocks noChangeShapeType="1"/>
          </p:cNvSpPr>
          <p:nvPr/>
        </p:nvSpPr>
        <p:spPr bwMode="auto">
          <a:xfrm>
            <a:off x="-76200" y="4763"/>
            <a:ext cx="561975" cy="342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9D367792-A4C8-C174-D8CA-98AA15D92DA9}"/>
              </a:ext>
            </a:extLst>
          </p:cNvPr>
          <p:cNvSpPr/>
          <p:nvPr/>
        </p:nvSpPr>
        <p:spPr>
          <a:xfrm>
            <a:off x="800084" y="1614351"/>
            <a:ext cx="6872288" cy="700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4ADBEBA1-D42C-0961-06AE-CB75D4873C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9" t="3285" r="2622" b="-2326"/>
          <a:stretch/>
        </p:blipFill>
        <p:spPr>
          <a:xfrm>
            <a:off x="7742662" y="200025"/>
            <a:ext cx="4330276" cy="2495925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graphicFrame>
        <p:nvGraphicFramePr>
          <p:cNvPr id="6" name="טבלה 5">
            <a:extLst>
              <a:ext uri="{FF2B5EF4-FFF2-40B4-BE49-F238E27FC236}">
                <a16:creationId xmlns:a16="http://schemas.microsoft.com/office/drawing/2014/main" id="{5113068F-9999-58CF-17A4-B1DAD3F89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524326"/>
              </p:ext>
            </p:extLst>
          </p:nvPr>
        </p:nvGraphicFramePr>
        <p:xfrm>
          <a:off x="1041249" y="1935803"/>
          <a:ext cx="6460248" cy="561703"/>
        </p:xfrm>
        <a:graphic>
          <a:graphicData uri="http://schemas.openxmlformats.org/drawingml/2006/table">
            <a:tbl>
              <a:tblPr rtl="1" firstRow="1" firstCol="1" lastRow="1" lastCol="1" bandRow="1" bandCol="1">
                <a:tableStyleId>{5C22544A-7EE6-4342-B048-85BDC9FD1C3A}</a:tableStyleId>
              </a:tblPr>
              <a:tblGrid>
                <a:gridCol w="807531">
                  <a:extLst>
                    <a:ext uri="{9D8B030D-6E8A-4147-A177-3AD203B41FA5}">
                      <a16:colId xmlns:a16="http://schemas.microsoft.com/office/drawing/2014/main" val="2274845142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123444622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3413275194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572678029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2452464576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1629797739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330011826"/>
                    </a:ext>
                  </a:extLst>
                </a:gridCol>
                <a:gridCol w="807531">
                  <a:extLst>
                    <a:ext uri="{9D8B030D-6E8A-4147-A177-3AD203B41FA5}">
                      <a16:colId xmlns:a16="http://schemas.microsoft.com/office/drawing/2014/main" val="2258710706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tabLst>
                          <a:tab pos="161925" algn="l"/>
                          <a:tab pos="9305925" algn="r"/>
                        </a:tabLst>
                      </a:pPr>
                      <a:r>
                        <a:rPr lang="en-US" sz="2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5225138"/>
                  </a:ext>
                </a:extLst>
              </a:tr>
            </a:tbl>
          </a:graphicData>
        </a:graphic>
      </p:graphicFrame>
      <p:graphicFrame>
        <p:nvGraphicFramePr>
          <p:cNvPr id="7" name="טבלה 6">
            <a:extLst>
              <a:ext uri="{FF2B5EF4-FFF2-40B4-BE49-F238E27FC236}">
                <a16:creationId xmlns:a16="http://schemas.microsoft.com/office/drawing/2014/main" id="{F9E8F615-D446-640D-3142-E5BD76DC6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558652"/>
              </p:ext>
            </p:extLst>
          </p:nvPr>
        </p:nvGraphicFramePr>
        <p:xfrm>
          <a:off x="1041249" y="1614351"/>
          <a:ext cx="6461088" cy="36576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807636">
                  <a:extLst>
                    <a:ext uri="{9D8B030D-6E8A-4147-A177-3AD203B41FA5}">
                      <a16:colId xmlns:a16="http://schemas.microsoft.com/office/drawing/2014/main" val="1375512587"/>
                    </a:ext>
                  </a:extLst>
                </a:gridCol>
                <a:gridCol w="807636">
                  <a:extLst>
                    <a:ext uri="{9D8B030D-6E8A-4147-A177-3AD203B41FA5}">
                      <a16:colId xmlns:a16="http://schemas.microsoft.com/office/drawing/2014/main" val="3133045018"/>
                    </a:ext>
                  </a:extLst>
                </a:gridCol>
                <a:gridCol w="807636">
                  <a:extLst>
                    <a:ext uri="{9D8B030D-6E8A-4147-A177-3AD203B41FA5}">
                      <a16:colId xmlns:a16="http://schemas.microsoft.com/office/drawing/2014/main" val="2201271316"/>
                    </a:ext>
                  </a:extLst>
                </a:gridCol>
                <a:gridCol w="807636">
                  <a:extLst>
                    <a:ext uri="{9D8B030D-6E8A-4147-A177-3AD203B41FA5}">
                      <a16:colId xmlns:a16="http://schemas.microsoft.com/office/drawing/2014/main" val="1729919558"/>
                    </a:ext>
                  </a:extLst>
                </a:gridCol>
                <a:gridCol w="807636">
                  <a:extLst>
                    <a:ext uri="{9D8B030D-6E8A-4147-A177-3AD203B41FA5}">
                      <a16:colId xmlns:a16="http://schemas.microsoft.com/office/drawing/2014/main" val="2352715274"/>
                    </a:ext>
                  </a:extLst>
                </a:gridCol>
                <a:gridCol w="807636">
                  <a:extLst>
                    <a:ext uri="{9D8B030D-6E8A-4147-A177-3AD203B41FA5}">
                      <a16:colId xmlns:a16="http://schemas.microsoft.com/office/drawing/2014/main" val="169761202"/>
                    </a:ext>
                  </a:extLst>
                </a:gridCol>
                <a:gridCol w="807636">
                  <a:extLst>
                    <a:ext uri="{9D8B030D-6E8A-4147-A177-3AD203B41FA5}">
                      <a16:colId xmlns:a16="http://schemas.microsoft.com/office/drawing/2014/main" val="2037673065"/>
                    </a:ext>
                  </a:extLst>
                </a:gridCol>
                <a:gridCol w="807636">
                  <a:extLst>
                    <a:ext uri="{9D8B030D-6E8A-4147-A177-3AD203B41FA5}">
                      <a16:colId xmlns:a16="http://schemas.microsoft.com/office/drawing/2014/main" val="1382436604"/>
                    </a:ext>
                  </a:extLst>
                </a:gridCol>
              </a:tblGrid>
              <a:tr h="163059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7769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7602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2BDCD1D-ABBC-7DA4-F8A0-D378D921B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594" y="118508"/>
            <a:ext cx="10058400" cy="1450757"/>
          </a:xfrm>
        </p:spPr>
        <p:txBody>
          <a:bodyPr/>
          <a:lstStyle/>
          <a:p>
            <a:pPr algn="ctr"/>
            <a:r>
              <a:rPr lang="he-IL" dirty="0" err="1"/>
              <a:t>פסאודו</a:t>
            </a:r>
            <a:r>
              <a:rPr lang="he-IL" dirty="0"/>
              <a:t> קוד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768841D-B65E-ED36-6510-858A2FF2B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1461"/>
            <a:ext cx="5399314" cy="37240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        </a:t>
            </a:r>
            <a:r>
              <a:rPr lang="en-US" altLang="he-IL" sz="2400" dirty="0" err="1">
                <a:solidFill>
                  <a:srgbClr val="000000"/>
                </a:solidFill>
                <a:latin typeface="Aptos Narrow" panose="020B0004020202020204" pitchFamily="34" charset="0"/>
                <a:ea typeface="Times New Roman" panose="02020603050405020304" pitchFamily="18" charset="0"/>
              </a:rPr>
              <a:t>MinPalPalindrom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(X)</a:t>
            </a:r>
            <a:endParaRPr kumimoji="0" lang="en-US" altLang="he-IL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              C[n][n],P[n][n]</a:t>
            </a:r>
            <a:endParaRPr kumimoji="0" lang="en-US" altLang="he-IL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	            for </a:t>
            </a:r>
            <a:r>
              <a:rPr kumimoji="0" lang="en-US" altLang="he-IL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=1 to n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  <a:ea typeface="Times New Roman" panose="02020603050405020304" pitchFamily="18" charset="0"/>
              </a:rPr>
              <a:t>	                   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 C[</a:t>
            </a:r>
            <a:r>
              <a:rPr kumimoji="0" lang="en-US" altLang="he-IL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i,i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]=0, P[</a:t>
            </a:r>
            <a:r>
              <a:rPr kumimoji="0" lang="en-US" altLang="he-IL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i,i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]=T</a:t>
            </a:r>
            <a:endParaRPr kumimoji="0" lang="en-US" altLang="he-IL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               for L=2 to n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  <a:ea typeface="Times New Roman" panose="02020603050405020304" pitchFamily="18" charset="0"/>
              </a:rPr>
              <a:t>	                   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for </a:t>
            </a:r>
            <a:r>
              <a:rPr kumimoji="0" lang="en-US" altLang="he-IL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=1 to n-L</a:t>
            </a:r>
            <a:endParaRPr kumimoji="0" lang="en-US" altLang="he-IL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                       </a:t>
            </a:r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  <a:ea typeface="Times New Roman" panose="02020603050405020304" pitchFamily="18" charset="0"/>
              </a:rPr>
              <a:t>    j=i+L-1</a:t>
            </a:r>
            <a:endParaRPr kumimoji="0" lang="en-US" altLang="he-IL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</a:rPr>
              <a:t>    </a:t>
            </a:r>
            <a:endParaRPr kumimoji="0" lang="en-US" altLang="he-IL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endParaRPr kumimoji="0" lang="en-US" altLang="he-IL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662BFD1-079E-5D51-1914-EE8CB5100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273" y="2805015"/>
            <a:ext cx="513647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925" algn="l"/>
                <a:tab pos="9305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kumimoji="0" lang="en-US" altLang="he-IL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        </a:t>
            </a:r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if  L=2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	                             if X[</a:t>
            </a:r>
            <a:r>
              <a:rPr lang="en-US" altLang="he-IL" sz="2400" dirty="0" err="1">
                <a:solidFill>
                  <a:srgbClr val="000000"/>
                </a:solidFill>
                <a:latin typeface="Aptos Narrow" panose="020B0004020202020204" pitchFamily="34" charset="0"/>
              </a:rPr>
              <a:t>i</a:t>
            </a:r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]=X[j]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	                                       P[</a:t>
            </a:r>
            <a:r>
              <a:rPr lang="en-US" altLang="he-IL" sz="2400" dirty="0" err="1">
                <a:solidFill>
                  <a:srgbClr val="000000"/>
                </a:solidFill>
                <a:latin typeface="Aptos Narrow" panose="020B0004020202020204" pitchFamily="34" charset="0"/>
              </a:rPr>
              <a:t>i,j</a:t>
            </a:r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]=T else P[</a:t>
            </a:r>
            <a:r>
              <a:rPr lang="en-US" altLang="he-IL" sz="2400" dirty="0" err="1">
                <a:solidFill>
                  <a:srgbClr val="000000"/>
                </a:solidFill>
                <a:latin typeface="Aptos Narrow" panose="020B0004020202020204" pitchFamily="34" charset="0"/>
              </a:rPr>
              <a:t>i,j</a:t>
            </a:r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]=F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925" algn="l"/>
                <a:tab pos="9305925" algn="r"/>
              </a:tabLst>
            </a:pPr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                      else</a:t>
            </a:r>
          </a:p>
          <a:p>
            <a:pPr defTabSz="914400"/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                               if  X[</a:t>
            </a:r>
            <a:r>
              <a:rPr lang="en-US" altLang="he-IL" sz="2400" dirty="0" err="1">
                <a:solidFill>
                  <a:srgbClr val="000000"/>
                </a:solidFill>
                <a:latin typeface="Aptos Narrow" panose="020B0004020202020204" pitchFamily="34" charset="0"/>
              </a:rPr>
              <a:t>i</a:t>
            </a:r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]=Y[j] and P[i+1,j-1]=T</a:t>
            </a:r>
          </a:p>
          <a:p>
            <a:pPr defTabSz="914400"/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                                        P[</a:t>
            </a:r>
            <a:r>
              <a:rPr lang="en-US" altLang="he-IL" sz="2400" dirty="0" err="1">
                <a:solidFill>
                  <a:srgbClr val="000000"/>
                </a:solidFill>
                <a:latin typeface="Aptos Narrow" panose="020B0004020202020204" pitchFamily="34" charset="0"/>
              </a:rPr>
              <a:t>i,j</a:t>
            </a:r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]=T else P[</a:t>
            </a:r>
            <a:r>
              <a:rPr lang="en-US" altLang="he-IL" sz="2400" dirty="0" err="1">
                <a:solidFill>
                  <a:srgbClr val="000000"/>
                </a:solidFill>
                <a:latin typeface="Aptos Narrow" panose="020B0004020202020204" pitchFamily="34" charset="0"/>
              </a:rPr>
              <a:t>i,j</a:t>
            </a:r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]=F</a:t>
            </a:r>
          </a:p>
          <a:p>
            <a:pPr defTabSz="914400"/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	                    if P[</a:t>
            </a:r>
            <a:r>
              <a:rPr lang="en-US" altLang="he-IL" sz="2400" dirty="0" err="1">
                <a:solidFill>
                  <a:srgbClr val="000000"/>
                </a:solidFill>
                <a:latin typeface="Aptos Narrow" panose="020B0004020202020204" pitchFamily="34" charset="0"/>
              </a:rPr>
              <a:t>i,j</a:t>
            </a:r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]=T</a:t>
            </a:r>
          </a:p>
          <a:p>
            <a:pPr defTabSz="914400"/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                              c[</a:t>
            </a:r>
            <a:r>
              <a:rPr lang="en-US" altLang="he-IL" sz="2400" dirty="0" err="1">
                <a:solidFill>
                  <a:srgbClr val="000000"/>
                </a:solidFill>
                <a:latin typeface="Aptos Narrow" panose="020B0004020202020204" pitchFamily="34" charset="0"/>
              </a:rPr>
              <a:t>i,j</a:t>
            </a:r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]=0</a:t>
            </a:r>
          </a:p>
          <a:p>
            <a:pPr defTabSz="914400"/>
            <a:r>
              <a:rPr lang="en-US" altLang="he-IL" sz="2400" dirty="0">
                <a:solidFill>
                  <a:srgbClr val="000000"/>
                </a:solidFill>
                <a:latin typeface="Aptos Narrow" panose="020B0004020202020204" pitchFamily="34" charset="0"/>
              </a:rPr>
              <a:t>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 altLang="he-IL" sz="2400" dirty="0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תיבת טקסט 13">
                <a:extLst>
                  <a:ext uri="{FF2B5EF4-FFF2-40B4-BE49-F238E27FC236}">
                    <a16:creationId xmlns:a16="http://schemas.microsoft.com/office/drawing/2014/main" id="{D4BCAFCD-1EA7-C27B-60EB-714C625E7365}"/>
                  </a:ext>
                </a:extLst>
              </p:cNvPr>
              <p:cNvSpPr txBox="1"/>
              <p:nvPr/>
            </p:nvSpPr>
            <p:spPr>
              <a:xfrm>
                <a:off x="5905727" y="2157397"/>
                <a:ext cx="6096000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else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he-IL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    C[i</a:t>
                </a:r>
                <a:r>
                  <a:rPr lang="en-US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,</a:t>
                </a:r>
                <a:r>
                  <a:rPr lang="he-IL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j</a:t>
                </a:r>
                <a:r>
                  <a:rPr lang="en-US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]</a:t>
                </a:r>
                <a:r>
                  <a:rPr lang="he-IL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he-IL" altLang="he-IL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he-IL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;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he-IL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                </a:t>
                </a:r>
                <a:r>
                  <a:rPr lang="he-IL" altLang="he-IL" sz="24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for</a:t>
                </a:r>
                <a:r>
                  <a:rPr lang="he-IL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</a:t>
                </a:r>
                <a:r>
                  <a:rPr lang="en-US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k=</a:t>
                </a:r>
                <a:r>
                  <a:rPr lang="en-US" altLang="he-IL" sz="24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i</a:t>
                </a:r>
                <a:r>
                  <a:rPr lang="en-US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 to j-1</a:t>
                </a:r>
                <a:endParaRPr lang="he-IL" altLang="he-IL" sz="2400" dirty="0">
                  <a:solidFill>
                    <a:srgbClr val="000000"/>
                  </a:solidFill>
                  <a:latin typeface="Aptos Narrow" panose="020B00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he-IL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                    C[i][j] = </a:t>
                </a:r>
                <a:r>
                  <a:rPr lang="he-IL" altLang="he-IL" sz="2400" dirty="0" err="1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min</a:t>
                </a:r>
                <a:r>
                  <a:rPr lang="he-IL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}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he-IL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                          C[i</a:t>
                </a:r>
                <a:r>
                  <a:rPr lang="en-US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,</a:t>
                </a:r>
                <a:r>
                  <a:rPr lang="he-IL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j], C[i</a:t>
                </a:r>
                <a:r>
                  <a:rPr lang="en-US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,</a:t>
                </a:r>
                <a:r>
                  <a:rPr lang="he-IL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k] + C[k </a:t>
                </a:r>
                <a:r>
                  <a:rPr lang="en-US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+1,j]+1}</a:t>
                </a:r>
              </a:p>
              <a:p>
                <a:pPr defTabSz="914400"/>
                <a:endParaRPr lang="en-US" altLang="he-IL" sz="2400" dirty="0">
                  <a:solidFill>
                    <a:srgbClr val="000000"/>
                  </a:solidFill>
                  <a:latin typeface="Aptos Narrow" panose="020B0004020202020204" pitchFamily="34" charset="0"/>
                </a:endParaRP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61925" algn="l"/>
                    <a:tab pos="9305925" algn="r"/>
                  </a:tabLst>
                </a:pPr>
                <a:endParaRPr lang="en-US" altLang="he-IL" sz="2400" dirty="0">
                  <a:solidFill>
                    <a:srgbClr val="000000"/>
                  </a:solidFill>
                  <a:latin typeface="Aptos Narrow" panose="020B0004020202020204" pitchFamily="34" charset="0"/>
                </a:endParaRP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61925" algn="l"/>
                    <a:tab pos="9305925" algn="r"/>
                  </a:tabLst>
                </a:pPr>
                <a:r>
                  <a:rPr lang="en-US" altLang="he-IL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return C[0,n]</a:t>
                </a:r>
              </a:p>
            </p:txBody>
          </p:sp>
        </mc:Choice>
        <mc:Fallback>
          <p:sp>
            <p:nvSpPr>
              <p:cNvPr id="14" name="תיבת טקסט 13">
                <a:extLst>
                  <a:ext uri="{FF2B5EF4-FFF2-40B4-BE49-F238E27FC236}">
                    <a16:creationId xmlns:a16="http://schemas.microsoft.com/office/drawing/2014/main" id="{D4BCAFCD-1EA7-C27B-60EB-714C625E7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727" y="2157397"/>
                <a:ext cx="6096000" cy="3046988"/>
              </a:xfrm>
              <a:prstGeom prst="rect">
                <a:avLst/>
              </a:prstGeom>
              <a:blipFill>
                <a:blip r:embed="rId2"/>
                <a:stretch>
                  <a:fillRect l="-1700" t="-1600" b="-36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מלבן 14">
            <a:extLst>
              <a:ext uri="{FF2B5EF4-FFF2-40B4-BE49-F238E27FC236}">
                <a16:creationId xmlns:a16="http://schemas.microsoft.com/office/drawing/2014/main" id="{55AD7B41-20D2-CB8D-6410-8A33A8A2C14B}"/>
              </a:ext>
            </a:extLst>
          </p:cNvPr>
          <p:cNvSpPr/>
          <p:nvPr/>
        </p:nvSpPr>
        <p:spPr>
          <a:xfrm>
            <a:off x="190273" y="267333"/>
            <a:ext cx="5304583" cy="5835153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25A1F2F9-2145-397C-A4BB-3A55CCEC3CB6}"/>
              </a:ext>
            </a:extLst>
          </p:cNvPr>
          <p:cNvSpPr/>
          <p:nvPr/>
        </p:nvSpPr>
        <p:spPr>
          <a:xfrm>
            <a:off x="5810185" y="1932124"/>
            <a:ext cx="5598044" cy="4153326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0346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ניתוח זמן ריצה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0763" y="1846263"/>
                <a:ext cx="9894599" cy="4022725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הטבלאות בגודל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he-IL" sz="18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זמן מילוי כל תא במטריצה 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זמן מילוי כל תא במטריצה 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he-IL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סה"כ זמן ריצה: 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he-IL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0763" y="1846263"/>
                <a:ext cx="9894599" cy="4022725"/>
              </a:xfrm>
              <a:blipFill>
                <a:blip r:embed="rId2"/>
                <a:stretch>
                  <a:fillRect r="-24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7901322"/>
      </p:ext>
    </p:extLst>
  </p:cSld>
  <p:clrMapOvr>
    <a:masterClrMapping/>
  </p:clrMapOvr>
</p:sld>
</file>

<file path=ppt/theme/theme1.xml><?xml version="1.0" encoding="utf-8"?>
<a:theme xmlns:a="http://schemas.openxmlformats.org/drawingml/2006/main" name="מבט לאחור">
  <a:themeElements>
    <a:clrScheme name="מבט לאחור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מבט לאחור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בט לאחור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43085</TotalTime>
  <Words>2670</Words>
  <Application>Microsoft Office PowerPoint</Application>
  <PresentationFormat>מסך רחב</PresentationFormat>
  <Paragraphs>543</Paragraphs>
  <Slides>49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8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49</vt:i4>
      </vt:variant>
    </vt:vector>
  </HeadingPairs>
  <TitlesOfParts>
    <vt:vector size="58" baseType="lpstr">
      <vt:lpstr>Aptos Narrow</vt:lpstr>
      <vt:lpstr>Arial</vt:lpstr>
      <vt:lpstr>Calibri</vt:lpstr>
      <vt:lpstr>Calibri Light</vt:lpstr>
      <vt:lpstr>Cambria Math</vt:lpstr>
      <vt:lpstr>Consolas</vt:lpstr>
      <vt:lpstr>Times New Roman</vt:lpstr>
      <vt:lpstr>Wingdings</vt:lpstr>
      <vt:lpstr>מבט לאחור</vt:lpstr>
      <vt:lpstr>תכנות דינאמי Dynamic Programming</vt:lpstr>
      <vt:lpstr>תת מחרוזת משותפת ארוכה ביותר-LCS </vt:lpstr>
      <vt:lpstr>תזכורת-שלבים לפתרון בעזרת תכנון דינאמי</vt:lpstr>
      <vt:lpstr>תת מחרוזת משותפת ארוכה ביותר- הגדרה</vt:lpstr>
      <vt:lpstr>תמ"א- הסבר הבעיה</vt:lpstr>
      <vt:lpstr>תמ"א- הסבר הבעיה</vt:lpstr>
      <vt:lpstr>תמ"א- הסבר הבעיה</vt:lpstr>
      <vt:lpstr>תמ"א - חשיבה רקורסיבית</vt:lpstr>
      <vt:lpstr>נוסחת הרקורסיה</vt:lpstr>
      <vt:lpstr>הטבלה</vt:lpstr>
      <vt:lpstr>דוגמא</vt:lpstr>
      <vt:lpstr>תמ"א- פסאודו קוד</vt:lpstr>
      <vt:lpstr>חילוץ תת המחרוזת המשותפת</vt:lpstr>
      <vt:lpstr>ניתוח זמן ריצה</vt:lpstr>
      <vt:lpstr>מרחק עריכה בין מחרוזות- Edit Distance</vt:lpstr>
      <vt:lpstr>בעיית המרחק בין מחרוזות- הגדרה</vt:lpstr>
      <vt:lpstr>מצגת של PowerPoint‏</vt:lpstr>
      <vt:lpstr>מצגת של PowerPoint‏</vt:lpstr>
      <vt:lpstr>בעיית המרחק- תכנון דינאמי</vt:lpstr>
      <vt:lpstr>נוסחת הנסיגה</vt:lpstr>
      <vt:lpstr>הטבלה</vt:lpstr>
      <vt:lpstr>המחשה השוואה בין המחרוזת:</vt:lpstr>
      <vt:lpstr>המחשה השוואה בין המחרוזת:</vt:lpstr>
      <vt:lpstr>המחשה השוואה בין המחרוזת:</vt:lpstr>
      <vt:lpstr>המחשה השוואה בין המחרוזת:</vt:lpstr>
      <vt:lpstr>המחשה השוואה בין המחרוזת:</vt:lpstr>
      <vt:lpstr>המחשה השוואה בין המחרוזת:</vt:lpstr>
      <vt:lpstr>המחשה השוואה בין המחרוזת:</vt:lpstr>
      <vt:lpstr>המחשה השוואה בין המחרוזת:</vt:lpstr>
      <vt:lpstr>המחשה השוואה בין המחרוזת:</vt:lpstr>
      <vt:lpstr>המחשה השוואה בין המחרוזת:</vt:lpstr>
      <vt:lpstr>המחשה השוואה בין המחרוזת:</vt:lpstr>
      <vt:lpstr>המחשה השוואה בין המחרוזת:</vt:lpstr>
      <vt:lpstr>המחשה השוואה בין המחרוזת:</vt:lpstr>
      <vt:lpstr>המחשה השוואה בין המחרוזת:</vt:lpstr>
      <vt:lpstr>מרחק עריכה- האלגוריתם</vt:lpstr>
      <vt:lpstr>חילוץ הפתרון</vt:lpstr>
      <vt:lpstr>ניתוח זמן ריצה</vt:lpstr>
      <vt:lpstr>חלוקה מינימלית לפלינדרומים</vt:lpstr>
      <vt:lpstr>חלוקה מינימלית לפלינדרומים- הגדרה</vt:lpstr>
      <vt:lpstr>מצגת של PowerPoint‏</vt:lpstr>
      <vt:lpstr>חלוקה לפלינדרומים - תכנון דינאמי</vt:lpstr>
      <vt:lpstr>נוסחת הרקורסיה</vt:lpstr>
      <vt:lpstr>הטבלה</vt:lpstr>
      <vt:lpstr>בדיקה האם תת המחרוזת פלינדרום</vt:lpstr>
      <vt:lpstr>דוגמא למילוי המטריצה P</vt:lpstr>
      <vt:lpstr>דוגמא למילוי המטריצה T</vt:lpstr>
      <vt:lpstr>פסאודו קוד</vt:lpstr>
      <vt:lpstr>ניתוח זמן ריצה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הקדמה והצגת מושג האלגוריתם</dc:title>
  <dc:creator>רבקה וינגרטן</dc:creator>
  <cp:lastModifiedBy>רבקה וינגרטן</cp:lastModifiedBy>
  <cp:revision>156</cp:revision>
  <cp:lastPrinted>2023-04-17T06:33:36Z</cp:lastPrinted>
  <dcterms:created xsi:type="dcterms:W3CDTF">2023-01-28T23:08:55Z</dcterms:created>
  <dcterms:modified xsi:type="dcterms:W3CDTF">2024-06-29T23:43:10Z</dcterms:modified>
</cp:coreProperties>
</file>