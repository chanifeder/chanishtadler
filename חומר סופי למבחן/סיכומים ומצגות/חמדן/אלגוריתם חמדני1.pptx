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8" r:id="rId1"/>
  </p:sldMasterIdLst>
  <p:sldIdLst>
    <p:sldId id="256" r:id="rId2"/>
    <p:sldId id="270" r:id="rId3"/>
    <p:sldId id="269" r:id="rId4"/>
    <p:sldId id="257" r:id="rId5"/>
    <p:sldId id="258" r:id="rId6"/>
    <p:sldId id="259" r:id="rId7"/>
    <p:sldId id="266" r:id="rId8"/>
    <p:sldId id="262" r:id="rId9"/>
    <p:sldId id="263" r:id="rId10"/>
    <p:sldId id="267" r:id="rId11"/>
    <p:sldId id="268" r:id="rId12"/>
    <p:sldId id="264" r:id="rId13"/>
    <p:sldId id="265" r:id="rId14"/>
    <p:sldId id="261" r:id="rId15"/>
    <p:sldId id="260" r:id="rId16"/>
    <p:sldId id="271" r:id="rId17"/>
    <p:sldId id="272" r:id="rId18"/>
    <p:sldId id="273" r:id="rId19"/>
    <p:sldId id="274" r:id="rId20"/>
    <p:sldId id="282" r:id="rId21"/>
    <p:sldId id="283" r:id="rId22"/>
    <p:sldId id="278" r:id="rId23"/>
    <p:sldId id="299" r:id="rId24"/>
    <p:sldId id="279" r:id="rId25"/>
    <p:sldId id="280" r:id="rId26"/>
    <p:sldId id="281" r:id="rId27"/>
    <p:sldId id="285" r:id="rId28"/>
    <p:sldId id="286" r:id="rId29"/>
    <p:sldId id="287" r:id="rId30"/>
    <p:sldId id="284" r:id="rId31"/>
    <p:sldId id="275" r:id="rId32"/>
    <p:sldId id="288" r:id="rId33"/>
    <p:sldId id="276" r:id="rId34"/>
    <p:sldId id="277" r:id="rId35"/>
    <p:sldId id="289" r:id="rId36"/>
    <p:sldId id="291" r:id="rId37"/>
    <p:sldId id="290" r:id="rId38"/>
    <p:sldId id="292" r:id="rId39"/>
    <p:sldId id="296" r:id="rId40"/>
    <p:sldId id="293" r:id="rId41"/>
    <p:sldId id="294" r:id="rId42"/>
    <p:sldId id="295" r:id="rId43"/>
    <p:sldId id="297" r:id="rId44"/>
    <p:sldId id="298" r:id="rId45"/>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סגנון בהיר 2 - הדגשה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108" d="100"/>
          <a:sy n="108" d="100"/>
        </p:scale>
        <p:origin x="170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10" name="משולש ישר-זווית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כותרת 8"/>
          <p:cNvSpPr>
            <a:spLocks noGrp="1"/>
          </p:cNvSpPr>
          <p:nvPr>
            <p:ph type="ctrTitle"/>
          </p:nvPr>
        </p:nvSpPr>
        <p:spPr>
          <a:xfrm>
            <a:off x="683917" y="548680"/>
            <a:ext cx="7772400" cy="1829761"/>
          </a:xfrm>
        </p:spPr>
        <p:txBody>
          <a:bodyPr vert="horz" anchor="ctr">
            <a:normAutofit/>
            <a:scene3d>
              <a:camera prst="orthographicFront"/>
              <a:lightRig rig="soft" dir="t"/>
            </a:scene3d>
            <a:sp3d prstMaterial="softEdge">
              <a:bevelT w="25400" h="25400"/>
            </a:sp3d>
          </a:bodyPr>
          <a:lstStyle>
            <a:lvl1pPr algn="r">
              <a:defRPr sz="4800" b="1">
                <a:solidFill>
                  <a:schemeClr val="accent1">
                    <a:lumMod val="75000"/>
                  </a:schemeClr>
                </a:solidFill>
                <a:effectLst>
                  <a:outerShdw blurRad="31750" dist="25400" dir="5400000" algn="tl" rotWithShape="0">
                    <a:srgbClr val="000000">
                      <a:alpha val="25000"/>
                    </a:srgbClr>
                  </a:outerShdw>
                </a:effectLst>
                <a:latin typeface="Guttman Haim" panose="02010401010101010101" pitchFamily="2" charset="-79"/>
                <a:cs typeface="Guttman Haim" panose="02010401010101010101" pitchFamily="2" charset="-79"/>
              </a:defRPr>
            </a:lvl1pPr>
            <a:extLst/>
          </a:lstStyle>
          <a:p>
            <a:r>
              <a:rPr kumimoji="0" lang="he-IL" dirty="0"/>
              <a:t>לחץ כדי לערוך סגנון כותרת של תבנית בסיס</a:t>
            </a:r>
            <a:endParaRPr kumimoji="0" lang="en-US" dirty="0"/>
          </a:p>
        </p:txBody>
      </p:sp>
      <p:sp>
        <p:nvSpPr>
          <p:cNvPr id="17" name="כותרת משנה 16"/>
          <p:cNvSpPr>
            <a:spLocks noGrp="1"/>
          </p:cNvSpPr>
          <p:nvPr>
            <p:ph type="subTitle" idx="1"/>
          </p:nvPr>
        </p:nvSpPr>
        <p:spPr>
          <a:xfrm>
            <a:off x="685800" y="2708920"/>
            <a:ext cx="7772400" cy="2102391"/>
          </a:xfrm>
        </p:spPr>
        <p:txBody>
          <a:bodyPr lIns="45720" rIns="45720"/>
          <a:lstStyle>
            <a:lvl1pPr marL="0" marR="64008" indent="0" algn="r">
              <a:buNone/>
              <a:defRPr b="0">
                <a:solidFill>
                  <a:schemeClr val="tx2">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he-IL" dirty="0"/>
              <a:t>לחץ כדי לערוך סגנון כותרת משנה של תבנית בסיס</a:t>
            </a:r>
            <a:endParaRPr kumimoji="0" lang="en-US" dirty="0"/>
          </a:p>
        </p:txBody>
      </p:sp>
      <p:grpSp>
        <p:nvGrpSpPr>
          <p:cNvPr id="2" name="קבוצה 1"/>
          <p:cNvGrpSpPr/>
          <p:nvPr/>
        </p:nvGrpSpPr>
        <p:grpSpPr>
          <a:xfrm>
            <a:off x="-3765" y="4953000"/>
            <a:ext cx="9147765" cy="1912088"/>
            <a:chOff x="-3765" y="4832896"/>
            <a:chExt cx="9147765" cy="2032192"/>
          </a:xfrm>
        </p:grpSpPr>
        <p:sp>
          <p:nvSpPr>
            <p:cNvPr id="7" name="צורה חופשית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צורה חופשית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צורה חופשית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מחבר ישר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מציין מיקום של תאריך 29"/>
          <p:cNvSpPr>
            <a:spLocks noGrp="1"/>
          </p:cNvSpPr>
          <p:nvPr>
            <p:ph type="dt" sz="half" idx="10"/>
          </p:nvPr>
        </p:nvSpPr>
        <p:spPr/>
        <p:txBody>
          <a:bodyPr/>
          <a:lstStyle>
            <a:lvl1pPr>
              <a:defRPr>
                <a:solidFill>
                  <a:srgbClr val="FFFFFF"/>
                </a:solidFill>
              </a:defRPr>
            </a:lvl1pPr>
            <a:extLst/>
          </a:lstStyle>
          <a:p>
            <a:fld id="{2F40397C-6A42-4B2A-B64F-E39D04BD3B1B}" type="datetimeFigureOut">
              <a:rPr lang="he-IL" smtClean="0"/>
              <a:t>ל'/תשרי/תשפ"ו</a:t>
            </a:fld>
            <a:endParaRPr lang="he-IL"/>
          </a:p>
        </p:txBody>
      </p:sp>
      <p:sp>
        <p:nvSpPr>
          <p:cNvPr id="27" name="מציין מיקום של מספר שקופית 26"/>
          <p:cNvSpPr>
            <a:spLocks noGrp="1"/>
          </p:cNvSpPr>
          <p:nvPr>
            <p:ph type="sldNum" sz="quarter" idx="12"/>
          </p:nvPr>
        </p:nvSpPr>
        <p:spPr/>
        <p:txBody>
          <a:bodyPr/>
          <a:lstStyle>
            <a:lvl1pPr>
              <a:defRPr>
                <a:solidFill>
                  <a:srgbClr val="FFFFFF"/>
                </a:solidFill>
              </a:defRPr>
            </a:lvl1pPr>
            <a:extLst/>
          </a:lstStyle>
          <a:p>
            <a:fld id="{E2242091-1CA9-4DCC-91D8-F45CF328C9AA}" type="slidenum">
              <a:rPr lang="he-IL" smtClean="0"/>
              <a:t>‹#›</a:t>
            </a:fld>
            <a:endParaRPr lang="he-IL"/>
          </a:p>
        </p:txBody>
      </p:sp>
      <p:sp>
        <p:nvSpPr>
          <p:cNvPr id="19" name="מציין מיקום של כותרת תחתונה 18"/>
          <p:cNvSpPr>
            <a:spLocks noGrp="1"/>
          </p:cNvSpPr>
          <p:nvPr>
            <p:ph type="ftr" sz="quarter" idx="11"/>
          </p:nvPr>
        </p:nvSpPr>
        <p:spPr>
          <a:xfrm>
            <a:off x="48267" y="6453336"/>
            <a:ext cx="2950841" cy="365125"/>
          </a:xfrm>
        </p:spPr>
        <p:txBody>
          <a:bodyPr/>
          <a:lstStyle>
            <a:lvl1pPr>
              <a:defRPr sz="1200" b="1">
                <a:solidFill>
                  <a:schemeClr val="tx1"/>
                </a:solidFill>
              </a:defRPr>
            </a:lvl1pPr>
            <a:extLst/>
          </a:lstStyle>
          <a:p>
            <a:pPr algn="l"/>
            <a:r>
              <a:rPr lang="en-US" dirty="0"/>
              <a:t>Greedy Algorithms -</a:t>
            </a:r>
            <a:fld id="{7E2DB06B-F4F3-4A05-973E-1E03E6EE058E}" type="slidenum">
              <a:rPr lang="en-US" smtClean="0"/>
              <a:pPr algn="l"/>
              <a:t>‹#›</a:t>
            </a:fld>
            <a:r>
              <a:rPr lang="en-US" dirty="0"/>
              <a:t>-</a:t>
            </a:r>
            <a:endParaRPr lang="he-IL" dirty="0"/>
          </a:p>
        </p:txBody>
      </p:sp>
      <p:sp>
        <p:nvSpPr>
          <p:cNvPr id="14" name="מציין מיקום של כותרת תחתונה 18"/>
          <p:cNvSpPr txBox="1">
            <a:spLocks/>
          </p:cNvSpPr>
          <p:nvPr userDrawn="1"/>
        </p:nvSpPr>
        <p:spPr>
          <a:xfrm>
            <a:off x="60967" y="6529536"/>
            <a:ext cx="2950841" cy="365125"/>
          </a:xfrm>
          <a:prstGeom prst="rect">
            <a:avLst/>
          </a:prstGeom>
        </p:spPr>
        <p:txBody>
          <a:bodyPr/>
          <a:lstStyle>
            <a:defPPr>
              <a:defRPr lang="he-IL"/>
            </a:defPPr>
            <a:lvl1pPr marL="0" algn="r" defTabSz="914400" rtl="1" eaLnBrk="1" latinLnBrk="0" hangingPunct="1">
              <a:defRPr sz="1200" b="1"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algn="l"/>
            <a:r>
              <a:rPr lang="en-US" dirty="0"/>
              <a:t>Greedy Algorithms -</a:t>
            </a:r>
            <a:fld id="{7E2DB06B-F4F3-4A05-973E-1E03E6EE058E}" type="slidenum">
              <a:rPr lang="en-US" smtClean="0"/>
              <a:pPr algn="l"/>
              <a:t>‹#›</a:t>
            </a:fld>
            <a:r>
              <a:rPr lang="en-US" dirty="0"/>
              <a:t>-</a:t>
            </a:r>
            <a:endParaRPr lang="he-I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lvl1pPr>
              <a:defRPr b="0"/>
            </a:lvl1pPr>
            <a:lvl2pPr>
              <a:defRPr b="0"/>
            </a:lvl2pPr>
            <a:lvl3pPr>
              <a:defRPr b="0"/>
            </a:lvl3pPr>
            <a:lvl4pPr>
              <a:defRPr b="0"/>
            </a:lvl4pPr>
            <a:lvl5pPr>
              <a:defRPr b="0"/>
            </a:lvl5pPr>
            <a:extLst/>
          </a:lstStyle>
          <a:p>
            <a:pPr lvl="0" eaLnBrk="1" latinLnBrk="0" hangingPunct="1"/>
            <a:r>
              <a:rPr lang="he-IL" dirty="0"/>
              <a:t>לחץ כדי לערוך סגנונות טקסט של תבנית בסיס</a:t>
            </a:r>
          </a:p>
          <a:p>
            <a:pPr lvl="1" eaLnBrk="1" latinLnBrk="0" hangingPunct="1"/>
            <a:r>
              <a:rPr lang="he-IL" dirty="0"/>
              <a:t>רמה שנייה</a:t>
            </a:r>
          </a:p>
          <a:p>
            <a:pPr lvl="2" eaLnBrk="1" latinLnBrk="0" hangingPunct="1"/>
            <a:r>
              <a:rPr lang="he-IL" dirty="0"/>
              <a:t>רמה שלישית</a:t>
            </a:r>
          </a:p>
          <a:p>
            <a:pPr lvl="3" eaLnBrk="1" latinLnBrk="0" hangingPunct="1"/>
            <a:r>
              <a:rPr lang="he-IL" dirty="0"/>
              <a:t>רמה רביעית</a:t>
            </a:r>
          </a:p>
          <a:p>
            <a:pPr lvl="4" eaLnBrk="1" latinLnBrk="0" hangingPunct="1"/>
            <a:r>
              <a:rPr lang="he-IL" dirty="0"/>
              <a:t>רמה חמישית</a:t>
            </a:r>
            <a:endParaRPr kumimoji="0" lang="en-US" dirty="0"/>
          </a:p>
        </p:txBody>
      </p:sp>
      <p:sp>
        <p:nvSpPr>
          <p:cNvPr id="4" name="מציין מיקום של תאריך 3"/>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2242091-1CA9-4DCC-91D8-F45CF328C9AA}" type="slidenum">
              <a:rPr lang="he-IL" smtClean="0"/>
              <a:t>‹#›</a:t>
            </a:fld>
            <a:endParaRPr lang="he-IL"/>
          </a:p>
        </p:txBody>
      </p:sp>
      <p:sp>
        <p:nvSpPr>
          <p:cNvPr id="7" name="כותרת 6"/>
          <p:cNvSpPr>
            <a:spLocks noGrp="1"/>
          </p:cNvSpPr>
          <p:nvPr>
            <p:ph type="title"/>
          </p:nvPr>
        </p:nvSpPr>
        <p:spPr/>
        <p:txBody>
          <a:bodyPr rtlCol="0">
            <a:noAutofit/>
          </a:bodyPr>
          <a:lstStyle>
            <a:lvl1pPr>
              <a:defRPr sz="3600"/>
            </a:lvl1pPr>
            <a:extLst/>
          </a:lstStyle>
          <a:p>
            <a:r>
              <a:rPr kumimoji="0" lang="he-IL" dirty="0"/>
              <a:t>לחץ כדי לערוך סגנון כותרת של תבנית בסיס</a:t>
            </a:r>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righ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2"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right)">
                      <p:cBhvr>
                        <p:cTn dur="500"/>
                        <p:tgtEl>
                          <p:spTgt spid="3"/>
                        </p:tgtEl>
                      </p:cBhvr>
                    </p:animEffect>
                  </p:childTnLst>
                </p:cTn>
              </p:par>
            </p:tnLst>
          </p:tmpl>
          <p:tmpl lvl="2">
            <p:tnLst>
              <p:par>
                <p:cTn presetID="22" presetClass="entr" presetSubtype="2"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right)">
                      <p:cBhvr>
                        <p:cTn dur="500"/>
                        <p:tgtEl>
                          <p:spTgt spid="3"/>
                        </p:tgtEl>
                      </p:cBhvr>
                    </p:animEffect>
                  </p:childTnLst>
                </p:cTn>
              </p:par>
            </p:tnLst>
          </p:tmpl>
          <p:tmpl lvl="3">
            <p:tnLst>
              <p:par>
                <p:cTn presetID="22" presetClass="entr" presetSubtype="2"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right)">
                      <p:cBhvr>
                        <p:cTn dur="500"/>
                        <p:tgtEl>
                          <p:spTgt spid="3"/>
                        </p:tgtEl>
                      </p:cBhvr>
                    </p:animEffect>
                  </p:childTnLst>
                </p:cTn>
              </p:par>
            </p:tnLst>
          </p:tmpl>
          <p:tmpl lvl="4">
            <p:tnLst>
              <p:par>
                <p:cTn presetID="22" presetClass="entr" presetSubtype="2"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right)">
                      <p:cBhvr>
                        <p:cTn dur="500"/>
                        <p:tgtEl>
                          <p:spTgt spid="3"/>
                        </p:tgtEl>
                      </p:cBhvr>
                    </p:animEffect>
                  </p:childTnLst>
                </p:cTn>
              </p:par>
            </p:tnLst>
          </p:tmpl>
          <p:tmpl lvl="5">
            <p:tnLst>
              <p:par>
                <p:cTn presetID="22" presetClass="entr" presetSubtype="2"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righ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bg>
      <p:bgRef idx="1002">
        <a:schemeClr val="bg1"/>
      </p:bgRef>
    </p:bg>
    <p:spTree>
      <p:nvGrpSpPr>
        <p:cNvPr id="1" name=""/>
        <p:cNvGrpSpPr/>
        <p:nvPr/>
      </p:nvGrpSpPr>
      <p:grpSpPr>
        <a:xfrm>
          <a:off x="0" y="0"/>
          <a:ext cx="0" cy="0"/>
          <a:chOff x="0" y="0"/>
          <a:chExt cx="0" cy="0"/>
        </a:xfrm>
      </p:grpSpPr>
      <p:sp>
        <p:nvSpPr>
          <p:cNvPr id="2" name="כותרת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2242091-1CA9-4DCC-91D8-F45CF328C9AA}" type="slidenum">
              <a:rPr lang="he-IL" smtClean="0"/>
              <a:t>‹#›</a:t>
            </a:fld>
            <a:endParaRPr lang="he-IL"/>
          </a:p>
        </p:txBody>
      </p:sp>
      <p:sp>
        <p:nvSpPr>
          <p:cNvPr id="7" name="סוגר זוויתי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סוגר זוויתי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bg>
      <p:bgRef idx="1002">
        <a:schemeClr val="bg1"/>
      </p:bgRef>
    </p:bg>
    <p:spTree>
      <p:nvGrpSpPr>
        <p:cNvPr id="1" name=""/>
        <p:cNvGrpSpPr/>
        <p:nvPr/>
      </p:nvGrpSpPr>
      <p:grpSpPr>
        <a:xfrm>
          <a:off x="0" y="0"/>
          <a:ext cx="0" cy="0"/>
          <a:chOff x="0" y="0"/>
          <a:chExt cx="0" cy="0"/>
        </a:xfrm>
      </p:grpSpPr>
      <p:sp>
        <p:nvSpPr>
          <p:cNvPr id="3" name="מציין מיקום תוכן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4" name="מציין מיקום תוכן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5" name="מציין מיקום של תאריך 4"/>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E2242091-1CA9-4DCC-91D8-F45CF328C9AA}" type="slidenum">
              <a:rPr lang="he-IL" smtClean="0"/>
              <a:t>‹#›</a:t>
            </a:fld>
            <a:endParaRPr lang="he-IL"/>
          </a:p>
        </p:txBody>
      </p:sp>
      <p:sp>
        <p:nvSpPr>
          <p:cNvPr id="8" name="כותרת 7"/>
          <p:cNvSpPr>
            <a:spLocks noGrp="1"/>
          </p:cNvSpPr>
          <p:nvPr>
            <p:ph type="title"/>
          </p:nvPr>
        </p:nvSpPr>
        <p:spPr/>
        <p:txBody>
          <a:bodyPr rtlCol="0"/>
          <a:lstStyle/>
          <a:p>
            <a:r>
              <a:rPr kumimoji="0" lang="he-IL"/>
              <a:t>לחץ כדי לערוך סגנון כותרת של תבנית בסיס</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השוואה">
    <p:bg>
      <p:bgRef idx="1003">
        <a:schemeClr val="bg1"/>
      </p:bgRef>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8229600" cy="1143000"/>
          </a:xfrm>
        </p:spPr>
        <p:txBody>
          <a:bodyPr anchor="ctr"/>
          <a:lstStyle>
            <a:lvl1pPr>
              <a:defRPr/>
            </a:lvl1pPr>
            <a:extLst/>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he-IL"/>
              <a:t>לחץ כדי לערוך סגנונות טקסט של תבנית בסיס</a:t>
            </a:r>
          </a:p>
        </p:txBody>
      </p:sp>
      <p:sp>
        <p:nvSpPr>
          <p:cNvPr id="4" name="מציין מיקום טקסט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he-IL"/>
              <a:t>לחץ כדי לערוך סגנונות טקסט של תבנית בסיס</a:t>
            </a:r>
          </a:p>
        </p:txBody>
      </p:sp>
      <p:sp>
        <p:nvSpPr>
          <p:cNvPr id="5" name="מציין מיקום תוכן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6" name="מציין מיקום תוכן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7" name="מציין מיקום של תאריך 6"/>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E2242091-1CA9-4DCC-91D8-F45CF328C9AA}" type="slidenum">
              <a:rPr lang="he-IL" smtClean="0"/>
              <a:t>‹#›</a:t>
            </a:fld>
            <a:endParaRPr lang="he-IL"/>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bg>
      <p:bgRef idx="1002">
        <a:schemeClr val="bg1"/>
      </p:bgRef>
    </p:bg>
    <p:spTree>
      <p:nvGrpSpPr>
        <p:cNvPr id="1" name=""/>
        <p:cNvGrpSpPr/>
        <p:nvPr/>
      </p:nvGrpSpPr>
      <p:grpSpPr>
        <a:xfrm>
          <a:off x="0" y="0"/>
          <a:ext cx="0" cy="0"/>
          <a:chOff x="0" y="0"/>
          <a:chExt cx="0" cy="0"/>
        </a:xfrm>
      </p:grpSpPr>
      <p:sp>
        <p:nvSpPr>
          <p:cNvPr id="3" name="מציין מיקום של תאריך 2"/>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E2242091-1CA9-4DCC-91D8-F45CF328C9AA}" type="slidenum">
              <a:rPr lang="he-IL" smtClean="0"/>
              <a:t>‹#›</a:t>
            </a:fld>
            <a:endParaRPr lang="he-IL"/>
          </a:p>
        </p:txBody>
      </p:sp>
      <p:sp>
        <p:nvSpPr>
          <p:cNvPr id="6" name="כותרת 5"/>
          <p:cNvSpPr>
            <a:spLocks noGrp="1"/>
          </p:cNvSpPr>
          <p:nvPr>
            <p:ph type="title"/>
          </p:nvPr>
        </p:nvSpPr>
        <p:spPr/>
        <p:txBody>
          <a:bodyPr rtlCol="0"/>
          <a:lstStyle/>
          <a:p>
            <a:r>
              <a:rPr kumimoji="0" lang="he-IL"/>
              <a:t>לחץ כדי לערוך סגנון כותרת של תבנית בסיס</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E2242091-1CA9-4DCC-91D8-F45CF328C9AA}" type="slidenum">
              <a:rPr lang="he-IL" smtClean="0"/>
              <a:t>‹#›</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bg>
      <p:bgRef idx="1003">
        <a:schemeClr val="bg1"/>
      </p:bgRef>
    </p:bg>
    <p:spTree>
      <p:nvGrpSpPr>
        <p:cNvPr id="1" name=""/>
        <p:cNvGrpSpPr/>
        <p:nvPr/>
      </p:nvGrpSpPr>
      <p:grpSpPr>
        <a:xfrm>
          <a:off x="0" y="0"/>
          <a:ext cx="0" cy="0"/>
          <a:chOff x="0" y="0"/>
          <a:chExt cx="0" cy="0"/>
        </a:xfrm>
      </p:grpSpPr>
      <p:sp>
        <p:nvSpPr>
          <p:cNvPr id="2" name="כותרת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he-IL"/>
              <a:t>לחץ כדי לערוך סגנונות טקסט של תבנית בסיס</a:t>
            </a:r>
          </a:p>
        </p:txBody>
      </p:sp>
      <p:sp>
        <p:nvSpPr>
          <p:cNvPr id="4" name="מציין מיקום תוכן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5" name="מציין מיקום של תאריך 4"/>
          <p:cNvSpPr>
            <a:spLocks noGrp="1"/>
          </p:cNvSpPr>
          <p:nvPr>
            <p:ph type="dt" sz="half" idx="10"/>
          </p:nvPr>
        </p:nvSpPr>
        <p:spPr>
          <a:xfrm>
            <a:off x="6727032" y="6407944"/>
            <a:ext cx="1920240" cy="365760"/>
          </a:xfrm>
        </p:spPr>
        <p:txBody>
          <a:bodyPr/>
          <a:lstStyle/>
          <a:p>
            <a:fld id="{2F40397C-6A42-4B2A-B64F-E39D04BD3B1B}" type="datetimeFigureOut">
              <a:rPr lang="he-IL" smtClean="0"/>
              <a:t>ל'/תשרי/תשפ"ו</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E2242091-1CA9-4DCC-91D8-F45CF328C9AA}" type="slidenum">
              <a:rPr lang="he-IL" smtClean="0"/>
              <a:t>‹#›</a:t>
            </a:fld>
            <a:endParaRPr lang="he-IL"/>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bg>
      <p:bgRef idx="1002">
        <a:schemeClr val="bg1"/>
      </p:bgRef>
    </p:bg>
    <p:spTree>
      <p:nvGrpSpPr>
        <p:cNvPr id="1" name=""/>
        <p:cNvGrpSpPr/>
        <p:nvPr/>
      </p:nvGrpSpPr>
      <p:grpSpPr>
        <a:xfrm>
          <a:off x="0" y="0"/>
          <a:ext cx="0" cy="0"/>
          <a:chOff x="0" y="0"/>
          <a:chExt cx="0" cy="0"/>
        </a:xfrm>
      </p:grpSpPr>
      <p:sp>
        <p:nvSpPr>
          <p:cNvPr id="4" name="מציין מיקום טקסט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he-IL"/>
              <a:t>לחץ כדי לערוך סגנונות טקסט של תבנית בסיס</a:t>
            </a:r>
          </a:p>
        </p:txBody>
      </p:sp>
      <p:sp>
        <p:nvSpPr>
          <p:cNvPr id="3" name="מציין מיקום של תמונה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he-IL"/>
              <a:t>לחץ על הסמל כדי להוסיף תמונה</a:t>
            </a:r>
            <a:endParaRPr kumimoji="0" lang="en-US" dirty="0"/>
          </a:p>
        </p:txBody>
      </p:sp>
      <p:sp>
        <p:nvSpPr>
          <p:cNvPr id="5" name="מציין מיקום של תאריך 4"/>
          <p:cNvSpPr>
            <a:spLocks noGrp="1"/>
          </p:cNvSpPr>
          <p:nvPr>
            <p:ph type="dt" sz="half" idx="10"/>
          </p:nvPr>
        </p:nvSpPr>
        <p:spPr/>
        <p:txBody>
          <a:bodyPr/>
          <a:lstStyle>
            <a:lvl1pPr>
              <a:defRPr>
                <a:solidFill>
                  <a:schemeClr val="tx1"/>
                </a:solidFill>
              </a:defRPr>
            </a:lvl1pPr>
            <a:extLst/>
          </a:lstStyle>
          <a:p>
            <a:fld id="{2F40397C-6A42-4B2A-B64F-E39D04BD3B1B}" type="datetimeFigureOut">
              <a:rPr lang="he-IL" smtClean="0"/>
              <a:t>ל'/תשרי/תשפ"ו</a:t>
            </a:fld>
            <a:endParaRPr lang="he-IL"/>
          </a:p>
        </p:txBody>
      </p:sp>
      <p:sp>
        <p:nvSpPr>
          <p:cNvPr id="6" name="מציין מיקום של כותרת תחתונה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he-IL"/>
          </a:p>
        </p:txBody>
      </p:sp>
      <p:sp>
        <p:nvSpPr>
          <p:cNvPr id="7" name="מציין מיקום של מספר שקופית 6"/>
          <p:cNvSpPr>
            <a:spLocks noGrp="1"/>
          </p:cNvSpPr>
          <p:nvPr>
            <p:ph type="sldNum" sz="quarter" idx="12"/>
          </p:nvPr>
        </p:nvSpPr>
        <p:spPr/>
        <p:txBody>
          <a:bodyPr/>
          <a:lstStyle>
            <a:lvl1pPr>
              <a:defRPr>
                <a:solidFill>
                  <a:schemeClr val="tx1"/>
                </a:solidFill>
              </a:defRPr>
            </a:lvl1pPr>
            <a:extLst/>
          </a:lstStyle>
          <a:p>
            <a:fld id="{E2242091-1CA9-4DCC-91D8-F45CF328C9AA}" type="slidenum">
              <a:rPr lang="he-IL" smtClean="0"/>
              <a:t>‹#›</a:t>
            </a:fld>
            <a:endParaRPr lang="he-IL"/>
          </a:p>
        </p:txBody>
      </p:sp>
      <p:sp>
        <p:nvSpPr>
          <p:cNvPr id="2" name="כותרת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he-IL"/>
              <a:t>לחץ כדי לערוך סגנון כותרת של תבנית בסיס</a:t>
            </a:r>
            <a:endParaRPr kumimoji="0" lang="en-US"/>
          </a:p>
        </p:txBody>
      </p:sp>
      <p:sp>
        <p:nvSpPr>
          <p:cNvPr id="8" name="צורה חופשית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צורה חופשית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משולש ישר-זווית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מחבר ישר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סוגר זוויתי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סוגר זוויתי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kumimoji="0" lang="he-IL"/>
              <a:t>לחץ כדי לערוך סגנון כותרת של תבנית בסיס</a:t>
            </a:r>
            <a:endParaRPr kumimoji="0" lang="en-US"/>
          </a:p>
        </p:txBody>
      </p:sp>
      <p:sp>
        <p:nvSpPr>
          <p:cNvPr id="3" name="מציין מיקום של טקסט אנכי 2"/>
          <p:cNvSpPr>
            <a:spLocks noGrp="1"/>
          </p:cNvSpPr>
          <p:nvPr>
            <p:ph type="body" orient="vert" idx="1"/>
          </p:nvPr>
        </p:nvSpPr>
        <p:spPr>
          <a:xfrm>
            <a:off x="457200" y="1481329"/>
            <a:ext cx="8229600" cy="4386071"/>
          </a:xfrm>
        </p:spPr>
        <p:txBody>
          <a:bodyPr vert="eaVer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4" name="מציין מיקום של תאריך 3"/>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2242091-1CA9-4DCC-91D8-F45CF328C9AA}" type="slidenum">
              <a:rPr lang="he-IL" smtClean="0"/>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844013" y="274640"/>
            <a:ext cx="1777470" cy="5592761"/>
          </a:xfrm>
        </p:spPr>
        <p:txBody>
          <a:bodyPr vert="eaVert"/>
          <a:lstStyle/>
          <a:p>
            <a:r>
              <a:rPr kumimoji="0" lang="he-IL"/>
              <a:t>לחץ כדי לערוך סגנון כותרת של תבנית בסיס</a:t>
            </a:r>
            <a:endParaRPr kumimoji="0" lang="en-US"/>
          </a:p>
        </p:txBody>
      </p:sp>
      <p:sp>
        <p:nvSpPr>
          <p:cNvPr id="3" name="מציין מיקום של טקסט אנכי 2"/>
          <p:cNvSpPr>
            <a:spLocks noGrp="1"/>
          </p:cNvSpPr>
          <p:nvPr>
            <p:ph type="body" orient="vert" idx="1"/>
          </p:nvPr>
        </p:nvSpPr>
        <p:spPr>
          <a:xfrm>
            <a:off x="457200" y="274641"/>
            <a:ext cx="6324600" cy="5592760"/>
          </a:xfrm>
        </p:spPr>
        <p:txBody>
          <a:bodyPr vert="eaVer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4" name="מציין מיקום של תאריך 3"/>
          <p:cNvSpPr>
            <a:spLocks noGrp="1"/>
          </p:cNvSpPr>
          <p:nvPr>
            <p:ph type="dt" sz="half" idx="10"/>
          </p:nvPr>
        </p:nvSpPr>
        <p:spPr/>
        <p:txBody>
          <a:bodyPr/>
          <a:lstStyle/>
          <a:p>
            <a:fld id="{2F40397C-6A42-4B2A-B64F-E39D04BD3B1B}" type="datetimeFigureOut">
              <a:rPr lang="he-IL" smtClean="0"/>
              <a:t>ל'/תשרי/תשפ"ו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E2242091-1CA9-4DCC-91D8-F45CF328C9AA}" type="slidenum">
              <a:rPr lang="he-IL" smtClean="0"/>
              <a:t>‹#›</a:t>
            </a:fld>
            <a:endParaRPr 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צורה חופשית 12"/>
          <p:cNvSpPr>
            <a:spLocks/>
          </p:cNvSpPr>
          <p:nvPr/>
        </p:nvSpPr>
        <p:spPr bwMode="auto">
          <a:xfrm>
            <a:off x="499272" y="6070850"/>
            <a:ext cx="8753248" cy="795162"/>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צורה חופשית 11"/>
          <p:cNvSpPr>
            <a:spLocks/>
          </p:cNvSpPr>
          <p:nvPr/>
        </p:nvSpPr>
        <p:spPr bwMode="auto">
          <a:xfrm>
            <a:off x="485717" y="6066617"/>
            <a:ext cx="6538330" cy="805844"/>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משולש ישר-זווית 13"/>
          <p:cNvSpPr>
            <a:spLocks/>
          </p:cNvSpPr>
          <p:nvPr/>
        </p:nvSpPr>
        <p:spPr bwMode="auto">
          <a:xfrm>
            <a:off x="-6042" y="5939011"/>
            <a:ext cx="6027842" cy="933110"/>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מחבר ישר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מציין מיקום של כותרת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he-IL" dirty="0"/>
              <a:t>לחץ כדי לערוך סגנון כותרת של תבנית בסיס</a:t>
            </a:r>
            <a:endParaRPr kumimoji="0" lang="en-US" dirty="0"/>
          </a:p>
        </p:txBody>
      </p:sp>
      <p:sp>
        <p:nvSpPr>
          <p:cNvPr id="30" name="מציין מיקום טקסט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he-IL" dirty="0"/>
              <a:t>לחץ כדי לערוך סגנונות טקסט של תבנית בסיס</a:t>
            </a:r>
          </a:p>
          <a:p>
            <a:pPr lvl="1" eaLnBrk="1" latinLnBrk="0" hangingPunct="1"/>
            <a:r>
              <a:rPr kumimoji="0" lang="he-IL" dirty="0"/>
              <a:t>רמה שנייה</a:t>
            </a:r>
          </a:p>
          <a:p>
            <a:pPr lvl="2" eaLnBrk="1" latinLnBrk="0" hangingPunct="1"/>
            <a:r>
              <a:rPr kumimoji="0" lang="he-IL" dirty="0"/>
              <a:t>רמה שלישית</a:t>
            </a:r>
          </a:p>
          <a:p>
            <a:pPr lvl="3" eaLnBrk="1" latinLnBrk="0" hangingPunct="1"/>
            <a:r>
              <a:rPr kumimoji="0" lang="he-IL" dirty="0"/>
              <a:t>רמה רביעית</a:t>
            </a:r>
          </a:p>
          <a:p>
            <a:pPr lvl="4" eaLnBrk="1" latinLnBrk="0" hangingPunct="1"/>
            <a:r>
              <a:rPr kumimoji="0" lang="he-IL" dirty="0"/>
              <a:t>רמה חמישית</a:t>
            </a:r>
            <a:endParaRPr kumimoji="0" lang="en-US" dirty="0"/>
          </a:p>
        </p:txBody>
      </p:sp>
      <p:sp>
        <p:nvSpPr>
          <p:cNvPr id="10" name="מציין מיקום של תאריך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F40397C-6A42-4B2A-B64F-E39D04BD3B1B}" type="datetimeFigureOut">
              <a:rPr lang="he-IL" smtClean="0"/>
              <a:t>ל'/תשרי/תשפ"ו</a:t>
            </a:fld>
            <a:endParaRPr lang="he-IL"/>
          </a:p>
        </p:txBody>
      </p:sp>
      <p:sp>
        <p:nvSpPr>
          <p:cNvPr id="22" name="מציין מיקום של כותרת תחתונה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he-IL" dirty="0"/>
          </a:p>
        </p:txBody>
      </p:sp>
      <p:sp>
        <p:nvSpPr>
          <p:cNvPr id="18" name="מציין מיקום של מספר שקופית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E2242091-1CA9-4DCC-91D8-F45CF328C9AA}" type="slidenum">
              <a:rPr lang="he-IL" smtClean="0"/>
              <a:t>‹#›</a:t>
            </a:fld>
            <a:endParaRPr lang="he-IL"/>
          </a:p>
        </p:txBody>
      </p:sp>
      <p:sp>
        <p:nvSpPr>
          <p:cNvPr id="11" name="מציין מיקום של כותרת תחתונה 18"/>
          <p:cNvSpPr txBox="1">
            <a:spLocks/>
          </p:cNvSpPr>
          <p:nvPr/>
        </p:nvSpPr>
        <p:spPr>
          <a:xfrm>
            <a:off x="60967" y="6529536"/>
            <a:ext cx="2950841" cy="365125"/>
          </a:xfrm>
          <a:prstGeom prst="rect">
            <a:avLst/>
          </a:prstGeom>
        </p:spPr>
        <p:txBody>
          <a:bodyPr/>
          <a:lstStyle>
            <a:defPPr>
              <a:defRPr lang="he-IL"/>
            </a:defPPr>
            <a:lvl1pPr marL="0" algn="r" defTabSz="914400" rtl="1" eaLnBrk="1" latinLnBrk="0" hangingPunct="1">
              <a:defRPr sz="1200" b="1"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algn="l"/>
            <a:r>
              <a:rPr lang="en-US" dirty="0"/>
              <a:t>Greedy Algorithms -</a:t>
            </a:r>
            <a:fld id="{7E2DB06B-F4F3-4A05-973E-1E03E6EE058E}" type="slidenum">
              <a:rPr lang="en-US" smtClean="0"/>
              <a:pPr algn="l"/>
              <a:t>‹#›</a:t>
            </a:fld>
            <a:r>
              <a:rPr lang="en-US" dirty="0"/>
              <a:t>-</a:t>
            </a:r>
            <a:endParaRPr lang="he-IL"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r" rtl="1" eaLnBrk="1" latinLnBrk="0" hangingPunct="1">
        <a:spcBef>
          <a:spcPct val="0"/>
        </a:spcBef>
        <a:buNone/>
        <a:defRPr kumimoji="0" sz="4100" b="1" kern="1200">
          <a:solidFill>
            <a:schemeClr val="accent1">
              <a:lumMod val="75000"/>
            </a:schemeClr>
          </a:solidFill>
          <a:effectLst>
            <a:outerShdw blurRad="31750" dist="25400" dir="5400000" algn="tl" rotWithShape="0">
              <a:srgbClr val="000000">
                <a:alpha val="25000"/>
              </a:srgbClr>
            </a:outerShdw>
          </a:effectLst>
          <a:latin typeface="Arial Unicode MS" panose="020B0604020202020204" pitchFamily="34" charset="-128"/>
          <a:ea typeface="Arial Unicode MS" panose="020B0604020202020204" pitchFamily="34" charset="-128"/>
          <a:cs typeface="Arial Unicode MS" panose="020B0604020202020204" pitchFamily="34" charset="-128"/>
        </a:defRPr>
      </a:lvl1pPr>
      <a:extLst/>
    </p:titleStyle>
    <p:bodyStyle>
      <a:lvl1pPr marL="365760" indent="-256032" algn="r" rtl="1" eaLnBrk="1" latinLnBrk="0" hangingPunct="1">
        <a:spcBef>
          <a:spcPts val="400"/>
        </a:spcBef>
        <a:spcAft>
          <a:spcPts val="0"/>
        </a:spcAft>
        <a:buClr>
          <a:schemeClr val="accent1"/>
        </a:buClr>
        <a:buSzPct val="68000"/>
        <a:buFont typeface="Wingdings 3"/>
        <a:buChar char=""/>
        <a:defRPr kumimoji="0" sz="2700" b="1" kern="120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defRPr>
      </a:lvl1pPr>
      <a:lvl2pPr marL="621792" indent="-228600" algn="r" rtl="1" eaLnBrk="1" latinLnBrk="0" hangingPunct="1">
        <a:spcBef>
          <a:spcPts val="324"/>
        </a:spcBef>
        <a:buClr>
          <a:schemeClr val="accent1"/>
        </a:buClr>
        <a:buFont typeface="Verdana"/>
        <a:buChar char="◦"/>
        <a:defRPr kumimoji="0" sz="2300" b="1" kern="120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defRPr>
      </a:lvl2pPr>
      <a:lvl3pPr marL="859536" indent="-228600" algn="r" rtl="1" eaLnBrk="1" latinLnBrk="0" hangingPunct="1">
        <a:spcBef>
          <a:spcPts val="350"/>
        </a:spcBef>
        <a:buClr>
          <a:schemeClr val="accent2"/>
        </a:buClr>
        <a:buSzPct val="100000"/>
        <a:buFont typeface="Wingdings 2"/>
        <a:buChar char=""/>
        <a:defRPr kumimoji="0" sz="2100" b="1" kern="120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defRPr>
      </a:lvl3pPr>
      <a:lvl4pPr marL="1143000" indent="-228600" algn="r" rtl="1" eaLnBrk="1" latinLnBrk="0" hangingPunct="1">
        <a:spcBef>
          <a:spcPts val="350"/>
        </a:spcBef>
        <a:buClr>
          <a:schemeClr val="accent2"/>
        </a:buClr>
        <a:buFont typeface="Wingdings 2"/>
        <a:buChar char=""/>
        <a:defRPr kumimoji="0" sz="1900" b="1" kern="120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defRPr>
      </a:lvl4pPr>
      <a:lvl5pPr marL="1371600" indent="-228600" algn="r" rtl="1" eaLnBrk="1" latinLnBrk="0" hangingPunct="1">
        <a:spcBef>
          <a:spcPts val="350"/>
        </a:spcBef>
        <a:buClr>
          <a:schemeClr val="accent2"/>
        </a:buClr>
        <a:buFont typeface="Wingdings 2"/>
        <a:buChar char=""/>
        <a:defRPr kumimoji="0" sz="1800" b="1" kern="120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defRPr>
      </a:lvl5pPr>
      <a:lvl6pPr marL="1600200" indent="-228600" algn="r" rtl="1"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r" rtl="1"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r" rtl="1"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r" rtl="1"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nchor="ctr">
            <a:normAutofit/>
          </a:bodyPr>
          <a:lstStyle/>
          <a:p>
            <a:pPr algn="ctr"/>
            <a:r>
              <a:rPr lang="he-IL" sz="5400" dirty="0">
                <a:latin typeface="Aharoni" panose="02010803020104030203" pitchFamily="2" charset="-79"/>
                <a:cs typeface="Aharoni" panose="02010803020104030203" pitchFamily="2" charset="-79"/>
              </a:rPr>
              <a:t>אלגוריתם חמדני</a:t>
            </a:r>
          </a:p>
        </p:txBody>
      </p:sp>
      <p:sp>
        <p:nvSpPr>
          <p:cNvPr id="6" name="כותרת משנה 5"/>
          <p:cNvSpPr>
            <a:spLocks noGrp="1"/>
          </p:cNvSpPr>
          <p:nvPr>
            <p:ph type="subTitle" idx="1"/>
          </p:nvPr>
        </p:nvSpPr>
        <p:spPr/>
        <p:txBody>
          <a:bodyPr>
            <a:normAutofit/>
          </a:bodyPr>
          <a:lstStyle/>
          <a:p>
            <a:pPr algn="ctr"/>
            <a:r>
              <a:rPr lang="en-US" sz="4800" b="1" dirty="0">
                <a:solidFill>
                  <a:schemeClr val="accent1">
                    <a:lumMod val="75000"/>
                  </a:schemeClr>
                </a:solidFill>
                <a:effectLst>
                  <a:outerShdw blurRad="31750" dist="25400" dir="5400000" algn="tl" rotWithShape="0">
                    <a:srgbClr val="000000">
                      <a:alpha val="25000"/>
                    </a:srgbClr>
                  </a:outerShdw>
                </a:effectLst>
                <a:latin typeface="Aharoni" panose="02010803020104030203" pitchFamily="2" charset="-79"/>
                <a:cs typeface="Aharoni" panose="02010803020104030203" pitchFamily="2" charset="-79"/>
              </a:rPr>
              <a:t>Greedy Algorithms</a:t>
            </a:r>
            <a:endParaRPr lang="he-IL" sz="4800" b="1" dirty="0">
              <a:solidFill>
                <a:schemeClr val="accent1">
                  <a:lumMod val="75000"/>
                </a:schemeClr>
              </a:solidFill>
              <a:effectLst>
                <a:outerShdw blurRad="31750" dist="25400" dir="5400000" algn="tl" rotWithShape="0">
                  <a:srgbClr val="000000">
                    <a:alpha val="25000"/>
                  </a:srgb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50179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נתונה הבעיה הבאה:</a:t>
            </a:r>
          </a:p>
          <a:p>
            <a:r>
              <a:rPr lang="he-IL" dirty="0"/>
              <a:t>לרשותך נתונות הספרות 0-3.</a:t>
            </a:r>
            <a:br>
              <a:rPr lang="en-US" dirty="0"/>
            </a:br>
            <a:r>
              <a:rPr lang="he-IL" dirty="0"/>
              <a:t>מהו המספר בן 4 ספרות הגדול ביותר שתוכלי להרכיב מהן בלי לחזור על ספרה פעמיים?</a:t>
            </a:r>
          </a:p>
          <a:p>
            <a:endParaRPr lang="he-IL" dirty="0"/>
          </a:p>
        </p:txBody>
      </p:sp>
      <p:sp>
        <p:nvSpPr>
          <p:cNvPr id="3" name="כותרת 2"/>
          <p:cNvSpPr>
            <a:spLocks noGrp="1"/>
          </p:cNvSpPr>
          <p:nvPr>
            <p:ph type="title"/>
          </p:nvPr>
        </p:nvSpPr>
        <p:spPr/>
        <p:txBody>
          <a:bodyPr/>
          <a:lstStyle/>
          <a:p>
            <a:r>
              <a:rPr lang="he-IL" dirty="0"/>
              <a:t>הקדמה</a:t>
            </a:r>
          </a:p>
        </p:txBody>
      </p:sp>
    </p:spTree>
    <p:extLst>
      <p:ext uri="{BB962C8B-B14F-4D97-AF65-F5344CB8AC3E}">
        <p14:creationId xmlns:p14="http://schemas.microsoft.com/office/powerpoint/2010/main" val="3313763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endParaRPr lang="he-IL"/>
          </a:p>
        </p:txBody>
      </p:sp>
      <p:sp>
        <p:nvSpPr>
          <p:cNvPr id="4" name="כותרת משנה 2"/>
          <p:cNvSpPr>
            <a:spLocks noGrp="1"/>
          </p:cNvSpPr>
          <p:nvPr>
            <p:ph idx="1"/>
          </p:nvPr>
        </p:nvSpPr>
        <p:spPr>
          <a:xfrm>
            <a:off x="457200" y="1196752"/>
            <a:ext cx="8229600" cy="4810539"/>
          </a:xfrm>
        </p:spPr>
        <p:txBody>
          <a:bodyPr>
            <a:noAutofit/>
          </a:bodyPr>
          <a:lstStyle/>
          <a:p>
            <a:pPr>
              <a:lnSpc>
                <a:spcPct val="110000"/>
              </a:lnSpc>
            </a:pPr>
            <a:r>
              <a:rPr lang="he-IL" sz="2200" b="1" dirty="0"/>
              <a:t>אלגוריתם חמדן –</a:t>
            </a:r>
            <a:br>
              <a:rPr lang="en-US" sz="2200" b="1" dirty="0"/>
            </a:br>
            <a:r>
              <a:rPr lang="he-IL" sz="2200" dirty="0"/>
              <a:t>הוא</a:t>
            </a:r>
            <a:r>
              <a:rPr lang="he-IL" sz="2200" b="1" dirty="0"/>
              <a:t> </a:t>
            </a:r>
            <a:r>
              <a:rPr lang="he-IL" sz="2200" dirty="0"/>
              <a:t>רעיון אלגוריתמי המציע פתרון לבעיות בהן יש למצוא את הפתרון האופטימלי מתוך </a:t>
            </a:r>
            <a:r>
              <a:rPr lang="en-US" sz="2200" dirty="0"/>
              <a:t>n!</a:t>
            </a:r>
            <a:r>
              <a:rPr lang="he-IL" sz="2200" dirty="0"/>
              <a:t> פתרונות אפשריים, מבלי לבחון את כל האפשרויות,</a:t>
            </a:r>
            <a:br>
              <a:rPr lang="en-US" sz="2200" dirty="0"/>
            </a:br>
            <a:r>
              <a:rPr lang="he-IL" sz="2200" dirty="0"/>
              <a:t>אלא על ידי הנחות המובילות אל הפתרון האופטימלי באופן מהיר יותר.</a:t>
            </a:r>
            <a:br>
              <a:rPr lang="en-US" sz="2200" dirty="0"/>
            </a:br>
            <a:br>
              <a:rPr lang="en-US" sz="2200" dirty="0"/>
            </a:br>
            <a:r>
              <a:rPr lang="he-IL" sz="2200" dirty="0"/>
              <a:t>פתרון בגישה חמדנית מורכב מ:</a:t>
            </a:r>
            <a:endParaRPr lang="en-US" sz="2200" dirty="0"/>
          </a:p>
          <a:p>
            <a:pPr lvl="0">
              <a:lnSpc>
                <a:spcPct val="110000"/>
              </a:lnSpc>
            </a:pPr>
            <a:r>
              <a:rPr lang="he-IL" sz="2200" dirty="0"/>
              <a:t>צעד בטוח שוודאי יוביל לפתרון האופטימלי. (יש להוכיח שאכן הוא כזה..) </a:t>
            </a:r>
            <a:endParaRPr lang="en-US" sz="2200" dirty="0"/>
          </a:p>
          <a:p>
            <a:pPr lvl="0">
              <a:lnSpc>
                <a:spcPct val="110000"/>
              </a:lnSpc>
            </a:pPr>
            <a:r>
              <a:rPr lang="he-IL" sz="2200" dirty="0"/>
              <a:t>בעיה זהה לבעיה המקורית אבל קטנה יותר. (שעליה שוב יופעל הצעד החמדני.)</a:t>
            </a:r>
            <a:endParaRPr lang="en-US" sz="2200" dirty="0"/>
          </a:p>
        </p:txBody>
      </p:sp>
    </p:spTree>
    <p:extLst>
      <p:ext uri="{BB962C8B-B14F-4D97-AF65-F5344CB8AC3E}">
        <p14:creationId xmlns:p14="http://schemas.microsoft.com/office/powerpoint/2010/main" val="1105338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הצעד האופטימלי:</a:t>
            </a:r>
          </a:p>
          <a:p>
            <a:r>
              <a:rPr lang="he-IL" dirty="0"/>
              <a:t>נתחיל את הרכבת המספר משמאל לימין, נבחר עבור המקום הנוכחי את הספרה הגדולה ביותר שברשותנו,</a:t>
            </a:r>
          </a:p>
          <a:p>
            <a:r>
              <a:rPr lang="he-IL" dirty="0"/>
              <a:t>כעת נפנה להרכיב את </a:t>
            </a:r>
            <a:r>
              <a:rPr lang="he-IL" dirty="0" err="1"/>
              <a:t>צידו</a:t>
            </a:r>
            <a:r>
              <a:rPr lang="he-IL" dirty="0"/>
              <a:t> הימני של המספר.</a:t>
            </a:r>
          </a:p>
          <a:p>
            <a:endParaRPr lang="he-IL" dirty="0"/>
          </a:p>
          <a:p>
            <a:endParaRPr lang="he-IL" dirty="0"/>
          </a:p>
          <a:p>
            <a:r>
              <a:rPr lang="he-IL" dirty="0"/>
              <a:t>נכתוב פתרון רקורסיבי בגישה חמדנית, לבעיית הרכבת המספר הגדול ביותר.</a:t>
            </a:r>
          </a:p>
        </p:txBody>
      </p:sp>
      <p:sp>
        <p:nvSpPr>
          <p:cNvPr id="3" name="כותרת 2"/>
          <p:cNvSpPr>
            <a:spLocks noGrp="1"/>
          </p:cNvSpPr>
          <p:nvPr>
            <p:ph type="title"/>
          </p:nvPr>
        </p:nvSpPr>
        <p:spPr/>
        <p:txBody>
          <a:bodyPr/>
          <a:lstStyle/>
          <a:p>
            <a:r>
              <a:rPr lang="he-IL" dirty="0"/>
              <a:t>הדגמה ראשונה</a:t>
            </a:r>
          </a:p>
        </p:txBody>
      </p:sp>
    </p:spTree>
    <p:extLst>
      <p:ext uri="{BB962C8B-B14F-4D97-AF65-F5344CB8AC3E}">
        <p14:creationId xmlns:p14="http://schemas.microsoft.com/office/powerpoint/2010/main" val="243352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pPr marL="109728" indent="0" algn="l" rtl="0">
              <a:buNone/>
            </a:pPr>
            <a:r>
              <a:rPr lang="en-US" b="0" dirty="0"/>
              <a:t>public  static  double max_n_digits  (</a:t>
            </a:r>
            <a:r>
              <a:rPr lang="en-US" b="0" dirty="0" err="1"/>
              <a:t>int</a:t>
            </a:r>
            <a:r>
              <a:rPr lang="en-US" b="0" dirty="0"/>
              <a:t> max , </a:t>
            </a:r>
            <a:r>
              <a:rPr lang="en-US" b="0" dirty="0" err="1"/>
              <a:t>int</a:t>
            </a:r>
            <a:r>
              <a:rPr lang="en-US" b="0" dirty="0"/>
              <a:t> n)</a:t>
            </a:r>
          </a:p>
          <a:p>
            <a:pPr marL="109728" indent="0" algn="l" rtl="0">
              <a:buNone/>
            </a:pPr>
            <a:r>
              <a:rPr lang="en-US" b="0" dirty="0"/>
              <a:t>{</a:t>
            </a:r>
          </a:p>
          <a:p>
            <a:pPr marL="109728" indent="0" algn="l" rtl="0">
              <a:buNone/>
            </a:pPr>
            <a:r>
              <a:rPr lang="en-US" b="0" dirty="0"/>
              <a:t>            if (n == 0)</a:t>
            </a:r>
          </a:p>
          <a:p>
            <a:pPr marL="109728" indent="0" algn="l" rtl="0">
              <a:buNone/>
            </a:pPr>
            <a:r>
              <a:rPr lang="en-US" b="0" dirty="0"/>
              <a:t>                  return 0;</a:t>
            </a:r>
          </a:p>
          <a:p>
            <a:pPr marL="109728" indent="0" algn="l" rtl="0">
              <a:buNone/>
            </a:pPr>
            <a:r>
              <a:rPr lang="en-US" b="0" dirty="0"/>
              <a:t>            return max * Math.Pow(10, n - 1) +                  </a:t>
            </a:r>
            <a:r>
              <a:rPr lang="en-US" b="0" dirty="0">
                <a:solidFill>
                  <a:schemeClr val="bg1"/>
                </a:solidFill>
              </a:rPr>
              <a:t>/////////////////////////////////////</a:t>
            </a:r>
            <a:r>
              <a:rPr lang="en-US" b="0" dirty="0"/>
              <a:t>max_n_digits(max - 1, n - 1);</a:t>
            </a:r>
          </a:p>
          <a:p>
            <a:pPr marL="109728" indent="0" algn="l" rtl="0">
              <a:buNone/>
            </a:pPr>
            <a:r>
              <a:rPr lang="en-US" b="0" dirty="0"/>
              <a:t> </a:t>
            </a:r>
          </a:p>
          <a:p>
            <a:pPr marL="109728" indent="0" algn="l" rtl="0">
              <a:buNone/>
            </a:pPr>
            <a:r>
              <a:rPr lang="en-US" b="0" dirty="0"/>
              <a:t>}</a:t>
            </a:r>
          </a:p>
        </p:txBody>
      </p:sp>
      <p:sp>
        <p:nvSpPr>
          <p:cNvPr id="3" name="כותרת 2"/>
          <p:cNvSpPr>
            <a:spLocks noGrp="1"/>
          </p:cNvSpPr>
          <p:nvPr>
            <p:ph type="title"/>
          </p:nvPr>
        </p:nvSpPr>
        <p:spPr/>
        <p:txBody>
          <a:bodyPr/>
          <a:lstStyle/>
          <a:p>
            <a:r>
              <a:rPr lang="he-IL" dirty="0"/>
              <a:t>הפתרון:</a:t>
            </a:r>
          </a:p>
        </p:txBody>
      </p:sp>
    </p:spTree>
    <p:extLst>
      <p:ext uri="{BB962C8B-B14F-4D97-AF65-F5344CB8AC3E}">
        <p14:creationId xmlns:p14="http://schemas.microsoft.com/office/powerpoint/2010/main" val="99631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r>
              <a:rPr lang="he-IL" sz="2400" b="0" dirty="0"/>
              <a:t>נתון מערך ובו ציון תחנות דלק על פני מסלול מנקודת המוצא ועד לנקודת היעד. הערך המופיע עבור כל תחנה, הוא המרחק שלה בקילומטרים מנקודת המוצא.</a:t>
            </a:r>
          </a:p>
          <a:p>
            <a:r>
              <a:rPr lang="he-IL" sz="2400" b="0" dirty="0"/>
              <a:t>(הערך הראשון מציין את נקודת המוצא, האחרון מציין את נקודת היעד, כל שאר הערכים - תחנות דלק</a:t>
            </a:r>
            <a:r>
              <a:rPr lang="en-US" sz="2400" b="0" dirty="0"/>
              <a:t>(</a:t>
            </a:r>
            <a:endParaRPr lang="he-IL" sz="2400" b="0" dirty="0"/>
          </a:p>
          <a:p>
            <a:r>
              <a:rPr lang="he-IL" sz="2400" b="0" dirty="0"/>
              <a:t>יש לכתוב פונקציה, המקבלת את המערך ואת מספר הקילומטרים שניתן לנסוע עם מכל דלק מלא,</a:t>
            </a:r>
            <a:br>
              <a:rPr lang="en-US" sz="2400" b="0" dirty="0"/>
            </a:br>
            <a:r>
              <a:rPr lang="he-IL" sz="2400" b="0" dirty="0"/>
              <a:t>ומחזירה את המספר המינימלי של תחנות שיש לעצור בהן לתדלוק כדי להגיע ליעד.</a:t>
            </a:r>
            <a:br>
              <a:rPr lang="en-US" sz="2400" b="0" dirty="0"/>
            </a:br>
            <a:r>
              <a:rPr lang="he-IL" sz="2400" b="0" dirty="0"/>
              <a:t>(וכמובן, מבלי להיתקע בדרך ללא דלק....)</a:t>
            </a:r>
          </a:p>
        </p:txBody>
      </p:sp>
      <p:sp>
        <p:nvSpPr>
          <p:cNvPr id="3" name="כותרת 2"/>
          <p:cNvSpPr>
            <a:spLocks noGrp="1"/>
          </p:cNvSpPr>
          <p:nvPr>
            <p:ph type="title"/>
          </p:nvPr>
        </p:nvSpPr>
        <p:spPr/>
        <p:txBody>
          <a:bodyPr/>
          <a:lstStyle/>
          <a:p>
            <a:r>
              <a:rPr lang="he-IL" dirty="0"/>
              <a:t>בעיית התדלוק</a:t>
            </a:r>
          </a:p>
        </p:txBody>
      </p:sp>
    </p:spTree>
    <p:extLst>
      <p:ext uri="{BB962C8B-B14F-4D97-AF65-F5344CB8AC3E}">
        <p14:creationId xmlns:p14="http://schemas.microsoft.com/office/powerpoint/2010/main" val="3286769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4755984"/>
          </a:xfrm>
        </p:spPr>
        <p:txBody>
          <a:bodyPr>
            <a:normAutofit fontScale="85000" lnSpcReduction="20000"/>
          </a:bodyPr>
          <a:lstStyle/>
          <a:p>
            <a:endParaRPr lang="he-IL" dirty="0"/>
          </a:p>
          <a:p>
            <a:endParaRPr lang="he-IL" dirty="0"/>
          </a:p>
          <a:p>
            <a:endParaRPr lang="he-IL" dirty="0"/>
          </a:p>
          <a:p>
            <a:endParaRPr lang="he-IL" dirty="0"/>
          </a:p>
          <a:p>
            <a:endParaRPr lang="he-IL" dirty="0"/>
          </a:p>
          <a:p>
            <a:endParaRPr lang="he-IL" dirty="0"/>
          </a:p>
          <a:p>
            <a:r>
              <a:rPr lang="he-IL" dirty="0"/>
              <a:t>נציע רעיון אופטימלי:</a:t>
            </a:r>
          </a:p>
          <a:p>
            <a:r>
              <a:rPr lang="he-IL" dirty="0"/>
              <a:t>נתקדם עם המכונית לנקודה הרחוקה ביותר שהיא יכולה להגיע אליה מבלי לתדלק (ומבלי להיתקע בלי דלק באמצע הדרך..)</a:t>
            </a:r>
          </a:p>
          <a:p>
            <a:r>
              <a:rPr lang="he-IL" dirty="0"/>
              <a:t>שם נבצע תדלוק.</a:t>
            </a:r>
          </a:p>
          <a:p>
            <a:r>
              <a:rPr lang="he-IL" dirty="0"/>
              <a:t>נחזור על הביצוע הזה עד ההגעה אל היעד.</a:t>
            </a:r>
          </a:p>
          <a:p>
            <a:r>
              <a:rPr lang="he-IL" sz="2800" dirty="0"/>
              <a:t>כעת עלינו להוכיח שזהו אכן צעד בטוח.. כיצד?</a:t>
            </a:r>
          </a:p>
          <a:p>
            <a:r>
              <a:rPr lang="he-IL" sz="2800" dirty="0"/>
              <a:t>נניח שקיים פתרון אופטימלי אחר,</a:t>
            </a:r>
            <a:br>
              <a:rPr lang="he-IL" sz="2800" dirty="0"/>
            </a:br>
            <a:r>
              <a:rPr lang="he-IL" sz="2800" dirty="0"/>
              <a:t>ונוכיח שהפתרון שלנו לא פחות טוב ממנו.</a:t>
            </a:r>
            <a:endParaRPr lang="he-IL" dirty="0"/>
          </a:p>
          <a:p>
            <a:endParaRPr lang="he-IL" dirty="0"/>
          </a:p>
        </p:txBody>
      </p:sp>
      <p:sp>
        <p:nvSpPr>
          <p:cNvPr id="3" name="כותרת 2"/>
          <p:cNvSpPr>
            <a:spLocks noGrp="1"/>
          </p:cNvSpPr>
          <p:nvPr>
            <p:ph type="title"/>
          </p:nvPr>
        </p:nvSpPr>
        <p:spPr/>
        <p:txBody>
          <a:bodyPr>
            <a:normAutofit/>
          </a:bodyPr>
          <a:lstStyle/>
          <a:p>
            <a:r>
              <a:rPr lang="he-IL" dirty="0"/>
              <a:t>לדוגמא:</a:t>
            </a:r>
          </a:p>
        </p:txBody>
      </p:sp>
      <p:pic>
        <p:nvPicPr>
          <p:cNvPr id="4" name="תמונה 3"/>
          <p:cNvPicPr>
            <a:picLocks noChangeAspect="1"/>
          </p:cNvPicPr>
          <p:nvPr/>
        </p:nvPicPr>
        <p:blipFill rotWithShape="1">
          <a:blip r:embed="rId2">
            <a:duotone>
              <a:schemeClr val="accent1">
                <a:shade val="45000"/>
                <a:satMod val="135000"/>
              </a:schemeClr>
              <a:prstClr val="white"/>
            </a:duotone>
          </a:blip>
          <a:srcRect l="25541" t="34223" r="42851" b="48627"/>
          <a:stretch/>
        </p:blipFill>
        <p:spPr>
          <a:xfrm>
            <a:off x="786036" y="1196752"/>
            <a:ext cx="7553802" cy="2088232"/>
          </a:xfrm>
          <a:prstGeom prst="rect">
            <a:avLst/>
          </a:prstGeom>
        </p:spPr>
      </p:pic>
    </p:spTree>
    <p:extLst>
      <p:ext uri="{BB962C8B-B14F-4D97-AF65-F5344CB8AC3E}">
        <p14:creationId xmlns:p14="http://schemas.microsoft.com/office/powerpoint/2010/main" val="339389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3933056"/>
            <a:ext cx="8229600" cy="2074235"/>
          </a:xfrm>
        </p:spPr>
        <p:txBody>
          <a:bodyPr/>
          <a:lstStyle/>
          <a:p>
            <a:r>
              <a:rPr lang="he-IL" dirty="0"/>
              <a:t>נסמן את נקודת העצירה הראשונה של האלגוריתם שלנו כנקודה </a:t>
            </a:r>
            <a:r>
              <a:rPr lang="en-US" dirty="0"/>
              <a:t>G</a:t>
            </a:r>
            <a:r>
              <a:rPr lang="he-IL" dirty="0"/>
              <a:t>.</a:t>
            </a:r>
          </a:p>
          <a:p>
            <a:r>
              <a:rPr lang="he-IL" dirty="0"/>
              <a:t>וכ- </a:t>
            </a:r>
            <a:r>
              <a:rPr lang="en-US" dirty="0"/>
              <a:t>G1</a:t>
            </a:r>
            <a:r>
              <a:rPr lang="he-IL" dirty="0"/>
              <a:t> נסמן את נקודת העצירה הראשונה של הפתרון האופטימלי האחר שקיים.</a:t>
            </a:r>
          </a:p>
        </p:txBody>
      </p:sp>
      <p:pic>
        <p:nvPicPr>
          <p:cNvPr id="5" name="תמונה 4"/>
          <p:cNvPicPr>
            <a:picLocks noChangeAspect="1"/>
          </p:cNvPicPr>
          <p:nvPr/>
        </p:nvPicPr>
        <p:blipFill rotWithShape="1">
          <a:blip r:embed="rId2">
            <a:duotone>
              <a:schemeClr val="accent1">
                <a:shade val="45000"/>
                <a:satMod val="135000"/>
              </a:schemeClr>
              <a:prstClr val="white"/>
            </a:duotone>
          </a:blip>
          <a:srcRect l="25541" t="34223" r="42851" b="48627"/>
          <a:stretch/>
        </p:blipFill>
        <p:spPr>
          <a:xfrm>
            <a:off x="971600" y="1052736"/>
            <a:ext cx="7553802" cy="2088232"/>
          </a:xfrm>
          <a:prstGeom prst="rect">
            <a:avLst/>
          </a:prstGeom>
        </p:spPr>
      </p:pic>
    </p:spTree>
    <p:extLst>
      <p:ext uri="{BB962C8B-B14F-4D97-AF65-F5344CB8AC3E}">
        <p14:creationId xmlns:p14="http://schemas.microsoft.com/office/powerpoint/2010/main" val="89898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אפשרות א':</a:t>
            </a:r>
          </a:p>
          <a:p>
            <a:endParaRPr lang="he-IL" dirty="0"/>
          </a:p>
          <a:p>
            <a:endParaRPr lang="he-IL" dirty="0"/>
          </a:p>
          <a:p>
            <a:endParaRPr lang="he-IL" dirty="0"/>
          </a:p>
          <a:p>
            <a:endParaRPr lang="he-IL" dirty="0"/>
          </a:p>
          <a:p>
            <a:endParaRPr lang="he-IL" dirty="0"/>
          </a:p>
          <a:p>
            <a:endParaRPr lang="he-IL" dirty="0"/>
          </a:p>
          <a:p>
            <a:r>
              <a:rPr lang="en-US" sz="2800" dirty="0"/>
              <a:t>G</a:t>
            </a:r>
            <a:r>
              <a:rPr lang="he-IL" sz="2800" dirty="0"/>
              <a:t> זהה ל </a:t>
            </a:r>
            <a:r>
              <a:rPr lang="en-US" sz="2800" dirty="0"/>
              <a:t>G1</a:t>
            </a:r>
            <a:endParaRPr lang="he-IL" sz="2800" dirty="0"/>
          </a:p>
          <a:p>
            <a:r>
              <a:rPr lang="he-IL" sz="2800" dirty="0"/>
              <a:t>אם כך, אז וודאי גם הצעד שלנו אופטימלי </a:t>
            </a:r>
            <a:r>
              <a:rPr lang="he-IL" sz="2800" dirty="0">
                <a:sym typeface="Wingdings"/>
              </a:rPr>
              <a:t></a:t>
            </a:r>
            <a:endParaRPr lang="he-IL" sz="2800" dirty="0"/>
          </a:p>
          <a:p>
            <a:endParaRPr lang="he-IL" dirty="0"/>
          </a:p>
        </p:txBody>
      </p:sp>
      <p:sp>
        <p:nvSpPr>
          <p:cNvPr id="3" name="כותרת 2"/>
          <p:cNvSpPr>
            <a:spLocks noGrp="1"/>
          </p:cNvSpPr>
          <p:nvPr>
            <p:ph type="title"/>
          </p:nvPr>
        </p:nvSpPr>
        <p:spPr/>
        <p:txBody>
          <a:bodyPr/>
          <a:lstStyle/>
          <a:p>
            <a:r>
              <a:rPr lang="he-IL" dirty="0"/>
              <a:t>האפשרויות בהן נתקל:</a:t>
            </a:r>
          </a:p>
        </p:txBody>
      </p:sp>
      <p:pic>
        <p:nvPicPr>
          <p:cNvPr id="6" name="תמונה 5"/>
          <p:cNvPicPr>
            <a:picLocks noChangeAspect="1"/>
          </p:cNvPicPr>
          <p:nvPr/>
        </p:nvPicPr>
        <p:blipFill rotWithShape="1">
          <a:blip r:embed="rId2">
            <a:duotone>
              <a:schemeClr val="accent1">
                <a:shade val="45000"/>
                <a:satMod val="135000"/>
              </a:schemeClr>
              <a:prstClr val="white"/>
            </a:duotone>
          </a:blip>
          <a:srcRect l="25541" t="34223" r="42851" b="48627"/>
          <a:stretch/>
        </p:blipFill>
        <p:spPr>
          <a:xfrm>
            <a:off x="755576" y="2031380"/>
            <a:ext cx="7553802" cy="2088232"/>
          </a:xfrm>
          <a:prstGeom prst="rect">
            <a:avLst/>
          </a:prstGeom>
        </p:spPr>
      </p:pic>
      <p:sp>
        <p:nvSpPr>
          <p:cNvPr id="7" name="אליפסה 6"/>
          <p:cNvSpPr/>
          <p:nvPr/>
        </p:nvSpPr>
        <p:spPr>
          <a:xfrm>
            <a:off x="3720604" y="32129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3313956" y="3573016"/>
            <a:ext cx="1008112" cy="369332"/>
          </a:xfrm>
          <a:prstGeom prst="rect">
            <a:avLst/>
          </a:prstGeom>
          <a:noFill/>
        </p:spPr>
        <p:txBody>
          <a:bodyPr wrap="square" rtlCol="1">
            <a:spAutoFit/>
          </a:bodyPr>
          <a:lstStyle/>
          <a:p>
            <a:r>
              <a:rPr lang="en-US" dirty="0">
                <a:latin typeface="Arial Unicode MS" panose="020B0604020202020204" pitchFamily="34" charset="-128"/>
                <a:ea typeface="Arial Unicode MS" panose="020B0604020202020204" pitchFamily="34" charset="-128"/>
                <a:cs typeface="Arial Unicode MS" panose="020B0604020202020204" pitchFamily="34" charset="-128"/>
              </a:rPr>
              <a:t>G</a:t>
            </a:r>
            <a:r>
              <a:rPr lang="en-US" sz="1200"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G1</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91209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4900000"/>
          </a:xfrm>
        </p:spPr>
        <p:txBody>
          <a:bodyPr>
            <a:normAutofit fontScale="92500" lnSpcReduction="20000"/>
          </a:bodyPr>
          <a:lstStyle/>
          <a:p>
            <a:r>
              <a:rPr lang="he-IL" dirty="0"/>
              <a:t>אפשרות ב':</a:t>
            </a:r>
          </a:p>
          <a:p>
            <a:endParaRPr lang="he-IL" dirty="0"/>
          </a:p>
          <a:p>
            <a:endParaRPr lang="he-IL" dirty="0"/>
          </a:p>
          <a:p>
            <a:endParaRPr lang="he-IL" dirty="0"/>
          </a:p>
          <a:p>
            <a:pPr marL="109728" indent="0">
              <a:buNone/>
            </a:pPr>
            <a:endParaRPr lang="en-US" dirty="0"/>
          </a:p>
          <a:p>
            <a:pPr marL="109728" indent="0">
              <a:buNone/>
            </a:pPr>
            <a:endParaRPr lang="en-US" dirty="0"/>
          </a:p>
          <a:p>
            <a:pPr marL="109728" indent="0">
              <a:buNone/>
            </a:pPr>
            <a:endParaRPr lang="en-US" dirty="0"/>
          </a:p>
          <a:p>
            <a:pPr marL="109728" indent="0">
              <a:buNone/>
            </a:pPr>
            <a:endParaRPr lang="he-IL" dirty="0"/>
          </a:p>
          <a:p>
            <a:endParaRPr lang="he-IL" dirty="0"/>
          </a:p>
          <a:p>
            <a:r>
              <a:rPr lang="he-IL" sz="2800" dirty="0"/>
              <a:t> </a:t>
            </a:r>
            <a:r>
              <a:rPr lang="en-US" sz="2800" dirty="0"/>
              <a:t>G</a:t>
            </a:r>
            <a:r>
              <a:rPr lang="he-IL" sz="2800" dirty="0"/>
              <a:t> גדול מ</a:t>
            </a:r>
            <a:r>
              <a:rPr lang="en-US" sz="2800" dirty="0"/>
              <a:t>G1 </a:t>
            </a:r>
            <a:r>
              <a:rPr lang="he-IL" sz="2800" dirty="0"/>
              <a:t>.</a:t>
            </a:r>
          </a:p>
          <a:p>
            <a:r>
              <a:rPr lang="he-IL" sz="2800" dirty="0"/>
              <a:t>במצב כזה, התדלוק בנקודה </a:t>
            </a:r>
            <a:r>
              <a:rPr lang="en-US" sz="2800" dirty="0"/>
              <a:t>G</a:t>
            </a:r>
            <a:r>
              <a:rPr lang="he-IL" sz="2800" dirty="0"/>
              <a:t> לא גורם לתדלוקים מיותרים כי המרחק בין </a:t>
            </a:r>
            <a:r>
              <a:rPr lang="en-US" sz="2800" dirty="0"/>
              <a:t>G</a:t>
            </a:r>
            <a:r>
              <a:rPr lang="he-IL" sz="2800" dirty="0"/>
              <a:t> לנקודת התדלוק הבאה רק נהיה יותר קטן ובוודאי שעדיין ניתן להגיע לשם עם המכל הקיים.</a:t>
            </a:r>
          </a:p>
          <a:p>
            <a:endParaRPr lang="he-IL" dirty="0"/>
          </a:p>
          <a:p>
            <a:endParaRPr lang="he-IL" dirty="0"/>
          </a:p>
        </p:txBody>
      </p:sp>
      <p:sp>
        <p:nvSpPr>
          <p:cNvPr id="3" name="כותרת 2"/>
          <p:cNvSpPr>
            <a:spLocks noGrp="1"/>
          </p:cNvSpPr>
          <p:nvPr>
            <p:ph type="title"/>
          </p:nvPr>
        </p:nvSpPr>
        <p:spPr/>
        <p:txBody>
          <a:bodyPr/>
          <a:lstStyle/>
          <a:p>
            <a:r>
              <a:rPr lang="he-IL" dirty="0"/>
              <a:t>האפשרויות בהן נתקל:</a:t>
            </a:r>
          </a:p>
        </p:txBody>
      </p:sp>
      <p:grpSp>
        <p:nvGrpSpPr>
          <p:cNvPr id="13" name="קבוצה 12"/>
          <p:cNvGrpSpPr/>
          <p:nvPr/>
        </p:nvGrpSpPr>
        <p:grpSpPr>
          <a:xfrm>
            <a:off x="773088" y="1897596"/>
            <a:ext cx="7553802" cy="2088232"/>
            <a:chOff x="755576" y="1772816"/>
            <a:chExt cx="7553802" cy="2088232"/>
          </a:xfrm>
        </p:grpSpPr>
        <p:grpSp>
          <p:nvGrpSpPr>
            <p:cNvPr id="5" name="קבוצה 4"/>
            <p:cNvGrpSpPr/>
            <p:nvPr/>
          </p:nvGrpSpPr>
          <p:grpSpPr>
            <a:xfrm>
              <a:off x="755576" y="1772816"/>
              <a:ext cx="7553802" cy="2088232"/>
              <a:chOff x="755576" y="2031380"/>
              <a:chExt cx="7553802" cy="2088232"/>
            </a:xfrm>
          </p:grpSpPr>
          <p:pic>
            <p:nvPicPr>
              <p:cNvPr id="6" name="תמונה 5"/>
              <p:cNvPicPr>
                <a:picLocks noChangeAspect="1"/>
              </p:cNvPicPr>
              <p:nvPr/>
            </p:nvPicPr>
            <p:blipFill rotWithShape="1">
              <a:blip r:embed="rId2">
                <a:duotone>
                  <a:schemeClr val="accent1">
                    <a:shade val="45000"/>
                    <a:satMod val="135000"/>
                  </a:schemeClr>
                  <a:prstClr val="white"/>
                </a:duotone>
              </a:blip>
              <a:srcRect l="25541" t="34223" r="42851" b="48627"/>
              <a:stretch/>
            </p:blipFill>
            <p:spPr>
              <a:xfrm>
                <a:off x="755576" y="2031380"/>
                <a:ext cx="7553802" cy="2088232"/>
              </a:xfrm>
              <a:prstGeom prst="rect">
                <a:avLst/>
              </a:prstGeom>
            </p:spPr>
          </p:pic>
          <p:sp>
            <p:nvSpPr>
              <p:cNvPr id="7" name="אליפסה 6"/>
              <p:cNvSpPr/>
              <p:nvPr/>
            </p:nvSpPr>
            <p:spPr>
              <a:xfrm>
                <a:off x="3720604" y="32129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3419872" y="3573016"/>
                <a:ext cx="902196" cy="369332"/>
              </a:xfrm>
              <a:prstGeom prst="rect">
                <a:avLst/>
              </a:prstGeom>
              <a:noFill/>
            </p:spPr>
            <p:txBody>
              <a:bodyPr wrap="square" rtlCol="1">
                <a:spAutoFit/>
              </a:bodyPr>
              <a:lstStyle/>
              <a:p>
                <a:pPr algn="ctr"/>
                <a:r>
                  <a:rPr lang="en-US" dirty="0">
                    <a:latin typeface="Arial Unicode MS" panose="020B0604020202020204" pitchFamily="34" charset="-128"/>
                    <a:ea typeface="Arial Unicode MS" panose="020B0604020202020204" pitchFamily="34" charset="-128"/>
                    <a:cs typeface="Arial Unicode MS" panose="020B0604020202020204" pitchFamily="34" charset="-128"/>
                  </a:rPr>
                  <a:t>G</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9" name="אליפסה 8"/>
              <p:cNvSpPr/>
              <p:nvPr/>
            </p:nvSpPr>
            <p:spPr>
              <a:xfrm>
                <a:off x="2555776" y="32129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a:off x="2411760" y="3577332"/>
                <a:ext cx="504056" cy="369332"/>
              </a:xfrm>
              <a:prstGeom prst="rect">
                <a:avLst/>
              </a:prstGeom>
              <a:noFill/>
            </p:spPr>
            <p:txBody>
              <a:bodyPr wrap="square" rtlCol="1">
                <a:spAutoFit/>
              </a:bodyPr>
              <a:lstStyle/>
              <a:p>
                <a:r>
                  <a:rPr lang="en-US" dirty="0">
                    <a:latin typeface="Arial Unicode MS" panose="020B0604020202020204" pitchFamily="34" charset="-128"/>
                    <a:ea typeface="Arial Unicode MS" panose="020B0604020202020204" pitchFamily="34" charset="-128"/>
                    <a:cs typeface="Arial Unicode MS" panose="020B0604020202020204" pitchFamily="34" charset="-128"/>
                  </a:rPr>
                  <a:t>G1</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11" name="אליפסה 10"/>
              <p:cNvSpPr/>
              <p:nvPr/>
            </p:nvSpPr>
            <p:spPr>
              <a:xfrm>
                <a:off x="4907012" y="32002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a:off x="4762996" y="3551024"/>
                <a:ext cx="504056" cy="369332"/>
              </a:xfrm>
              <a:prstGeom prst="rect">
                <a:avLst/>
              </a:prstGeom>
              <a:noFill/>
            </p:spPr>
            <p:txBody>
              <a:bodyPr wrap="square" rtlCol="1">
                <a:spAutoFit/>
              </a:bodyPr>
              <a:lstStyle/>
              <a:p>
                <a:r>
                  <a:rPr lang="en-US" dirty="0">
                    <a:latin typeface="Arial Unicode MS" panose="020B0604020202020204" pitchFamily="34" charset="-128"/>
                    <a:ea typeface="Arial Unicode MS" panose="020B0604020202020204" pitchFamily="34" charset="-128"/>
                    <a:cs typeface="Arial Unicode MS" panose="020B0604020202020204" pitchFamily="34" charset="-128"/>
                  </a:rPr>
                  <a:t>G2</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4" name="מלבן 3"/>
            <p:cNvSpPr/>
            <p:nvPr/>
          </p:nvSpPr>
          <p:spPr>
            <a:xfrm>
              <a:off x="4525392" y="2577604"/>
              <a:ext cx="2631811" cy="360040"/>
            </a:xfrm>
            <a:prstGeom prst="rect">
              <a:avLst/>
            </a:prstGeom>
            <a:solidFill>
              <a:srgbClr val="F7E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3358180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4900000"/>
          </a:xfrm>
        </p:spPr>
        <p:txBody>
          <a:bodyPr>
            <a:normAutofit fontScale="92500" lnSpcReduction="20000"/>
          </a:bodyPr>
          <a:lstStyle/>
          <a:p>
            <a:r>
              <a:rPr lang="he-IL" dirty="0"/>
              <a:t>אפשרות ג':</a:t>
            </a:r>
          </a:p>
          <a:p>
            <a:endParaRPr lang="he-IL" dirty="0"/>
          </a:p>
          <a:p>
            <a:endParaRPr lang="he-IL" dirty="0"/>
          </a:p>
          <a:p>
            <a:endParaRPr lang="he-IL" dirty="0"/>
          </a:p>
          <a:p>
            <a:pPr marL="109728" indent="0">
              <a:buNone/>
            </a:pPr>
            <a:endParaRPr lang="en-US" dirty="0"/>
          </a:p>
          <a:p>
            <a:pPr marL="109728" indent="0">
              <a:buNone/>
            </a:pPr>
            <a:endParaRPr lang="en-US" dirty="0"/>
          </a:p>
          <a:p>
            <a:pPr marL="109728" indent="0">
              <a:buNone/>
            </a:pPr>
            <a:endParaRPr lang="en-US" dirty="0"/>
          </a:p>
          <a:p>
            <a:pPr marL="109728" indent="0">
              <a:buNone/>
            </a:pPr>
            <a:endParaRPr lang="he-IL" dirty="0"/>
          </a:p>
          <a:p>
            <a:endParaRPr lang="he-IL" dirty="0"/>
          </a:p>
          <a:p>
            <a:r>
              <a:rPr lang="he-IL" sz="2800" dirty="0"/>
              <a:t>1</a:t>
            </a:r>
            <a:r>
              <a:rPr lang="en-US" sz="2800" dirty="0"/>
              <a:t>G</a:t>
            </a:r>
            <a:r>
              <a:rPr lang="he-IL" sz="2800" dirty="0"/>
              <a:t> גדול מ</a:t>
            </a:r>
            <a:r>
              <a:rPr lang="en-US" sz="2800" dirty="0"/>
              <a:t>G </a:t>
            </a:r>
            <a:r>
              <a:rPr lang="he-IL" sz="2800" dirty="0"/>
              <a:t>.</a:t>
            </a:r>
          </a:p>
          <a:p>
            <a:r>
              <a:rPr lang="he-IL" sz="2800" dirty="0"/>
              <a:t>מצב זה אינו הגיוני מעצם הגדרת הצעד הבטוח, כיוון ש </a:t>
            </a:r>
            <a:r>
              <a:rPr lang="en-US" sz="2800" dirty="0"/>
              <a:t>G</a:t>
            </a:r>
            <a:r>
              <a:rPr lang="he-IL" sz="2800" dirty="0"/>
              <a:t> היא הנקודה הכי רחוקה שניתן להגיע אליה ללא תדלוק, ממילא </a:t>
            </a:r>
            <a:r>
              <a:rPr lang="en-US" sz="2800" dirty="0"/>
              <a:t>G1</a:t>
            </a:r>
            <a:r>
              <a:rPr lang="he-IL" sz="2800" dirty="0"/>
              <a:t> לא יכולה להיות רחוקה יותר מהמוצא מאשר </a:t>
            </a:r>
            <a:r>
              <a:rPr lang="en-US" sz="2800" dirty="0"/>
              <a:t>G</a:t>
            </a:r>
            <a:r>
              <a:rPr lang="he-IL" sz="2800" dirty="0"/>
              <a:t>.</a:t>
            </a:r>
          </a:p>
          <a:p>
            <a:endParaRPr lang="he-IL" dirty="0"/>
          </a:p>
          <a:p>
            <a:endParaRPr lang="he-IL" dirty="0"/>
          </a:p>
        </p:txBody>
      </p:sp>
      <p:sp>
        <p:nvSpPr>
          <p:cNvPr id="3" name="כותרת 2"/>
          <p:cNvSpPr>
            <a:spLocks noGrp="1"/>
          </p:cNvSpPr>
          <p:nvPr>
            <p:ph type="title"/>
          </p:nvPr>
        </p:nvSpPr>
        <p:spPr/>
        <p:txBody>
          <a:bodyPr/>
          <a:lstStyle/>
          <a:p>
            <a:r>
              <a:rPr lang="he-IL" dirty="0"/>
              <a:t>האפשרויות בהן נתקל:</a:t>
            </a:r>
          </a:p>
        </p:txBody>
      </p:sp>
      <p:grpSp>
        <p:nvGrpSpPr>
          <p:cNvPr id="13" name="קבוצה 12"/>
          <p:cNvGrpSpPr/>
          <p:nvPr/>
        </p:nvGrpSpPr>
        <p:grpSpPr>
          <a:xfrm>
            <a:off x="773088" y="1897596"/>
            <a:ext cx="7553802" cy="2088232"/>
            <a:chOff x="755576" y="1772816"/>
            <a:chExt cx="7553802" cy="2088232"/>
          </a:xfrm>
        </p:grpSpPr>
        <p:grpSp>
          <p:nvGrpSpPr>
            <p:cNvPr id="5" name="קבוצה 4"/>
            <p:cNvGrpSpPr/>
            <p:nvPr/>
          </p:nvGrpSpPr>
          <p:grpSpPr>
            <a:xfrm>
              <a:off x="755576" y="1772816"/>
              <a:ext cx="7553802" cy="2088232"/>
              <a:chOff x="755576" y="2031380"/>
              <a:chExt cx="7553802" cy="2088232"/>
            </a:xfrm>
          </p:grpSpPr>
          <p:pic>
            <p:nvPicPr>
              <p:cNvPr id="6" name="תמונה 5"/>
              <p:cNvPicPr>
                <a:picLocks noChangeAspect="1"/>
              </p:cNvPicPr>
              <p:nvPr/>
            </p:nvPicPr>
            <p:blipFill rotWithShape="1">
              <a:blip r:embed="rId2">
                <a:duotone>
                  <a:schemeClr val="accent1">
                    <a:shade val="45000"/>
                    <a:satMod val="135000"/>
                  </a:schemeClr>
                  <a:prstClr val="white"/>
                </a:duotone>
              </a:blip>
              <a:srcRect l="25541" t="34223" r="42851" b="48627"/>
              <a:stretch/>
            </p:blipFill>
            <p:spPr>
              <a:xfrm>
                <a:off x="755576" y="2031380"/>
                <a:ext cx="7553802" cy="2088232"/>
              </a:xfrm>
              <a:prstGeom prst="rect">
                <a:avLst/>
              </a:prstGeom>
            </p:spPr>
          </p:pic>
          <p:sp>
            <p:nvSpPr>
              <p:cNvPr id="7" name="אליפסה 6"/>
              <p:cNvSpPr/>
              <p:nvPr/>
            </p:nvSpPr>
            <p:spPr>
              <a:xfrm>
                <a:off x="3733304" y="32129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a:off x="3419872" y="3573016"/>
                <a:ext cx="902196" cy="369332"/>
              </a:xfrm>
              <a:prstGeom prst="rect">
                <a:avLst/>
              </a:prstGeom>
              <a:noFill/>
            </p:spPr>
            <p:txBody>
              <a:bodyPr wrap="square" rtlCol="1">
                <a:spAutoFit/>
              </a:bodyPr>
              <a:lstStyle/>
              <a:p>
                <a:pPr algn="ctr"/>
                <a:r>
                  <a:rPr lang="en-US" dirty="0">
                    <a:latin typeface="Arial Unicode MS" panose="020B0604020202020204" pitchFamily="34" charset="-128"/>
                    <a:ea typeface="Arial Unicode MS" panose="020B0604020202020204" pitchFamily="34" charset="-128"/>
                    <a:cs typeface="Arial Unicode MS" panose="020B0604020202020204" pitchFamily="34" charset="-128"/>
                  </a:rPr>
                  <a:t>G</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11" name="אליפסה 10"/>
              <p:cNvSpPr/>
              <p:nvPr/>
            </p:nvSpPr>
            <p:spPr>
              <a:xfrm>
                <a:off x="4919712" y="3212976"/>
                <a:ext cx="288032" cy="288032"/>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a:off x="4804420" y="3551024"/>
                <a:ext cx="504056" cy="369332"/>
              </a:xfrm>
              <a:prstGeom prst="rect">
                <a:avLst/>
              </a:prstGeom>
              <a:noFill/>
            </p:spPr>
            <p:txBody>
              <a:bodyPr wrap="square" rtlCol="1">
                <a:spAutoFit/>
              </a:bodyPr>
              <a:lstStyle/>
              <a:p>
                <a:r>
                  <a:rPr lang="en-US" dirty="0">
                    <a:latin typeface="Arial Unicode MS" panose="020B0604020202020204" pitchFamily="34" charset="-128"/>
                    <a:ea typeface="Arial Unicode MS" panose="020B0604020202020204" pitchFamily="34" charset="-128"/>
                    <a:cs typeface="Arial Unicode MS" panose="020B0604020202020204" pitchFamily="34" charset="-128"/>
                  </a:rPr>
                  <a:t>G1</a:t>
                </a:r>
                <a:endParaRPr lang="he-IL"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4" name="מלבן 3"/>
            <p:cNvSpPr/>
            <p:nvPr/>
          </p:nvSpPr>
          <p:spPr>
            <a:xfrm>
              <a:off x="4525392" y="2577604"/>
              <a:ext cx="2631811" cy="360040"/>
            </a:xfrm>
            <a:prstGeom prst="rect">
              <a:avLst/>
            </a:prstGeom>
            <a:solidFill>
              <a:srgbClr val="F7E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2097438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pPr marL="109728" indent="0" algn="l" rtl="0">
              <a:buNone/>
            </a:pPr>
            <a:r>
              <a:rPr lang="en-US" b="1" i="1" dirty="0"/>
              <a:t>Min_stop ( </a:t>
            </a:r>
            <a:r>
              <a:rPr lang="en-US" b="1" i="1" dirty="0" err="1"/>
              <a:t>arr</a:t>
            </a:r>
            <a:r>
              <a:rPr lang="en-US" b="1" i="1" dirty="0"/>
              <a:t>, k, index)</a:t>
            </a:r>
            <a:endParaRPr lang="en-US" dirty="0"/>
          </a:p>
          <a:p>
            <a:pPr marL="109728" indent="0" algn="l" rtl="0">
              <a:buNone/>
            </a:pPr>
            <a:r>
              <a:rPr lang="en-US" dirty="0"/>
              <a:t>	if index= length(</a:t>
            </a:r>
            <a:r>
              <a:rPr lang="en-US" dirty="0" err="1"/>
              <a:t>arr</a:t>
            </a:r>
            <a:r>
              <a:rPr lang="en-US" dirty="0"/>
              <a:t>)</a:t>
            </a:r>
          </a:p>
          <a:p>
            <a:pPr marL="109728" indent="0" algn="l" rtl="0">
              <a:buNone/>
            </a:pPr>
            <a:r>
              <a:rPr lang="en-US" dirty="0"/>
              <a:t>	        return 0</a:t>
            </a:r>
          </a:p>
          <a:p>
            <a:pPr marL="109728" indent="0" algn="l" rtl="0">
              <a:buNone/>
            </a:pPr>
            <a:r>
              <a:rPr lang="en-US" dirty="0"/>
              <a:t>	sum=0</a:t>
            </a:r>
          </a:p>
          <a:p>
            <a:pPr marL="109728" indent="0" algn="l" rtl="0">
              <a:buNone/>
            </a:pPr>
            <a:r>
              <a:rPr lang="en-US" dirty="0"/>
              <a:t>	for </a:t>
            </a:r>
            <a:r>
              <a:rPr lang="en-US" dirty="0" err="1"/>
              <a:t>i</a:t>
            </a:r>
            <a:r>
              <a:rPr lang="en-US" dirty="0"/>
              <a:t>=index to length(</a:t>
            </a:r>
            <a:r>
              <a:rPr lang="en-US" dirty="0" err="1"/>
              <a:t>arr</a:t>
            </a:r>
            <a:r>
              <a:rPr lang="en-US" dirty="0"/>
              <a:t>) -1</a:t>
            </a:r>
          </a:p>
          <a:p>
            <a:pPr marL="109728" indent="0" algn="l" rtl="0">
              <a:buNone/>
            </a:pPr>
            <a:r>
              <a:rPr lang="en-US" dirty="0"/>
              <a:t>		if </a:t>
            </a:r>
            <a:r>
              <a:rPr lang="en-US" dirty="0" err="1"/>
              <a:t>sum+Ditance</a:t>
            </a:r>
            <a:r>
              <a:rPr lang="en-US" dirty="0"/>
              <a:t>(</a:t>
            </a:r>
            <a:r>
              <a:rPr lang="en-US" dirty="0" err="1"/>
              <a:t>arr</a:t>
            </a:r>
            <a:r>
              <a:rPr lang="en-US" dirty="0"/>
              <a:t>[</a:t>
            </a:r>
            <a:r>
              <a:rPr lang="en-US" dirty="0" err="1"/>
              <a:t>i</a:t>
            </a:r>
            <a:r>
              <a:rPr lang="en-US" dirty="0"/>
              <a:t>],</a:t>
            </a:r>
            <a:r>
              <a:rPr lang="en-US" dirty="0" err="1"/>
              <a:t>arr</a:t>
            </a:r>
            <a:r>
              <a:rPr lang="en-US" dirty="0"/>
              <a:t>[i+1]) &gt;k</a:t>
            </a:r>
          </a:p>
          <a:p>
            <a:pPr marL="109728" indent="0" algn="l" rtl="0">
              <a:buNone/>
            </a:pPr>
            <a:r>
              <a:rPr lang="en-US" dirty="0"/>
              <a:t>			return 1+ </a:t>
            </a:r>
            <a:r>
              <a:rPr lang="en-US" b="1" i="1" dirty="0"/>
              <a:t>Min_Stop </a:t>
            </a:r>
            <a:r>
              <a:rPr lang="en-US" dirty="0"/>
              <a:t>(</a:t>
            </a:r>
            <a:r>
              <a:rPr lang="en-US" dirty="0" err="1"/>
              <a:t>arr</a:t>
            </a:r>
            <a:r>
              <a:rPr lang="en-US" dirty="0"/>
              <a:t>, k, </a:t>
            </a:r>
            <a:r>
              <a:rPr lang="en-US" dirty="0" err="1"/>
              <a:t>i</a:t>
            </a:r>
            <a:r>
              <a:rPr lang="en-US" dirty="0"/>
              <a:t>)</a:t>
            </a:r>
          </a:p>
          <a:p>
            <a:pPr marL="109728" indent="0" algn="l" rtl="0">
              <a:buNone/>
            </a:pPr>
            <a:r>
              <a:rPr lang="en-US" dirty="0"/>
              <a:t>		sum =sum + </a:t>
            </a:r>
            <a:r>
              <a:rPr lang="en-US" dirty="0" err="1"/>
              <a:t>Ditance</a:t>
            </a:r>
            <a:r>
              <a:rPr lang="en-US" dirty="0"/>
              <a:t>(</a:t>
            </a:r>
            <a:r>
              <a:rPr lang="en-US" dirty="0" err="1"/>
              <a:t>arr</a:t>
            </a:r>
            <a:r>
              <a:rPr lang="en-US" dirty="0"/>
              <a:t>[</a:t>
            </a:r>
            <a:r>
              <a:rPr lang="en-US" dirty="0" err="1"/>
              <a:t>i</a:t>
            </a:r>
            <a:r>
              <a:rPr lang="en-US" dirty="0"/>
              <a:t>],</a:t>
            </a:r>
            <a:r>
              <a:rPr lang="en-US" dirty="0" err="1"/>
              <a:t>arr</a:t>
            </a:r>
            <a:r>
              <a:rPr lang="en-US" dirty="0"/>
              <a:t>[i+1])</a:t>
            </a:r>
          </a:p>
          <a:p>
            <a:pPr marL="109728" indent="0" algn="l" rtl="0">
              <a:buNone/>
            </a:pPr>
            <a:r>
              <a:rPr lang="en-US" dirty="0"/>
              <a:t>	return 0</a:t>
            </a:r>
            <a:endParaRPr lang="he-IL" dirty="0"/>
          </a:p>
        </p:txBody>
      </p:sp>
      <p:sp>
        <p:nvSpPr>
          <p:cNvPr id="3" name="כותרת 2"/>
          <p:cNvSpPr>
            <a:spLocks noGrp="1"/>
          </p:cNvSpPr>
          <p:nvPr>
            <p:ph type="title"/>
          </p:nvPr>
        </p:nvSpPr>
        <p:spPr/>
        <p:txBody>
          <a:bodyPr/>
          <a:lstStyle/>
          <a:p>
            <a:r>
              <a:rPr lang="he-IL" dirty="0"/>
              <a:t>וכעת </a:t>
            </a:r>
            <a:r>
              <a:rPr lang="he-IL" dirty="0" err="1"/>
              <a:t>לפסאדו</a:t>
            </a:r>
            <a:r>
              <a:rPr lang="he-IL" dirty="0"/>
              <a:t> קוד:</a:t>
            </a:r>
          </a:p>
        </p:txBody>
      </p:sp>
    </p:spTree>
    <p:extLst>
      <p:ext uri="{BB962C8B-B14F-4D97-AF65-F5344CB8AC3E}">
        <p14:creationId xmlns:p14="http://schemas.microsoft.com/office/powerpoint/2010/main" val="272789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sz="2400" dirty="0"/>
              <a:t>מהי סיבוכיות זמן הריצה של הפתרון?</a:t>
            </a:r>
          </a:p>
          <a:p>
            <a:endParaRPr lang="he-IL" sz="2400" dirty="0"/>
          </a:p>
          <a:p>
            <a:r>
              <a:rPr lang="he-IL" sz="2400" dirty="0"/>
              <a:t>מתבצעת ריצה אחת בלבד על פני תחום ערכי הבעיה הנתונה!</a:t>
            </a:r>
          </a:p>
          <a:p>
            <a:endParaRPr lang="he-IL" sz="2400" dirty="0"/>
          </a:p>
          <a:p>
            <a:r>
              <a:rPr lang="el-GR" altLang="he-IL" sz="2400" dirty="0"/>
              <a:t>Θ</a:t>
            </a:r>
            <a:r>
              <a:rPr lang="en-US" altLang="he-IL" sz="2400" dirty="0"/>
              <a:t>(n)</a:t>
            </a:r>
            <a:endParaRPr lang="he-IL" sz="2400" dirty="0"/>
          </a:p>
          <a:p>
            <a:endParaRPr lang="he-IL" dirty="0"/>
          </a:p>
        </p:txBody>
      </p:sp>
      <p:sp>
        <p:nvSpPr>
          <p:cNvPr id="3" name="כותרת 2"/>
          <p:cNvSpPr>
            <a:spLocks noGrp="1"/>
          </p:cNvSpPr>
          <p:nvPr>
            <p:ph type="title"/>
          </p:nvPr>
        </p:nvSpPr>
        <p:spPr/>
        <p:txBody>
          <a:bodyPr/>
          <a:lstStyle/>
          <a:p>
            <a:r>
              <a:rPr lang="he-IL" dirty="0"/>
              <a:t>ניתוח סיבוכיות</a:t>
            </a:r>
          </a:p>
        </p:txBody>
      </p:sp>
    </p:spTree>
    <p:extLst>
      <p:ext uri="{BB962C8B-B14F-4D97-AF65-F5344CB8AC3E}">
        <p14:creationId xmlns:p14="http://schemas.microsoft.com/office/powerpoint/2010/main" val="3989972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r>
              <a:rPr lang="he-IL" sz="2400" dirty="0"/>
              <a:t>ברשותנו שק של חפצים.</a:t>
            </a:r>
            <a:br>
              <a:rPr lang="en-US" sz="2400" dirty="0"/>
            </a:br>
            <a:r>
              <a:rPr lang="he-IL" sz="2400" dirty="0"/>
              <a:t>נתון מחירו של כל חפץ.</a:t>
            </a:r>
          </a:p>
          <a:p>
            <a:r>
              <a:rPr lang="he-IL" sz="2400" dirty="0"/>
              <a:t>יש לחלק את החפצים לקבוצות באופן כזה,</a:t>
            </a:r>
            <a:br>
              <a:rPr lang="en-US" sz="2400" dirty="0"/>
            </a:br>
            <a:r>
              <a:rPr lang="he-IL" sz="2400" dirty="0"/>
              <a:t>שההפרש בין הפריט הזול ביותר בקבוצה לפריט היקר ביותר בקבוצה לא יעלה על 5 ₪.</a:t>
            </a:r>
          </a:p>
          <a:p>
            <a:r>
              <a:rPr lang="he-IL" sz="2400" dirty="0"/>
              <a:t>מעוניינים להגיע למספר הנמוך ביותר של קבוצות שניתן ליצור.</a:t>
            </a:r>
          </a:p>
          <a:p>
            <a:r>
              <a:rPr lang="he-IL" sz="2400" dirty="0"/>
              <a:t>לדוגמא, רשימת החפצים ומחיריהם:</a:t>
            </a:r>
            <a:endParaRPr lang="en-US" sz="2400" dirty="0"/>
          </a:p>
          <a:p>
            <a:endParaRPr lang="he-IL" sz="2400" dirty="0"/>
          </a:p>
        </p:txBody>
      </p:sp>
      <p:sp>
        <p:nvSpPr>
          <p:cNvPr id="3" name="כותרת 2"/>
          <p:cNvSpPr>
            <a:spLocks noGrp="1"/>
          </p:cNvSpPr>
          <p:nvPr>
            <p:ph type="title"/>
          </p:nvPr>
        </p:nvSpPr>
        <p:spPr/>
        <p:txBody>
          <a:bodyPr/>
          <a:lstStyle/>
          <a:p>
            <a:r>
              <a:rPr lang="he-IL" dirty="0"/>
              <a:t>בעיית הסגמנטים/ חלוקה לקבוצות</a:t>
            </a:r>
          </a:p>
        </p:txBody>
      </p:sp>
      <p:graphicFrame>
        <p:nvGraphicFramePr>
          <p:cNvPr id="6" name="טבלה 5"/>
          <p:cNvGraphicFramePr>
            <a:graphicFrameLocks noGrp="1"/>
          </p:cNvGraphicFramePr>
          <p:nvPr>
            <p:extLst>
              <p:ext uri="{D42A27DB-BD31-4B8C-83A1-F6EECF244321}">
                <p14:modId xmlns:p14="http://schemas.microsoft.com/office/powerpoint/2010/main" val="882380760"/>
              </p:ext>
            </p:extLst>
          </p:nvPr>
        </p:nvGraphicFramePr>
        <p:xfrm>
          <a:off x="611560" y="4365104"/>
          <a:ext cx="8064892" cy="1440160"/>
        </p:xfrm>
        <a:graphic>
          <a:graphicData uri="http://schemas.openxmlformats.org/drawingml/2006/table">
            <a:tbl>
              <a:tblPr rtl="1" firstRow="1" firstCol="1" bandRow="1">
                <a:tableStyleId>{5C22544A-7EE6-4342-B048-85BDC9FD1C3A}</a:tableStyleId>
              </a:tblPr>
              <a:tblGrid>
                <a:gridCol w="534676">
                  <a:extLst>
                    <a:ext uri="{9D8B030D-6E8A-4147-A177-3AD203B41FA5}">
                      <a16:colId xmlns:a16="http://schemas.microsoft.com/office/drawing/2014/main" val="20000"/>
                    </a:ext>
                  </a:extLst>
                </a:gridCol>
                <a:gridCol w="534676">
                  <a:extLst>
                    <a:ext uri="{9D8B030D-6E8A-4147-A177-3AD203B41FA5}">
                      <a16:colId xmlns:a16="http://schemas.microsoft.com/office/drawing/2014/main" val="20001"/>
                    </a:ext>
                  </a:extLst>
                </a:gridCol>
                <a:gridCol w="534676">
                  <a:extLst>
                    <a:ext uri="{9D8B030D-6E8A-4147-A177-3AD203B41FA5}">
                      <a16:colId xmlns:a16="http://schemas.microsoft.com/office/drawing/2014/main" val="20002"/>
                    </a:ext>
                  </a:extLst>
                </a:gridCol>
                <a:gridCol w="534676">
                  <a:extLst>
                    <a:ext uri="{9D8B030D-6E8A-4147-A177-3AD203B41FA5}">
                      <a16:colId xmlns:a16="http://schemas.microsoft.com/office/drawing/2014/main" val="20003"/>
                    </a:ext>
                  </a:extLst>
                </a:gridCol>
                <a:gridCol w="537798">
                  <a:extLst>
                    <a:ext uri="{9D8B030D-6E8A-4147-A177-3AD203B41FA5}">
                      <a16:colId xmlns:a16="http://schemas.microsoft.com/office/drawing/2014/main" val="20004"/>
                    </a:ext>
                  </a:extLst>
                </a:gridCol>
                <a:gridCol w="538839">
                  <a:extLst>
                    <a:ext uri="{9D8B030D-6E8A-4147-A177-3AD203B41FA5}">
                      <a16:colId xmlns:a16="http://schemas.microsoft.com/office/drawing/2014/main" val="20005"/>
                    </a:ext>
                  </a:extLst>
                </a:gridCol>
                <a:gridCol w="538839">
                  <a:extLst>
                    <a:ext uri="{9D8B030D-6E8A-4147-A177-3AD203B41FA5}">
                      <a16:colId xmlns:a16="http://schemas.microsoft.com/office/drawing/2014/main" val="20006"/>
                    </a:ext>
                  </a:extLst>
                </a:gridCol>
                <a:gridCol w="538839">
                  <a:extLst>
                    <a:ext uri="{9D8B030D-6E8A-4147-A177-3AD203B41FA5}">
                      <a16:colId xmlns:a16="http://schemas.microsoft.com/office/drawing/2014/main" val="20007"/>
                    </a:ext>
                  </a:extLst>
                </a:gridCol>
                <a:gridCol w="538839">
                  <a:extLst>
                    <a:ext uri="{9D8B030D-6E8A-4147-A177-3AD203B41FA5}">
                      <a16:colId xmlns:a16="http://schemas.microsoft.com/office/drawing/2014/main" val="20008"/>
                    </a:ext>
                  </a:extLst>
                </a:gridCol>
                <a:gridCol w="538839">
                  <a:extLst>
                    <a:ext uri="{9D8B030D-6E8A-4147-A177-3AD203B41FA5}">
                      <a16:colId xmlns:a16="http://schemas.microsoft.com/office/drawing/2014/main" val="20009"/>
                    </a:ext>
                  </a:extLst>
                </a:gridCol>
                <a:gridCol w="538839">
                  <a:extLst>
                    <a:ext uri="{9D8B030D-6E8A-4147-A177-3AD203B41FA5}">
                      <a16:colId xmlns:a16="http://schemas.microsoft.com/office/drawing/2014/main" val="20010"/>
                    </a:ext>
                  </a:extLst>
                </a:gridCol>
                <a:gridCol w="538839">
                  <a:extLst>
                    <a:ext uri="{9D8B030D-6E8A-4147-A177-3AD203B41FA5}">
                      <a16:colId xmlns:a16="http://schemas.microsoft.com/office/drawing/2014/main" val="20011"/>
                    </a:ext>
                  </a:extLst>
                </a:gridCol>
                <a:gridCol w="538839">
                  <a:extLst>
                    <a:ext uri="{9D8B030D-6E8A-4147-A177-3AD203B41FA5}">
                      <a16:colId xmlns:a16="http://schemas.microsoft.com/office/drawing/2014/main" val="20012"/>
                    </a:ext>
                  </a:extLst>
                </a:gridCol>
                <a:gridCol w="538839">
                  <a:extLst>
                    <a:ext uri="{9D8B030D-6E8A-4147-A177-3AD203B41FA5}">
                      <a16:colId xmlns:a16="http://schemas.microsoft.com/office/drawing/2014/main" val="20013"/>
                    </a:ext>
                  </a:extLst>
                </a:gridCol>
                <a:gridCol w="538839">
                  <a:extLst>
                    <a:ext uri="{9D8B030D-6E8A-4147-A177-3AD203B41FA5}">
                      <a16:colId xmlns:a16="http://schemas.microsoft.com/office/drawing/2014/main" val="20014"/>
                    </a:ext>
                  </a:extLst>
                </a:gridCol>
              </a:tblGrid>
              <a:tr h="787782">
                <a:tc>
                  <a:txBody>
                    <a:bodyPr/>
                    <a:lstStyle/>
                    <a:p>
                      <a:pPr algn="ctr" rtl="1">
                        <a:lnSpc>
                          <a:spcPct val="150000"/>
                        </a:lnSpc>
                        <a:spcAft>
                          <a:spcPts val="0"/>
                        </a:spcAft>
                        <a:tabLst>
                          <a:tab pos="770890" algn="ctr"/>
                        </a:tabLst>
                      </a:pPr>
                      <a:r>
                        <a:rPr lang="he-IL" sz="1200" dirty="0">
                          <a:effectLst/>
                        </a:rPr>
                        <a:t>מספר חפץ</a:t>
                      </a:r>
                      <a:endParaRPr lang="en-US" sz="12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14</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13</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12</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11</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10</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9</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8</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7</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6</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5</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a:effectLst/>
                        </a:rPr>
                        <a:t>4</a:t>
                      </a:r>
                      <a:endParaRPr lang="en-US" sz="180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3</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2</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a:t>
                      </a:r>
                      <a:endParaRPr lang="en-US" sz="1800" dirty="0">
                        <a:effectLst/>
                        <a:latin typeface="Consolas"/>
                        <a:ea typeface="Calibri"/>
                        <a:cs typeface="Segoe UI Light"/>
                      </a:endParaRPr>
                    </a:p>
                  </a:txBody>
                  <a:tcPr marL="68580" marR="68580" marT="0" marB="0" anchor="ctr"/>
                </a:tc>
                <a:extLst>
                  <a:ext uri="{0D108BD9-81ED-4DB2-BD59-A6C34878D82A}">
                    <a16:rowId xmlns:a16="http://schemas.microsoft.com/office/drawing/2014/main" val="10000"/>
                  </a:ext>
                </a:extLst>
              </a:tr>
              <a:tr h="652378">
                <a:tc>
                  <a:txBody>
                    <a:bodyPr/>
                    <a:lstStyle/>
                    <a:p>
                      <a:pPr algn="ctr" rtl="1">
                        <a:lnSpc>
                          <a:spcPct val="150000"/>
                        </a:lnSpc>
                        <a:spcAft>
                          <a:spcPts val="0"/>
                        </a:spcAft>
                        <a:tabLst>
                          <a:tab pos="770890" algn="ctr"/>
                        </a:tabLst>
                      </a:pPr>
                      <a:r>
                        <a:rPr lang="he-IL" sz="1200" dirty="0">
                          <a:effectLst/>
                        </a:rPr>
                        <a:t>מחיר</a:t>
                      </a:r>
                      <a:endParaRPr lang="en-US" sz="12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99</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80</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83</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85</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89</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93</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94</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106</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98</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105</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100</a:t>
                      </a:r>
                      <a:endParaRPr lang="en-US" sz="1600" b="1" dirty="0">
                        <a:effectLst/>
                        <a:latin typeface="Consolas"/>
                        <a:ea typeface="Calibri"/>
                        <a:cs typeface="Segoe UI Light"/>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48710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sz="3200" dirty="0"/>
              <a:t>בעיית הסגמנטים/ חלוקה לקבוצות</a:t>
            </a:r>
          </a:p>
        </p:txBody>
      </p:sp>
      <p:graphicFrame>
        <p:nvGraphicFramePr>
          <p:cNvPr id="5" name="טבלה 4"/>
          <p:cNvGraphicFramePr>
            <a:graphicFrameLocks noGrp="1"/>
          </p:cNvGraphicFramePr>
          <p:nvPr>
            <p:extLst>
              <p:ext uri="{D42A27DB-BD31-4B8C-83A1-F6EECF244321}">
                <p14:modId xmlns:p14="http://schemas.microsoft.com/office/powerpoint/2010/main" val="135989274"/>
              </p:ext>
            </p:extLst>
          </p:nvPr>
        </p:nvGraphicFramePr>
        <p:xfrm>
          <a:off x="539552" y="1340768"/>
          <a:ext cx="8064892" cy="1440160"/>
        </p:xfrm>
        <a:graphic>
          <a:graphicData uri="http://schemas.openxmlformats.org/drawingml/2006/table">
            <a:tbl>
              <a:tblPr rtl="1" firstRow="1" firstCol="1" bandRow="1">
                <a:tableStyleId>{5C22544A-7EE6-4342-B048-85BDC9FD1C3A}</a:tableStyleId>
              </a:tblPr>
              <a:tblGrid>
                <a:gridCol w="534676">
                  <a:extLst>
                    <a:ext uri="{9D8B030D-6E8A-4147-A177-3AD203B41FA5}">
                      <a16:colId xmlns:a16="http://schemas.microsoft.com/office/drawing/2014/main" val="20000"/>
                    </a:ext>
                  </a:extLst>
                </a:gridCol>
                <a:gridCol w="534676">
                  <a:extLst>
                    <a:ext uri="{9D8B030D-6E8A-4147-A177-3AD203B41FA5}">
                      <a16:colId xmlns:a16="http://schemas.microsoft.com/office/drawing/2014/main" val="20001"/>
                    </a:ext>
                  </a:extLst>
                </a:gridCol>
                <a:gridCol w="534676">
                  <a:extLst>
                    <a:ext uri="{9D8B030D-6E8A-4147-A177-3AD203B41FA5}">
                      <a16:colId xmlns:a16="http://schemas.microsoft.com/office/drawing/2014/main" val="20002"/>
                    </a:ext>
                  </a:extLst>
                </a:gridCol>
                <a:gridCol w="534676">
                  <a:extLst>
                    <a:ext uri="{9D8B030D-6E8A-4147-A177-3AD203B41FA5}">
                      <a16:colId xmlns:a16="http://schemas.microsoft.com/office/drawing/2014/main" val="20003"/>
                    </a:ext>
                  </a:extLst>
                </a:gridCol>
                <a:gridCol w="537798">
                  <a:extLst>
                    <a:ext uri="{9D8B030D-6E8A-4147-A177-3AD203B41FA5}">
                      <a16:colId xmlns:a16="http://schemas.microsoft.com/office/drawing/2014/main" val="20004"/>
                    </a:ext>
                  </a:extLst>
                </a:gridCol>
                <a:gridCol w="538839">
                  <a:extLst>
                    <a:ext uri="{9D8B030D-6E8A-4147-A177-3AD203B41FA5}">
                      <a16:colId xmlns:a16="http://schemas.microsoft.com/office/drawing/2014/main" val="20005"/>
                    </a:ext>
                  </a:extLst>
                </a:gridCol>
                <a:gridCol w="538839">
                  <a:extLst>
                    <a:ext uri="{9D8B030D-6E8A-4147-A177-3AD203B41FA5}">
                      <a16:colId xmlns:a16="http://schemas.microsoft.com/office/drawing/2014/main" val="20006"/>
                    </a:ext>
                  </a:extLst>
                </a:gridCol>
                <a:gridCol w="538839">
                  <a:extLst>
                    <a:ext uri="{9D8B030D-6E8A-4147-A177-3AD203B41FA5}">
                      <a16:colId xmlns:a16="http://schemas.microsoft.com/office/drawing/2014/main" val="20007"/>
                    </a:ext>
                  </a:extLst>
                </a:gridCol>
                <a:gridCol w="538839">
                  <a:extLst>
                    <a:ext uri="{9D8B030D-6E8A-4147-A177-3AD203B41FA5}">
                      <a16:colId xmlns:a16="http://schemas.microsoft.com/office/drawing/2014/main" val="20008"/>
                    </a:ext>
                  </a:extLst>
                </a:gridCol>
                <a:gridCol w="538839">
                  <a:extLst>
                    <a:ext uri="{9D8B030D-6E8A-4147-A177-3AD203B41FA5}">
                      <a16:colId xmlns:a16="http://schemas.microsoft.com/office/drawing/2014/main" val="20009"/>
                    </a:ext>
                  </a:extLst>
                </a:gridCol>
                <a:gridCol w="538839">
                  <a:extLst>
                    <a:ext uri="{9D8B030D-6E8A-4147-A177-3AD203B41FA5}">
                      <a16:colId xmlns:a16="http://schemas.microsoft.com/office/drawing/2014/main" val="20010"/>
                    </a:ext>
                  </a:extLst>
                </a:gridCol>
                <a:gridCol w="538839">
                  <a:extLst>
                    <a:ext uri="{9D8B030D-6E8A-4147-A177-3AD203B41FA5}">
                      <a16:colId xmlns:a16="http://schemas.microsoft.com/office/drawing/2014/main" val="20011"/>
                    </a:ext>
                  </a:extLst>
                </a:gridCol>
                <a:gridCol w="538839">
                  <a:extLst>
                    <a:ext uri="{9D8B030D-6E8A-4147-A177-3AD203B41FA5}">
                      <a16:colId xmlns:a16="http://schemas.microsoft.com/office/drawing/2014/main" val="20012"/>
                    </a:ext>
                  </a:extLst>
                </a:gridCol>
                <a:gridCol w="538839">
                  <a:extLst>
                    <a:ext uri="{9D8B030D-6E8A-4147-A177-3AD203B41FA5}">
                      <a16:colId xmlns:a16="http://schemas.microsoft.com/office/drawing/2014/main" val="20013"/>
                    </a:ext>
                  </a:extLst>
                </a:gridCol>
                <a:gridCol w="538839">
                  <a:extLst>
                    <a:ext uri="{9D8B030D-6E8A-4147-A177-3AD203B41FA5}">
                      <a16:colId xmlns:a16="http://schemas.microsoft.com/office/drawing/2014/main" val="20014"/>
                    </a:ext>
                  </a:extLst>
                </a:gridCol>
              </a:tblGrid>
              <a:tr h="787782">
                <a:tc>
                  <a:txBody>
                    <a:bodyPr/>
                    <a:lstStyle/>
                    <a:p>
                      <a:pPr algn="ctr" rtl="1">
                        <a:lnSpc>
                          <a:spcPct val="150000"/>
                        </a:lnSpc>
                        <a:spcAft>
                          <a:spcPts val="0"/>
                        </a:spcAft>
                        <a:tabLst>
                          <a:tab pos="770890" algn="ctr"/>
                        </a:tabLst>
                      </a:pPr>
                      <a:r>
                        <a:rPr lang="he-IL" sz="1200" dirty="0">
                          <a:effectLst/>
                        </a:rPr>
                        <a:t>מספר חפץ</a:t>
                      </a:r>
                      <a:endParaRPr lang="en-US" sz="12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14</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13</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12</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11</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10</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9</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8</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7</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6</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5</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a:effectLst/>
                        </a:rPr>
                        <a:t>4</a:t>
                      </a:r>
                      <a:endParaRPr lang="en-US" sz="180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3</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2</a:t>
                      </a:r>
                      <a:endParaRPr lang="en-US" sz="18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dirty="0">
                          <a:effectLst/>
                        </a:rPr>
                        <a:t>1</a:t>
                      </a:r>
                      <a:endParaRPr lang="en-US" sz="1800" dirty="0">
                        <a:effectLst/>
                        <a:latin typeface="Consolas"/>
                        <a:ea typeface="Calibri"/>
                        <a:cs typeface="Segoe UI Light"/>
                      </a:endParaRPr>
                    </a:p>
                  </a:txBody>
                  <a:tcPr marL="68580" marR="68580" marT="0" marB="0" anchor="ctr"/>
                </a:tc>
                <a:extLst>
                  <a:ext uri="{0D108BD9-81ED-4DB2-BD59-A6C34878D82A}">
                    <a16:rowId xmlns:a16="http://schemas.microsoft.com/office/drawing/2014/main" val="10000"/>
                  </a:ext>
                </a:extLst>
              </a:tr>
              <a:tr h="652378">
                <a:tc>
                  <a:txBody>
                    <a:bodyPr/>
                    <a:lstStyle/>
                    <a:p>
                      <a:pPr algn="ctr" rtl="1">
                        <a:lnSpc>
                          <a:spcPct val="150000"/>
                        </a:lnSpc>
                        <a:spcAft>
                          <a:spcPts val="0"/>
                        </a:spcAft>
                        <a:tabLst>
                          <a:tab pos="770890" algn="ctr"/>
                        </a:tabLst>
                      </a:pPr>
                      <a:r>
                        <a:rPr lang="he-IL" sz="1200" dirty="0">
                          <a:effectLst/>
                        </a:rPr>
                        <a:t>מחיר</a:t>
                      </a:r>
                      <a:endParaRPr lang="en-US" sz="1200"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99</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80</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83</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82</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85</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89</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93</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94</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106</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98</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104</a:t>
                      </a:r>
                      <a:endParaRPr lang="en-US" sz="1600" b="1" dirty="0">
                        <a:effectLst/>
                        <a:latin typeface="Consolas"/>
                        <a:ea typeface="Calibri"/>
                        <a:cs typeface="Segoe UI Light"/>
                      </a:endParaRPr>
                    </a:p>
                  </a:txBody>
                  <a:tcPr marL="68580" marR="68580" marT="0" marB="0" anchor="ctr"/>
                </a:tc>
                <a:tc>
                  <a:txBody>
                    <a:bodyPr/>
                    <a:lstStyle/>
                    <a:p>
                      <a:pPr algn="ctr" rtl="1">
                        <a:lnSpc>
                          <a:spcPct val="150000"/>
                        </a:lnSpc>
                        <a:spcAft>
                          <a:spcPts val="0"/>
                        </a:spcAft>
                        <a:tabLst>
                          <a:tab pos="770890" algn="ctr"/>
                        </a:tabLst>
                      </a:pPr>
                      <a:r>
                        <a:rPr lang="he-IL" sz="1800" b="1" dirty="0">
                          <a:effectLst/>
                          <a:latin typeface="Consolas"/>
                          <a:ea typeface="Calibri"/>
                          <a:cs typeface="Arial"/>
                        </a:rPr>
                        <a:t>100</a:t>
                      </a:r>
                      <a:endParaRPr lang="en-US" sz="1600" b="1" dirty="0">
                        <a:effectLst/>
                        <a:latin typeface="Consolas"/>
                        <a:ea typeface="Calibri"/>
                        <a:cs typeface="Segoe UI Light"/>
                      </a:endParaRPr>
                    </a:p>
                  </a:txBody>
                  <a:tcPr marL="68580" marR="68580" marT="0" marB="0" anchor="ctr"/>
                </a:tc>
                <a:extLst>
                  <a:ext uri="{0D108BD9-81ED-4DB2-BD59-A6C34878D82A}">
                    <a16:rowId xmlns:a16="http://schemas.microsoft.com/office/drawing/2014/main" val="10001"/>
                  </a:ext>
                </a:extLst>
              </a:tr>
            </a:tbl>
          </a:graphicData>
        </a:graphic>
      </p:graphicFrame>
      <p:pic>
        <p:nvPicPr>
          <p:cNvPr id="8" name="מציין מיקום תוכן 7"/>
          <p:cNvPicPr>
            <a:picLocks noGrp="1" noChangeAspect="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Effect>
                      <a14:saturation sat="66000"/>
                    </a14:imgEffect>
                  </a14:imgLayer>
                </a14:imgProps>
              </a:ext>
            </a:extLst>
          </a:blip>
          <a:srcRect l="19742" t="31776" r="17203" b="19270"/>
          <a:stretch/>
        </p:blipFill>
        <p:spPr>
          <a:xfrm>
            <a:off x="1382440" y="3284984"/>
            <a:ext cx="6336704" cy="2765939"/>
          </a:xfrm>
          <a:prstGeom prst="rect">
            <a:avLst/>
          </a:prstGeom>
          <a:ln w="9525">
            <a:solidFill>
              <a:schemeClr val="accent1">
                <a:lumMod val="75000"/>
              </a:schemeClr>
            </a:solidFill>
          </a:ln>
        </p:spPr>
      </p:pic>
    </p:spTree>
    <p:extLst>
      <p:ext uri="{BB962C8B-B14F-4D97-AF65-F5344CB8AC3E}">
        <p14:creationId xmlns:p14="http://schemas.microsoft.com/office/powerpoint/2010/main" val="832746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sz="2200" dirty="0"/>
              <a:t>הצעד הבטוח: התחלת המקטע בנקודה הכי שמאלית וכיסוי כל הנקודות האפשריות על ידי אותו המקטע.</a:t>
            </a:r>
          </a:p>
          <a:p>
            <a:r>
              <a:rPr lang="he-IL" sz="2200" dirty="0"/>
              <a:t>הבעיה המוקטנת שנשארת היא: טיפול בנקודות הנותרות מימין למקטע שהנחנו.</a:t>
            </a:r>
          </a:p>
          <a:p>
            <a:r>
              <a:rPr lang="he-IL" sz="2200" dirty="0"/>
              <a:t>נחזור ונפעיל גם עליה את אלגוריתם החמדני שלנו.</a:t>
            </a:r>
          </a:p>
          <a:p>
            <a:endParaRPr lang="he-IL" dirty="0"/>
          </a:p>
        </p:txBody>
      </p:sp>
      <p:sp>
        <p:nvSpPr>
          <p:cNvPr id="3" name="כותרת 2"/>
          <p:cNvSpPr>
            <a:spLocks noGrp="1"/>
          </p:cNvSpPr>
          <p:nvPr>
            <p:ph type="title"/>
          </p:nvPr>
        </p:nvSpPr>
        <p:spPr/>
        <p:txBody>
          <a:bodyPr/>
          <a:lstStyle/>
          <a:p>
            <a:r>
              <a:rPr lang="he-IL" dirty="0"/>
              <a:t>בעיית הסגמנטים/ חלוקה לקבוצות</a:t>
            </a:r>
          </a:p>
        </p:txBody>
      </p:sp>
      <p:pic>
        <p:nvPicPr>
          <p:cNvPr id="5" name="מציין מיקום תוכן 3"/>
          <p:cNvPicPr>
            <a:picLocks noChangeAspect="1"/>
          </p:cNvPicPr>
          <p:nvPr/>
        </p:nvPicPr>
        <p:blipFill rotWithShape="1">
          <a:blip r:embed="rId2">
            <a:duotone>
              <a:schemeClr val="accent1">
                <a:shade val="45000"/>
                <a:satMod val="135000"/>
              </a:schemeClr>
              <a:prstClr val="white"/>
            </a:duotone>
          </a:blip>
          <a:srcRect l="26339" t="34606" r="22860" b="31193"/>
          <a:stretch/>
        </p:blipFill>
        <p:spPr>
          <a:xfrm>
            <a:off x="1475656" y="3501008"/>
            <a:ext cx="6813499" cy="2579005"/>
          </a:xfrm>
          <a:prstGeom prst="rect">
            <a:avLst/>
          </a:prstGeom>
          <a:ln>
            <a:solidFill>
              <a:schemeClr val="accent1">
                <a:lumMod val="75000"/>
              </a:schemeClr>
            </a:solidFill>
          </a:ln>
        </p:spPr>
      </p:pic>
    </p:spTree>
    <p:extLst>
      <p:ext uri="{BB962C8B-B14F-4D97-AF65-F5344CB8AC3E}">
        <p14:creationId xmlns:p14="http://schemas.microsoft.com/office/powerpoint/2010/main" val="3763511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323528" y="1481328"/>
            <a:ext cx="8363272" cy="4525963"/>
          </a:xfrm>
        </p:spPr>
        <p:txBody>
          <a:bodyPr>
            <a:normAutofit/>
          </a:bodyPr>
          <a:lstStyle/>
          <a:p>
            <a:r>
              <a:rPr lang="he-IL" sz="1950" dirty="0"/>
              <a:t>הצעד הבטוח: התחלת המקטע בנקודה הכי שמאלית וכיסוי כל הנקודות האפשריות על ידי אותו המקטע. בהמשך- כיסוי הנקודות הנותרות מימין למקטע.</a:t>
            </a:r>
          </a:p>
          <a:p>
            <a:r>
              <a:rPr lang="he-IL" sz="2000" dirty="0"/>
              <a:t>הוכחת נכונות הצעד הבטוח: </a:t>
            </a:r>
          </a:p>
          <a:p>
            <a:r>
              <a:rPr lang="he-IL" sz="2000" dirty="0"/>
              <a:t>אנו מתחילים בנקודה השמאלית ביותר ודואגים לכסות את כל הנקודות על ידי מקטעים.</a:t>
            </a:r>
          </a:p>
          <a:p>
            <a:r>
              <a:rPr lang="he-IL" sz="2000" dirty="0"/>
              <a:t>נניח שקיים פתרון אופטימלי נוסף לבעיה...</a:t>
            </a:r>
          </a:p>
          <a:p>
            <a:r>
              <a:rPr lang="he-IL" sz="2000" dirty="0"/>
              <a:t>הרי שהתחלת המקטע בנקודה השמאלית ביותר יכול לגרום רק לכיסוי של יותר נקודות על ידי מקטעים ולא ליותר מקטעים. כיוון שבכל מקרה, הנקודה השמאלית ביותר חייבת להיות במקטע כלשהו. רק גרמנו לכך שיהיו יותר נקודות הכלולות </a:t>
            </a:r>
            <a:r>
              <a:rPr lang="he-IL" sz="2000" dirty="0" err="1"/>
              <a:t>עימה</a:t>
            </a:r>
            <a:r>
              <a:rPr lang="he-IL" sz="2000" dirty="0"/>
              <a:t> במקטע.</a:t>
            </a:r>
          </a:p>
          <a:p>
            <a:endParaRPr lang="he-IL" sz="2100" dirty="0"/>
          </a:p>
          <a:p>
            <a:endParaRPr lang="he-IL" sz="2100" dirty="0"/>
          </a:p>
          <a:p>
            <a:endParaRPr lang="he-IL" sz="2100" dirty="0"/>
          </a:p>
          <a:p>
            <a:endParaRPr lang="he-IL" sz="2100" dirty="0"/>
          </a:p>
          <a:p>
            <a:endParaRPr lang="he-IL" sz="2100" dirty="0"/>
          </a:p>
          <a:p>
            <a:endParaRPr lang="he-IL" sz="2100" dirty="0"/>
          </a:p>
          <a:p>
            <a:endParaRPr lang="he-IL" sz="2100" dirty="0"/>
          </a:p>
          <a:p>
            <a:endParaRPr lang="he-IL" sz="2100" dirty="0"/>
          </a:p>
        </p:txBody>
      </p:sp>
      <p:sp>
        <p:nvSpPr>
          <p:cNvPr id="3" name="כותרת 2"/>
          <p:cNvSpPr>
            <a:spLocks noGrp="1"/>
          </p:cNvSpPr>
          <p:nvPr>
            <p:ph type="title"/>
          </p:nvPr>
        </p:nvSpPr>
        <p:spPr/>
        <p:txBody>
          <a:bodyPr/>
          <a:lstStyle/>
          <a:p>
            <a:r>
              <a:rPr lang="he-IL" dirty="0"/>
              <a:t>בעיית הסגמנטים/ חלוקה לקבוצות</a:t>
            </a:r>
          </a:p>
        </p:txBody>
      </p:sp>
      <p:pic>
        <p:nvPicPr>
          <p:cNvPr id="5" name="מציין מיקום תוכן 3"/>
          <p:cNvPicPr>
            <a:picLocks noChangeAspect="1"/>
          </p:cNvPicPr>
          <p:nvPr/>
        </p:nvPicPr>
        <p:blipFill rotWithShape="1">
          <a:blip r:embed="rId2">
            <a:duotone>
              <a:schemeClr val="accent1">
                <a:shade val="45000"/>
                <a:satMod val="135000"/>
              </a:schemeClr>
              <a:prstClr val="white"/>
            </a:duotone>
          </a:blip>
          <a:srcRect l="26339" t="44872" r="22860" b="33942"/>
          <a:stretch/>
        </p:blipFill>
        <p:spPr>
          <a:xfrm>
            <a:off x="2051720" y="4941168"/>
            <a:ext cx="6199708" cy="1453675"/>
          </a:xfrm>
          <a:prstGeom prst="rect">
            <a:avLst/>
          </a:prstGeom>
          <a:ln>
            <a:solidFill>
              <a:schemeClr val="accent1">
                <a:lumMod val="75000"/>
              </a:schemeClr>
            </a:solidFill>
          </a:ln>
        </p:spPr>
      </p:pic>
    </p:spTree>
    <p:extLst>
      <p:ext uri="{BB962C8B-B14F-4D97-AF65-F5344CB8AC3E}">
        <p14:creationId xmlns:p14="http://schemas.microsoft.com/office/powerpoint/2010/main" val="3337409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על מנת להתחיל את הטיפול בנקודה השמאלית ביותר (או מהאיבר בעל הערך הנמוך ביותר), תחילה עלינו למיין את האוסף.</a:t>
            </a:r>
          </a:p>
          <a:p>
            <a:r>
              <a:rPr lang="he-IL" dirty="0"/>
              <a:t>אלגוריתם מיון יעיל יעשה זאת בסיבוכיות </a:t>
            </a:r>
            <a:r>
              <a:rPr lang="el-GR" altLang="he-IL" sz="2800" dirty="0"/>
              <a:t>Θ</a:t>
            </a:r>
            <a:r>
              <a:rPr lang="en-US" altLang="he-IL" sz="2800" dirty="0"/>
              <a:t>(n</a:t>
            </a:r>
            <a:r>
              <a:rPr lang="en-US" altLang="he-IL" sz="900" dirty="0"/>
              <a:t> </a:t>
            </a:r>
            <a:r>
              <a:rPr lang="en-US" altLang="he-IL" sz="2800" dirty="0"/>
              <a:t>log</a:t>
            </a:r>
            <a:r>
              <a:rPr lang="en-US" altLang="he-IL" sz="1200" dirty="0"/>
              <a:t> </a:t>
            </a:r>
            <a:r>
              <a:rPr lang="en-US" altLang="he-IL" sz="2800" dirty="0"/>
              <a:t>n)</a:t>
            </a:r>
            <a:r>
              <a:rPr lang="he-IL" altLang="he-IL" sz="2800" dirty="0"/>
              <a:t>.</a:t>
            </a:r>
          </a:p>
          <a:p>
            <a:r>
              <a:rPr lang="he-IL" altLang="he-IL" sz="2800" dirty="0"/>
              <a:t>לאחר מכן, סריקת האוסף וחלוקה לקבוצות ב- </a:t>
            </a:r>
            <a:r>
              <a:rPr lang="el-GR" altLang="he-IL" sz="2800" dirty="0"/>
              <a:t>Θ</a:t>
            </a:r>
            <a:r>
              <a:rPr lang="en-US" altLang="he-IL" sz="2800" dirty="0"/>
              <a:t>(n)</a:t>
            </a:r>
            <a:r>
              <a:rPr lang="he-IL" altLang="he-IL" sz="2800" dirty="0"/>
              <a:t>.</a:t>
            </a:r>
          </a:p>
          <a:p>
            <a:endParaRPr lang="he-IL" altLang="he-IL" sz="2800" dirty="0"/>
          </a:p>
          <a:p>
            <a:r>
              <a:rPr lang="he-IL" altLang="he-IL" sz="2800" dirty="0"/>
              <a:t>סה"כ: </a:t>
            </a:r>
            <a:r>
              <a:rPr lang="en-US" altLang="he-IL" sz="2800" dirty="0"/>
              <a:t>n</a:t>
            </a:r>
            <a:r>
              <a:rPr lang="en-US" altLang="he-IL" sz="900" dirty="0"/>
              <a:t> </a:t>
            </a:r>
            <a:r>
              <a:rPr lang="en-US" altLang="he-IL" sz="2800" dirty="0"/>
              <a:t>log</a:t>
            </a:r>
            <a:r>
              <a:rPr lang="en-US" altLang="he-IL" sz="1200" dirty="0"/>
              <a:t> </a:t>
            </a:r>
            <a:r>
              <a:rPr lang="en-US" altLang="he-IL" sz="2800" dirty="0" err="1"/>
              <a:t>n+n</a:t>
            </a:r>
            <a:r>
              <a:rPr lang="he-IL" altLang="he-IL" sz="2800" dirty="0"/>
              <a:t> פעולות.</a:t>
            </a:r>
          </a:p>
          <a:p>
            <a:r>
              <a:rPr lang="he-IL" altLang="he-IL" sz="2800" dirty="0"/>
              <a:t>כלומר </a:t>
            </a:r>
            <a:r>
              <a:rPr lang="el-GR" altLang="he-IL" sz="2800" dirty="0"/>
              <a:t>Θ</a:t>
            </a:r>
            <a:r>
              <a:rPr lang="en-US" altLang="he-IL" sz="2800" dirty="0"/>
              <a:t>(n</a:t>
            </a:r>
            <a:r>
              <a:rPr lang="en-US" altLang="he-IL" sz="900" dirty="0"/>
              <a:t> </a:t>
            </a:r>
            <a:r>
              <a:rPr lang="en-US" altLang="he-IL" sz="2800" dirty="0"/>
              <a:t>log</a:t>
            </a:r>
            <a:r>
              <a:rPr lang="en-US" altLang="he-IL" sz="1200" dirty="0"/>
              <a:t> </a:t>
            </a:r>
            <a:r>
              <a:rPr lang="en-US" altLang="he-IL" sz="2800" dirty="0"/>
              <a:t>n)</a:t>
            </a:r>
            <a:endParaRPr lang="he-IL" altLang="he-IL" sz="2800" dirty="0"/>
          </a:p>
          <a:p>
            <a:endParaRPr lang="he-IL" sz="2800" dirty="0"/>
          </a:p>
          <a:p>
            <a:endParaRPr lang="he-IL" dirty="0"/>
          </a:p>
        </p:txBody>
      </p:sp>
      <p:sp>
        <p:nvSpPr>
          <p:cNvPr id="3" name="כותרת 2"/>
          <p:cNvSpPr>
            <a:spLocks noGrp="1"/>
          </p:cNvSpPr>
          <p:nvPr>
            <p:ph type="title"/>
          </p:nvPr>
        </p:nvSpPr>
        <p:spPr/>
        <p:txBody>
          <a:bodyPr/>
          <a:lstStyle/>
          <a:p>
            <a:r>
              <a:rPr lang="he-IL" dirty="0"/>
              <a:t>ניתוח סיבוכיות</a:t>
            </a:r>
          </a:p>
        </p:txBody>
      </p:sp>
    </p:spTree>
    <p:extLst>
      <p:ext uri="{BB962C8B-B14F-4D97-AF65-F5344CB8AC3E}">
        <p14:creationId xmlns:p14="http://schemas.microsoft.com/office/powerpoint/2010/main" val="3638185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4611968"/>
          </a:xfrm>
        </p:spPr>
        <p:txBody>
          <a:bodyPr/>
          <a:lstStyle/>
          <a:p>
            <a:r>
              <a:rPr lang="he-IL" dirty="0"/>
              <a:t>נתונה הבעיה האלגוריתמית הבאה:</a:t>
            </a:r>
          </a:p>
          <a:p>
            <a:r>
              <a:rPr lang="he-IL" dirty="0"/>
              <a:t>נתונים שני מספרים </a:t>
            </a:r>
            <a:r>
              <a:rPr lang="en-US" dirty="0"/>
              <a:t>a</a:t>
            </a:r>
            <a:r>
              <a:rPr lang="he-IL" dirty="0"/>
              <a:t> ו-</a:t>
            </a:r>
            <a:r>
              <a:rPr lang="en-US" dirty="0"/>
              <a:t>b</a:t>
            </a:r>
            <a:r>
              <a:rPr lang="he-IL" dirty="0"/>
              <a:t>. ידוע ש- </a:t>
            </a:r>
            <a:r>
              <a:rPr lang="en-US" dirty="0"/>
              <a:t>b</a:t>
            </a:r>
            <a:r>
              <a:rPr lang="he-IL" dirty="0"/>
              <a:t> גדול מ-</a:t>
            </a:r>
            <a:r>
              <a:rPr lang="en-US" dirty="0"/>
              <a:t>a</a:t>
            </a:r>
            <a:r>
              <a:rPr lang="he-IL" dirty="0"/>
              <a:t>.</a:t>
            </a:r>
          </a:p>
          <a:p>
            <a:r>
              <a:rPr lang="he-IL" dirty="0"/>
              <a:t>אנו מעוניינים לדעת מיהו המספר בעל סכום הספרות הגבוה ביותר מבין המספרים בטווח </a:t>
            </a:r>
            <a:r>
              <a:rPr lang="en-US" dirty="0"/>
              <a:t>a</a:t>
            </a:r>
            <a:r>
              <a:rPr lang="he-IL" dirty="0"/>
              <a:t> ו </a:t>
            </a:r>
            <a:r>
              <a:rPr lang="en-US" dirty="0"/>
              <a:t>b</a:t>
            </a:r>
            <a:r>
              <a:rPr lang="he-IL" dirty="0"/>
              <a:t>.</a:t>
            </a:r>
          </a:p>
          <a:p>
            <a:endParaRPr lang="he-IL" dirty="0"/>
          </a:p>
          <a:p>
            <a:r>
              <a:rPr lang="he-IL" dirty="0"/>
              <a:t>פתרון בגישה לא חמדנית:</a:t>
            </a:r>
          </a:p>
          <a:p>
            <a:r>
              <a:rPr lang="he-IL" dirty="0"/>
              <a:t>נוכל לסרוק את כל המספרים בטווח, לחשב עבור כל אחד מהם סכום ספרות, לבדקו מול סכום הספרות הגבוה ביותר שמצאנו עד כה.</a:t>
            </a:r>
          </a:p>
          <a:p>
            <a:r>
              <a:rPr lang="he-IL" dirty="0"/>
              <a:t>סיבוכיות זמן ריצה: </a:t>
            </a:r>
            <a:r>
              <a:rPr lang="el-GR" dirty="0"/>
              <a:t>Θ</a:t>
            </a:r>
            <a:r>
              <a:rPr lang="he-IL" dirty="0"/>
              <a:t> של מספר הערכים בטווח </a:t>
            </a:r>
            <a:r>
              <a:rPr lang="en-US" dirty="0"/>
              <a:t>a</a:t>
            </a:r>
            <a:r>
              <a:rPr lang="he-IL" dirty="0"/>
              <a:t> ו </a:t>
            </a:r>
            <a:r>
              <a:rPr lang="en-US" dirty="0"/>
              <a:t>b</a:t>
            </a:r>
            <a:r>
              <a:rPr lang="he-IL" dirty="0"/>
              <a:t>.</a:t>
            </a:r>
          </a:p>
        </p:txBody>
      </p:sp>
      <p:sp>
        <p:nvSpPr>
          <p:cNvPr id="3" name="כותרת 2"/>
          <p:cNvSpPr>
            <a:spLocks noGrp="1"/>
          </p:cNvSpPr>
          <p:nvPr>
            <p:ph type="title"/>
          </p:nvPr>
        </p:nvSpPr>
        <p:spPr/>
        <p:txBody>
          <a:bodyPr/>
          <a:lstStyle/>
          <a:p>
            <a:r>
              <a:rPr lang="he-IL" sz="3200" dirty="0"/>
              <a:t>מציאת מספר בעל סכום הספרות הגדול ביותר</a:t>
            </a:r>
          </a:p>
        </p:txBody>
      </p:sp>
    </p:spTree>
    <p:extLst>
      <p:ext uri="{BB962C8B-B14F-4D97-AF65-F5344CB8AC3E}">
        <p14:creationId xmlns:p14="http://schemas.microsoft.com/office/powerpoint/2010/main" val="1652928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755576" y="1481328"/>
            <a:ext cx="7931224" cy="4611968"/>
          </a:xfrm>
        </p:spPr>
        <p:txBody>
          <a:bodyPr>
            <a:noAutofit/>
          </a:bodyPr>
          <a:lstStyle/>
          <a:p>
            <a:r>
              <a:rPr lang="he-IL" sz="2100" dirty="0"/>
              <a:t>נרצה להציע פתרון בגישה חמדנית:</a:t>
            </a:r>
          </a:p>
          <a:p>
            <a:endParaRPr lang="he-IL" sz="2100" dirty="0"/>
          </a:p>
          <a:p>
            <a:r>
              <a:rPr lang="he-IL" sz="2100" dirty="0"/>
              <a:t>ניקח כדוגמא שני ערכים דו ספרתיים: 52,84</a:t>
            </a:r>
          </a:p>
          <a:p>
            <a:r>
              <a:rPr lang="he-IL" sz="2100" dirty="0"/>
              <a:t>או דו ותלת ספרתי: 99,180</a:t>
            </a:r>
          </a:p>
          <a:p>
            <a:endParaRPr lang="he-IL" sz="2100" dirty="0"/>
          </a:p>
          <a:p>
            <a:r>
              <a:rPr lang="he-IL" sz="2100" dirty="0"/>
              <a:t>כיצד נאתר את המספר בעל סכום הספרות הגדול ביותר?</a:t>
            </a:r>
          </a:p>
          <a:p>
            <a:endParaRPr lang="he-IL" sz="2100" dirty="0"/>
          </a:p>
          <a:p>
            <a:r>
              <a:rPr lang="he-IL" sz="2100" dirty="0"/>
              <a:t>נעדיף את המספר מהעשרת הגבוהה כמובן, אך בל נשכח שיתכן ועדיף לוותר על אחד בעשרות לטובת הפרש גדול יותר בספרת האחדות.</a:t>
            </a:r>
          </a:p>
          <a:p>
            <a:r>
              <a:rPr lang="he-IL" sz="2100" dirty="0"/>
              <a:t>ואם המספר הוא תלת ספרתי, אחרי שהשגנו את המספר בעל ספרת האחדות הגדולה ביותר בעשרת כלשהי, נרצה לבדוק אולי ניתן לרדת למאה הקודמת לטובת ערך גבוה יותר בספרת העשרות. וכך הלאה.....</a:t>
            </a:r>
          </a:p>
        </p:txBody>
      </p:sp>
      <p:sp>
        <p:nvSpPr>
          <p:cNvPr id="3" name="כותרת 2"/>
          <p:cNvSpPr>
            <a:spLocks noGrp="1"/>
          </p:cNvSpPr>
          <p:nvPr>
            <p:ph type="title"/>
          </p:nvPr>
        </p:nvSpPr>
        <p:spPr/>
        <p:txBody>
          <a:bodyPr/>
          <a:lstStyle/>
          <a:p>
            <a:r>
              <a:rPr lang="he-IL" sz="3200" dirty="0"/>
              <a:t>מציאת מספר בעל סכום הספרות הגדול ביותר</a:t>
            </a:r>
          </a:p>
        </p:txBody>
      </p:sp>
    </p:spTree>
    <p:extLst>
      <p:ext uri="{BB962C8B-B14F-4D97-AF65-F5344CB8AC3E}">
        <p14:creationId xmlns:p14="http://schemas.microsoft.com/office/powerpoint/2010/main" val="3758510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4611968"/>
          </a:xfrm>
        </p:spPr>
        <p:txBody>
          <a:bodyPr>
            <a:noAutofit/>
          </a:bodyPr>
          <a:lstStyle/>
          <a:p>
            <a:r>
              <a:rPr lang="he-IL" sz="2400" dirty="0"/>
              <a:t>זהו הצעד הבטוח</a:t>
            </a:r>
            <a:r>
              <a:rPr lang="en-US" sz="2400" dirty="0"/>
              <a:t>:</a:t>
            </a:r>
            <a:endParaRPr lang="he-IL" sz="2400" dirty="0"/>
          </a:p>
          <a:p>
            <a:endParaRPr lang="he-IL" sz="2400" dirty="0"/>
          </a:p>
          <a:p>
            <a:r>
              <a:rPr lang="he-IL" sz="2400" dirty="0"/>
              <a:t>נתחיל מהמספר הגבוה ביותר בטווח.</a:t>
            </a:r>
          </a:p>
          <a:p>
            <a:r>
              <a:rPr lang="he-IL" sz="2400" dirty="0"/>
              <a:t>נחפש את המספר בעל ספרת האחדות הגדולה ביותר, הקרוב אליו.</a:t>
            </a:r>
          </a:p>
          <a:p>
            <a:r>
              <a:rPr lang="he-IL" sz="2400" dirty="0"/>
              <a:t>לאחר מכן, נבצע את התהליך שוב ושוב עבור הספרות הבאות.</a:t>
            </a:r>
          </a:p>
          <a:p>
            <a:endParaRPr lang="he-IL" sz="2400" dirty="0"/>
          </a:p>
          <a:p>
            <a:r>
              <a:rPr lang="he-IL" sz="2400" dirty="0"/>
              <a:t>כיצד זה מתבצע בפועל?</a:t>
            </a:r>
          </a:p>
          <a:p>
            <a:pPr marL="109728" indent="0">
              <a:buNone/>
            </a:pPr>
            <a:endParaRPr lang="he-IL" sz="2400" dirty="0"/>
          </a:p>
          <a:p>
            <a:endParaRPr lang="he-IL" sz="2400" dirty="0"/>
          </a:p>
        </p:txBody>
      </p:sp>
      <p:sp>
        <p:nvSpPr>
          <p:cNvPr id="3" name="כותרת 2"/>
          <p:cNvSpPr>
            <a:spLocks noGrp="1"/>
          </p:cNvSpPr>
          <p:nvPr>
            <p:ph type="title"/>
          </p:nvPr>
        </p:nvSpPr>
        <p:spPr/>
        <p:txBody>
          <a:bodyPr/>
          <a:lstStyle/>
          <a:p>
            <a:r>
              <a:rPr lang="he-IL" sz="3200" dirty="0"/>
              <a:t>מציאת מספר בעל סכום הספרות הגדול ביותר</a:t>
            </a:r>
          </a:p>
        </p:txBody>
      </p:sp>
    </p:spTree>
    <p:extLst>
      <p:ext uri="{BB962C8B-B14F-4D97-AF65-F5344CB8AC3E}">
        <p14:creationId xmlns:p14="http://schemas.microsoft.com/office/powerpoint/2010/main" val="2262712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סכום הספרות של מספר בעשרת הקודמת או במאה הקודמת, עשוי להיות גבוה יותר, ולכן אנו בודקים האם המספר הגדול ביותר בעשרת הקודמת עדיין בטווח.</a:t>
            </a:r>
          </a:p>
          <a:p>
            <a:endParaRPr lang="he-IL" dirty="0"/>
          </a:p>
          <a:p>
            <a:r>
              <a:rPr lang="he-IL" dirty="0"/>
              <a:t>כיוון שאנו בודקים מהגבול העליון של הטווח לתחתון, הרי שאם הסכום הגדול ביותר בעשרת הקודמת אינו בטווח הרי שכל העשרת הקודמת אינה בטווח, וממילא אין מה לחשוש לסכום גבוה יותר של מספר מהעשרת הקודמת.</a:t>
            </a:r>
          </a:p>
          <a:p>
            <a:pPr marL="109728" indent="0">
              <a:buNone/>
            </a:pPr>
            <a:endParaRPr lang="he-IL" dirty="0"/>
          </a:p>
        </p:txBody>
      </p:sp>
      <p:sp>
        <p:nvSpPr>
          <p:cNvPr id="3" name="כותרת 2"/>
          <p:cNvSpPr>
            <a:spLocks noGrp="1"/>
          </p:cNvSpPr>
          <p:nvPr>
            <p:ph type="title"/>
          </p:nvPr>
        </p:nvSpPr>
        <p:spPr/>
        <p:txBody>
          <a:bodyPr/>
          <a:lstStyle/>
          <a:p>
            <a:r>
              <a:rPr lang="he-IL" dirty="0"/>
              <a:t>הוכחת נכונות הצעד הבטוח</a:t>
            </a:r>
          </a:p>
        </p:txBody>
      </p:sp>
    </p:spTree>
    <p:extLst>
      <p:ext uri="{BB962C8B-B14F-4D97-AF65-F5344CB8AC3E}">
        <p14:creationId xmlns:p14="http://schemas.microsoft.com/office/powerpoint/2010/main" val="2021880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02CEBAD4-FB0E-4F2B-8209-0148FE9C7736}"/>
              </a:ext>
            </a:extLst>
          </p:cNvPr>
          <p:cNvSpPr>
            <a:spLocks noGrp="1"/>
          </p:cNvSpPr>
          <p:nvPr>
            <p:ph type="title"/>
          </p:nvPr>
        </p:nvSpPr>
        <p:spPr/>
        <p:txBody>
          <a:bodyPr/>
          <a:lstStyle/>
          <a:p>
            <a:r>
              <a:rPr lang="he-IL" dirty="0"/>
              <a:t>קוד</a:t>
            </a:r>
          </a:p>
        </p:txBody>
      </p:sp>
      <p:sp>
        <p:nvSpPr>
          <p:cNvPr id="6" name="תיבת טקסט 5">
            <a:extLst>
              <a:ext uri="{FF2B5EF4-FFF2-40B4-BE49-F238E27FC236}">
                <a16:creationId xmlns:a16="http://schemas.microsoft.com/office/drawing/2014/main" id="{8784FFDC-4057-4E6D-B618-9E108D1972B6}"/>
              </a:ext>
            </a:extLst>
          </p:cNvPr>
          <p:cNvSpPr txBox="1"/>
          <p:nvPr/>
        </p:nvSpPr>
        <p:spPr>
          <a:xfrm>
            <a:off x="457200" y="947602"/>
            <a:ext cx="7931224" cy="4524315"/>
          </a:xfrm>
          <a:prstGeom prst="rect">
            <a:avLst/>
          </a:prstGeom>
          <a:noFill/>
        </p:spPr>
        <p:txBody>
          <a:bodyPr wrap="square" rtlCol="1">
            <a:spAutoFit/>
          </a:bodyPr>
          <a:lstStyle/>
          <a:p>
            <a:pPr algn="l"/>
            <a:r>
              <a:rPr lang="en-US" dirty="0"/>
              <a:t> public static int </a:t>
            </a:r>
            <a:r>
              <a:rPr lang="en-US" dirty="0" err="1"/>
              <a:t>maxSum</a:t>
            </a:r>
            <a:r>
              <a:rPr lang="en-US" dirty="0"/>
              <a:t>(int a, int </a:t>
            </a:r>
            <a:r>
              <a:rPr lang="en-US" dirty="0" err="1"/>
              <a:t>b,int</a:t>
            </a:r>
            <a:r>
              <a:rPr lang="en-US" dirty="0"/>
              <a:t> </a:t>
            </a:r>
            <a:r>
              <a:rPr lang="en-US" dirty="0" err="1"/>
              <a:t>i</a:t>
            </a:r>
            <a:r>
              <a:rPr lang="en-US" dirty="0"/>
              <a:t>)</a:t>
            </a:r>
          </a:p>
          <a:p>
            <a:pPr algn="l"/>
            <a:r>
              <a:rPr lang="en-US" dirty="0"/>
              <a:t>    {</a:t>
            </a:r>
          </a:p>
          <a:p>
            <a:pPr algn="l"/>
            <a:r>
              <a:rPr lang="en-US" dirty="0"/>
              <a:t>        if(b/</a:t>
            </a:r>
            <a:r>
              <a:rPr lang="en-US" dirty="0" err="1"/>
              <a:t>i</a:t>
            </a:r>
            <a:r>
              <a:rPr lang="en-US" dirty="0"/>
              <a:t>==0)</a:t>
            </a:r>
          </a:p>
          <a:p>
            <a:pPr algn="l"/>
            <a:r>
              <a:rPr lang="en-US" dirty="0"/>
              <a:t>           return b;</a:t>
            </a:r>
            <a:endParaRPr lang="he-IL" dirty="0"/>
          </a:p>
          <a:p>
            <a:pPr algn="l"/>
            <a:r>
              <a:rPr lang="en-US" dirty="0"/>
              <a:t>        if ((</a:t>
            </a:r>
            <a:r>
              <a:rPr lang="en-US" dirty="0" err="1"/>
              <a:t>b%i</a:t>
            </a:r>
            <a:r>
              <a:rPr lang="en-US"/>
              <a:t>)==i-1)</a:t>
            </a:r>
            <a:endParaRPr lang="en-US" dirty="0"/>
          </a:p>
          <a:p>
            <a:pPr algn="l"/>
            <a:r>
              <a:rPr lang="he-IL" dirty="0"/>
              <a:t>  </a:t>
            </a:r>
            <a:r>
              <a:rPr lang="en-US" dirty="0"/>
              <a:t>              return </a:t>
            </a:r>
            <a:r>
              <a:rPr lang="en-US" dirty="0" err="1"/>
              <a:t>maxSum</a:t>
            </a:r>
            <a:r>
              <a:rPr lang="en-US" dirty="0"/>
              <a:t>(a, max,  </a:t>
            </a:r>
            <a:r>
              <a:rPr lang="en-US" dirty="0" err="1"/>
              <a:t>i</a:t>
            </a:r>
            <a:r>
              <a:rPr lang="en-US" dirty="0"/>
              <a:t>*10);</a:t>
            </a:r>
          </a:p>
          <a:p>
            <a:pPr algn="l"/>
            <a:r>
              <a:rPr lang="en-US" dirty="0"/>
              <a:t>        int max=b/</a:t>
            </a:r>
            <a:r>
              <a:rPr lang="en-US" dirty="0" err="1"/>
              <a:t>i</a:t>
            </a:r>
            <a:r>
              <a:rPr lang="en-US" dirty="0"/>
              <a:t>*i-1;</a:t>
            </a:r>
          </a:p>
          <a:p>
            <a:pPr algn="l"/>
            <a:r>
              <a:rPr lang="en-US" dirty="0"/>
              <a:t>        if(max&lt;a)</a:t>
            </a:r>
          </a:p>
          <a:p>
            <a:pPr algn="l"/>
            <a:r>
              <a:rPr lang="en-US" dirty="0"/>
              <a:t>            return b;</a:t>
            </a:r>
          </a:p>
          <a:p>
            <a:pPr algn="l"/>
            <a:r>
              <a:rPr lang="en-US" dirty="0"/>
              <a:t>        return </a:t>
            </a:r>
            <a:r>
              <a:rPr lang="en-US" dirty="0" err="1"/>
              <a:t>maxSum</a:t>
            </a:r>
            <a:r>
              <a:rPr lang="en-US" dirty="0"/>
              <a:t>(a, max,  </a:t>
            </a:r>
            <a:r>
              <a:rPr lang="en-US" dirty="0" err="1"/>
              <a:t>i</a:t>
            </a:r>
            <a:r>
              <a:rPr lang="en-US" dirty="0"/>
              <a:t>*10);</a:t>
            </a:r>
          </a:p>
          <a:p>
            <a:pPr algn="l"/>
            <a:r>
              <a:rPr lang="en-US" dirty="0"/>
              <a:t>    }</a:t>
            </a:r>
          </a:p>
          <a:p>
            <a:pPr algn="l"/>
            <a:r>
              <a:rPr lang="en-US" dirty="0"/>
              <a:t>    </a:t>
            </a:r>
          </a:p>
          <a:p>
            <a:pPr algn="l"/>
            <a:r>
              <a:rPr lang="en-US" dirty="0"/>
              <a:t>     public static int </a:t>
            </a:r>
            <a:r>
              <a:rPr lang="en-US" dirty="0" err="1"/>
              <a:t>maxSum</a:t>
            </a:r>
            <a:r>
              <a:rPr lang="en-US" dirty="0"/>
              <a:t>(int a, int b)</a:t>
            </a:r>
          </a:p>
          <a:p>
            <a:pPr algn="l"/>
            <a:r>
              <a:rPr lang="en-US" dirty="0"/>
              <a:t>    {</a:t>
            </a:r>
          </a:p>
          <a:p>
            <a:pPr algn="l"/>
            <a:r>
              <a:rPr lang="en-US" dirty="0"/>
              <a:t>        return </a:t>
            </a:r>
            <a:r>
              <a:rPr lang="en-US" dirty="0" err="1"/>
              <a:t>maxSum</a:t>
            </a:r>
            <a:r>
              <a:rPr lang="en-US" dirty="0"/>
              <a:t>(a, b,10);</a:t>
            </a:r>
          </a:p>
          <a:p>
            <a:pPr algn="l"/>
            <a:r>
              <a:rPr lang="en-US" dirty="0"/>
              <a:t>    }</a:t>
            </a:r>
            <a:endParaRPr lang="he-IL" dirty="0"/>
          </a:p>
        </p:txBody>
      </p:sp>
    </p:spTree>
    <p:extLst>
      <p:ext uri="{BB962C8B-B14F-4D97-AF65-F5344CB8AC3E}">
        <p14:creationId xmlns:p14="http://schemas.microsoft.com/office/powerpoint/2010/main" val="3187861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האלגוריתם החמדן מאתר את הספרה הגבוהה ביותר הקיימת בטווח המספרים, בעבור כל ספרה במספר הגדול בטווח.</a:t>
            </a:r>
          </a:p>
          <a:p>
            <a:r>
              <a:rPr lang="he-IL" dirty="0"/>
              <a:t>ז"א, </a:t>
            </a:r>
            <a:r>
              <a:rPr lang="el-GR" altLang="he-IL" sz="2400" dirty="0"/>
              <a:t>Θ </a:t>
            </a:r>
            <a:r>
              <a:rPr lang="he-IL" altLang="he-IL" sz="2400" dirty="0"/>
              <a:t> </a:t>
            </a:r>
            <a:r>
              <a:rPr lang="he-IL" altLang="he-IL" dirty="0"/>
              <a:t>של</a:t>
            </a:r>
            <a:r>
              <a:rPr lang="he-IL" altLang="he-IL" sz="2400" dirty="0"/>
              <a:t> </a:t>
            </a:r>
            <a:r>
              <a:rPr lang="he-IL" dirty="0"/>
              <a:t>מספר הספרות.</a:t>
            </a:r>
          </a:p>
        </p:txBody>
      </p:sp>
      <p:sp>
        <p:nvSpPr>
          <p:cNvPr id="3" name="כותרת 2"/>
          <p:cNvSpPr>
            <a:spLocks noGrp="1"/>
          </p:cNvSpPr>
          <p:nvPr>
            <p:ph type="title"/>
          </p:nvPr>
        </p:nvSpPr>
        <p:spPr/>
        <p:txBody>
          <a:bodyPr/>
          <a:lstStyle/>
          <a:p>
            <a:r>
              <a:rPr lang="he-IL" dirty="0"/>
              <a:t>ניתוח סיבוכיות</a:t>
            </a:r>
          </a:p>
        </p:txBody>
      </p:sp>
    </p:spTree>
    <p:extLst>
      <p:ext uri="{BB962C8B-B14F-4D97-AF65-F5344CB8AC3E}">
        <p14:creationId xmlns:p14="http://schemas.microsoft.com/office/powerpoint/2010/main" val="32977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pPr lvl="0"/>
            <a:r>
              <a:rPr lang="he-IL" sz="2800" dirty="0"/>
              <a:t>ברשותך </a:t>
            </a:r>
            <a:r>
              <a:rPr lang="en-US" sz="2800" dirty="0"/>
              <a:t>N</a:t>
            </a:r>
            <a:r>
              <a:rPr lang="he-IL" sz="2800" dirty="0"/>
              <a:t> שקים המכילים אבקות.</a:t>
            </a:r>
            <a:br>
              <a:rPr lang="en-US" sz="2800" dirty="0"/>
            </a:br>
            <a:r>
              <a:rPr lang="he-IL" sz="2800" dirty="0"/>
              <a:t> נתון עבור כל שק אבקה </a:t>
            </a:r>
            <a:r>
              <a:rPr lang="en-US" sz="2800" dirty="0" err="1"/>
              <a:t>i</a:t>
            </a:r>
            <a:r>
              <a:rPr lang="he-IL" sz="2800" dirty="0"/>
              <a:t>:</a:t>
            </a:r>
            <a:endParaRPr lang="en-US" sz="2400" dirty="0"/>
          </a:p>
          <a:p>
            <a:pPr lvl="1"/>
            <a:r>
              <a:rPr lang="he-IL" sz="2400" dirty="0"/>
              <a:t>ערכו בשקלים – </a:t>
            </a:r>
            <a:r>
              <a:rPr lang="en-US" sz="2400" dirty="0"/>
              <a:t>v</a:t>
            </a:r>
            <a:r>
              <a:rPr lang="en-US" sz="2400" baseline="-25000" dirty="0"/>
              <a:t>i</a:t>
            </a:r>
            <a:endParaRPr lang="en-US" sz="2000" dirty="0"/>
          </a:p>
          <a:p>
            <a:pPr lvl="1"/>
            <a:r>
              <a:rPr lang="he-IL" sz="2400" dirty="0"/>
              <a:t>משקלו – </a:t>
            </a:r>
            <a:r>
              <a:rPr lang="en-US" sz="2400" dirty="0" err="1"/>
              <a:t>w</a:t>
            </a:r>
            <a:r>
              <a:rPr lang="en-US" sz="2400" baseline="-25000" dirty="0" err="1"/>
              <a:t>i</a:t>
            </a:r>
            <a:endParaRPr lang="en-US" sz="2000" dirty="0"/>
          </a:p>
          <a:p>
            <a:r>
              <a:rPr lang="he-IL" sz="2800" dirty="0"/>
              <a:t>כתבי אלגוריתם חמדן המקבל את </a:t>
            </a:r>
            <a:r>
              <a:rPr lang="en-US" sz="2800" dirty="0"/>
              <a:t>N</a:t>
            </a:r>
            <a:r>
              <a:rPr lang="he-IL" sz="2800" dirty="0"/>
              <a:t> השקים ואת המשקל הכולל שביכולתך לשאת בתרמיל, ומחזיר את רשימת האבקות שעליך לקחת עמך על מנת להגיע לשווי מקסימלי במינימום משקל. (ניתן לקחת גם חלק משק).</a:t>
            </a:r>
          </a:p>
          <a:p>
            <a:r>
              <a:rPr lang="he-IL" sz="2800" dirty="0"/>
              <a:t>מהי סיבוכיות זמן הריצה של האלגוריתם?</a:t>
            </a:r>
            <a:endParaRPr lang="he-IL" dirty="0"/>
          </a:p>
        </p:txBody>
      </p:sp>
      <p:sp>
        <p:nvSpPr>
          <p:cNvPr id="3" name="כותרת 2"/>
          <p:cNvSpPr>
            <a:spLocks noGrp="1"/>
          </p:cNvSpPr>
          <p:nvPr>
            <p:ph type="title"/>
          </p:nvPr>
        </p:nvSpPr>
        <p:spPr/>
        <p:txBody>
          <a:bodyPr/>
          <a:lstStyle/>
          <a:p>
            <a:r>
              <a:rPr lang="he-IL" dirty="0"/>
              <a:t>בעיית תרמיל הגב</a:t>
            </a:r>
          </a:p>
        </p:txBody>
      </p:sp>
    </p:spTree>
    <p:extLst>
      <p:ext uri="{BB962C8B-B14F-4D97-AF65-F5344CB8AC3E}">
        <p14:creationId xmlns:p14="http://schemas.microsoft.com/office/powerpoint/2010/main" val="2429879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dirty="0"/>
              <a:t>דוגמא, בעיית תרמיל הגב</a:t>
            </a:r>
          </a:p>
        </p:txBody>
      </p:sp>
      <p:pic>
        <p:nvPicPr>
          <p:cNvPr id="7"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33870" t="17882" r="14885" b="10243"/>
          <a:stretch/>
        </p:blipFill>
        <p:spPr bwMode="auto">
          <a:xfrm>
            <a:off x="1784829" y="1481138"/>
            <a:ext cx="5739499" cy="452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4969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dirty="0"/>
              <a:t>דוגמא, בעיית תרמיל הגב</a:t>
            </a:r>
          </a:p>
        </p:txBody>
      </p:sp>
      <p:pic>
        <p:nvPicPr>
          <p:cNvPr id="6"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33772" t="17361" r="15178" b="7986"/>
          <a:stretch/>
        </p:blipFill>
        <p:spPr bwMode="auto">
          <a:xfrm>
            <a:off x="1819554" y="1481138"/>
            <a:ext cx="5504892" cy="452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2668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dirty="0"/>
              <a:t>דוגמא, בעיית תרמיל הגב</a:t>
            </a:r>
          </a:p>
        </p:txBody>
      </p:sp>
      <p:pic>
        <p:nvPicPr>
          <p:cNvPr id="3074"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33908" t="16941" r="15134" b="5612"/>
          <a:stretch/>
        </p:blipFill>
        <p:spPr bwMode="auto">
          <a:xfrm>
            <a:off x="1835696" y="1412776"/>
            <a:ext cx="5544616" cy="4737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8276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dirty="0"/>
              <a:t>דוגמא, בעיית תרמיל הגב</a:t>
            </a:r>
          </a:p>
        </p:txBody>
      </p:sp>
      <p:pic>
        <p:nvPicPr>
          <p:cNvPr id="6"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33870" t="17362" r="14689" b="9896"/>
          <a:stretch/>
        </p:blipFill>
        <p:spPr bwMode="auto">
          <a:xfrm>
            <a:off x="1725609" y="1481138"/>
            <a:ext cx="5692781" cy="452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8961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ראשית, כמובן נתמקד בערך הגבוה ביותר ליחידת משקל, כלומר, לא נתעניין בערך שנקבל על כלל המשקל של שק אבקה מסוים, אלא על השווי לגרם/קילוגרם.</a:t>
            </a:r>
          </a:p>
          <a:p>
            <a:r>
              <a:rPr lang="he-IL" dirty="0"/>
              <a:t>בכל שלב, נרצה להכניס לתרמיל את המוצר בעל השווי הגדול ביותר שניתן לקבל תמורת המשקל שהוא תופס.</a:t>
            </a:r>
          </a:p>
          <a:p>
            <a:r>
              <a:rPr lang="he-IL" dirty="0"/>
              <a:t>מהמוצר הזה נמלא בתרמיל כל עוד יש מקום מבחינת המשקל, וכל עוד המוצר לא נגמר כמובן..</a:t>
            </a:r>
          </a:p>
          <a:p>
            <a:r>
              <a:rPr lang="he-IL" dirty="0"/>
              <a:t>אם המוצר היקר אזל ונותר לנו מקום בתרמיל, נפנה למוצר הבא בתור מבחינת שווי גבוה ביחס למשקל, ונבצע את אותו תהליך...</a:t>
            </a:r>
          </a:p>
        </p:txBody>
      </p:sp>
      <p:sp>
        <p:nvSpPr>
          <p:cNvPr id="3" name="כותרת 2"/>
          <p:cNvSpPr>
            <a:spLocks noGrp="1"/>
          </p:cNvSpPr>
          <p:nvPr>
            <p:ph type="title"/>
          </p:nvPr>
        </p:nvSpPr>
        <p:spPr/>
        <p:txBody>
          <a:bodyPr/>
          <a:lstStyle/>
          <a:p>
            <a:r>
              <a:rPr lang="he-IL" dirty="0"/>
              <a:t>מה מציע האלגוריתם החמדן?</a:t>
            </a:r>
          </a:p>
        </p:txBody>
      </p:sp>
    </p:spTree>
    <p:extLst>
      <p:ext uri="{BB962C8B-B14F-4D97-AF65-F5344CB8AC3E}">
        <p14:creationId xmlns:p14="http://schemas.microsoft.com/office/powerpoint/2010/main" val="565108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a:xfrm>
            <a:off x="251520" y="274638"/>
            <a:ext cx="8435280" cy="1143000"/>
          </a:xfrm>
        </p:spPr>
        <p:txBody>
          <a:bodyPr/>
          <a:lstStyle/>
          <a:p>
            <a:r>
              <a:rPr lang="he-IL" sz="3200" dirty="0"/>
              <a:t>לצורך הוכחת הצעד הבטוח-</a:t>
            </a:r>
            <a:br>
              <a:rPr lang="en-US" sz="3200" dirty="0"/>
            </a:br>
            <a:r>
              <a:rPr lang="he-IL" sz="3200" dirty="0"/>
              <a:t>פתרון אופטימלי אחר לעומת הפתרון החמדני</a:t>
            </a:r>
          </a:p>
        </p:txBody>
      </p:sp>
      <p:pic>
        <p:nvPicPr>
          <p:cNvPr id="5122"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33593" t="18906" r="14819" b="8979"/>
          <a:stretch/>
        </p:blipFill>
        <p:spPr bwMode="auto">
          <a:xfrm>
            <a:off x="1763688" y="1556791"/>
            <a:ext cx="5760640" cy="452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900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נשווה את תוכן התרמיל בפתרון האופטימלי שאינו חמדני, לפתרון שהתקבל מהאלגוריתם החמדני.</a:t>
            </a:r>
          </a:p>
          <a:p>
            <a:r>
              <a:rPr lang="he-IL" dirty="0"/>
              <a:t>כשאנו נתקלות בערך שונה, נרצה להוכיח שהפתרון שלנו אינו טוב פחות מהפתרון האחר שניתן.</a:t>
            </a:r>
          </a:p>
          <a:p>
            <a:r>
              <a:rPr lang="he-IL" dirty="0"/>
              <a:t>במקרה שלנו, נראה שניתן להחליף מוצר שקיים בתרמיל בפתרון האחר המוצע, ובכך לגרום לפתרון להיות אפילו יעיל יותר.</a:t>
            </a:r>
          </a:p>
          <a:p>
            <a:r>
              <a:rPr lang="he-IL" dirty="0"/>
              <a:t>(לפעמים השינוי לא יוביל למשהו טוב יותר, אבל אנחנו מסתפקות בכך שהפתרון שלנו לא פחות טוב, כאמור..)</a:t>
            </a:r>
          </a:p>
        </p:txBody>
      </p:sp>
      <p:sp>
        <p:nvSpPr>
          <p:cNvPr id="3" name="כותרת 2"/>
          <p:cNvSpPr>
            <a:spLocks noGrp="1"/>
          </p:cNvSpPr>
          <p:nvPr>
            <p:ph type="title"/>
          </p:nvPr>
        </p:nvSpPr>
        <p:spPr/>
        <p:txBody>
          <a:bodyPr/>
          <a:lstStyle/>
          <a:p>
            <a:r>
              <a:rPr lang="he-IL" dirty="0"/>
              <a:t>המשך הוכחת נכונות הצעד הבטוח</a:t>
            </a:r>
          </a:p>
        </p:txBody>
      </p:sp>
    </p:spTree>
    <p:extLst>
      <p:ext uri="{BB962C8B-B14F-4D97-AF65-F5344CB8AC3E}">
        <p14:creationId xmlns:p14="http://schemas.microsoft.com/office/powerpoint/2010/main" val="2862152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title"/>
          </p:nvPr>
        </p:nvSpPr>
        <p:spPr/>
        <p:txBody>
          <a:bodyPr/>
          <a:lstStyle/>
          <a:p>
            <a:r>
              <a:rPr lang="he-IL" dirty="0" err="1"/>
              <a:t>פסאודו</a:t>
            </a:r>
            <a:r>
              <a:rPr lang="he-IL" dirty="0"/>
              <a:t> קוד:</a:t>
            </a:r>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3750" t="19747" r="15134" b="11224"/>
          <a:stretch/>
        </p:blipFill>
        <p:spPr bwMode="auto">
          <a:xfrm>
            <a:off x="1619672" y="1340768"/>
            <a:ext cx="6192688" cy="4701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3071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בכל שלב, חיפוש המוצר בעל השווי הגבוה ביותר הקיים כרגע, הינה </a:t>
            </a:r>
            <a:r>
              <a:rPr lang="en-US" dirty="0"/>
              <a:t>O(n)</a:t>
            </a:r>
            <a:r>
              <a:rPr lang="he-IL" dirty="0"/>
              <a:t>.</a:t>
            </a:r>
          </a:p>
          <a:p>
            <a:r>
              <a:rPr lang="he-IL" dirty="0"/>
              <a:t>הלולאה החיצונית, מבצעת </a:t>
            </a:r>
            <a:r>
              <a:rPr lang="en-US" dirty="0"/>
              <a:t>O(n)</a:t>
            </a:r>
            <a:r>
              <a:rPr lang="he-IL" dirty="0"/>
              <a:t> </a:t>
            </a:r>
            <a:r>
              <a:rPr lang="he-IL" dirty="0" err="1"/>
              <a:t>איטרציות</a:t>
            </a:r>
            <a:r>
              <a:rPr lang="he-IL" dirty="0"/>
              <a:t>.</a:t>
            </a:r>
          </a:p>
          <a:p>
            <a:endParaRPr lang="he-IL" dirty="0"/>
          </a:p>
          <a:p>
            <a:r>
              <a:rPr lang="he-IL" dirty="0"/>
              <a:t>סה"כ:  </a:t>
            </a:r>
            <a:r>
              <a:rPr lang="en-US" dirty="0"/>
              <a:t>O(n</a:t>
            </a:r>
            <a:r>
              <a:rPr lang="en-US" baseline="30000" dirty="0"/>
              <a:t>2</a:t>
            </a:r>
            <a:r>
              <a:rPr lang="en-US" dirty="0"/>
              <a:t>)</a:t>
            </a:r>
            <a:r>
              <a:rPr lang="he-IL" dirty="0"/>
              <a:t>.</a:t>
            </a:r>
            <a:endParaRPr lang="he-IL" baseline="30000" dirty="0"/>
          </a:p>
        </p:txBody>
      </p:sp>
      <p:sp>
        <p:nvSpPr>
          <p:cNvPr id="3" name="כותרת 2"/>
          <p:cNvSpPr>
            <a:spLocks noGrp="1"/>
          </p:cNvSpPr>
          <p:nvPr>
            <p:ph type="title"/>
          </p:nvPr>
        </p:nvSpPr>
        <p:spPr/>
        <p:txBody>
          <a:bodyPr/>
          <a:lstStyle/>
          <a:p>
            <a:r>
              <a:rPr lang="he-IL" dirty="0"/>
              <a:t>ניתוח סיבוכיות</a:t>
            </a:r>
          </a:p>
        </p:txBody>
      </p:sp>
    </p:spTree>
    <p:extLst>
      <p:ext uri="{BB962C8B-B14F-4D97-AF65-F5344CB8AC3E}">
        <p14:creationId xmlns:p14="http://schemas.microsoft.com/office/powerpoint/2010/main" val="816285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812800" y="1481328"/>
            <a:ext cx="7874000" cy="4683976"/>
          </a:xfrm>
        </p:spPr>
        <p:txBody>
          <a:bodyPr>
            <a:normAutofit fontScale="92500"/>
          </a:bodyPr>
          <a:lstStyle/>
          <a:p>
            <a:r>
              <a:rPr lang="he-IL" dirty="0"/>
              <a:t>מעוניינים לכתוב אלגוריתם המקבל סכום כסף שיש לתת ללקוח כעודף, ומחזיר את סדרת המטבעות בהן יש להשתמש על מנת לתת את העודף במינימום שטרות/מטבעות.</a:t>
            </a:r>
          </a:p>
          <a:p>
            <a:endParaRPr lang="he-IL" dirty="0"/>
          </a:p>
          <a:p>
            <a:r>
              <a:rPr lang="he-IL" dirty="0"/>
              <a:t>אם בידינו השטרות והמטבעות המוכרות:</a:t>
            </a:r>
            <a:br>
              <a:rPr lang="en-US" dirty="0"/>
            </a:br>
            <a:r>
              <a:rPr lang="he-IL" dirty="0"/>
              <a:t>1,2,5,10,20,50,100,200</a:t>
            </a:r>
          </a:p>
          <a:p>
            <a:r>
              <a:rPr lang="he-IL" dirty="0"/>
              <a:t>כיצד נבצע?</a:t>
            </a:r>
          </a:p>
          <a:p>
            <a:endParaRPr lang="he-IL" dirty="0"/>
          </a:p>
          <a:p>
            <a:r>
              <a:rPr lang="he-IL" dirty="0"/>
              <a:t>הצעד החמדני: בכל שלב נרצה להשתמש במטבע בעלת הערך הגבוה ביותר שניתן להשתמש בו בשלב זה.</a:t>
            </a:r>
          </a:p>
          <a:p>
            <a:endParaRPr lang="he-IL" dirty="0"/>
          </a:p>
        </p:txBody>
      </p:sp>
      <p:sp>
        <p:nvSpPr>
          <p:cNvPr id="3" name="כותרת 2"/>
          <p:cNvSpPr>
            <a:spLocks noGrp="1"/>
          </p:cNvSpPr>
          <p:nvPr>
            <p:ph type="title"/>
          </p:nvPr>
        </p:nvSpPr>
        <p:spPr/>
        <p:txBody>
          <a:bodyPr/>
          <a:lstStyle/>
          <a:p>
            <a:r>
              <a:rPr lang="he-IL" dirty="0"/>
              <a:t>בעיית העודף</a:t>
            </a:r>
          </a:p>
        </p:txBody>
      </p:sp>
    </p:spTree>
    <p:extLst>
      <p:ext uri="{BB962C8B-B14F-4D97-AF65-F5344CB8AC3E}">
        <p14:creationId xmlns:p14="http://schemas.microsoft.com/office/powerpoint/2010/main" val="3207732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lstStyle/>
          <a:p>
            <a:r>
              <a:rPr lang="he-IL" dirty="0"/>
              <a:t>ומה אם המטבעות העומדות לרשותנו הם: 1,5,6??</a:t>
            </a:r>
          </a:p>
          <a:p>
            <a:r>
              <a:rPr lang="he-IL" dirty="0"/>
              <a:t>או 1,4,5 ?</a:t>
            </a:r>
          </a:p>
          <a:p>
            <a:endParaRPr lang="he-IL" dirty="0"/>
          </a:p>
          <a:p>
            <a:r>
              <a:rPr lang="he-IL" dirty="0"/>
              <a:t>ואם הנתונות הן: 1,20,30 ???</a:t>
            </a:r>
          </a:p>
          <a:p>
            <a:endParaRPr lang="he-IL" dirty="0"/>
          </a:p>
          <a:p>
            <a:endParaRPr lang="he-IL" dirty="0"/>
          </a:p>
          <a:p>
            <a:r>
              <a:rPr lang="he-IL" dirty="0"/>
              <a:t>אם כך, כשנרצה לומר עבור סט מטבעות כלשהוא, שאכן הפתרון החמדני תקין עבורו, נצטרך להוכיח זאת.</a:t>
            </a:r>
          </a:p>
          <a:p>
            <a:endParaRPr lang="he-IL" dirty="0"/>
          </a:p>
        </p:txBody>
      </p:sp>
      <p:sp>
        <p:nvSpPr>
          <p:cNvPr id="3" name="כותרת 2"/>
          <p:cNvSpPr>
            <a:spLocks noGrp="1"/>
          </p:cNvSpPr>
          <p:nvPr>
            <p:ph type="title"/>
          </p:nvPr>
        </p:nvSpPr>
        <p:spPr/>
        <p:txBody>
          <a:bodyPr/>
          <a:lstStyle/>
          <a:p>
            <a:r>
              <a:rPr lang="he-IL" dirty="0"/>
              <a:t>ובמקרים אחרים...</a:t>
            </a:r>
          </a:p>
        </p:txBody>
      </p:sp>
    </p:spTree>
    <p:extLst>
      <p:ext uri="{BB962C8B-B14F-4D97-AF65-F5344CB8AC3E}">
        <p14:creationId xmlns:p14="http://schemas.microsoft.com/office/powerpoint/2010/main" val="3029672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628800"/>
            <a:ext cx="8229600" cy="4680520"/>
          </a:xfrm>
        </p:spPr>
        <p:txBody>
          <a:bodyPr>
            <a:normAutofit fontScale="85000" lnSpcReduction="20000"/>
          </a:bodyPr>
          <a:lstStyle/>
          <a:p>
            <a:r>
              <a:rPr lang="he-IL" dirty="0"/>
              <a:t>ראשית, מספר תובנות שאינן שייכות דווקא לאלגוריתם החמדן שלנו, אלא באופן כללי לכל אלגוריתם שיפתור את הבעיה בצורה נכונה.</a:t>
            </a:r>
          </a:p>
          <a:p>
            <a:endParaRPr lang="he-IL" dirty="0"/>
          </a:p>
          <a:p>
            <a:r>
              <a:rPr lang="he-IL" dirty="0"/>
              <a:t>תובנה ראשונה: כל אלגוריתם שפותר את הבעיה ישתמש במטבע יחיד של 1, לכל היותר, כי שני מטבעות של 1 ניתן להחליף במטבע של 2 .</a:t>
            </a:r>
          </a:p>
          <a:p>
            <a:endParaRPr lang="he-IL" dirty="0"/>
          </a:p>
          <a:p>
            <a:r>
              <a:rPr lang="he-IL" dirty="0"/>
              <a:t>תובנה שנייה: כל אלגוריתם שפותר את הבעיה ישתמש בשני מטבעות של 2, לכל היותר, כי שלושה מטבעות של 2 אפשר להחליף במטבע של 5 ומטבע של 1. </a:t>
            </a:r>
          </a:p>
          <a:p>
            <a:endParaRPr lang="he-IL" dirty="0"/>
          </a:p>
          <a:p>
            <a:r>
              <a:rPr lang="he-IL" dirty="0"/>
              <a:t>תובנה שלישית: כל אלגוריתם שפותר את הבעיה ישתמש במטבע יחיד של 5, לכל היותר, כי שני מטבעות של 5 ניתן להחליף במטבע יחיד של 10.</a:t>
            </a:r>
          </a:p>
        </p:txBody>
      </p:sp>
      <p:sp>
        <p:nvSpPr>
          <p:cNvPr id="3" name="כותרת 2"/>
          <p:cNvSpPr>
            <a:spLocks noGrp="1"/>
          </p:cNvSpPr>
          <p:nvPr>
            <p:ph type="title"/>
          </p:nvPr>
        </p:nvSpPr>
        <p:spPr/>
        <p:txBody>
          <a:bodyPr/>
          <a:lstStyle/>
          <a:p>
            <a:r>
              <a:rPr lang="he-IL" dirty="0"/>
              <a:t>הוכחת נכונות האלגוריתם החמדני עבור סט המטבעות 1,2,5,10</a:t>
            </a:r>
          </a:p>
        </p:txBody>
      </p:sp>
    </p:spTree>
    <p:extLst>
      <p:ext uri="{BB962C8B-B14F-4D97-AF65-F5344CB8AC3E}">
        <p14:creationId xmlns:p14="http://schemas.microsoft.com/office/powerpoint/2010/main" val="3805100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Autofit/>
          </a:bodyPr>
          <a:lstStyle/>
          <a:p>
            <a:r>
              <a:rPr lang="he-IL" sz="2400" dirty="0"/>
              <a:t>כדי להוכיח שהאלגוריתם החמדן מחזיר מינימום מטבעות, נראה שכל אלגוריתם שבוחר אחרת מהחמדן, לא מחזיר מספר מינימלי של מטבעות. כדי לעשות זאת נמיין את המטבעות שהאלגוריתם האחר מחזיר, מהגדול לקטן, ונשווה את הרשימה לרשימת המטבעות שמחזיר האלגוריתם החמדן .</a:t>
            </a:r>
          </a:p>
          <a:p>
            <a:r>
              <a:rPr lang="he-IL" sz="2400" dirty="0"/>
              <a:t>נעבור על שתי הרשימות מטבע </a:t>
            </a:r>
            <a:r>
              <a:rPr lang="he-IL" sz="2400" dirty="0" err="1"/>
              <a:t>מטבע</a:t>
            </a:r>
            <a:r>
              <a:rPr lang="he-IL" sz="2400" dirty="0"/>
              <a:t> (מהגדול לקטן) עד שנגיע למקום ברשימה בו יש הבדל בין הבחירות של שני האלגוריתמים.</a:t>
            </a:r>
            <a:br>
              <a:rPr lang="en-US" sz="2400" dirty="0"/>
            </a:br>
            <a:r>
              <a:rPr lang="he-IL" sz="2400" dirty="0"/>
              <a:t>נניח שהאלגוריתם החמדן מחזיר מטבע </a:t>
            </a:r>
            <a:r>
              <a:rPr lang="en-US" sz="2400" i="1" dirty="0"/>
              <a:t>X </a:t>
            </a:r>
            <a:r>
              <a:rPr lang="he-IL" sz="2400" dirty="0"/>
              <a:t>והאלגוריתם האחר מחזיר מטבע </a:t>
            </a:r>
            <a:r>
              <a:rPr lang="en-US" sz="2400" i="1" dirty="0"/>
              <a:t>Y</a:t>
            </a:r>
            <a:r>
              <a:rPr lang="he-IL" sz="2400" i="1" dirty="0"/>
              <a:t>.</a:t>
            </a:r>
            <a:br>
              <a:rPr lang="en-US" sz="2400" dirty="0"/>
            </a:br>
            <a:r>
              <a:rPr lang="he-IL" sz="2400" dirty="0"/>
              <a:t>ברור ש- </a:t>
            </a:r>
            <a:r>
              <a:rPr lang="en-US" sz="2400" dirty="0"/>
              <a:t> </a:t>
            </a:r>
            <a:r>
              <a:rPr lang="en-US" sz="2400" i="1" dirty="0"/>
              <a:t>X </a:t>
            </a:r>
            <a:r>
              <a:rPr lang="en-US" sz="2400" dirty="0"/>
              <a:t>&gt;</a:t>
            </a:r>
            <a:r>
              <a:rPr lang="en-US" sz="2400" i="1" dirty="0"/>
              <a:t>Y </a:t>
            </a:r>
            <a:r>
              <a:rPr lang="he-IL" sz="2400" dirty="0"/>
              <a:t>כי האלגוריתם החמדן הרי מחזיר את המטבע הגדול ביותר האפשרי.</a:t>
            </a:r>
          </a:p>
        </p:txBody>
      </p:sp>
      <p:sp>
        <p:nvSpPr>
          <p:cNvPr id="3" name="כותרת 2"/>
          <p:cNvSpPr>
            <a:spLocks noGrp="1"/>
          </p:cNvSpPr>
          <p:nvPr>
            <p:ph type="title"/>
          </p:nvPr>
        </p:nvSpPr>
        <p:spPr/>
        <p:txBody>
          <a:bodyPr/>
          <a:lstStyle/>
          <a:p>
            <a:r>
              <a:rPr lang="he-IL" dirty="0"/>
              <a:t>המשך ההוכחה</a:t>
            </a:r>
          </a:p>
        </p:txBody>
      </p:sp>
    </p:spTree>
    <p:extLst>
      <p:ext uri="{BB962C8B-B14F-4D97-AF65-F5344CB8AC3E}">
        <p14:creationId xmlns:p14="http://schemas.microsoft.com/office/powerpoint/2010/main" val="856953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1481328"/>
            <a:ext cx="8229600" cy="5059172"/>
          </a:xfrm>
        </p:spPr>
        <p:txBody>
          <a:bodyPr>
            <a:noAutofit/>
          </a:bodyPr>
          <a:lstStyle/>
          <a:p>
            <a:r>
              <a:rPr lang="he-IL" sz="2100" dirty="0"/>
              <a:t>נניח ש</a:t>
            </a:r>
            <a:r>
              <a:rPr lang="en-US" sz="2100" i="1" dirty="0"/>
              <a:t>X</a:t>
            </a:r>
            <a:r>
              <a:rPr lang="en-US" sz="2100" dirty="0"/>
              <a:t>=10 </a:t>
            </a:r>
            <a:r>
              <a:rPr lang="he-IL" sz="2100" dirty="0"/>
              <a:t> במקרה זה </a:t>
            </a:r>
            <a:r>
              <a:rPr lang="en-US" sz="2100" i="1" dirty="0"/>
              <a:t>Y </a:t>
            </a:r>
            <a:r>
              <a:rPr lang="he-IL" sz="2100" dirty="0"/>
              <a:t>הוא לכל היותר 5 . והאלגוריתם האחר יכול להחזיר (לאור התובנות מראשית ההוכחה): 5,2,2,1 , לכול היותר. מכיוון ששני האלגוריתמים מחזירים אותו סכום, הם לא יכולים להחזיר מטבעות נוספים. האלגוריתם האחר מחזיר שלושה מטבעות יותר מהחמדני.</a:t>
            </a:r>
          </a:p>
          <a:p>
            <a:r>
              <a:rPr lang="he-IL" sz="2100" dirty="0"/>
              <a:t>נניח ש</a:t>
            </a:r>
            <a:r>
              <a:rPr lang="en-US" sz="2100" i="1" dirty="0"/>
              <a:t>X</a:t>
            </a:r>
            <a:r>
              <a:rPr lang="en-US" sz="2100" dirty="0"/>
              <a:t>=5 </a:t>
            </a:r>
            <a:r>
              <a:rPr lang="he-IL" sz="2100" dirty="0"/>
              <a:t> במקרה זה </a:t>
            </a:r>
            <a:r>
              <a:rPr lang="en-US" sz="2100" i="1" dirty="0"/>
              <a:t>Y </a:t>
            </a:r>
            <a:r>
              <a:rPr lang="he-IL" sz="2100" dirty="0"/>
              <a:t>הוא לכל היותר 2. והאלגוריתם האחר יכול להחזיר (לאור התובנות מראשית ההוכחה): 2,2,1 לכול היותר. מכיוון ששני האלגוריתמים מחזירים אותו סכום, הם לא יכולים להחזיר מטבעות נוספים. האלגוריתם האחר מחזיר שני מטבעות יותר מהחמדני.</a:t>
            </a:r>
          </a:p>
          <a:p>
            <a:r>
              <a:rPr lang="he-IL" sz="2100" dirty="0"/>
              <a:t>נניח ש </a:t>
            </a:r>
            <a:r>
              <a:rPr lang="en-US" sz="2100" i="1" dirty="0"/>
              <a:t>X</a:t>
            </a:r>
            <a:r>
              <a:rPr lang="en-US" sz="2100" dirty="0"/>
              <a:t>=2</a:t>
            </a:r>
            <a:r>
              <a:rPr lang="he-IL" sz="2100" dirty="0"/>
              <a:t> במקרה זה </a:t>
            </a:r>
            <a:r>
              <a:rPr lang="en-US" sz="2100" i="1" dirty="0"/>
              <a:t>Y </a:t>
            </a:r>
            <a:r>
              <a:rPr lang="he-IL" sz="2100" dirty="0"/>
              <a:t>הוא לכל היותר 1. והאלגוריתם האחר לא יכול להחזיר 2, והסכום שהוא מחזיר חייב להיות קטן מהסכום שמחזיר האלגוריתם החמדן. זו סתירה להנחה ששני האלגוריתמים מחזירים אותו סכום.</a:t>
            </a:r>
          </a:p>
          <a:p>
            <a:r>
              <a:rPr lang="he-IL" sz="2100" dirty="0"/>
              <a:t>לכן, כל אלגוריתם שמחזיר מטבעות שונים מהאלגוריתם החמדן, לא יחזיר מינימום של מטבעות, ומכאן שהאלגוריתם החמדן מחזיר מינימום של מטבעות.</a:t>
            </a:r>
          </a:p>
        </p:txBody>
      </p:sp>
      <p:sp>
        <p:nvSpPr>
          <p:cNvPr id="3" name="כותרת 2"/>
          <p:cNvSpPr>
            <a:spLocks noGrp="1"/>
          </p:cNvSpPr>
          <p:nvPr>
            <p:ph type="title"/>
          </p:nvPr>
        </p:nvSpPr>
        <p:spPr/>
        <p:txBody>
          <a:bodyPr/>
          <a:lstStyle/>
          <a:p>
            <a:r>
              <a:rPr lang="he-IL" dirty="0"/>
              <a:t>המשך ההוכחה</a:t>
            </a:r>
          </a:p>
        </p:txBody>
      </p:sp>
    </p:spTree>
    <p:extLst>
      <p:ext uri="{BB962C8B-B14F-4D97-AF65-F5344CB8AC3E}">
        <p14:creationId xmlns:p14="http://schemas.microsoft.com/office/powerpoint/2010/main" val="3992451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r>
              <a:rPr lang="he-IL" sz="2500" dirty="0"/>
              <a:t>בחוג למדעי המחשב מתקיימים בימי א שיעורים ב- </a:t>
            </a:r>
            <a:r>
              <a:rPr lang="en-US" sz="2500" i="1" dirty="0"/>
              <a:t>n </a:t>
            </a:r>
            <a:r>
              <a:rPr lang="he-IL" sz="2500" dirty="0"/>
              <a:t>קורסים שונים. לכל קורס </a:t>
            </a:r>
            <a:r>
              <a:rPr lang="en-US" sz="2500" dirty="0"/>
              <a:t>( </a:t>
            </a:r>
            <a:r>
              <a:rPr lang="en-US" sz="2500" i="1" dirty="0"/>
              <a:t>1≤i≤n </a:t>
            </a:r>
            <a:r>
              <a:rPr lang="en-US" sz="2500" dirty="0"/>
              <a:t>) </a:t>
            </a:r>
            <a:r>
              <a:rPr lang="en-US" sz="2500" i="1" dirty="0" err="1"/>
              <a:t>i</a:t>
            </a:r>
            <a:r>
              <a:rPr lang="en-US" sz="2500" i="1" dirty="0"/>
              <a:t> </a:t>
            </a:r>
            <a:r>
              <a:rPr lang="he-IL" sz="2500" dirty="0"/>
              <a:t>יש זמן התחלה </a:t>
            </a:r>
            <a:r>
              <a:rPr lang="en-US" sz="2500" dirty="0"/>
              <a:t>start) </a:t>
            </a:r>
            <a:r>
              <a:rPr lang="en-US" sz="2500" i="1" dirty="0" err="1"/>
              <a:t>si</a:t>
            </a:r>
            <a:r>
              <a:rPr lang="en-US" sz="2500" i="1" dirty="0"/>
              <a:t> </a:t>
            </a:r>
            <a:r>
              <a:rPr lang="he-IL" sz="2500" i="1" dirty="0"/>
              <a:t>) </a:t>
            </a:r>
            <a:r>
              <a:rPr lang="he-IL" sz="2500" dirty="0"/>
              <a:t>וזמן סיום</a:t>
            </a:r>
            <a:r>
              <a:rPr lang="en-US" sz="2500" dirty="0"/>
              <a:t>finish) </a:t>
            </a:r>
            <a:r>
              <a:rPr lang="en-US" sz="2500" i="1" dirty="0"/>
              <a:t>fi </a:t>
            </a:r>
            <a:r>
              <a:rPr lang="he-IL" sz="2500" dirty="0"/>
              <a:t>).</a:t>
            </a:r>
            <a:endParaRPr lang="en-US" sz="2500" dirty="0"/>
          </a:p>
          <a:p>
            <a:r>
              <a:rPr lang="he-IL" sz="2500" dirty="0"/>
              <a:t>במזכירות החוג רוצים לשבץ את מירב הקורסים באודיטוריום, כי זוהי הכיתה הנוחה ביותר (כיסאות נוחים, ציוד מולטימדיה חדיש, לוח אלקטרוני וכד'). </a:t>
            </a:r>
          </a:p>
          <a:p>
            <a:r>
              <a:rPr lang="he-IL" sz="2500" dirty="0"/>
              <a:t>ברור כי שני קורסים המתקיימים באותן שעות, או ששעותיהם חותכות זו את זו (כלומר זמן ההתחלה של קורס אחד מוקדם מזמן הסיום של קורס אחר), לא יכולים להתקיים באותו אולם.</a:t>
            </a:r>
          </a:p>
          <a:p>
            <a:r>
              <a:rPr lang="he-IL" sz="2500" dirty="0"/>
              <a:t>תארו אלגוריתם חמדן הפותר את הבעיה.</a:t>
            </a:r>
          </a:p>
        </p:txBody>
      </p:sp>
      <p:sp>
        <p:nvSpPr>
          <p:cNvPr id="3" name="כותרת 2"/>
          <p:cNvSpPr>
            <a:spLocks noGrp="1"/>
          </p:cNvSpPr>
          <p:nvPr>
            <p:ph type="title"/>
          </p:nvPr>
        </p:nvSpPr>
        <p:spPr/>
        <p:txBody>
          <a:bodyPr/>
          <a:lstStyle/>
          <a:p>
            <a:r>
              <a:rPr lang="he-IL" dirty="0"/>
              <a:t>בעיית שיבוץ הפעילויות</a:t>
            </a:r>
          </a:p>
        </p:txBody>
      </p:sp>
    </p:spTree>
    <p:extLst>
      <p:ext uri="{BB962C8B-B14F-4D97-AF65-F5344CB8AC3E}">
        <p14:creationId xmlns:p14="http://schemas.microsoft.com/office/powerpoint/2010/main" val="2795288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r>
              <a:rPr lang="he-IL" sz="2300" dirty="0"/>
              <a:t>תחילה, נצטרך למיין את מערך הקורסים שהתקבל לפי שעת סיום השיעור. (כדי לחסוך זמן ריצה בביצוע הצעד הבא..)</a:t>
            </a:r>
          </a:p>
          <a:p>
            <a:r>
              <a:rPr lang="he-IL" sz="2300" dirty="0"/>
              <a:t>האלגוריתם החמדן יבחר בכל שלב את הקורס שנגמר הכי מוקדם ושלא מתנגש עם הקורסים שכבר נבחרו.</a:t>
            </a:r>
          </a:p>
          <a:p>
            <a:r>
              <a:rPr lang="he-IL" sz="2300" dirty="0"/>
              <a:t>כלומר, בעזרת המיון האלגוריתם ימצא בקלות את שעת הסיום הבאה בתור אחרי השיעור ששובץ, אך עדיין יש לבדוק ששעת ההתחלה של הקורס הזה מאוחרת משעת הסיום של הקורס האחרון ששובץ.</a:t>
            </a:r>
          </a:p>
          <a:p>
            <a:endParaRPr lang="he-IL" sz="2300" dirty="0"/>
          </a:p>
          <a:p>
            <a:r>
              <a:rPr lang="he-IL" sz="2300" dirty="0"/>
              <a:t>לדוגמא:</a:t>
            </a:r>
          </a:p>
        </p:txBody>
      </p:sp>
      <p:sp>
        <p:nvSpPr>
          <p:cNvPr id="3" name="כותרת 2"/>
          <p:cNvSpPr>
            <a:spLocks noGrp="1"/>
          </p:cNvSpPr>
          <p:nvPr>
            <p:ph type="title"/>
          </p:nvPr>
        </p:nvSpPr>
        <p:spPr/>
        <p:txBody>
          <a:bodyPr/>
          <a:lstStyle/>
          <a:p>
            <a:r>
              <a:rPr lang="he-IL" dirty="0"/>
              <a:t>פתרון בעיית שיבוץ הפעילויות</a:t>
            </a:r>
          </a:p>
        </p:txBody>
      </p:sp>
      <p:graphicFrame>
        <p:nvGraphicFramePr>
          <p:cNvPr id="4" name="טבלה 3"/>
          <p:cNvGraphicFramePr>
            <a:graphicFrameLocks noGrp="1"/>
          </p:cNvGraphicFramePr>
          <p:nvPr>
            <p:extLst>
              <p:ext uri="{D42A27DB-BD31-4B8C-83A1-F6EECF244321}">
                <p14:modId xmlns:p14="http://schemas.microsoft.com/office/powerpoint/2010/main" val="2693317705"/>
              </p:ext>
            </p:extLst>
          </p:nvPr>
        </p:nvGraphicFramePr>
        <p:xfrm>
          <a:off x="1619672" y="5004504"/>
          <a:ext cx="5374636" cy="1016784"/>
        </p:xfrm>
        <a:graphic>
          <a:graphicData uri="http://schemas.openxmlformats.org/drawingml/2006/table">
            <a:tbl>
              <a:tblPr rtl="1" firstCol="1" bandRow="1">
                <a:tableStyleId>{5C22544A-7EE6-4342-B048-85BDC9FD1C3A}</a:tableStyleId>
              </a:tblPr>
              <a:tblGrid>
                <a:gridCol w="1220140">
                  <a:extLst>
                    <a:ext uri="{9D8B030D-6E8A-4147-A177-3AD203B41FA5}">
                      <a16:colId xmlns:a16="http://schemas.microsoft.com/office/drawing/2014/main" val="20000"/>
                    </a:ext>
                  </a:extLst>
                </a:gridCol>
                <a:gridCol w="692416">
                  <a:extLst>
                    <a:ext uri="{9D8B030D-6E8A-4147-A177-3AD203B41FA5}">
                      <a16:colId xmlns:a16="http://schemas.microsoft.com/office/drawing/2014/main" val="20001"/>
                    </a:ext>
                  </a:extLst>
                </a:gridCol>
                <a:gridCol w="692416">
                  <a:extLst>
                    <a:ext uri="{9D8B030D-6E8A-4147-A177-3AD203B41FA5}">
                      <a16:colId xmlns:a16="http://schemas.microsoft.com/office/drawing/2014/main" val="20002"/>
                    </a:ext>
                  </a:extLst>
                </a:gridCol>
                <a:gridCol w="692416">
                  <a:extLst>
                    <a:ext uri="{9D8B030D-6E8A-4147-A177-3AD203B41FA5}">
                      <a16:colId xmlns:a16="http://schemas.microsoft.com/office/drawing/2014/main" val="20003"/>
                    </a:ext>
                  </a:extLst>
                </a:gridCol>
                <a:gridCol w="692416">
                  <a:extLst>
                    <a:ext uri="{9D8B030D-6E8A-4147-A177-3AD203B41FA5}">
                      <a16:colId xmlns:a16="http://schemas.microsoft.com/office/drawing/2014/main" val="20004"/>
                    </a:ext>
                  </a:extLst>
                </a:gridCol>
                <a:gridCol w="692416">
                  <a:extLst>
                    <a:ext uri="{9D8B030D-6E8A-4147-A177-3AD203B41FA5}">
                      <a16:colId xmlns:a16="http://schemas.microsoft.com/office/drawing/2014/main" val="20005"/>
                    </a:ext>
                  </a:extLst>
                </a:gridCol>
                <a:gridCol w="692416">
                  <a:extLst>
                    <a:ext uri="{9D8B030D-6E8A-4147-A177-3AD203B41FA5}">
                      <a16:colId xmlns:a16="http://schemas.microsoft.com/office/drawing/2014/main" val="20006"/>
                    </a:ext>
                  </a:extLst>
                </a:gridCol>
              </a:tblGrid>
              <a:tr h="512728">
                <a:tc>
                  <a:txBody>
                    <a:bodyPr/>
                    <a:lstStyle/>
                    <a:p>
                      <a:pPr algn="ctr" rtl="1"/>
                      <a:r>
                        <a:rPr lang="he-IL" sz="1500" dirty="0"/>
                        <a:t>שעת התחלה</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rtl="1"/>
                      <a:r>
                        <a:rPr lang="en-US" sz="1400" dirty="0"/>
                        <a:t>9:30</a:t>
                      </a:r>
                      <a:endParaRPr lang="he-IL" sz="1400" dirty="0"/>
                    </a:p>
                  </a:txBody>
                  <a:tcPr anchor="ctr">
                    <a:lnT w="12700" cap="flat" cmpd="sng" algn="ctr">
                      <a:solidFill>
                        <a:schemeClr val="tx1"/>
                      </a:solidFill>
                      <a:prstDash val="solid"/>
                      <a:round/>
                      <a:headEnd type="none" w="med" len="med"/>
                      <a:tailEnd type="none" w="med" len="med"/>
                    </a:lnT>
                  </a:tcPr>
                </a:tc>
                <a:tc>
                  <a:txBody>
                    <a:bodyPr/>
                    <a:lstStyle/>
                    <a:p>
                      <a:pPr algn="ctr" rtl="1"/>
                      <a:r>
                        <a:rPr lang="en-US" sz="1400" dirty="0"/>
                        <a:t>9:15</a:t>
                      </a:r>
                      <a:endParaRPr lang="he-IL" sz="1400" dirty="0"/>
                    </a:p>
                  </a:txBody>
                  <a:tcPr anchor="ctr">
                    <a:lnT w="12700" cap="flat" cmpd="sng" algn="ctr">
                      <a:solidFill>
                        <a:schemeClr val="tx1"/>
                      </a:solidFill>
                      <a:prstDash val="solid"/>
                      <a:round/>
                      <a:headEnd type="none" w="med" len="med"/>
                      <a:tailEnd type="none" w="med" len="med"/>
                    </a:lnT>
                  </a:tcPr>
                </a:tc>
                <a:tc>
                  <a:txBody>
                    <a:bodyPr/>
                    <a:lstStyle/>
                    <a:p>
                      <a:pPr algn="ctr" rtl="1"/>
                      <a:r>
                        <a:rPr lang="en-US" sz="1400" dirty="0"/>
                        <a:t>8:45</a:t>
                      </a:r>
                      <a:endParaRPr lang="he-IL" sz="1400" dirty="0"/>
                    </a:p>
                  </a:txBody>
                  <a:tcPr anchor="ctr">
                    <a:lnT w="12700" cap="flat" cmpd="sng" algn="ctr">
                      <a:solidFill>
                        <a:schemeClr val="tx1"/>
                      </a:solidFill>
                      <a:prstDash val="solid"/>
                      <a:round/>
                      <a:headEnd type="none" w="med" len="med"/>
                      <a:tailEnd type="none" w="med" len="med"/>
                    </a:lnT>
                  </a:tcPr>
                </a:tc>
                <a:tc>
                  <a:txBody>
                    <a:bodyPr/>
                    <a:lstStyle/>
                    <a:p>
                      <a:pPr algn="ctr" rtl="1"/>
                      <a:r>
                        <a:rPr lang="en-US" sz="1400" dirty="0"/>
                        <a:t>7:45</a:t>
                      </a:r>
                      <a:endParaRPr lang="he-IL" sz="1400" dirty="0"/>
                    </a:p>
                  </a:txBody>
                  <a:tcPr anchor="ctr">
                    <a:lnT w="12700" cap="flat" cmpd="sng" algn="ctr">
                      <a:solidFill>
                        <a:schemeClr val="tx1"/>
                      </a:solidFill>
                      <a:prstDash val="solid"/>
                      <a:round/>
                      <a:headEnd type="none" w="med" len="med"/>
                      <a:tailEnd type="none" w="med" len="med"/>
                    </a:lnT>
                  </a:tcPr>
                </a:tc>
                <a:tc>
                  <a:txBody>
                    <a:bodyPr/>
                    <a:lstStyle/>
                    <a:p>
                      <a:pPr algn="ctr" rtl="1"/>
                      <a:r>
                        <a:rPr lang="en-US" sz="1400" dirty="0"/>
                        <a:t>7:30</a:t>
                      </a:r>
                      <a:endParaRPr lang="he-IL" sz="1400" dirty="0"/>
                    </a:p>
                  </a:txBody>
                  <a:tcPr anchor="ctr">
                    <a:lnT w="12700" cap="flat" cmpd="sng" algn="ctr">
                      <a:solidFill>
                        <a:schemeClr val="tx1"/>
                      </a:solidFill>
                      <a:prstDash val="solid"/>
                      <a:round/>
                      <a:headEnd type="none" w="med" len="med"/>
                      <a:tailEnd type="none" w="med" len="med"/>
                    </a:lnT>
                  </a:tcPr>
                </a:tc>
                <a:tc>
                  <a:txBody>
                    <a:bodyPr/>
                    <a:lstStyle/>
                    <a:p>
                      <a:pPr algn="ctr" rtl="1"/>
                      <a:r>
                        <a:rPr lang="en-US" sz="1400" dirty="0"/>
                        <a:t>8:00</a:t>
                      </a:r>
                      <a:endParaRPr lang="he-IL" sz="14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504056">
                <a:tc>
                  <a:txBody>
                    <a:bodyPr/>
                    <a:lstStyle/>
                    <a:p>
                      <a:pPr algn="ctr" rtl="1"/>
                      <a:r>
                        <a:rPr lang="he-IL" sz="1500" dirty="0"/>
                        <a:t>שעת סיום</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rtl="1"/>
                      <a:r>
                        <a:rPr lang="en-US" sz="1400" dirty="0"/>
                        <a:t>11:00</a:t>
                      </a:r>
                      <a:endParaRPr lang="he-IL" sz="1400" dirty="0"/>
                    </a:p>
                  </a:txBody>
                  <a:tcPr anchor="ctr">
                    <a:lnB w="12700" cap="flat" cmpd="sng" algn="ctr">
                      <a:solidFill>
                        <a:schemeClr val="tx1"/>
                      </a:solidFill>
                      <a:prstDash val="solid"/>
                      <a:round/>
                      <a:headEnd type="none" w="med" len="med"/>
                      <a:tailEnd type="none" w="med" len="med"/>
                    </a:lnB>
                  </a:tcPr>
                </a:tc>
                <a:tc>
                  <a:txBody>
                    <a:bodyPr/>
                    <a:lstStyle/>
                    <a:p>
                      <a:pPr algn="ctr" rtl="1"/>
                      <a:r>
                        <a:rPr lang="en-US" sz="1400" dirty="0"/>
                        <a:t>10:00</a:t>
                      </a:r>
                      <a:endParaRPr lang="he-IL" sz="1400" dirty="0"/>
                    </a:p>
                  </a:txBody>
                  <a:tcPr anchor="ctr">
                    <a:lnB w="12700" cap="flat" cmpd="sng" algn="ctr">
                      <a:solidFill>
                        <a:schemeClr val="tx1"/>
                      </a:solidFill>
                      <a:prstDash val="solid"/>
                      <a:round/>
                      <a:headEnd type="none" w="med" len="med"/>
                      <a:tailEnd type="none" w="med" len="med"/>
                    </a:lnB>
                  </a:tcPr>
                </a:tc>
                <a:tc>
                  <a:txBody>
                    <a:bodyPr/>
                    <a:lstStyle/>
                    <a:p>
                      <a:pPr algn="ctr" rtl="1"/>
                      <a:r>
                        <a:rPr lang="en-US" sz="1400" dirty="0"/>
                        <a:t>9:30</a:t>
                      </a:r>
                      <a:endParaRPr lang="he-IL" sz="1400" dirty="0"/>
                    </a:p>
                  </a:txBody>
                  <a:tcPr anchor="ctr">
                    <a:lnB w="12700" cap="flat" cmpd="sng" algn="ctr">
                      <a:solidFill>
                        <a:schemeClr val="tx1"/>
                      </a:solidFill>
                      <a:prstDash val="solid"/>
                      <a:round/>
                      <a:headEnd type="none" w="med" len="med"/>
                      <a:tailEnd type="none" w="med" len="med"/>
                    </a:lnB>
                  </a:tcPr>
                </a:tc>
                <a:tc>
                  <a:txBody>
                    <a:bodyPr/>
                    <a:lstStyle/>
                    <a:p>
                      <a:pPr algn="ctr" rtl="1"/>
                      <a:r>
                        <a:rPr lang="en-US" sz="1400" dirty="0"/>
                        <a:t>9:15</a:t>
                      </a:r>
                      <a:endParaRPr lang="he-IL" sz="1400" dirty="0"/>
                    </a:p>
                  </a:txBody>
                  <a:tcPr anchor="ctr">
                    <a:lnB w="12700" cap="flat" cmpd="sng" algn="ctr">
                      <a:solidFill>
                        <a:schemeClr val="tx1"/>
                      </a:solidFill>
                      <a:prstDash val="solid"/>
                      <a:round/>
                      <a:headEnd type="none" w="med" len="med"/>
                      <a:tailEnd type="none" w="med" len="med"/>
                    </a:lnB>
                  </a:tcPr>
                </a:tc>
                <a:tc>
                  <a:txBody>
                    <a:bodyPr/>
                    <a:lstStyle/>
                    <a:p>
                      <a:pPr algn="ctr" rtl="1"/>
                      <a:r>
                        <a:rPr lang="en-US" sz="1400" dirty="0"/>
                        <a:t>9:00</a:t>
                      </a:r>
                      <a:endParaRPr lang="he-IL" sz="1400" dirty="0"/>
                    </a:p>
                  </a:txBody>
                  <a:tcPr anchor="ctr">
                    <a:lnB w="12700" cap="flat" cmpd="sng" algn="ctr">
                      <a:solidFill>
                        <a:schemeClr val="tx1"/>
                      </a:solidFill>
                      <a:prstDash val="solid"/>
                      <a:round/>
                      <a:headEnd type="none" w="med" len="med"/>
                      <a:tailEnd type="none" w="med" len="med"/>
                    </a:lnB>
                  </a:tcPr>
                </a:tc>
                <a:tc>
                  <a:txBody>
                    <a:bodyPr/>
                    <a:lstStyle/>
                    <a:p>
                      <a:pPr algn="ctr" rtl="1"/>
                      <a:r>
                        <a:rPr lang="en-US" sz="1400" dirty="0"/>
                        <a:t>8:30</a:t>
                      </a:r>
                      <a:endParaRPr lang="he-IL" sz="14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03342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a:bodyPr>
          <a:lstStyle/>
          <a:p>
            <a:r>
              <a:rPr lang="he-IL" sz="2500" dirty="0"/>
              <a:t>כעת יש להוכיח שהפתרון שהצענו, כלומר הצעד החמדני שלנו הוא אכן צעד בטוח....</a:t>
            </a:r>
          </a:p>
          <a:p>
            <a:r>
              <a:rPr lang="he-IL" sz="2500" dirty="0"/>
              <a:t>על זה תענינה כחלק משיעורי הבית...</a:t>
            </a:r>
          </a:p>
          <a:p>
            <a:endParaRPr lang="he-IL" sz="2500" dirty="0"/>
          </a:p>
          <a:p>
            <a:r>
              <a:rPr lang="he-IL" sz="2500" dirty="0"/>
              <a:t>נעבור לשאלה המתבססת על השאלה שהובאה כעת.</a:t>
            </a:r>
          </a:p>
          <a:p>
            <a:endParaRPr lang="he-IL" sz="2500" dirty="0"/>
          </a:p>
        </p:txBody>
      </p:sp>
      <p:sp>
        <p:nvSpPr>
          <p:cNvPr id="3" name="כותרת 2"/>
          <p:cNvSpPr>
            <a:spLocks noGrp="1"/>
          </p:cNvSpPr>
          <p:nvPr>
            <p:ph type="title"/>
          </p:nvPr>
        </p:nvSpPr>
        <p:spPr/>
        <p:txBody>
          <a:bodyPr/>
          <a:lstStyle/>
          <a:p>
            <a:r>
              <a:rPr lang="he-IL" dirty="0"/>
              <a:t>הוכחה</a:t>
            </a:r>
          </a:p>
        </p:txBody>
      </p:sp>
    </p:spTree>
    <p:extLst>
      <p:ext uri="{BB962C8B-B14F-4D97-AF65-F5344CB8AC3E}">
        <p14:creationId xmlns:p14="http://schemas.microsoft.com/office/powerpoint/2010/main" val="3224128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a:xfrm>
            <a:off x="457200" y="908720"/>
            <a:ext cx="8229600" cy="5616624"/>
          </a:xfrm>
        </p:spPr>
        <p:txBody>
          <a:bodyPr>
            <a:noAutofit/>
          </a:bodyPr>
          <a:lstStyle/>
          <a:p>
            <a:r>
              <a:rPr lang="he-IL" sz="1800" dirty="0"/>
              <a:t>בחוג למדעי המחשב מתקיימים בימי רביעי שיעורים ב </a:t>
            </a:r>
            <a:r>
              <a:rPr lang="en-US" sz="1800" dirty="0"/>
              <a:t>n</a:t>
            </a:r>
            <a:r>
              <a:rPr lang="he-IL" sz="1800" dirty="0"/>
              <a:t> קורסים שונים. נסמן את קבוצת הקורסים  </a:t>
            </a:r>
            <a:r>
              <a:rPr lang="en-US" sz="1800" i="1" dirty="0"/>
              <a:t>S </a:t>
            </a:r>
            <a:r>
              <a:rPr lang="en-US" sz="1800" dirty="0"/>
              <a:t>= {1,2, . . . , </a:t>
            </a:r>
            <a:r>
              <a:rPr lang="en-US" sz="1800" i="1" dirty="0"/>
              <a:t>n</a:t>
            </a:r>
            <a:r>
              <a:rPr lang="en-US" sz="1800" dirty="0"/>
              <a:t>} </a:t>
            </a:r>
          </a:p>
          <a:p>
            <a:r>
              <a:rPr lang="he-IL" sz="1800" dirty="0"/>
              <a:t>לכל קורס </a:t>
            </a:r>
            <a:r>
              <a:rPr lang="en-US" sz="1800" dirty="0" err="1"/>
              <a:t>i</a:t>
            </a:r>
            <a:r>
              <a:rPr lang="he-IL" sz="1800" dirty="0"/>
              <a:t> שעת התחלה </a:t>
            </a:r>
            <a:r>
              <a:rPr lang="en-US" sz="1800" dirty="0" err="1"/>
              <a:t>si</a:t>
            </a:r>
            <a:r>
              <a:rPr lang="en-US" sz="1800" dirty="0"/>
              <a:t> </a:t>
            </a:r>
            <a:r>
              <a:rPr lang="he-IL" sz="1800" dirty="0"/>
              <a:t> ושעת סיום </a:t>
            </a:r>
            <a:r>
              <a:rPr lang="en-US" sz="1800" dirty="0"/>
              <a:t>fi</a:t>
            </a:r>
            <a:r>
              <a:rPr lang="he-IL" sz="1800" dirty="0"/>
              <a:t>.</a:t>
            </a:r>
          </a:p>
          <a:p>
            <a:r>
              <a:rPr lang="he-IL" sz="1800" dirty="0"/>
              <a:t>במזכירות החוג רוצים לשבץ את הקורסים למספר מינימלי של אולמות.</a:t>
            </a:r>
          </a:p>
          <a:p>
            <a:r>
              <a:rPr lang="he-IL" sz="1800" dirty="0"/>
              <a:t>ברור כי שני קורסים המתקיימים באותן שעות, או ששעותיהם חופפות חלקית, לא יכולים להתקיים באותו אולם.</a:t>
            </a:r>
          </a:p>
          <a:p>
            <a:r>
              <a:rPr lang="he-IL" sz="1800" dirty="0"/>
              <a:t>כדי לפתור את הבעיה הוצע האלגוריתם הבא:</a:t>
            </a:r>
          </a:p>
          <a:p>
            <a:endParaRPr lang="he-IL" sz="1800" dirty="0"/>
          </a:p>
          <a:p>
            <a:endParaRPr lang="he-IL" sz="1800" dirty="0"/>
          </a:p>
          <a:p>
            <a:endParaRPr lang="he-IL" sz="1800" dirty="0"/>
          </a:p>
          <a:p>
            <a:endParaRPr lang="he-IL" sz="1800" dirty="0"/>
          </a:p>
          <a:p>
            <a:endParaRPr lang="he-IL" sz="1800" dirty="0"/>
          </a:p>
          <a:p>
            <a:endParaRPr lang="he-IL" sz="1800" dirty="0"/>
          </a:p>
          <a:p>
            <a:endParaRPr lang="he-IL" sz="1800" dirty="0"/>
          </a:p>
          <a:p>
            <a:r>
              <a:rPr lang="en-US" sz="1800" dirty="0"/>
              <a:t>GREEDY-ACTIVITY-SELECTOR (</a:t>
            </a:r>
            <a:r>
              <a:rPr lang="en-US" sz="1800" i="1" dirty="0"/>
              <a:t>s</a:t>
            </a:r>
            <a:r>
              <a:rPr lang="en-US" sz="1800" dirty="0"/>
              <a:t>, </a:t>
            </a:r>
            <a:r>
              <a:rPr lang="en-US" sz="1800" i="1" dirty="0"/>
              <a:t>f</a:t>
            </a:r>
            <a:r>
              <a:rPr lang="en-US" sz="1800" dirty="0"/>
              <a:t>)</a:t>
            </a:r>
            <a:r>
              <a:rPr lang="he-IL" sz="1800" dirty="0"/>
              <a:t> הוא האלגוריתם המשבץ מקסימום קורסים לאולם יחיד. (האלגוריתם שהוצע כפתרון לשאלה דלעיל..)</a:t>
            </a:r>
          </a:p>
          <a:p>
            <a:r>
              <a:rPr lang="he-IL" sz="1800" dirty="0"/>
              <a:t>הוכיחו או הפריכו: האלגוריתם תמיד יצליח לשבץ קבוצה נתונה של קורסים למספר מינימלי של אולמות.</a:t>
            </a:r>
          </a:p>
          <a:p>
            <a:endParaRPr lang="he-IL" sz="1800" dirty="0"/>
          </a:p>
        </p:txBody>
      </p:sp>
      <p:sp>
        <p:nvSpPr>
          <p:cNvPr id="3" name="כותרת 2"/>
          <p:cNvSpPr>
            <a:spLocks noGrp="1"/>
          </p:cNvSpPr>
          <p:nvPr>
            <p:ph type="title"/>
          </p:nvPr>
        </p:nvSpPr>
        <p:spPr/>
        <p:txBody>
          <a:bodyPr/>
          <a:lstStyle/>
          <a:p>
            <a:endParaRPr lang="he-IL" dirty="0"/>
          </a:p>
        </p:txBody>
      </p:sp>
      <p:pic>
        <p:nvPicPr>
          <p:cNvPr id="7170"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6919" y="2776736"/>
            <a:ext cx="5054643" cy="266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8704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תוכן 1"/>
          <p:cNvSpPr>
            <a:spLocks noGrp="1"/>
          </p:cNvSpPr>
          <p:nvPr>
            <p:ph idx="1"/>
          </p:nvPr>
        </p:nvSpPr>
        <p:spPr/>
        <p:txBody>
          <a:bodyPr>
            <a:normAutofit lnSpcReduction="10000"/>
          </a:bodyPr>
          <a:lstStyle/>
          <a:p>
            <a:r>
              <a:rPr lang="he-IL" dirty="0"/>
              <a:t>ניתן דוגמא שתוכיח כי האלגוריתם המוצע יכשל:</a:t>
            </a:r>
          </a:p>
          <a:p>
            <a:endParaRPr lang="he-IL" dirty="0"/>
          </a:p>
          <a:p>
            <a:endParaRPr lang="he-IL" dirty="0"/>
          </a:p>
          <a:p>
            <a:endParaRPr lang="he-IL" dirty="0"/>
          </a:p>
          <a:p>
            <a:endParaRPr lang="he-IL" dirty="0"/>
          </a:p>
          <a:p>
            <a:r>
              <a:rPr lang="he-IL" dirty="0"/>
              <a:t>תחילה ישובצו 2 קורסים..</a:t>
            </a:r>
          </a:p>
          <a:p>
            <a:r>
              <a:rPr lang="he-IL" dirty="0"/>
              <a:t>אח"כ קורס בודד, ושוב קורס בודד.</a:t>
            </a:r>
          </a:p>
          <a:p>
            <a:r>
              <a:rPr lang="he-IL" dirty="0"/>
              <a:t>סה"כ ישבצו ב-3 כיתות.</a:t>
            </a:r>
          </a:p>
          <a:p>
            <a:endParaRPr lang="he-IL" dirty="0"/>
          </a:p>
          <a:p>
            <a:r>
              <a:rPr lang="he-IL" dirty="0"/>
              <a:t>בעוד </a:t>
            </a:r>
            <a:r>
              <a:rPr lang="he-IL"/>
              <a:t>שניתן היה להסתדר </a:t>
            </a:r>
            <a:r>
              <a:rPr lang="he-IL" dirty="0"/>
              <a:t>בשתי כיתות בלבד...</a:t>
            </a:r>
          </a:p>
          <a:p>
            <a:endParaRPr lang="he-IL" dirty="0"/>
          </a:p>
          <a:p>
            <a:endParaRPr lang="he-IL" dirty="0"/>
          </a:p>
        </p:txBody>
      </p:sp>
      <p:sp>
        <p:nvSpPr>
          <p:cNvPr id="3" name="כותרת 2"/>
          <p:cNvSpPr>
            <a:spLocks noGrp="1"/>
          </p:cNvSpPr>
          <p:nvPr>
            <p:ph type="title"/>
          </p:nvPr>
        </p:nvSpPr>
        <p:spPr/>
        <p:txBody>
          <a:bodyPr/>
          <a:lstStyle/>
          <a:p>
            <a:r>
              <a:rPr lang="he-IL" dirty="0"/>
              <a:t>תשובה ע"י הפרכה</a:t>
            </a: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2187576"/>
            <a:ext cx="3992563" cy="101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60887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רחבה">
  <a:themeElements>
    <a:clrScheme name="רשת">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רחבה">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רחבה">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2525</TotalTime>
  <Words>2575</Words>
  <Application>Microsoft Office PowerPoint</Application>
  <PresentationFormat>‫הצגה על המסך (4:3)</PresentationFormat>
  <Paragraphs>350</Paragraphs>
  <Slides>44</Slides>
  <Notes>0</Notes>
  <HiddenSlides>0</HiddenSlides>
  <MMClips>0</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44</vt:i4>
      </vt:variant>
    </vt:vector>
  </HeadingPairs>
  <TitlesOfParts>
    <vt:vector size="53" baseType="lpstr">
      <vt:lpstr>Arial Unicode MS</vt:lpstr>
      <vt:lpstr>Aharoni</vt:lpstr>
      <vt:lpstr>Consolas</vt:lpstr>
      <vt:lpstr>Guttman Haim</vt:lpstr>
      <vt:lpstr>Lucida Sans Unicode</vt:lpstr>
      <vt:lpstr>Verdana</vt:lpstr>
      <vt:lpstr>Wingdings 2</vt:lpstr>
      <vt:lpstr>Wingdings 3</vt:lpstr>
      <vt:lpstr>רחבה</vt:lpstr>
      <vt:lpstr>אלגוריתם חמדני</vt:lpstr>
      <vt:lpstr>הקדמה</vt:lpstr>
      <vt:lpstr>מצגת של PowerPoint‏</vt:lpstr>
      <vt:lpstr>הדגמה ראשונה</vt:lpstr>
      <vt:lpstr>הפתרון:</vt:lpstr>
      <vt:lpstr>בעיית התדלוק</vt:lpstr>
      <vt:lpstr>לדוגמא:</vt:lpstr>
      <vt:lpstr>מצגת של PowerPoint‏</vt:lpstr>
      <vt:lpstr>האפשרויות בהן נתקל:</vt:lpstr>
      <vt:lpstr>האפשרויות בהן נתקל:</vt:lpstr>
      <vt:lpstr>האפשרויות בהן נתקל:</vt:lpstr>
      <vt:lpstr>וכעת לפסאדו קוד:</vt:lpstr>
      <vt:lpstr>ניתוח סיבוכיות</vt:lpstr>
      <vt:lpstr>בעיית הסגמנטים/ חלוקה לקבוצות</vt:lpstr>
      <vt:lpstr>בעיית הסגמנטים/ חלוקה לקבוצות</vt:lpstr>
      <vt:lpstr>בעיית הסגמנטים/ חלוקה לקבוצות</vt:lpstr>
      <vt:lpstr>בעיית הסגמנטים/ חלוקה לקבוצות</vt:lpstr>
      <vt:lpstr>ניתוח סיבוכיות</vt:lpstr>
      <vt:lpstr>מציאת מספר בעל סכום הספרות הגדול ביותר</vt:lpstr>
      <vt:lpstr>מציאת מספר בעל סכום הספרות הגדול ביותר</vt:lpstr>
      <vt:lpstr>מציאת מספר בעל סכום הספרות הגדול ביותר</vt:lpstr>
      <vt:lpstr>הוכחת נכונות הצעד הבטוח</vt:lpstr>
      <vt:lpstr>קוד</vt:lpstr>
      <vt:lpstr>ניתוח סיבוכיות</vt:lpstr>
      <vt:lpstr>בעיית תרמיל הגב</vt:lpstr>
      <vt:lpstr>דוגמא, בעיית תרמיל הגב</vt:lpstr>
      <vt:lpstr>דוגמא, בעיית תרמיל הגב</vt:lpstr>
      <vt:lpstr>דוגמא, בעיית תרמיל הגב</vt:lpstr>
      <vt:lpstr>דוגמא, בעיית תרמיל הגב</vt:lpstr>
      <vt:lpstr>מה מציע האלגוריתם החמדן?</vt:lpstr>
      <vt:lpstr>לצורך הוכחת הצעד הבטוח- פתרון אופטימלי אחר לעומת הפתרון החמדני</vt:lpstr>
      <vt:lpstr>המשך הוכחת נכונות הצעד הבטוח</vt:lpstr>
      <vt:lpstr>פסאודו קוד:</vt:lpstr>
      <vt:lpstr>ניתוח סיבוכיות</vt:lpstr>
      <vt:lpstr>בעיית העודף</vt:lpstr>
      <vt:lpstr>ובמקרים אחרים...</vt:lpstr>
      <vt:lpstr>הוכחת נכונות האלגוריתם החמדני עבור סט המטבעות 1,2,5,10</vt:lpstr>
      <vt:lpstr>המשך ההוכחה</vt:lpstr>
      <vt:lpstr>המשך ההוכחה</vt:lpstr>
      <vt:lpstr>בעיית שיבוץ הפעילויות</vt:lpstr>
      <vt:lpstr>פתרון בעיית שיבוץ הפעילויות</vt:lpstr>
      <vt:lpstr>הוכחה</vt:lpstr>
      <vt:lpstr>מצגת של PowerPoint‏</vt:lpstr>
      <vt:lpstr>תשובה ע"י הפרכה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אלגוריתם חמדני</dc:title>
  <dc:creator>USER</dc:creator>
  <cp:lastModifiedBy>ברייש חנה</cp:lastModifiedBy>
  <cp:revision>75</cp:revision>
  <dcterms:created xsi:type="dcterms:W3CDTF">2020-06-03T15:33:25Z</dcterms:created>
  <dcterms:modified xsi:type="dcterms:W3CDTF">2025-10-22T10:06:35Z</dcterms:modified>
</cp:coreProperties>
</file>