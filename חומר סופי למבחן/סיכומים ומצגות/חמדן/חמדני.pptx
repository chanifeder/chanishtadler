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63"/>
  </p:notesMasterIdLst>
  <p:sldIdLst>
    <p:sldId id="256" r:id="rId2"/>
    <p:sldId id="580" r:id="rId3"/>
    <p:sldId id="581" r:id="rId4"/>
    <p:sldId id="482" r:id="rId5"/>
    <p:sldId id="572" r:id="rId6"/>
    <p:sldId id="265" r:id="rId7"/>
    <p:sldId id="257" r:id="rId8"/>
    <p:sldId id="573" r:id="rId9"/>
    <p:sldId id="448" r:id="rId10"/>
    <p:sldId id="450" r:id="rId11"/>
    <p:sldId id="544" r:id="rId12"/>
    <p:sldId id="258" r:id="rId13"/>
    <p:sldId id="545" r:id="rId14"/>
    <p:sldId id="259" r:id="rId15"/>
    <p:sldId id="260" r:id="rId16"/>
    <p:sldId id="546" r:id="rId17"/>
    <p:sldId id="547" r:id="rId18"/>
    <p:sldId id="261" r:id="rId19"/>
    <p:sldId id="262" r:id="rId20"/>
    <p:sldId id="263" r:id="rId21"/>
    <p:sldId id="574" r:id="rId22"/>
    <p:sldId id="462" r:id="rId23"/>
    <p:sldId id="463" r:id="rId24"/>
    <p:sldId id="578" r:id="rId25"/>
    <p:sldId id="579" r:id="rId26"/>
    <p:sldId id="582" r:id="rId27"/>
    <p:sldId id="275" r:id="rId28"/>
    <p:sldId id="571" r:id="rId29"/>
    <p:sldId id="575" r:id="rId30"/>
    <p:sldId id="302" r:id="rId31"/>
    <p:sldId id="549" r:id="rId32"/>
    <p:sldId id="562" r:id="rId33"/>
    <p:sldId id="550" r:id="rId34"/>
    <p:sldId id="551" r:id="rId35"/>
    <p:sldId id="553" r:id="rId36"/>
    <p:sldId id="552" r:id="rId37"/>
    <p:sldId id="554" r:id="rId38"/>
    <p:sldId id="555" r:id="rId39"/>
    <p:sldId id="556" r:id="rId40"/>
    <p:sldId id="589" r:id="rId41"/>
    <p:sldId id="588" r:id="rId42"/>
    <p:sldId id="558" r:id="rId43"/>
    <p:sldId id="590" r:id="rId44"/>
    <p:sldId id="560" r:id="rId45"/>
    <p:sldId id="561" r:id="rId46"/>
    <p:sldId id="576" r:id="rId47"/>
    <p:sldId id="563" r:id="rId48"/>
    <p:sldId id="458" r:id="rId49"/>
    <p:sldId id="432" r:id="rId50"/>
    <p:sldId id="565" r:id="rId51"/>
    <p:sldId id="566" r:id="rId52"/>
    <p:sldId id="567" r:id="rId53"/>
    <p:sldId id="568" r:id="rId54"/>
    <p:sldId id="459" r:id="rId55"/>
    <p:sldId id="460" r:id="rId56"/>
    <p:sldId id="591" r:id="rId57"/>
    <p:sldId id="586" r:id="rId58"/>
    <p:sldId id="273" r:id="rId59"/>
    <p:sldId id="569" r:id="rId60"/>
    <p:sldId id="570" r:id="rId61"/>
    <p:sldId id="274" r:id="rId62"/>
  </p:sldIdLst>
  <p:sldSz cx="12192000" cy="6858000"/>
  <p:notesSz cx="6797675" cy="9929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C7CD"/>
    <a:srgbClr val="FCE2E6"/>
    <a:srgbClr val="CAE1EA"/>
    <a:srgbClr val="E4F4E3"/>
    <a:srgbClr val="32C7B7"/>
    <a:srgbClr val="E13B2F"/>
    <a:srgbClr val="2E65AD"/>
    <a:srgbClr val="85E430"/>
    <a:srgbClr val="F4E0DE"/>
    <a:srgbClr val="605C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45" autoAdjust="0"/>
    <p:restoredTop sz="94660"/>
  </p:normalViewPr>
  <p:slideViewPr>
    <p:cSldViewPr snapToGrid="0">
      <p:cViewPr varScale="1">
        <p:scale>
          <a:sx n="65" d="100"/>
          <a:sy n="65" d="100"/>
        </p:scale>
        <p:origin x="94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51275" y="0"/>
            <a:ext cx="2946400" cy="498475"/>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46400" cy="498475"/>
          </a:xfrm>
          <a:prstGeom prst="rect">
            <a:avLst/>
          </a:prstGeom>
        </p:spPr>
        <p:txBody>
          <a:bodyPr vert="horz" lIns="91440" tIns="45720" rIns="91440" bIns="45720" rtlCol="1"/>
          <a:lstStyle>
            <a:lvl1pPr algn="l">
              <a:defRPr sz="1200"/>
            </a:lvl1pPr>
          </a:lstStyle>
          <a:p>
            <a:fld id="{D58D8182-D62D-461A-B70F-A92F1142DE1C}" type="datetimeFigureOut">
              <a:rPr lang="he-IL" smtClean="0"/>
              <a:t>י"ב/חשון/תשפ"ו</a:t>
            </a:fld>
            <a:endParaRPr lang="he-IL"/>
          </a:p>
        </p:txBody>
      </p:sp>
      <p:sp>
        <p:nvSpPr>
          <p:cNvPr id="4" name="מציין מיקום של תמונת שקופית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79450" y="4778375"/>
            <a:ext cx="5438775" cy="3910013"/>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51275" y="9431338"/>
            <a:ext cx="2946400" cy="498475"/>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9431338"/>
            <a:ext cx="2946400" cy="498475"/>
          </a:xfrm>
          <a:prstGeom prst="rect">
            <a:avLst/>
          </a:prstGeom>
        </p:spPr>
        <p:txBody>
          <a:bodyPr vert="horz" lIns="91440" tIns="45720" rIns="91440" bIns="45720" rtlCol="1" anchor="b"/>
          <a:lstStyle>
            <a:lvl1pPr algn="l">
              <a:defRPr sz="1200"/>
            </a:lvl1pPr>
          </a:lstStyle>
          <a:p>
            <a:fld id="{8E496242-7E78-4A0D-966D-5BE25B02ED89}" type="slidenum">
              <a:rPr lang="he-IL" smtClean="0"/>
              <a:t>‹#›</a:t>
            </a:fld>
            <a:endParaRPr lang="he-IL"/>
          </a:p>
        </p:txBody>
      </p:sp>
    </p:spTree>
    <p:extLst>
      <p:ext uri="{BB962C8B-B14F-4D97-AF65-F5344CB8AC3E}">
        <p14:creationId xmlns:p14="http://schemas.microsoft.com/office/powerpoint/2010/main" val="248844328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2FED67DB-4D9C-40C4-B300-882312968343}" type="datetimeFigureOut">
              <a:rPr lang="he-IL" smtClean="0"/>
              <a:t>י"ב/חשון/תשפ"ו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FF74B57-38FB-42E5-9C9A-B0BBCBAE076B}" type="slidenum">
              <a:rPr lang="he-IL" smtClean="0"/>
              <a:t>‹#›</a:t>
            </a:fld>
            <a:endParaRPr lang="he-IL"/>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9498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2FED67DB-4D9C-40C4-B300-882312968343}" type="datetimeFigureOut">
              <a:rPr lang="he-IL" smtClean="0"/>
              <a:t>י"ב/חשון/תשפ"ו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FF74B57-38FB-42E5-9C9A-B0BBCBAE076B}" type="slidenum">
              <a:rPr lang="he-IL" smtClean="0"/>
              <a:t>‹#›</a:t>
            </a:fld>
            <a:endParaRPr lang="he-IL"/>
          </a:p>
        </p:txBody>
      </p:sp>
    </p:spTree>
    <p:extLst>
      <p:ext uri="{BB962C8B-B14F-4D97-AF65-F5344CB8AC3E}">
        <p14:creationId xmlns:p14="http://schemas.microsoft.com/office/powerpoint/2010/main" val="1556144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2FED67DB-4D9C-40C4-B300-882312968343}" type="datetimeFigureOut">
              <a:rPr lang="he-IL" smtClean="0"/>
              <a:t>י"ב/חשון/תשפ"ו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FF74B57-38FB-42E5-9C9A-B0BBCBAE076B}" type="slidenum">
              <a:rPr lang="he-IL" smtClean="0"/>
              <a:t>‹#›</a:t>
            </a:fld>
            <a:endParaRPr lang="he-IL"/>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5845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2FED67DB-4D9C-40C4-B300-882312968343}" type="datetimeFigureOut">
              <a:rPr lang="he-IL" smtClean="0"/>
              <a:t>י"ב/חשון/תשפ"ו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4FF74B57-38FB-42E5-9C9A-B0BBCBAE076B}" type="slidenum">
              <a:rPr lang="he-IL" smtClean="0"/>
              <a:t>‹#›</a:t>
            </a:fld>
            <a:endParaRPr lang="he-IL"/>
          </a:p>
        </p:txBody>
      </p:sp>
    </p:spTree>
    <p:extLst>
      <p:ext uri="{BB962C8B-B14F-4D97-AF65-F5344CB8AC3E}">
        <p14:creationId xmlns:p14="http://schemas.microsoft.com/office/powerpoint/2010/main" val="843225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1097280" y="2582334"/>
            <a:ext cx="4937760" cy="337820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217920" y="2582334"/>
            <a:ext cx="4937760" cy="337820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2FED67DB-4D9C-40C4-B300-882312968343}" type="datetimeFigureOut">
              <a:rPr lang="he-IL" smtClean="0"/>
              <a:t>י"ב/חשון/תשפ"ו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4FF74B57-38FB-42E5-9C9A-B0BBCBAE076B}" type="slidenum">
              <a:rPr lang="he-IL" smtClean="0"/>
              <a:t>‹#›</a:t>
            </a:fld>
            <a:endParaRPr lang="he-IL"/>
          </a:p>
        </p:txBody>
      </p:sp>
    </p:spTree>
    <p:extLst>
      <p:ext uri="{BB962C8B-B14F-4D97-AF65-F5344CB8AC3E}">
        <p14:creationId xmlns:p14="http://schemas.microsoft.com/office/powerpoint/2010/main" val="2955010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2FED67DB-4D9C-40C4-B300-882312968343}" type="datetimeFigureOut">
              <a:rPr lang="he-IL" smtClean="0"/>
              <a:t>י"ב/חשון/תשפ"ו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4FF74B57-38FB-42E5-9C9A-B0BBCBAE076B}" type="slidenum">
              <a:rPr lang="he-IL" smtClean="0"/>
              <a:t>‹#›</a:t>
            </a:fld>
            <a:endParaRPr lang="he-IL"/>
          </a:p>
        </p:txBody>
      </p:sp>
    </p:spTree>
    <p:extLst>
      <p:ext uri="{BB962C8B-B14F-4D97-AF65-F5344CB8AC3E}">
        <p14:creationId xmlns:p14="http://schemas.microsoft.com/office/powerpoint/2010/main" val="1367866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ריק">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FED67DB-4D9C-40C4-B300-882312968343}" type="datetimeFigureOut">
              <a:rPr lang="he-IL" smtClean="0"/>
              <a:t>י"ב/חשון/תשפ"ו</a:t>
            </a:fld>
            <a:endParaRPr lang="he-IL"/>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he-IL"/>
          </a:p>
        </p:txBody>
      </p:sp>
      <p:sp>
        <p:nvSpPr>
          <p:cNvPr id="9" name="Slide Number Placeholder 8"/>
          <p:cNvSpPr>
            <a:spLocks noGrp="1"/>
          </p:cNvSpPr>
          <p:nvPr>
            <p:ph type="sldNum" sz="quarter" idx="12"/>
          </p:nvPr>
        </p:nvSpPr>
        <p:spPr/>
        <p:txBody>
          <a:bodyPr/>
          <a:lstStyle/>
          <a:p>
            <a:fld id="{4FF74B57-38FB-42E5-9C9A-B0BBCBAE076B}" type="slidenum">
              <a:rPr lang="he-IL" smtClean="0"/>
              <a:t>‹#›</a:t>
            </a:fld>
            <a:endParaRPr lang="he-IL"/>
          </a:p>
        </p:txBody>
      </p:sp>
    </p:spTree>
    <p:extLst>
      <p:ext uri="{BB962C8B-B14F-4D97-AF65-F5344CB8AC3E}">
        <p14:creationId xmlns:p14="http://schemas.microsoft.com/office/powerpoint/2010/main" val="3959663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FED67DB-4D9C-40C4-B300-882312968343}" type="datetimeFigureOut">
              <a:rPr lang="he-IL" smtClean="0"/>
              <a:t>י"ב/חשון/תשפ"ו</a:t>
            </a:fld>
            <a:endParaRPr lang="he-IL"/>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he-IL"/>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F74B57-38FB-42E5-9C9A-B0BBCBAE076B}" type="slidenum">
              <a:rPr lang="he-IL" smtClean="0"/>
              <a:t>‹#›</a:t>
            </a:fld>
            <a:endParaRPr lang="he-IL"/>
          </a:p>
        </p:txBody>
      </p:sp>
    </p:spTree>
    <p:extLst>
      <p:ext uri="{BB962C8B-B14F-4D97-AF65-F5344CB8AC3E}">
        <p14:creationId xmlns:p14="http://schemas.microsoft.com/office/powerpoint/2010/main" val="237502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2FED67DB-4D9C-40C4-B300-882312968343}" type="datetimeFigureOut">
              <a:rPr lang="he-IL" smtClean="0"/>
              <a:t>י"ב/חשון/תשפ"ו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4FF74B57-38FB-42E5-9C9A-B0BBCBAE076B}" type="slidenum">
              <a:rPr lang="he-IL" smtClean="0"/>
              <a:t>‹#›</a:t>
            </a:fld>
            <a:endParaRPr lang="he-IL"/>
          </a:p>
        </p:txBody>
      </p:sp>
    </p:spTree>
    <p:extLst>
      <p:ext uri="{BB962C8B-B14F-4D97-AF65-F5344CB8AC3E}">
        <p14:creationId xmlns:p14="http://schemas.microsoft.com/office/powerpoint/2010/main" val="3247564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2FED67DB-4D9C-40C4-B300-882312968343}" type="datetimeFigureOut">
              <a:rPr lang="he-IL" smtClean="0"/>
              <a:t>י"ב/חשון/תשפ"ו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FF74B57-38FB-42E5-9C9A-B0BBCBAE076B}" type="slidenum">
              <a:rPr lang="he-IL" smtClean="0"/>
              <a:t>‹#›</a:t>
            </a:fld>
            <a:endParaRPr lang="he-IL"/>
          </a:p>
        </p:txBody>
      </p:sp>
    </p:spTree>
    <p:extLst>
      <p:ext uri="{BB962C8B-B14F-4D97-AF65-F5344CB8AC3E}">
        <p14:creationId xmlns:p14="http://schemas.microsoft.com/office/powerpoint/2010/main" val="2888376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כותרת אנכית וטקסט">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2FED67DB-4D9C-40C4-B300-882312968343}" type="datetimeFigureOut">
              <a:rPr lang="he-IL" smtClean="0"/>
              <a:t>י"ב/חשון/תשפ"ו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FF74B57-38FB-42E5-9C9A-B0BBCBAE076B}" type="slidenum">
              <a:rPr lang="he-IL" smtClean="0"/>
              <a:t>‹#›</a:t>
            </a:fld>
            <a:endParaRPr lang="he-IL"/>
          </a:p>
        </p:txBody>
      </p:sp>
    </p:spTree>
    <p:extLst>
      <p:ext uri="{BB962C8B-B14F-4D97-AF65-F5344CB8AC3E}">
        <p14:creationId xmlns:p14="http://schemas.microsoft.com/office/powerpoint/2010/main" val="4198737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FED67DB-4D9C-40C4-B300-882312968343}" type="datetimeFigureOut">
              <a:rPr lang="he-IL" smtClean="0"/>
              <a:t>י"ב/חשון/תשפ"ו</a:t>
            </a:fld>
            <a:endParaRPr lang="he-IL"/>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he-IL"/>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F74B57-38FB-42E5-9C9A-B0BBCBAE076B}" type="slidenum">
              <a:rPr lang="he-IL" smtClean="0"/>
              <a:t>‹#›</a:t>
            </a:fld>
            <a:endParaRPr lang="he-IL"/>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70485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9.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4.png"/><Relationship Id="rId4" Type="http://schemas.openxmlformats.org/officeDocument/2006/relationships/image" Target="../media/image39.png"/></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F5EFDA9-1D17-6DE0-2BE5-2D269D70994D}"/>
              </a:ext>
            </a:extLst>
          </p:cNvPr>
          <p:cNvSpPr>
            <a:spLocks noGrp="1"/>
          </p:cNvSpPr>
          <p:nvPr>
            <p:ph type="ctrTitle"/>
          </p:nvPr>
        </p:nvSpPr>
        <p:spPr/>
        <p:txBody>
          <a:bodyPr>
            <a:normAutofit/>
          </a:bodyPr>
          <a:lstStyle/>
          <a:p>
            <a:pPr algn="ctr"/>
            <a:r>
              <a:rPr lang="he-IL" sz="7200" dirty="0"/>
              <a:t>אלגוריתמים חמדניים</a:t>
            </a:r>
            <a:br>
              <a:rPr lang="he-IL" sz="7200" dirty="0"/>
            </a:br>
            <a:r>
              <a:rPr lang="en-US" sz="6000" dirty="0">
                <a:solidFill>
                  <a:srgbClr val="1F1F1F"/>
                </a:solidFill>
                <a:latin typeface="Source Sans Pro" panose="020B0503030403020204" pitchFamily="34" charset="0"/>
              </a:rPr>
              <a:t>Greedy Algorithms</a:t>
            </a:r>
            <a:endParaRPr lang="he-IL" sz="7200" dirty="0"/>
          </a:p>
        </p:txBody>
      </p:sp>
      <p:sp>
        <p:nvSpPr>
          <p:cNvPr id="3" name="כותרת משנה 2">
            <a:extLst>
              <a:ext uri="{FF2B5EF4-FFF2-40B4-BE49-F238E27FC236}">
                <a16:creationId xmlns:a16="http://schemas.microsoft.com/office/drawing/2014/main" id="{A8C12A35-AF78-933B-5247-64232FC01A59}"/>
              </a:ext>
            </a:extLst>
          </p:cNvPr>
          <p:cNvSpPr>
            <a:spLocks noGrp="1"/>
          </p:cNvSpPr>
          <p:nvPr>
            <p:ph type="subTitle" idx="1"/>
          </p:nvPr>
        </p:nvSpPr>
        <p:spPr/>
        <p:txBody>
          <a:bodyPr/>
          <a:lstStyle/>
          <a:p>
            <a:pPr algn="ctr"/>
            <a:r>
              <a:rPr lang="he-IL" dirty="0"/>
              <a:t>ר. גוטליב 058-3247666</a:t>
            </a:r>
          </a:p>
        </p:txBody>
      </p:sp>
    </p:spTree>
    <p:extLst>
      <p:ext uri="{BB962C8B-B14F-4D97-AF65-F5344CB8AC3E}">
        <p14:creationId xmlns:p14="http://schemas.microsoft.com/office/powerpoint/2010/main" val="381445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4BD9A9F-C617-6F6C-0E83-45BDEC28F19D}"/>
              </a:ext>
            </a:extLst>
          </p:cNvPr>
          <p:cNvSpPr>
            <a:spLocks noGrp="1"/>
          </p:cNvSpPr>
          <p:nvPr>
            <p:ph type="title"/>
          </p:nvPr>
        </p:nvSpPr>
        <p:spPr/>
        <p:txBody>
          <a:bodyPr/>
          <a:lstStyle/>
          <a:p>
            <a:pPr algn="ctr"/>
            <a:r>
              <a:rPr lang="he-IL" dirty="0"/>
              <a:t>אלגוריתמים חמדניים</a:t>
            </a:r>
          </a:p>
        </p:txBody>
      </p:sp>
      <p:sp>
        <p:nvSpPr>
          <p:cNvPr id="3" name="מציין מיקום תוכן 2">
            <a:extLst>
              <a:ext uri="{FF2B5EF4-FFF2-40B4-BE49-F238E27FC236}">
                <a16:creationId xmlns:a16="http://schemas.microsoft.com/office/drawing/2014/main" id="{94C28215-5958-AD19-20C6-0334516DE68A}"/>
              </a:ext>
            </a:extLst>
          </p:cNvPr>
          <p:cNvSpPr>
            <a:spLocks noGrp="1"/>
          </p:cNvSpPr>
          <p:nvPr>
            <p:ph idx="1"/>
          </p:nvPr>
        </p:nvSpPr>
        <p:spPr/>
        <p:txBody>
          <a:bodyPr/>
          <a:lstStyle/>
          <a:p>
            <a:pPr algn="just">
              <a:lnSpc>
                <a:spcPct val="150000"/>
              </a:lnSpc>
              <a:buFont typeface="Wingdings" panose="05000000000000000000" pitchFamily="2" charset="2"/>
              <a:buChar char="§"/>
            </a:pPr>
            <a:r>
              <a:rPr lang="he-IL" sz="3700" dirty="0">
                <a:latin typeface="Times New Roman" panose="02020603050405020304" pitchFamily="18" charset="0"/>
                <a:cs typeface="Times New Roman" panose="02020603050405020304" pitchFamily="18" charset="0"/>
              </a:rPr>
              <a:t> בפרקים העוסקים באלגוריתמים אנו מכירות שיטות לפתרון   בעיות אלגוריתמיות.</a:t>
            </a:r>
          </a:p>
          <a:p>
            <a:pPr>
              <a:lnSpc>
                <a:spcPct val="150000"/>
              </a:lnSpc>
              <a:buFont typeface="Wingdings" panose="05000000000000000000" pitchFamily="2" charset="2"/>
              <a:buChar char="§"/>
            </a:pPr>
            <a:r>
              <a:rPr lang="he-IL" sz="3700" dirty="0">
                <a:latin typeface="Times New Roman" panose="02020603050405020304" pitchFamily="18" charset="0"/>
                <a:cs typeface="Times New Roman" panose="02020603050405020304" pitchFamily="18" charset="0"/>
              </a:rPr>
              <a:t> עד כה הכרנו את שיטת- "הפרד ומשול".</a:t>
            </a:r>
          </a:p>
          <a:p>
            <a:pPr>
              <a:lnSpc>
                <a:spcPct val="150000"/>
              </a:lnSpc>
              <a:buFont typeface="Wingdings" panose="05000000000000000000" pitchFamily="2" charset="2"/>
              <a:buChar char="§"/>
            </a:pPr>
            <a:r>
              <a:rPr lang="he-IL" sz="3700" dirty="0">
                <a:latin typeface="Times New Roman" panose="02020603050405020304" pitchFamily="18" charset="0"/>
                <a:cs typeface="Times New Roman" panose="02020603050405020304" pitchFamily="18" charset="0"/>
              </a:rPr>
              <a:t> בפרק הנוכחי נכיר את שיטת –"אלגוריתם חמדני".</a:t>
            </a:r>
          </a:p>
        </p:txBody>
      </p:sp>
    </p:spTree>
    <p:extLst>
      <p:ext uri="{BB962C8B-B14F-4D97-AF65-F5344CB8AC3E}">
        <p14:creationId xmlns:p14="http://schemas.microsoft.com/office/powerpoint/2010/main" val="705867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C6CE8B-0870-3195-87CD-1EC13CF7256A}"/>
              </a:ext>
            </a:extLst>
          </p:cNvPr>
          <p:cNvSpPr>
            <a:spLocks noGrp="1"/>
          </p:cNvSpPr>
          <p:nvPr>
            <p:ph type="title"/>
          </p:nvPr>
        </p:nvSpPr>
        <p:spPr/>
        <p:txBody>
          <a:bodyPr/>
          <a:lstStyle/>
          <a:p>
            <a:pPr algn="ctr"/>
            <a:r>
              <a:rPr lang="he-IL" dirty="0"/>
              <a:t>אלגוריתם חמדני- הגדרה</a:t>
            </a:r>
          </a:p>
        </p:txBody>
      </p:sp>
      <p:sp>
        <p:nvSpPr>
          <p:cNvPr id="3" name="מציין מיקום תוכן 2">
            <a:extLst>
              <a:ext uri="{FF2B5EF4-FFF2-40B4-BE49-F238E27FC236}">
                <a16:creationId xmlns:a16="http://schemas.microsoft.com/office/drawing/2014/main" id="{45391FC4-B07C-0D38-31C6-7BC1FDBCDE2A}"/>
              </a:ext>
            </a:extLst>
          </p:cNvPr>
          <p:cNvSpPr>
            <a:spLocks noGrp="1"/>
          </p:cNvSpPr>
          <p:nvPr>
            <p:ph idx="1"/>
          </p:nvPr>
        </p:nvSpPr>
        <p:spPr>
          <a:xfrm>
            <a:off x="922266" y="1845734"/>
            <a:ext cx="10347468" cy="4023360"/>
          </a:xfrm>
        </p:spPr>
        <p:txBody>
          <a:bodyPr>
            <a:normAutofit fontScale="92500" lnSpcReduction="20000"/>
          </a:bodyPr>
          <a:lstStyle/>
          <a:p>
            <a:pPr algn="just">
              <a:lnSpc>
                <a:spcPct val="150000"/>
              </a:lnSpc>
            </a:pPr>
            <a:r>
              <a:rPr lang="he-IL" sz="3700" dirty="0">
                <a:latin typeface="Times New Roman" panose="02020603050405020304" pitchFamily="18" charset="0"/>
                <a:cs typeface="Times New Roman" panose="02020603050405020304" pitchFamily="18" charset="0"/>
              </a:rPr>
              <a:t>אלגוריתם חמדני הוא אלגוריתם שבכל שלב של הפתרון בוחר את </a:t>
            </a:r>
            <a:r>
              <a:rPr lang="he-IL" sz="3700" b="1" dirty="0">
                <a:latin typeface="Times New Roman" panose="02020603050405020304" pitchFamily="18" charset="0"/>
                <a:cs typeface="Times New Roman" panose="02020603050405020304" pitchFamily="18" charset="0"/>
              </a:rPr>
              <a:t>האפשרות הטובה ביותר </a:t>
            </a:r>
            <a:r>
              <a:rPr lang="he-IL" sz="3700" dirty="0">
                <a:latin typeface="Times New Roman" panose="02020603050405020304" pitchFamily="18" charset="0"/>
                <a:cs typeface="Times New Roman" panose="02020603050405020304" pitchFamily="18" charset="0"/>
              </a:rPr>
              <a:t>באותו רגע (הפתרון המקומי האופטימלי), בלי להתחשב בהכרח בהשלכות העתידיות. </a:t>
            </a:r>
          </a:p>
          <a:p>
            <a:pPr algn="just">
              <a:lnSpc>
                <a:spcPct val="150000"/>
              </a:lnSpc>
            </a:pPr>
            <a:r>
              <a:rPr lang="he-IL" sz="800" dirty="0">
                <a:latin typeface="Times New Roman" panose="02020603050405020304" pitchFamily="18" charset="0"/>
                <a:cs typeface="Times New Roman" panose="02020603050405020304" pitchFamily="18" charset="0"/>
              </a:rPr>
              <a:t>.</a:t>
            </a:r>
            <a:br>
              <a:rPr lang="he-IL" sz="3700" dirty="0">
                <a:latin typeface="Times New Roman" panose="02020603050405020304" pitchFamily="18" charset="0"/>
                <a:cs typeface="Times New Roman" panose="02020603050405020304" pitchFamily="18" charset="0"/>
              </a:rPr>
            </a:br>
            <a:r>
              <a:rPr lang="he-IL" sz="3700" dirty="0">
                <a:latin typeface="Times New Roman" panose="02020603050405020304" pitchFamily="18" charset="0"/>
                <a:cs typeface="Times New Roman" panose="02020603050405020304" pitchFamily="18" charset="0"/>
              </a:rPr>
              <a:t>הרעיון: לקוות ששרשרת הבחירות המקומיות תוביל גם לפתרון האופטימלי הכולל.</a:t>
            </a:r>
          </a:p>
          <a:p>
            <a:pPr algn="just">
              <a:lnSpc>
                <a:spcPct val="150000"/>
              </a:lnSpc>
            </a:pPr>
            <a:endParaRPr lang="he-IL" sz="2800" dirty="0"/>
          </a:p>
        </p:txBody>
      </p:sp>
    </p:spTree>
    <p:extLst>
      <p:ext uri="{BB962C8B-B14F-4D97-AF65-F5344CB8AC3E}">
        <p14:creationId xmlns:p14="http://schemas.microsoft.com/office/powerpoint/2010/main" val="98244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D30F238-41B4-0793-EA81-328D59B9053B}"/>
              </a:ext>
            </a:extLst>
          </p:cNvPr>
          <p:cNvSpPr>
            <a:spLocks noGrp="1"/>
          </p:cNvSpPr>
          <p:nvPr>
            <p:ph type="title"/>
          </p:nvPr>
        </p:nvSpPr>
        <p:spPr/>
        <p:txBody>
          <a:bodyPr/>
          <a:lstStyle/>
          <a:p>
            <a:r>
              <a:rPr lang="he-IL" dirty="0"/>
              <a:t>מה נראה היום?</a:t>
            </a:r>
          </a:p>
        </p:txBody>
      </p:sp>
      <p:sp>
        <p:nvSpPr>
          <p:cNvPr id="3" name="מציין מיקום תוכן 2">
            <a:extLst>
              <a:ext uri="{FF2B5EF4-FFF2-40B4-BE49-F238E27FC236}">
                <a16:creationId xmlns:a16="http://schemas.microsoft.com/office/drawing/2014/main" id="{2CFEA2EA-1886-D54E-1689-BF9D0BF0A9FF}"/>
              </a:ext>
            </a:extLst>
          </p:cNvPr>
          <p:cNvSpPr>
            <a:spLocks noGrp="1"/>
          </p:cNvSpPr>
          <p:nvPr>
            <p:ph idx="1"/>
          </p:nvPr>
        </p:nvSpPr>
        <p:spPr>
          <a:xfrm>
            <a:off x="4819262" y="668068"/>
            <a:ext cx="6492240" cy="6600476"/>
          </a:xfrm>
        </p:spPr>
        <p:txBody>
          <a:bodyPr>
            <a:normAutofit/>
          </a:bodyPr>
          <a:lstStyle/>
          <a:p>
            <a:pPr>
              <a:lnSpc>
                <a:spcPct val="120000"/>
              </a:lnSpc>
              <a:buFont typeface="Arial" panose="020B0604020202020204" pitchFamily="34" charset="0"/>
              <a:buChar char="•"/>
            </a:pPr>
            <a:r>
              <a:rPr lang="he-IL" dirty="0">
                <a:latin typeface="Times New Roman" panose="02020603050405020304" pitchFamily="18" charset="0"/>
                <a:cs typeface="Times New Roman" panose="02020603050405020304" pitchFamily="18" charset="0"/>
              </a:rPr>
              <a:t> </a:t>
            </a:r>
            <a:r>
              <a:rPr lang="he-IL" sz="3600" dirty="0">
                <a:latin typeface="Times New Roman" panose="02020603050405020304" pitchFamily="18" charset="0"/>
                <a:cs typeface="Times New Roman" panose="02020603050405020304" pitchFamily="18" charset="0"/>
              </a:rPr>
              <a:t>דוגמא 1- שכר מקסימלי</a:t>
            </a:r>
          </a:p>
          <a:p>
            <a:pPr>
              <a:lnSpc>
                <a:spcPct val="120000"/>
              </a:lnSpc>
              <a:buFont typeface="Arial" panose="020B0604020202020204" pitchFamily="34" charset="0"/>
              <a:buChar char="•"/>
            </a:pPr>
            <a:r>
              <a:rPr lang="he-IL" sz="3600" dirty="0">
                <a:latin typeface="Times New Roman" panose="02020603050405020304" pitchFamily="18" charset="0"/>
                <a:cs typeface="Times New Roman" panose="02020603050405020304" pitchFamily="18" charset="0"/>
              </a:rPr>
              <a:t> דוגמא 2- ניהול תור</a:t>
            </a:r>
          </a:p>
          <a:p>
            <a:pPr>
              <a:lnSpc>
                <a:spcPct val="120000"/>
              </a:lnSpc>
              <a:buFont typeface="Arial" panose="020B0604020202020204" pitchFamily="34" charset="0"/>
              <a:buChar char="•"/>
            </a:pPr>
            <a:r>
              <a:rPr lang="he-IL" sz="3600" dirty="0">
                <a:solidFill>
                  <a:schemeClr val="bg1">
                    <a:lumMod val="65000"/>
                  </a:schemeClr>
                </a:solidFill>
                <a:latin typeface="Times New Roman" panose="02020603050405020304" pitchFamily="18" charset="0"/>
                <a:cs typeface="Times New Roman" panose="02020603050405020304" pitchFamily="18" charset="0"/>
              </a:rPr>
              <a:t> </a:t>
            </a:r>
            <a:r>
              <a:rPr lang="he-IL" sz="3600" dirty="0">
                <a:latin typeface="Times New Roman" panose="02020603050405020304" pitchFamily="18" charset="0"/>
                <a:cs typeface="Times New Roman" panose="02020603050405020304" pitchFamily="18" charset="0"/>
              </a:rPr>
              <a:t>אלגוריתם חמדני- מרכיבים עיקריים</a:t>
            </a:r>
          </a:p>
          <a:p>
            <a:pPr>
              <a:lnSpc>
                <a:spcPct val="120000"/>
              </a:lnSpc>
              <a:buFont typeface="Arial" panose="020B0604020202020204" pitchFamily="34" charset="0"/>
              <a:buChar char="•"/>
            </a:pPr>
            <a:r>
              <a:rPr lang="he-IL" sz="3600" dirty="0">
                <a:latin typeface="Times New Roman" panose="02020603050405020304" pitchFamily="18" charset="0"/>
                <a:cs typeface="Times New Roman" panose="02020603050405020304" pitchFamily="18" charset="0"/>
              </a:rPr>
              <a:t> דוגמא 3- מסיבה</a:t>
            </a:r>
          </a:p>
          <a:p>
            <a:pPr>
              <a:lnSpc>
                <a:spcPct val="120000"/>
              </a:lnSpc>
              <a:buFont typeface="Arial" panose="020B0604020202020204" pitchFamily="34" charset="0"/>
              <a:buChar char="•"/>
            </a:pPr>
            <a:r>
              <a:rPr lang="he-IL" sz="3600" dirty="0">
                <a:latin typeface="Times New Roman" panose="02020603050405020304" pitchFamily="18" charset="0"/>
                <a:cs typeface="Times New Roman" panose="02020603050405020304" pitchFamily="18" charset="0"/>
              </a:rPr>
              <a:t> דוגמא 4- תרמיל הגב בשברים</a:t>
            </a:r>
          </a:p>
        </p:txBody>
      </p:sp>
    </p:spTree>
    <p:extLst>
      <p:ext uri="{BB962C8B-B14F-4D97-AF65-F5344CB8AC3E}">
        <p14:creationId xmlns:p14="http://schemas.microsoft.com/office/powerpoint/2010/main" val="3462889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D30F238-41B4-0793-EA81-328D59B9053B}"/>
              </a:ext>
            </a:extLst>
          </p:cNvPr>
          <p:cNvSpPr>
            <a:spLocks noGrp="1"/>
          </p:cNvSpPr>
          <p:nvPr>
            <p:ph type="title"/>
          </p:nvPr>
        </p:nvSpPr>
        <p:spPr/>
        <p:txBody>
          <a:bodyPr/>
          <a:lstStyle/>
          <a:p>
            <a:r>
              <a:rPr lang="he-IL" dirty="0"/>
              <a:t>מה נראה היום?</a:t>
            </a:r>
          </a:p>
        </p:txBody>
      </p:sp>
      <p:sp>
        <p:nvSpPr>
          <p:cNvPr id="3" name="מציין מיקום תוכן 2">
            <a:extLst>
              <a:ext uri="{FF2B5EF4-FFF2-40B4-BE49-F238E27FC236}">
                <a16:creationId xmlns:a16="http://schemas.microsoft.com/office/drawing/2014/main" id="{2CFEA2EA-1886-D54E-1689-BF9D0BF0A9FF}"/>
              </a:ext>
            </a:extLst>
          </p:cNvPr>
          <p:cNvSpPr>
            <a:spLocks noGrp="1"/>
          </p:cNvSpPr>
          <p:nvPr>
            <p:ph idx="1"/>
          </p:nvPr>
        </p:nvSpPr>
        <p:spPr>
          <a:xfrm>
            <a:off x="4819262" y="668068"/>
            <a:ext cx="6492240" cy="6600476"/>
          </a:xfrm>
        </p:spPr>
        <p:txBody>
          <a:bodyPr>
            <a:normAutofit/>
          </a:bodyPr>
          <a:lstStyle/>
          <a:p>
            <a:pPr>
              <a:lnSpc>
                <a:spcPct val="120000"/>
              </a:lnSpc>
              <a:buFont typeface="Arial" panose="020B0604020202020204" pitchFamily="34" charset="0"/>
              <a:buChar char="•"/>
            </a:pPr>
            <a:r>
              <a:rPr lang="he-IL" dirty="0">
                <a:latin typeface="Times New Roman" panose="02020603050405020304" pitchFamily="18" charset="0"/>
                <a:cs typeface="Times New Roman" panose="02020603050405020304" pitchFamily="18" charset="0"/>
              </a:rPr>
              <a:t> </a:t>
            </a:r>
            <a:r>
              <a:rPr lang="he-IL" sz="3600" dirty="0">
                <a:latin typeface="Times New Roman" panose="02020603050405020304" pitchFamily="18" charset="0"/>
                <a:cs typeface="Times New Roman" panose="02020603050405020304" pitchFamily="18" charset="0"/>
              </a:rPr>
              <a:t>דוגמא 1- שכר מקסימלי</a:t>
            </a:r>
          </a:p>
          <a:p>
            <a:pPr>
              <a:lnSpc>
                <a:spcPct val="120000"/>
              </a:lnSpc>
              <a:buFont typeface="Arial" panose="020B0604020202020204" pitchFamily="34" charset="0"/>
              <a:buChar char="•"/>
            </a:pPr>
            <a:r>
              <a:rPr lang="he-IL" sz="3600" dirty="0">
                <a:latin typeface="Times New Roman" panose="02020603050405020304" pitchFamily="18" charset="0"/>
                <a:cs typeface="Times New Roman" panose="02020603050405020304" pitchFamily="18" charset="0"/>
              </a:rPr>
              <a:t> </a:t>
            </a:r>
            <a:r>
              <a:rPr lang="he-IL" sz="3600" dirty="0">
                <a:solidFill>
                  <a:schemeClr val="bg1">
                    <a:lumMod val="75000"/>
                  </a:schemeClr>
                </a:solidFill>
                <a:latin typeface="Times New Roman" panose="02020603050405020304" pitchFamily="18" charset="0"/>
                <a:cs typeface="Times New Roman" panose="02020603050405020304" pitchFamily="18" charset="0"/>
              </a:rPr>
              <a:t>דוגמא 2- ניהול תור</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אלגוריתם חמדני- מרכיבים עיקריים</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דוגמא 3- מסיבה</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דוגמא 4- תרמיל הגב בשברים</a:t>
            </a:r>
          </a:p>
          <a:p>
            <a:pPr>
              <a:lnSpc>
                <a:spcPct val="120000"/>
              </a:lnSpc>
              <a:buFont typeface="Arial" panose="020B0604020202020204" pitchFamily="34" charset="0"/>
              <a:buChar char="•"/>
            </a:pPr>
            <a:endParaRPr lang="he-IL"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572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D30F238-41B4-0793-EA81-328D59B9053B}"/>
              </a:ext>
            </a:extLst>
          </p:cNvPr>
          <p:cNvSpPr>
            <a:spLocks noGrp="1"/>
          </p:cNvSpPr>
          <p:nvPr>
            <p:ph type="title"/>
          </p:nvPr>
        </p:nvSpPr>
        <p:spPr/>
        <p:txBody>
          <a:bodyPr/>
          <a:lstStyle/>
          <a:p>
            <a:pPr algn="ctr"/>
            <a:r>
              <a:rPr lang="he-IL" sz="4800" dirty="0">
                <a:latin typeface="Times New Roman" panose="02020603050405020304" pitchFamily="18" charset="0"/>
                <a:cs typeface="Times New Roman" panose="02020603050405020304" pitchFamily="18" charset="0"/>
              </a:rPr>
              <a:t>דוגמא 1- שכר מקסימלי</a:t>
            </a:r>
          </a:p>
        </p:txBody>
      </p:sp>
      <p:sp>
        <p:nvSpPr>
          <p:cNvPr id="3" name="מציין מיקום תוכן 2">
            <a:extLst>
              <a:ext uri="{FF2B5EF4-FFF2-40B4-BE49-F238E27FC236}">
                <a16:creationId xmlns:a16="http://schemas.microsoft.com/office/drawing/2014/main" id="{2CFEA2EA-1886-D54E-1689-BF9D0BF0A9FF}"/>
              </a:ext>
            </a:extLst>
          </p:cNvPr>
          <p:cNvSpPr>
            <a:spLocks noGrp="1"/>
          </p:cNvSpPr>
          <p:nvPr>
            <p:ph idx="1"/>
          </p:nvPr>
        </p:nvSpPr>
        <p:spPr>
          <a:xfrm>
            <a:off x="1097280" y="1715099"/>
            <a:ext cx="10058400" cy="4725663"/>
          </a:xfrm>
        </p:spPr>
        <p:txBody>
          <a:bodyPr>
            <a:normAutofit fontScale="85000" lnSpcReduction="20000"/>
          </a:bodyPr>
          <a:lstStyle/>
          <a:p>
            <a:pPr algn="just">
              <a:lnSpc>
                <a:spcPct val="150000"/>
              </a:lnSpc>
              <a:buFont typeface="Arial" panose="020B0604020202020204" pitchFamily="34" charset="0"/>
              <a:buChar char="•"/>
            </a:pPr>
            <a:r>
              <a:rPr lang="he-IL" sz="4400" dirty="0">
                <a:latin typeface="Times New Roman" panose="02020603050405020304" pitchFamily="18" charset="0"/>
                <a:cs typeface="Times New Roman" panose="02020603050405020304" pitchFamily="18" charset="0"/>
              </a:rPr>
              <a:t> </a:t>
            </a:r>
            <a:r>
              <a:rPr lang="he-IL" sz="4400" b="1" dirty="0">
                <a:latin typeface="Times New Roman" panose="02020603050405020304" pitchFamily="18" charset="0"/>
                <a:cs typeface="Times New Roman" panose="02020603050405020304" pitchFamily="18" charset="0"/>
              </a:rPr>
              <a:t>הבעיה: </a:t>
            </a:r>
            <a:r>
              <a:rPr lang="he-IL" sz="4400" dirty="0">
                <a:latin typeface="Times New Roman" panose="02020603050405020304" pitchFamily="18" charset="0"/>
                <a:cs typeface="Times New Roman" panose="02020603050405020304" pitchFamily="18" charset="0"/>
              </a:rPr>
              <a:t>מהו המספר המקסימלי שניתן להרכיב מהספרות:</a:t>
            </a:r>
          </a:p>
          <a:p>
            <a:pPr marL="0" indent="0" algn="ctr">
              <a:lnSpc>
                <a:spcPct val="150000"/>
              </a:lnSpc>
              <a:buNone/>
            </a:pPr>
            <a:r>
              <a:rPr lang="he-IL" sz="4400" dirty="0">
                <a:latin typeface="Times New Roman" panose="02020603050405020304" pitchFamily="18" charset="0"/>
                <a:cs typeface="Times New Roman" panose="02020603050405020304" pitchFamily="18" charset="0"/>
              </a:rPr>
              <a:t>1,8,9,9,6</a:t>
            </a:r>
          </a:p>
          <a:p>
            <a:pPr>
              <a:lnSpc>
                <a:spcPct val="150000"/>
              </a:lnSpc>
              <a:buFont typeface="Arial" panose="020B0604020202020204" pitchFamily="34" charset="0"/>
              <a:buChar char="•"/>
            </a:pPr>
            <a:r>
              <a:rPr lang="he-IL" sz="4400" dirty="0">
                <a:latin typeface="Times New Roman" panose="02020603050405020304" pitchFamily="18" charset="0"/>
                <a:cs typeface="Times New Roman" panose="02020603050405020304" pitchFamily="18" charset="0"/>
              </a:rPr>
              <a:t> יש להשתמש בכל הספרות.</a:t>
            </a:r>
          </a:p>
          <a:p>
            <a:pPr>
              <a:lnSpc>
                <a:spcPct val="150000"/>
              </a:lnSpc>
              <a:buFont typeface="Arial" panose="020B0604020202020204" pitchFamily="34" charset="0"/>
              <a:buChar char="•"/>
            </a:pPr>
            <a:r>
              <a:rPr lang="he-IL" sz="4400" dirty="0">
                <a:latin typeface="Times New Roman" panose="02020603050405020304" pitchFamily="18" charset="0"/>
                <a:cs typeface="Times New Roman" panose="02020603050405020304" pitchFamily="18" charset="0"/>
              </a:rPr>
              <a:t> דוגמאות: 89691, 18699, ...</a:t>
            </a:r>
          </a:p>
          <a:p>
            <a:pPr>
              <a:lnSpc>
                <a:spcPct val="150000"/>
              </a:lnSpc>
              <a:buFont typeface="Arial" panose="020B0604020202020204" pitchFamily="34" charset="0"/>
              <a:buChar char="•"/>
            </a:pPr>
            <a:r>
              <a:rPr lang="he-IL" sz="4400" dirty="0">
                <a:latin typeface="Times New Roman" panose="02020603050405020304" pitchFamily="18" charset="0"/>
                <a:cs typeface="Times New Roman" panose="02020603050405020304" pitchFamily="18" charset="0"/>
              </a:rPr>
              <a:t> הפתרון כמובן: 99861</a:t>
            </a:r>
            <a:endParaRPr lang="he-IL" sz="2800" dirty="0"/>
          </a:p>
          <a:p>
            <a:endParaRPr lang="he-IL" dirty="0"/>
          </a:p>
          <a:p>
            <a:endParaRPr lang="he-IL" dirty="0"/>
          </a:p>
        </p:txBody>
      </p:sp>
    </p:spTree>
    <p:extLst>
      <p:ext uri="{BB962C8B-B14F-4D97-AF65-F5344CB8AC3E}">
        <p14:creationId xmlns:p14="http://schemas.microsoft.com/office/powerpoint/2010/main" val="425530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3BD602-60BA-BF5C-64EA-A28B871D8D9E}"/>
              </a:ext>
            </a:extLst>
          </p:cNvPr>
          <p:cNvSpPr>
            <a:spLocks noGrp="1"/>
          </p:cNvSpPr>
          <p:nvPr>
            <p:ph type="title"/>
          </p:nvPr>
        </p:nvSpPr>
        <p:spPr/>
        <p:txBody>
          <a:bodyPr/>
          <a:lstStyle/>
          <a:p>
            <a:pPr algn="ctr"/>
            <a:r>
              <a:rPr lang="he-IL" dirty="0"/>
              <a:t>דוגמא 1- אסטרטגיה חמדנית</a:t>
            </a:r>
          </a:p>
        </p:txBody>
      </p:sp>
      <p:sp>
        <p:nvSpPr>
          <p:cNvPr id="3" name="מציין מיקום תוכן 2">
            <a:extLst>
              <a:ext uri="{FF2B5EF4-FFF2-40B4-BE49-F238E27FC236}">
                <a16:creationId xmlns:a16="http://schemas.microsoft.com/office/drawing/2014/main" id="{CE502749-61F0-08AD-27D3-19DBBFA4332C}"/>
              </a:ext>
            </a:extLst>
          </p:cNvPr>
          <p:cNvSpPr>
            <a:spLocks noGrp="1"/>
          </p:cNvSpPr>
          <p:nvPr>
            <p:ph idx="1"/>
          </p:nvPr>
        </p:nvSpPr>
        <p:spPr>
          <a:xfrm>
            <a:off x="2304661" y="2554861"/>
            <a:ext cx="8851019" cy="2735597"/>
          </a:xfrm>
        </p:spPr>
        <p:txBody>
          <a:bodyPr>
            <a:normAutofit/>
          </a:bodyPr>
          <a:lstStyle/>
          <a:p>
            <a:pPr algn="just">
              <a:lnSpc>
                <a:spcPct val="100000"/>
              </a:lnSpc>
              <a:buFont typeface="Arial" panose="020B0604020202020204" pitchFamily="34" charset="0"/>
              <a:buChar char="•"/>
            </a:pPr>
            <a:r>
              <a:rPr lang="he-IL" sz="2400" dirty="0"/>
              <a:t> </a:t>
            </a:r>
            <a:r>
              <a:rPr lang="he-IL" sz="3200" dirty="0">
                <a:solidFill>
                  <a:srgbClr val="00B0F0"/>
                </a:solidFill>
                <a:latin typeface="Times New Roman" panose="02020603050405020304" pitchFamily="18" charset="0"/>
                <a:cs typeface="Times New Roman" panose="02020603050405020304" pitchFamily="18" charset="0"/>
              </a:rPr>
              <a:t>מצא</a:t>
            </a:r>
            <a:r>
              <a:rPr lang="he-IL" sz="3200" dirty="0">
                <a:latin typeface="Times New Roman" panose="02020603050405020304" pitchFamily="18" charset="0"/>
                <a:cs typeface="Times New Roman" panose="02020603050405020304" pitchFamily="18" charset="0"/>
              </a:rPr>
              <a:t> את הספרה </a:t>
            </a:r>
            <a:r>
              <a:rPr lang="he-IL" sz="3200" dirty="0">
                <a:solidFill>
                  <a:schemeClr val="tx1"/>
                </a:solidFill>
                <a:latin typeface="Times New Roman" panose="02020603050405020304" pitchFamily="18" charset="0"/>
                <a:cs typeface="Times New Roman" panose="02020603050405020304" pitchFamily="18" charset="0"/>
              </a:rPr>
              <a:t>המקסימלית</a:t>
            </a:r>
          </a:p>
          <a:p>
            <a:pPr algn="just">
              <a:lnSpc>
                <a:spcPct val="100000"/>
              </a:lnSpc>
              <a:buFont typeface="Arial" panose="020B0604020202020204" pitchFamily="34" charset="0"/>
              <a:buChar char="•"/>
            </a:pPr>
            <a:r>
              <a:rPr lang="he-IL" sz="3200" dirty="0">
                <a:solidFill>
                  <a:srgbClr val="92D050"/>
                </a:solidFill>
                <a:latin typeface="Times New Roman" panose="02020603050405020304" pitchFamily="18" charset="0"/>
                <a:cs typeface="Times New Roman" panose="02020603050405020304" pitchFamily="18" charset="0"/>
              </a:rPr>
              <a:t> שרשר</a:t>
            </a:r>
            <a:r>
              <a:rPr lang="he-IL" sz="3200" dirty="0">
                <a:latin typeface="Times New Roman" panose="02020603050405020304" pitchFamily="18" charset="0"/>
                <a:cs typeface="Times New Roman" panose="02020603050405020304" pitchFamily="18" charset="0"/>
              </a:rPr>
              <a:t> למספר הפלט</a:t>
            </a:r>
          </a:p>
          <a:p>
            <a:pPr algn="just">
              <a:lnSpc>
                <a:spcPct val="100000"/>
              </a:lnSpc>
              <a:buFont typeface="Arial" panose="020B0604020202020204" pitchFamily="34" charset="0"/>
              <a:buChar char="•"/>
            </a:pPr>
            <a:r>
              <a:rPr lang="he-IL" sz="3200" dirty="0">
                <a:solidFill>
                  <a:srgbClr val="FF0000"/>
                </a:solidFill>
                <a:latin typeface="Times New Roman" panose="02020603050405020304" pitchFamily="18" charset="0"/>
                <a:cs typeface="Times New Roman" panose="02020603050405020304" pitchFamily="18" charset="0"/>
              </a:rPr>
              <a:t> מחק</a:t>
            </a:r>
            <a:r>
              <a:rPr lang="he-IL" sz="3200" dirty="0">
                <a:latin typeface="Times New Roman" panose="02020603050405020304" pitchFamily="18" charset="0"/>
                <a:cs typeface="Times New Roman" panose="02020603050405020304" pitchFamily="18" charset="0"/>
              </a:rPr>
              <a:t> מרשימת הספרות הנתונה</a:t>
            </a:r>
          </a:p>
          <a:p>
            <a:pPr algn="just">
              <a:lnSpc>
                <a:spcPct val="100000"/>
              </a:lnSpc>
              <a:buFont typeface="Arial" panose="020B0604020202020204" pitchFamily="34" charset="0"/>
              <a:buChar char="•"/>
            </a:pPr>
            <a:r>
              <a:rPr lang="he-IL" sz="3200" dirty="0">
                <a:latin typeface="Times New Roman" panose="02020603050405020304" pitchFamily="18" charset="0"/>
                <a:cs typeface="Times New Roman" panose="02020603050405020304" pitchFamily="18" charset="0"/>
              </a:rPr>
              <a:t> חזור על התהליך כל עוד יש ספרות ברשימה הנתונה</a:t>
            </a:r>
          </a:p>
          <a:p>
            <a:pPr>
              <a:lnSpc>
                <a:spcPct val="100000"/>
              </a:lnSpc>
            </a:pPr>
            <a:endParaRPr lang="he-IL" dirty="0"/>
          </a:p>
        </p:txBody>
      </p:sp>
    </p:spTree>
    <p:extLst>
      <p:ext uri="{BB962C8B-B14F-4D97-AF65-F5344CB8AC3E}">
        <p14:creationId xmlns:p14="http://schemas.microsoft.com/office/powerpoint/2010/main" val="419784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D30F238-41B4-0793-EA81-328D59B9053B}"/>
              </a:ext>
            </a:extLst>
          </p:cNvPr>
          <p:cNvSpPr>
            <a:spLocks noGrp="1"/>
          </p:cNvSpPr>
          <p:nvPr>
            <p:ph type="title"/>
          </p:nvPr>
        </p:nvSpPr>
        <p:spPr/>
        <p:txBody>
          <a:bodyPr/>
          <a:lstStyle/>
          <a:p>
            <a:r>
              <a:rPr lang="he-IL" dirty="0"/>
              <a:t>מה נראה היום?</a:t>
            </a:r>
          </a:p>
        </p:txBody>
      </p:sp>
      <p:sp>
        <p:nvSpPr>
          <p:cNvPr id="3" name="מציין מיקום תוכן 2">
            <a:extLst>
              <a:ext uri="{FF2B5EF4-FFF2-40B4-BE49-F238E27FC236}">
                <a16:creationId xmlns:a16="http://schemas.microsoft.com/office/drawing/2014/main" id="{2CFEA2EA-1886-D54E-1689-BF9D0BF0A9FF}"/>
              </a:ext>
            </a:extLst>
          </p:cNvPr>
          <p:cNvSpPr>
            <a:spLocks noGrp="1"/>
          </p:cNvSpPr>
          <p:nvPr>
            <p:ph idx="1"/>
          </p:nvPr>
        </p:nvSpPr>
        <p:spPr>
          <a:xfrm>
            <a:off x="4819262" y="668068"/>
            <a:ext cx="6492240" cy="6600476"/>
          </a:xfrm>
        </p:spPr>
        <p:txBody>
          <a:bodyPr>
            <a:normAutofit/>
          </a:bodyPr>
          <a:lstStyle/>
          <a:p>
            <a:pPr>
              <a:lnSpc>
                <a:spcPct val="120000"/>
              </a:lnSpc>
              <a:buFont typeface="Arial" panose="020B0604020202020204" pitchFamily="34" charset="0"/>
              <a:buChar char="•"/>
            </a:pPr>
            <a:r>
              <a:rPr lang="he-IL" dirty="0">
                <a:latin typeface="Times New Roman" panose="02020603050405020304" pitchFamily="18" charset="0"/>
                <a:cs typeface="Times New Roman" panose="02020603050405020304" pitchFamily="18" charset="0"/>
              </a:rPr>
              <a:t> </a:t>
            </a:r>
            <a:r>
              <a:rPr lang="he-IL" sz="3600" dirty="0">
                <a:solidFill>
                  <a:schemeClr val="bg1">
                    <a:lumMod val="75000"/>
                  </a:schemeClr>
                </a:solidFill>
                <a:latin typeface="Times New Roman" panose="02020603050405020304" pitchFamily="18" charset="0"/>
                <a:cs typeface="Times New Roman" panose="02020603050405020304" pitchFamily="18" charset="0"/>
              </a:rPr>
              <a:t>דוגמא 1- שכר מקסימלי</a:t>
            </a:r>
          </a:p>
          <a:p>
            <a:pPr>
              <a:lnSpc>
                <a:spcPct val="120000"/>
              </a:lnSpc>
              <a:buFont typeface="Arial" panose="020B0604020202020204" pitchFamily="34" charset="0"/>
              <a:buChar char="•"/>
            </a:pPr>
            <a:r>
              <a:rPr lang="he-IL" sz="3600" dirty="0">
                <a:latin typeface="Times New Roman" panose="02020603050405020304" pitchFamily="18" charset="0"/>
                <a:cs typeface="Times New Roman" panose="02020603050405020304" pitchFamily="18" charset="0"/>
              </a:rPr>
              <a:t> </a:t>
            </a:r>
            <a:r>
              <a:rPr lang="he-IL" sz="3600" dirty="0">
                <a:solidFill>
                  <a:schemeClr val="tx1"/>
                </a:solidFill>
                <a:latin typeface="Times New Roman" panose="02020603050405020304" pitchFamily="18" charset="0"/>
                <a:cs typeface="Times New Roman" panose="02020603050405020304" pitchFamily="18" charset="0"/>
              </a:rPr>
              <a:t>דוגמא 2- ניהול תור</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אלגוריתם חמדני- מרכיבים עיקריים</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דוגמא 3- מסיבה</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דוגמא 4- תרמיל הגב בשברים</a:t>
            </a:r>
          </a:p>
          <a:p>
            <a:pPr>
              <a:lnSpc>
                <a:spcPct val="120000"/>
              </a:lnSpc>
              <a:buFont typeface="Arial" panose="020B0604020202020204" pitchFamily="34" charset="0"/>
              <a:buChar char="•"/>
            </a:pPr>
            <a:endParaRPr lang="he-IL"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51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3BD602-60BA-BF5C-64EA-A28B871D8D9E}"/>
              </a:ext>
            </a:extLst>
          </p:cNvPr>
          <p:cNvSpPr>
            <a:spLocks noGrp="1"/>
          </p:cNvSpPr>
          <p:nvPr>
            <p:ph type="title"/>
          </p:nvPr>
        </p:nvSpPr>
        <p:spPr/>
        <p:txBody>
          <a:bodyPr/>
          <a:lstStyle/>
          <a:p>
            <a:pPr algn="ctr"/>
            <a:r>
              <a:rPr lang="he-IL" dirty="0"/>
              <a:t>דוגמא 2- ניהול תור</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D841C96D-DF15-51B6-8651-3B7F24EDA4C7}"/>
                  </a:ext>
                </a:extLst>
              </p:cNvPr>
              <p:cNvSpPr>
                <a:spLocks noGrp="1"/>
              </p:cNvSpPr>
              <p:nvPr>
                <p:ph idx="1"/>
              </p:nvPr>
            </p:nvSpPr>
            <p:spPr>
              <a:xfrm>
                <a:off x="1352939" y="2034073"/>
                <a:ext cx="9802742" cy="3900196"/>
              </a:xfrm>
            </p:spPr>
            <p:txBody>
              <a:bodyPr>
                <a:noAutofit/>
              </a:bodyPr>
              <a:lstStyle/>
              <a:p>
                <a:pPr algn="just">
                  <a:lnSpc>
                    <a:spcPct val="100000"/>
                  </a:lnSpc>
                  <a:buFont typeface="Arial" panose="020B0604020202020204" pitchFamily="34" charset="0"/>
                  <a:buChar char="•"/>
                </a:pPr>
                <a:r>
                  <a:rPr lang="he-IL" sz="2800" b="1" dirty="0">
                    <a:latin typeface="Times New Roman" panose="02020603050405020304" pitchFamily="18" charset="0"/>
                    <a:cs typeface="Times New Roman" panose="02020603050405020304" pitchFamily="18" charset="0"/>
                  </a:rPr>
                  <a:t> </a:t>
                </a:r>
                <a:r>
                  <a:rPr lang="he-IL" sz="3600" b="1" dirty="0">
                    <a:latin typeface="Times New Roman" panose="02020603050405020304" pitchFamily="18" charset="0"/>
                    <a:cs typeface="Times New Roman" panose="02020603050405020304" pitchFamily="18" charset="0"/>
                  </a:rPr>
                  <a:t>קלט: </a:t>
                </a:r>
                <a:r>
                  <a:rPr lang="en-US" sz="3600" dirty="0">
                    <a:latin typeface="Times New Roman" panose="02020603050405020304" pitchFamily="18" charset="0"/>
                    <a:cs typeface="Times New Roman" panose="02020603050405020304" pitchFamily="18" charset="0"/>
                  </a:rPr>
                  <a:t>n</a:t>
                </a:r>
                <a:r>
                  <a:rPr lang="he-IL" sz="3600" dirty="0">
                    <a:latin typeface="Times New Roman" panose="02020603050405020304" pitchFamily="18" charset="0"/>
                    <a:cs typeface="Times New Roman" panose="02020603050405020304" pitchFamily="18" charset="0"/>
                  </a:rPr>
                  <a:t> פציינטים נמצאים בחדר ההמתנה של הרופא.</a:t>
                </a:r>
              </a:p>
              <a:p>
                <a:pPr marL="0" indent="0" algn="just">
                  <a:lnSpc>
                    <a:spcPct val="100000"/>
                  </a:lnSpc>
                  <a:buNone/>
                </a:pPr>
                <a:r>
                  <a:rPr lang="he-IL" sz="3600" dirty="0">
                    <a:latin typeface="Times New Roman" panose="02020603050405020304" pitchFamily="18" charset="0"/>
                    <a:cs typeface="Times New Roman" panose="02020603050405020304" pitchFamily="18" charset="0"/>
                  </a:rPr>
                  <a:t> הזמן הדרוש לטיפול בפציינט </a:t>
                </a:r>
                <a14:m>
                  <m:oMath xmlns:m="http://schemas.openxmlformats.org/officeDocument/2006/math">
                    <m:r>
                      <a:rPr lang="en-US" sz="3600" i="1" dirty="0" smtClean="0">
                        <a:latin typeface="Cambria Math" panose="02040503050406030204" pitchFamily="18" charset="0"/>
                        <a:cs typeface="Times New Roman" panose="02020603050405020304" pitchFamily="18" charset="0"/>
                      </a:rPr>
                      <m:t>𝑖</m:t>
                    </m:r>
                  </m:oMath>
                </a14:m>
                <a:r>
                  <a:rPr lang="he-IL" sz="3600" dirty="0">
                    <a:latin typeface="Times New Roman" panose="02020603050405020304" pitchFamily="18" charset="0"/>
                    <a:cs typeface="Times New Roman" panose="02020603050405020304" pitchFamily="18" charset="0"/>
                  </a:rPr>
                  <a:t> מסומן ב-</a:t>
                </a:r>
                <a14:m>
                  <m:oMath xmlns:m="http://schemas.openxmlformats.org/officeDocument/2006/math">
                    <m:sSub>
                      <m:sSubPr>
                        <m:ctrlPr>
                          <a:rPr lang="en-US" sz="3600" i="1" dirty="0" smtClean="0">
                            <a:latin typeface="Cambria Math" panose="02040503050406030204" pitchFamily="18" charset="0"/>
                            <a:cs typeface="Times New Roman" panose="02020603050405020304" pitchFamily="18" charset="0"/>
                          </a:rPr>
                        </m:ctrlPr>
                      </m:sSubPr>
                      <m:e>
                        <m:r>
                          <a:rPr lang="en-US" sz="3600" i="1" dirty="0">
                            <a:latin typeface="Cambria Math" panose="02040503050406030204" pitchFamily="18" charset="0"/>
                            <a:cs typeface="Times New Roman" panose="02020603050405020304" pitchFamily="18" charset="0"/>
                          </a:rPr>
                          <m:t>𝑡</m:t>
                        </m:r>
                      </m:e>
                      <m:sub>
                        <m:r>
                          <a:rPr lang="en-US" sz="3600" i="1" dirty="0">
                            <a:latin typeface="Cambria Math" panose="02040503050406030204" pitchFamily="18" charset="0"/>
                            <a:cs typeface="Times New Roman" panose="02020603050405020304" pitchFamily="18" charset="0"/>
                          </a:rPr>
                          <m:t>𝑖</m:t>
                        </m:r>
                      </m:sub>
                    </m:sSub>
                  </m:oMath>
                </a14:m>
                <a:r>
                  <a:rPr lang="he-IL" sz="3600" dirty="0">
                    <a:latin typeface="Times New Roman" panose="02020603050405020304" pitchFamily="18" charset="0"/>
                    <a:cs typeface="Times New Roman" panose="02020603050405020304" pitchFamily="18" charset="0"/>
                  </a:rPr>
                  <a:t>.</a:t>
                </a:r>
              </a:p>
              <a:p>
                <a:pPr marL="0" indent="0" algn="just">
                  <a:lnSpc>
                    <a:spcPct val="100000"/>
                  </a:lnSpc>
                  <a:buNone/>
                </a:pPr>
                <a:r>
                  <a:rPr lang="he-IL" sz="3600" dirty="0">
                    <a:latin typeface="Times New Roman" panose="02020603050405020304" pitchFamily="18" charset="0"/>
                    <a:cs typeface="Times New Roman" panose="02020603050405020304" pitchFamily="18" charset="0"/>
                  </a:rPr>
                  <a:t>יש לסדר את הפציינטים בשורה כך שזמן ההמתנה בסה"כ של  כל המטופלים יחד יהיה המינימלי.</a:t>
                </a:r>
              </a:p>
              <a:p>
                <a:pPr algn="just">
                  <a:lnSpc>
                    <a:spcPct val="170000"/>
                  </a:lnSpc>
                  <a:buFont typeface="Arial" panose="020B0604020202020204" pitchFamily="34" charset="0"/>
                  <a:buChar char="•"/>
                </a:pPr>
                <a:r>
                  <a:rPr lang="he-IL" sz="3600" b="1" dirty="0">
                    <a:latin typeface="Times New Roman" panose="02020603050405020304" pitchFamily="18" charset="0"/>
                    <a:cs typeface="Times New Roman" panose="02020603050405020304" pitchFamily="18" charset="0"/>
                  </a:rPr>
                  <a:t> פלט: </a:t>
                </a:r>
                <a:r>
                  <a:rPr lang="he-IL" sz="3600" dirty="0">
                    <a:latin typeface="Times New Roman" panose="02020603050405020304" pitchFamily="18" charset="0"/>
                    <a:cs typeface="Times New Roman" panose="02020603050405020304" pitchFamily="18" charset="0"/>
                  </a:rPr>
                  <a:t>זמן ההמתנה המינימלי.</a:t>
                </a:r>
                <a:endParaRPr lang="he-IL" dirty="0"/>
              </a:p>
            </p:txBody>
          </p:sp>
        </mc:Choice>
        <mc:Fallback xmlns="">
          <p:sp>
            <p:nvSpPr>
              <p:cNvPr id="3" name="מציין מיקום תוכן 2">
                <a:extLst>
                  <a:ext uri="{FF2B5EF4-FFF2-40B4-BE49-F238E27FC236}">
                    <a16:creationId xmlns:a16="http://schemas.microsoft.com/office/drawing/2014/main" id="{D841C96D-DF15-51B6-8651-3B7F24EDA4C7}"/>
                  </a:ext>
                </a:extLst>
              </p:cNvPr>
              <p:cNvSpPr>
                <a:spLocks noGrp="1" noRot="1" noChangeAspect="1" noMove="1" noResize="1" noEditPoints="1" noAdjustHandles="1" noChangeArrowheads="1" noChangeShapeType="1" noTextEdit="1"/>
              </p:cNvSpPr>
              <p:nvPr>
                <p:ph idx="1"/>
              </p:nvPr>
            </p:nvSpPr>
            <p:spPr>
              <a:xfrm>
                <a:off x="1352939" y="2034073"/>
                <a:ext cx="9802742" cy="3900196"/>
              </a:xfrm>
              <a:blipFill>
                <a:blip r:embed="rId2"/>
                <a:stretch>
                  <a:fillRect l="-5286" t="-2660" r="-2799"/>
                </a:stretch>
              </a:blipFill>
            </p:spPr>
            <p:txBody>
              <a:bodyPr/>
              <a:lstStyle/>
              <a:p>
                <a:r>
                  <a:rPr lang="he-IL">
                    <a:noFill/>
                  </a:rPr>
                  <a:t> </a:t>
                </a:r>
              </a:p>
            </p:txBody>
          </p:sp>
        </mc:Fallback>
      </mc:AlternateContent>
    </p:spTree>
    <p:extLst>
      <p:ext uri="{BB962C8B-B14F-4D97-AF65-F5344CB8AC3E}">
        <p14:creationId xmlns:p14="http://schemas.microsoft.com/office/powerpoint/2010/main" val="345573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3BD602-60BA-BF5C-64EA-A28B871D8D9E}"/>
              </a:ext>
            </a:extLst>
          </p:cNvPr>
          <p:cNvSpPr>
            <a:spLocks noGrp="1"/>
          </p:cNvSpPr>
          <p:nvPr>
            <p:ph type="title"/>
          </p:nvPr>
        </p:nvSpPr>
        <p:spPr/>
        <p:txBody>
          <a:bodyPr/>
          <a:lstStyle/>
          <a:p>
            <a:pPr algn="ctr"/>
            <a:r>
              <a:rPr lang="he-IL" dirty="0"/>
              <a:t>דוגמא 2- ניהול תור</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7E9A5D57-27A0-4646-006D-A490CCD7F7D5}"/>
                  </a:ext>
                </a:extLst>
              </p:cNvPr>
              <p:cNvSpPr>
                <a:spLocks noGrp="1"/>
              </p:cNvSpPr>
              <p:nvPr>
                <p:ph idx="1"/>
              </p:nvPr>
            </p:nvSpPr>
            <p:spPr>
              <a:xfrm>
                <a:off x="1352939" y="2034073"/>
                <a:ext cx="9802742" cy="3900196"/>
              </a:xfrm>
            </p:spPr>
            <p:txBody>
              <a:bodyPr>
                <a:noAutofit/>
              </a:bodyPr>
              <a:lstStyle/>
              <a:p>
                <a:pPr algn="just">
                  <a:lnSpc>
                    <a:spcPct val="100000"/>
                  </a:lnSpc>
                  <a:buFont typeface="Arial" panose="020B0604020202020204" pitchFamily="34" charset="0"/>
                  <a:buChar char="•"/>
                </a:pPr>
                <a:r>
                  <a:rPr lang="he-IL" sz="2800" b="1" dirty="0">
                    <a:latin typeface="Times New Roman" panose="02020603050405020304" pitchFamily="18" charset="0"/>
                    <a:cs typeface="Times New Roman" panose="02020603050405020304" pitchFamily="18" charset="0"/>
                  </a:rPr>
                  <a:t> דוגמא: </a:t>
                </a:r>
                <a14:m>
                  <m:oMath xmlns:m="http://schemas.openxmlformats.org/officeDocument/2006/math">
                    <m:sSub>
                      <m:sSubPr>
                        <m:ctrlPr>
                          <a:rPr lang="he-IL" sz="2800" b="1" i="1" smtClean="0">
                            <a:latin typeface="Cambria Math" panose="02040503050406030204" pitchFamily="18" charset="0"/>
                            <a:cs typeface="Times New Roman" panose="02020603050405020304" pitchFamily="18" charset="0"/>
                          </a:rPr>
                        </m:ctrlPr>
                      </m:sSubPr>
                      <m:e>
                        <m:r>
                          <a:rPr lang="en-US" sz="2800" b="1" i="1" smtClean="0">
                            <a:latin typeface="Cambria Math" panose="02040503050406030204" pitchFamily="18" charset="0"/>
                            <a:cs typeface="Times New Roman" panose="02020603050405020304" pitchFamily="18" charset="0"/>
                          </a:rPr>
                          <m:t>𝒕</m:t>
                        </m:r>
                      </m:e>
                      <m:sub>
                        <m:r>
                          <a:rPr lang="he-IL" sz="2800" b="1" i="1" smtClean="0">
                            <a:latin typeface="Cambria Math" panose="02040503050406030204" pitchFamily="18" charset="0"/>
                            <a:cs typeface="Times New Roman" panose="02020603050405020304" pitchFamily="18" charset="0"/>
                          </a:rPr>
                          <m:t>𝟏</m:t>
                        </m:r>
                      </m:sub>
                    </m:sSub>
                    <m:r>
                      <a:rPr lang="he-IL" sz="2800" b="1" i="1" smtClean="0">
                        <a:latin typeface="Cambria Math" panose="02040503050406030204" pitchFamily="18" charset="0"/>
                        <a:cs typeface="Times New Roman" panose="02020603050405020304" pitchFamily="18" charset="0"/>
                      </a:rPr>
                      <m:t>=</m:t>
                    </m:r>
                    <m:r>
                      <a:rPr lang="he-IL" sz="2800" b="1" i="1" smtClean="0">
                        <a:latin typeface="Cambria Math" panose="02040503050406030204" pitchFamily="18" charset="0"/>
                        <a:cs typeface="Times New Roman" panose="02020603050405020304" pitchFamily="18" charset="0"/>
                      </a:rPr>
                      <m:t>𝟏𝟓</m:t>
                    </m:r>
                    <m:r>
                      <a:rPr lang="he-IL" sz="2800" b="1" i="1" smtClean="0">
                        <a:latin typeface="Cambria Math" panose="02040503050406030204" pitchFamily="18" charset="0"/>
                        <a:cs typeface="Times New Roman" panose="02020603050405020304" pitchFamily="18" charset="0"/>
                      </a:rPr>
                      <m:t>, </m:t>
                    </m:r>
                    <m:sSub>
                      <m:sSubPr>
                        <m:ctrlPr>
                          <a:rPr lang="he-IL" sz="2800" b="1" i="1" smtClean="0">
                            <a:latin typeface="Cambria Math" panose="02040503050406030204" pitchFamily="18" charset="0"/>
                            <a:cs typeface="Times New Roman" panose="02020603050405020304" pitchFamily="18" charset="0"/>
                          </a:rPr>
                        </m:ctrlPr>
                      </m:sSubPr>
                      <m:e>
                        <m:r>
                          <a:rPr lang="en-US" sz="2800" b="1" i="1" smtClean="0">
                            <a:latin typeface="Cambria Math" panose="02040503050406030204" pitchFamily="18" charset="0"/>
                            <a:cs typeface="Times New Roman" panose="02020603050405020304" pitchFamily="18" charset="0"/>
                          </a:rPr>
                          <m:t>    </m:t>
                        </m:r>
                        <m:r>
                          <a:rPr lang="en-US" sz="2800" b="1" i="1" smtClean="0">
                            <a:latin typeface="Cambria Math" panose="02040503050406030204" pitchFamily="18" charset="0"/>
                            <a:cs typeface="Times New Roman" panose="02020603050405020304" pitchFamily="18" charset="0"/>
                          </a:rPr>
                          <m:t>𝒕</m:t>
                        </m:r>
                      </m:e>
                      <m:sub>
                        <m:r>
                          <a:rPr lang="he-IL" sz="2800" b="1" i="1" smtClean="0">
                            <a:latin typeface="Cambria Math" panose="02040503050406030204" pitchFamily="18" charset="0"/>
                            <a:cs typeface="Times New Roman" panose="02020603050405020304" pitchFamily="18" charset="0"/>
                          </a:rPr>
                          <m:t>𝟐</m:t>
                        </m:r>
                      </m:sub>
                    </m:sSub>
                    <m:r>
                      <a:rPr lang="he-IL" sz="2800" b="1" i="1" smtClean="0">
                        <a:latin typeface="Cambria Math" panose="02040503050406030204" pitchFamily="18" charset="0"/>
                        <a:cs typeface="Times New Roman" panose="02020603050405020304" pitchFamily="18" charset="0"/>
                      </a:rPr>
                      <m:t>=</m:t>
                    </m:r>
                    <m:r>
                      <a:rPr lang="he-IL" sz="2800" b="1" i="1" smtClean="0">
                        <a:latin typeface="Cambria Math" panose="02040503050406030204" pitchFamily="18" charset="0"/>
                        <a:cs typeface="Times New Roman" panose="02020603050405020304" pitchFamily="18" charset="0"/>
                      </a:rPr>
                      <m:t>𝟐𝟎</m:t>
                    </m:r>
                    <m:r>
                      <a:rPr lang="en-US" sz="2800" b="1" i="1" smtClean="0">
                        <a:latin typeface="Cambria Math" panose="02040503050406030204" pitchFamily="18" charset="0"/>
                        <a:cs typeface="Times New Roman" panose="02020603050405020304" pitchFamily="18" charset="0"/>
                      </a:rPr>
                      <m:t>,    </m:t>
                    </m:r>
                    <m:sSub>
                      <m:sSubPr>
                        <m:ctrlPr>
                          <a:rPr lang="en-US" sz="2800" b="1" i="1" smtClean="0">
                            <a:latin typeface="Cambria Math" panose="02040503050406030204" pitchFamily="18" charset="0"/>
                            <a:cs typeface="Times New Roman" panose="02020603050405020304" pitchFamily="18" charset="0"/>
                          </a:rPr>
                        </m:ctrlPr>
                      </m:sSubPr>
                      <m:e>
                        <m:r>
                          <a:rPr lang="en-US" sz="2800" b="1" i="1" smtClean="0">
                            <a:latin typeface="Cambria Math" panose="02040503050406030204" pitchFamily="18" charset="0"/>
                            <a:cs typeface="Times New Roman" panose="02020603050405020304" pitchFamily="18" charset="0"/>
                          </a:rPr>
                          <m:t>𝒕</m:t>
                        </m:r>
                      </m:e>
                      <m:sub>
                        <m:r>
                          <a:rPr lang="en-US" sz="2800" b="1" i="1" smtClean="0">
                            <a:latin typeface="Cambria Math" panose="02040503050406030204" pitchFamily="18" charset="0"/>
                            <a:cs typeface="Times New Roman" panose="02020603050405020304" pitchFamily="18" charset="0"/>
                          </a:rPr>
                          <m:t>𝟑</m:t>
                        </m:r>
                      </m:sub>
                    </m:sSub>
                    <m:r>
                      <a:rPr lang="en-US" sz="2800" b="1" i="1" smtClean="0">
                        <a:latin typeface="Cambria Math" panose="02040503050406030204" pitchFamily="18" charset="0"/>
                        <a:cs typeface="Times New Roman" panose="02020603050405020304" pitchFamily="18" charset="0"/>
                      </a:rPr>
                      <m:t>=</m:t>
                    </m:r>
                    <m:r>
                      <a:rPr lang="en-US" sz="2800" b="1" i="1" smtClean="0">
                        <a:latin typeface="Cambria Math" panose="02040503050406030204" pitchFamily="18" charset="0"/>
                        <a:cs typeface="Times New Roman" panose="02020603050405020304" pitchFamily="18" charset="0"/>
                      </a:rPr>
                      <m:t>𝟏𝟎</m:t>
                    </m:r>
                  </m:oMath>
                </a14:m>
                <a:endParaRPr lang="he-IL" sz="2800" b="1" dirty="0">
                  <a:latin typeface="Times New Roman" panose="02020603050405020304" pitchFamily="18" charset="0"/>
                  <a:cs typeface="Times New Roman" panose="02020603050405020304" pitchFamily="18" charset="0"/>
                </a:endParaRPr>
              </a:p>
              <a:p>
                <a:pPr marL="0" indent="0" algn="just">
                  <a:lnSpc>
                    <a:spcPct val="100000"/>
                  </a:lnSpc>
                  <a:buNone/>
                </a:pPr>
                <a:endParaRPr lang="he-IL" sz="2800" dirty="0">
                  <a:latin typeface="Times New Roman" panose="02020603050405020304" pitchFamily="18" charset="0"/>
                  <a:cs typeface="Times New Roman" panose="02020603050405020304" pitchFamily="18" charset="0"/>
                </a:endParaRPr>
              </a:p>
            </p:txBody>
          </p:sp>
        </mc:Choice>
        <mc:Fallback xmlns="">
          <p:sp>
            <p:nvSpPr>
              <p:cNvPr id="3" name="מציין מיקום תוכן 2">
                <a:extLst>
                  <a:ext uri="{FF2B5EF4-FFF2-40B4-BE49-F238E27FC236}">
                    <a16:creationId xmlns:a16="http://schemas.microsoft.com/office/drawing/2014/main" id="{7E9A5D57-27A0-4646-006D-A490CCD7F7D5}"/>
                  </a:ext>
                </a:extLst>
              </p:cNvPr>
              <p:cNvSpPr>
                <a:spLocks noGrp="1" noRot="1" noChangeAspect="1" noMove="1" noResize="1" noEditPoints="1" noAdjustHandles="1" noChangeArrowheads="1" noChangeShapeType="1" noTextEdit="1"/>
              </p:cNvSpPr>
              <p:nvPr>
                <p:ph idx="1"/>
              </p:nvPr>
            </p:nvSpPr>
            <p:spPr>
              <a:xfrm>
                <a:off x="1352939" y="2034073"/>
                <a:ext cx="9802742" cy="3900196"/>
              </a:xfrm>
              <a:blipFill>
                <a:blip r:embed="rId2"/>
                <a:stretch>
                  <a:fillRect t="-1721" r="-2114"/>
                </a:stretch>
              </a:blipFill>
            </p:spPr>
            <p:txBody>
              <a:bodyPr/>
              <a:lstStyle/>
              <a:p>
                <a:r>
                  <a:rPr lang="he-IL">
                    <a:noFill/>
                  </a:rPr>
                  <a:t> </a:t>
                </a:r>
              </a:p>
            </p:txBody>
          </p:sp>
        </mc:Fallback>
      </mc:AlternateContent>
      <p:sp>
        <p:nvSpPr>
          <p:cNvPr id="6" name="תיבת טקסט 5">
            <a:extLst>
              <a:ext uri="{FF2B5EF4-FFF2-40B4-BE49-F238E27FC236}">
                <a16:creationId xmlns:a16="http://schemas.microsoft.com/office/drawing/2014/main" id="{C5E1FBF9-C58C-6D5B-0D10-DE9DC2922FD0}"/>
              </a:ext>
            </a:extLst>
          </p:cNvPr>
          <p:cNvSpPr txBox="1"/>
          <p:nvPr/>
        </p:nvSpPr>
        <p:spPr>
          <a:xfrm>
            <a:off x="6096000" y="2741654"/>
            <a:ext cx="5492620" cy="305265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defPPr>
              <a:defRPr lang="en-US"/>
            </a:defPPr>
            <a:lvl1pPr algn="ctr" rtl="1">
              <a:defRPr sz="2400" b="1" spc="-50">
                <a:solidFill>
                  <a:schemeClr val="accent1">
                    <a:lumMod val="75000"/>
                  </a:schemeClr>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a:lnSpc>
                <a:spcPct val="150000"/>
              </a:lnSpc>
            </a:pPr>
            <a:r>
              <a:rPr lang="he-IL" dirty="0"/>
              <a:t> סידור אפשרי: </a:t>
            </a:r>
            <a:r>
              <a:rPr lang="en-US" dirty="0"/>
              <a:t>(1,2,3)</a:t>
            </a:r>
          </a:p>
          <a:p>
            <a:pPr algn="r">
              <a:lnSpc>
                <a:spcPct val="150000"/>
              </a:lnSpc>
            </a:pPr>
            <a:r>
              <a:rPr lang="en-US" dirty="0"/>
              <a:t> </a:t>
            </a:r>
            <a:r>
              <a:rPr lang="he-IL" dirty="0"/>
              <a:t>פציינט ראשון- </a:t>
            </a:r>
            <a:r>
              <a:rPr lang="he-IL" b="0" dirty="0"/>
              <a:t>לא ממתין כלל</a:t>
            </a:r>
          </a:p>
          <a:p>
            <a:pPr algn="r">
              <a:lnSpc>
                <a:spcPct val="150000"/>
              </a:lnSpc>
            </a:pPr>
            <a:r>
              <a:rPr lang="he-IL" dirty="0"/>
              <a:t> פציינט שני- </a:t>
            </a:r>
            <a:r>
              <a:rPr lang="he-IL" b="0" dirty="0"/>
              <a:t>ממתין לראשון 15 דק'</a:t>
            </a:r>
          </a:p>
          <a:p>
            <a:pPr algn="r">
              <a:lnSpc>
                <a:spcPct val="150000"/>
              </a:lnSpc>
            </a:pPr>
            <a:r>
              <a:rPr lang="he-IL" dirty="0"/>
              <a:t> פציינט שלישי </a:t>
            </a:r>
            <a:r>
              <a:rPr lang="he-IL" b="0" dirty="0"/>
              <a:t>ממתין לראשון ולשני 15+20 דק'.</a:t>
            </a:r>
          </a:p>
          <a:p>
            <a:pPr algn="r">
              <a:lnSpc>
                <a:spcPct val="150000"/>
              </a:lnSpc>
            </a:pPr>
            <a:r>
              <a:rPr lang="he-IL" dirty="0"/>
              <a:t> סה"כ זמן ההמתנה הכללי: </a:t>
            </a:r>
            <a:r>
              <a:rPr lang="he-IL" b="0" dirty="0"/>
              <a:t>15+20+15=50 דק'.</a:t>
            </a:r>
          </a:p>
        </p:txBody>
      </p:sp>
      <p:sp>
        <p:nvSpPr>
          <p:cNvPr id="8" name="תיבת טקסט 7">
            <a:extLst>
              <a:ext uri="{FF2B5EF4-FFF2-40B4-BE49-F238E27FC236}">
                <a16:creationId xmlns:a16="http://schemas.microsoft.com/office/drawing/2014/main" id="{1E6D645D-739C-8A8D-20CD-FCFDCCCEE439}"/>
              </a:ext>
            </a:extLst>
          </p:cNvPr>
          <p:cNvSpPr txBox="1"/>
          <p:nvPr/>
        </p:nvSpPr>
        <p:spPr>
          <a:xfrm>
            <a:off x="416767" y="2741654"/>
            <a:ext cx="5492620" cy="305265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defPPr>
              <a:defRPr lang="en-US"/>
            </a:defPPr>
            <a:lvl1pPr algn="ctr" rtl="1">
              <a:defRPr sz="2400" b="1" spc="-50">
                <a:solidFill>
                  <a:schemeClr val="accent1">
                    <a:lumMod val="75000"/>
                  </a:schemeClr>
                </a:solidFill>
                <a:latin typeface="+mj-lt"/>
                <a:ea typeface="+mj-ea"/>
                <a:cs typeface="+mj-cs"/>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a:lnSpc>
                <a:spcPct val="150000"/>
              </a:lnSpc>
            </a:pPr>
            <a:r>
              <a:rPr lang="he-IL" dirty="0"/>
              <a:t> סידור אפשרי: </a:t>
            </a:r>
            <a:r>
              <a:rPr lang="en-US" dirty="0"/>
              <a:t>(3,1,2)</a:t>
            </a:r>
          </a:p>
          <a:p>
            <a:pPr algn="r">
              <a:lnSpc>
                <a:spcPct val="150000"/>
              </a:lnSpc>
            </a:pPr>
            <a:r>
              <a:rPr lang="en-US" dirty="0"/>
              <a:t> </a:t>
            </a:r>
            <a:r>
              <a:rPr lang="he-IL" dirty="0"/>
              <a:t>פציינט ראשון- </a:t>
            </a:r>
            <a:r>
              <a:rPr lang="he-IL" b="0" dirty="0"/>
              <a:t>לא ממתין כלל</a:t>
            </a:r>
          </a:p>
          <a:p>
            <a:pPr algn="r">
              <a:lnSpc>
                <a:spcPct val="150000"/>
              </a:lnSpc>
            </a:pPr>
            <a:r>
              <a:rPr lang="he-IL" dirty="0"/>
              <a:t> פציינט שני- </a:t>
            </a:r>
            <a:r>
              <a:rPr lang="he-IL" b="0" dirty="0"/>
              <a:t>ממתין לראשון 10 דק'</a:t>
            </a:r>
          </a:p>
          <a:p>
            <a:pPr algn="r">
              <a:lnSpc>
                <a:spcPct val="150000"/>
              </a:lnSpc>
            </a:pPr>
            <a:r>
              <a:rPr lang="he-IL" dirty="0"/>
              <a:t> פציינט שלישי </a:t>
            </a:r>
            <a:r>
              <a:rPr lang="he-IL" b="0" dirty="0"/>
              <a:t>ממתין לראשון ולשני 15+10 דק'.</a:t>
            </a:r>
          </a:p>
          <a:p>
            <a:pPr algn="r">
              <a:lnSpc>
                <a:spcPct val="150000"/>
              </a:lnSpc>
            </a:pPr>
            <a:r>
              <a:rPr lang="he-IL" dirty="0"/>
              <a:t> סה"כ זמן ההמתנה הכללי: </a:t>
            </a:r>
            <a:r>
              <a:rPr lang="he-IL" b="0" dirty="0"/>
              <a:t>10+10+15=35 דק'.</a:t>
            </a:r>
          </a:p>
        </p:txBody>
      </p:sp>
    </p:spTree>
    <p:extLst>
      <p:ext uri="{BB962C8B-B14F-4D97-AF65-F5344CB8AC3E}">
        <p14:creationId xmlns:p14="http://schemas.microsoft.com/office/powerpoint/2010/main" val="196068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3BD602-60BA-BF5C-64EA-A28B871D8D9E}"/>
              </a:ext>
            </a:extLst>
          </p:cNvPr>
          <p:cNvSpPr>
            <a:spLocks noGrp="1"/>
          </p:cNvSpPr>
          <p:nvPr>
            <p:ph type="title"/>
          </p:nvPr>
        </p:nvSpPr>
        <p:spPr/>
        <p:txBody>
          <a:bodyPr/>
          <a:lstStyle/>
          <a:p>
            <a:pPr algn="ctr"/>
            <a:r>
              <a:rPr lang="he-IL" dirty="0"/>
              <a:t>דוגמא 2- אסטרטגיה חמדנית</a:t>
            </a:r>
          </a:p>
        </p:txBody>
      </p:sp>
      <p:sp>
        <p:nvSpPr>
          <p:cNvPr id="3" name="מציין מיקום תוכן 2">
            <a:extLst>
              <a:ext uri="{FF2B5EF4-FFF2-40B4-BE49-F238E27FC236}">
                <a16:creationId xmlns:a16="http://schemas.microsoft.com/office/drawing/2014/main" id="{CE502749-61F0-08AD-27D3-19DBBFA4332C}"/>
              </a:ext>
            </a:extLst>
          </p:cNvPr>
          <p:cNvSpPr>
            <a:spLocks noGrp="1"/>
          </p:cNvSpPr>
          <p:nvPr>
            <p:ph idx="1"/>
          </p:nvPr>
        </p:nvSpPr>
        <p:spPr>
          <a:xfrm>
            <a:off x="923731" y="2267339"/>
            <a:ext cx="10231949" cy="3816220"/>
          </a:xfrm>
        </p:spPr>
        <p:txBody>
          <a:bodyPr>
            <a:normAutofit/>
          </a:bodyPr>
          <a:lstStyle/>
          <a:p>
            <a:pPr algn="just">
              <a:lnSpc>
                <a:spcPct val="100000"/>
              </a:lnSpc>
              <a:buFont typeface="Arial" panose="020B0604020202020204" pitchFamily="34" charset="0"/>
              <a:buChar char="•"/>
            </a:pPr>
            <a:r>
              <a:rPr lang="he-IL" sz="2800" dirty="0">
                <a:latin typeface="Times New Roman" panose="02020603050405020304" pitchFamily="18" charset="0"/>
                <a:cs typeface="Times New Roman" panose="02020603050405020304" pitchFamily="18" charset="0"/>
              </a:rPr>
              <a:t>יש להחליט על בחירה חמדנית שלפיה ננהל את תור הממתינים.</a:t>
            </a:r>
          </a:p>
          <a:p>
            <a:pPr algn="just">
              <a:lnSpc>
                <a:spcPct val="100000"/>
              </a:lnSpc>
              <a:buFont typeface="Arial" panose="020B0604020202020204" pitchFamily="34" charset="0"/>
              <a:buChar char="•"/>
            </a:pPr>
            <a:r>
              <a:rPr lang="he-IL" sz="2800" dirty="0">
                <a:latin typeface="Times New Roman" panose="02020603050405020304" pitchFamily="18" charset="0"/>
                <a:cs typeface="Times New Roman" panose="02020603050405020304" pitchFamily="18" charset="0"/>
              </a:rPr>
              <a:t>בבחירה חמדנית אנחנו מחליטים על דרך לצמצום הבעיה לבעיה זהה אבל קטנה יותר, ממשיכים בתהליך עד שלא נותר מה לפתור.</a:t>
            </a:r>
          </a:p>
          <a:p>
            <a:pPr algn="just">
              <a:lnSpc>
                <a:spcPct val="100000"/>
              </a:lnSpc>
              <a:buFont typeface="Arial" panose="020B0604020202020204" pitchFamily="34" charset="0"/>
              <a:buChar char="•"/>
            </a:pPr>
            <a:r>
              <a:rPr lang="he-IL" sz="2800" dirty="0">
                <a:latin typeface="Times New Roman" panose="02020603050405020304" pitchFamily="18" charset="0"/>
                <a:cs typeface="Times New Roman" panose="02020603050405020304" pitchFamily="18" charset="0"/>
              </a:rPr>
              <a:t> למשל, ניתן להחליט לבחור בכל שלב את המטופל עם זמן ההמתנה המינימלי, או המקסימלי, או הקרוב ביותר לממוצע, וכן על זו הדרך.</a:t>
            </a:r>
          </a:p>
          <a:p>
            <a:pPr algn="just">
              <a:lnSpc>
                <a:spcPct val="100000"/>
              </a:lnSpc>
              <a:buFont typeface="Arial" panose="020B0604020202020204" pitchFamily="34" charset="0"/>
              <a:buChar char="•"/>
            </a:pPr>
            <a:r>
              <a:rPr lang="he-IL" sz="2800" dirty="0">
                <a:latin typeface="Times New Roman" panose="02020603050405020304" pitchFamily="18" charset="0"/>
                <a:cs typeface="Times New Roman" panose="02020603050405020304" pitchFamily="18" charset="0"/>
              </a:rPr>
              <a:t>עלינו להכריע מהי הבחירה המוצלחת ביותר לפתרון הבעיה כך שאכן נקבל את הפלט המבוקש.</a:t>
            </a:r>
            <a:endParaRPr lang="he-IL" sz="2400" dirty="0"/>
          </a:p>
        </p:txBody>
      </p:sp>
    </p:spTree>
    <p:extLst>
      <p:ext uri="{BB962C8B-B14F-4D97-AF65-F5344CB8AC3E}">
        <p14:creationId xmlns:p14="http://schemas.microsoft.com/office/powerpoint/2010/main" val="211062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B25A93E-C729-70AA-DDD1-C5B1D7E20189}"/>
              </a:ext>
            </a:extLst>
          </p:cNvPr>
          <p:cNvSpPr>
            <a:spLocks noGrp="1"/>
          </p:cNvSpPr>
          <p:nvPr>
            <p:ph type="title"/>
          </p:nvPr>
        </p:nvSpPr>
        <p:spPr/>
        <p:txBody>
          <a:bodyPr/>
          <a:lstStyle/>
          <a:p>
            <a:pPr algn="ctr"/>
            <a:r>
              <a:rPr lang="he-IL" dirty="0"/>
              <a:t>תת בעיה- </a:t>
            </a:r>
            <a:r>
              <a:rPr lang="en-US" dirty="0"/>
              <a:t>subproblem</a:t>
            </a:r>
            <a:endParaRPr lang="he-IL" dirty="0"/>
          </a:p>
        </p:txBody>
      </p:sp>
      <p:sp>
        <p:nvSpPr>
          <p:cNvPr id="3" name="מציין מיקום תוכן 2">
            <a:extLst>
              <a:ext uri="{FF2B5EF4-FFF2-40B4-BE49-F238E27FC236}">
                <a16:creationId xmlns:a16="http://schemas.microsoft.com/office/drawing/2014/main" id="{EA0D9CE0-9AB8-7150-750D-B2378B969A5F}"/>
              </a:ext>
            </a:extLst>
          </p:cNvPr>
          <p:cNvSpPr>
            <a:spLocks noGrp="1"/>
          </p:cNvSpPr>
          <p:nvPr>
            <p:ph idx="1"/>
          </p:nvPr>
        </p:nvSpPr>
        <p:spPr>
          <a:xfrm>
            <a:off x="1268963" y="1845734"/>
            <a:ext cx="9886717" cy="4023360"/>
          </a:xfrm>
        </p:spPr>
        <p:txBody>
          <a:bodyPr>
            <a:normAutofit/>
          </a:bodyPr>
          <a:lstStyle/>
          <a:p>
            <a:r>
              <a:rPr lang="he-IL" sz="3600" b="1" spc="-50" dirty="0">
                <a:latin typeface="+mj-lt"/>
                <a:ea typeface="+mj-ea"/>
                <a:cs typeface="+mj-cs"/>
              </a:rPr>
              <a:t>הגדרה: </a:t>
            </a:r>
            <a:r>
              <a:rPr lang="he-IL" sz="3600" spc="-50" dirty="0">
                <a:latin typeface="+mj-lt"/>
                <a:ea typeface="+mj-ea"/>
                <a:cs typeface="+mj-cs"/>
              </a:rPr>
              <a:t>תת בעיה הינה בעיה הזהה לבעיה מקורית אך קטנה יותר.</a:t>
            </a:r>
          </a:p>
          <a:p>
            <a:r>
              <a:rPr lang="he-IL" sz="3600" b="1" spc="-50" dirty="0">
                <a:latin typeface="+mj-lt"/>
                <a:ea typeface="+mj-ea"/>
                <a:cs typeface="+mj-cs"/>
              </a:rPr>
              <a:t>דוגמאות:</a:t>
            </a:r>
          </a:p>
          <a:p>
            <a:endParaRPr lang="he-IL" sz="3600" spc="-50" dirty="0">
              <a:latin typeface="+mj-lt"/>
              <a:ea typeface="+mj-ea"/>
              <a:cs typeface="+mj-cs"/>
            </a:endParaRPr>
          </a:p>
          <a:p>
            <a:endParaRPr lang="he-IL" sz="3600" spc="-50" dirty="0">
              <a:latin typeface="+mj-lt"/>
              <a:ea typeface="+mj-ea"/>
              <a:cs typeface="+mj-cs"/>
            </a:endParaRPr>
          </a:p>
          <a:p>
            <a:endParaRPr lang="he-IL" dirty="0"/>
          </a:p>
        </p:txBody>
      </p:sp>
      <p:pic>
        <p:nvPicPr>
          <p:cNvPr id="5" name="תמונה 4">
            <a:extLst>
              <a:ext uri="{FF2B5EF4-FFF2-40B4-BE49-F238E27FC236}">
                <a16:creationId xmlns:a16="http://schemas.microsoft.com/office/drawing/2014/main" id="{07427027-404E-86F7-A3B4-727D8C7B81C1}"/>
              </a:ext>
            </a:extLst>
          </p:cNvPr>
          <p:cNvPicPr>
            <a:picLocks noChangeAspect="1"/>
          </p:cNvPicPr>
          <p:nvPr/>
        </p:nvPicPr>
        <p:blipFill>
          <a:blip r:embed="rId2"/>
          <a:stretch>
            <a:fillRect/>
          </a:stretch>
        </p:blipFill>
        <p:spPr>
          <a:xfrm>
            <a:off x="2658349" y="3005373"/>
            <a:ext cx="6334125" cy="3162300"/>
          </a:xfrm>
          <a:prstGeom prst="rect">
            <a:avLst/>
          </a:prstGeom>
        </p:spPr>
      </p:pic>
    </p:spTree>
    <p:extLst>
      <p:ext uri="{BB962C8B-B14F-4D97-AF65-F5344CB8AC3E}">
        <p14:creationId xmlns:p14="http://schemas.microsoft.com/office/powerpoint/2010/main" val="1473899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B25A93E-C729-70AA-DDD1-C5B1D7E20189}"/>
              </a:ext>
            </a:extLst>
          </p:cNvPr>
          <p:cNvSpPr>
            <a:spLocks noGrp="1"/>
          </p:cNvSpPr>
          <p:nvPr>
            <p:ph type="title"/>
          </p:nvPr>
        </p:nvSpPr>
        <p:spPr/>
        <p:txBody>
          <a:bodyPr/>
          <a:lstStyle/>
          <a:p>
            <a:pPr algn="ctr"/>
            <a:r>
              <a:rPr lang="he-IL" dirty="0"/>
              <a:t>בחירה בטוחה- </a:t>
            </a:r>
            <a:r>
              <a:rPr lang="en-US" dirty="0"/>
              <a:t>safe choice</a:t>
            </a:r>
            <a:endParaRPr lang="he-IL" dirty="0"/>
          </a:p>
        </p:txBody>
      </p:sp>
      <p:sp>
        <p:nvSpPr>
          <p:cNvPr id="3" name="מציין מיקום תוכן 2">
            <a:extLst>
              <a:ext uri="{FF2B5EF4-FFF2-40B4-BE49-F238E27FC236}">
                <a16:creationId xmlns:a16="http://schemas.microsoft.com/office/drawing/2014/main" id="{EA0D9CE0-9AB8-7150-750D-B2378B969A5F}"/>
              </a:ext>
            </a:extLst>
          </p:cNvPr>
          <p:cNvSpPr>
            <a:spLocks noGrp="1"/>
          </p:cNvSpPr>
          <p:nvPr>
            <p:ph idx="1"/>
          </p:nvPr>
        </p:nvSpPr>
        <p:spPr>
          <a:xfrm>
            <a:off x="783771" y="1845733"/>
            <a:ext cx="10683551" cy="4396447"/>
          </a:xfrm>
        </p:spPr>
        <p:txBody>
          <a:bodyPr>
            <a:normAutofit fontScale="85000" lnSpcReduction="10000"/>
          </a:bodyPr>
          <a:lstStyle/>
          <a:p>
            <a:pPr algn="just">
              <a:lnSpc>
                <a:spcPct val="160000"/>
              </a:lnSpc>
            </a:pPr>
            <a:r>
              <a:rPr lang="he-IL" sz="3600" b="1" spc="-50" dirty="0">
                <a:latin typeface="+mj-lt"/>
                <a:ea typeface="+mj-ea"/>
                <a:cs typeface="+mj-cs"/>
              </a:rPr>
              <a:t>הגדרה: </a:t>
            </a:r>
            <a:r>
              <a:rPr lang="he-IL" sz="3600" spc="-50" dirty="0">
                <a:latin typeface="+mj-lt"/>
                <a:ea typeface="+mj-ea"/>
                <a:cs typeface="+mj-cs"/>
              </a:rPr>
              <a:t>בחירה חמדנית נקראת בחירה בטוחה אם יש פתרון אופטימלי של הבעיה המסכים עם הבחירה הראשונה הזו.</a:t>
            </a:r>
          </a:p>
          <a:p>
            <a:r>
              <a:rPr lang="he-IL" sz="3600" b="1" spc="-50" dirty="0">
                <a:latin typeface="+mj-lt"/>
                <a:ea typeface="+mj-ea"/>
                <a:cs typeface="+mj-cs"/>
              </a:rPr>
              <a:t>לדוגמא:</a:t>
            </a:r>
          </a:p>
          <a:p>
            <a:pPr algn="just">
              <a:lnSpc>
                <a:spcPct val="150000"/>
              </a:lnSpc>
            </a:pPr>
            <a:r>
              <a:rPr lang="he-IL" sz="3200" spc="-50" dirty="0">
                <a:latin typeface="+mj-lt"/>
                <a:ea typeface="+mj-ea"/>
                <a:cs typeface="+mj-cs"/>
              </a:rPr>
              <a:t>אם נוכיח שקיים פתרון אופטימלי שמתחיל בטיפול בחולה עם זמן הטיפול המינימלי, אז הבחירה במטופל כזה היא בחירה בטוחה. לעומת זאת, אם אנו בוחרים מטופל עם זמן טיפול מקסימלי ולא יכול להיות פתרון אופטימלי שמתחיל בטיפול במטופל כזה. אז, זו לא תהיה בחירה בטוחה.</a:t>
            </a:r>
          </a:p>
          <a:p>
            <a:endParaRPr lang="he-IL" sz="3600" spc="-50" dirty="0">
              <a:latin typeface="+mj-lt"/>
              <a:ea typeface="+mj-ea"/>
              <a:cs typeface="+mj-cs"/>
            </a:endParaRPr>
          </a:p>
          <a:p>
            <a:endParaRPr lang="he-IL" sz="3600" spc="-50" dirty="0">
              <a:latin typeface="+mj-lt"/>
              <a:ea typeface="+mj-ea"/>
              <a:cs typeface="+mj-cs"/>
            </a:endParaRPr>
          </a:p>
          <a:p>
            <a:endParaRPr lang="he-IL" sz="3600" spc="-50" dirty="0">
              <a:latin typeface="+mj-lt"/>
              <a:ea typeface="+mj-ea"/>
              <a:cs typeface="+mj-cs"/>
            </a:endParaRPr>
          </a:p>
          <a:p>
            <a:endParaRPr lang="he-IL" dirty="0"/>
          </a:p>
        </p:txBody>
      </p:sp>
    </p:spTree>
    <p:extLst>
      <p:ext uri="{BB962C8B-B14F-4D97-AF65-F5344CB8AC3E}">
        <p14:creationId xmlns:p14="http://schemas.microsoft.com/office/powerpoint/2010/main" val="3588564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CB6030-78B7-795E-DBAB-03B634EFF863}"/>
              </a:ext>
            </a:extLst>
          </p:cNvPr>
          <p:cNvSpPr>
            <a:spLocks noGrp="1"/>
          </p:cNvSpPr>
          <p:nvPr>
            <p:ph type="title"/>
          </p:nvPr>
        </p:nvSpPr>
        <p:spPr/>
        <p:txBody>
          <a:bodyPr/>
          <a:lstStyle/>
          <a:p>
            <a:pPr algn="ctr"/>
            <a:r>
              <a:rPr lang="he-IL" dirty="0"/>
              <a:t>פתרון חמדני- ניהול תור</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A664E7E8-7964-572C-8CA6-FD0C76B28A11}"/>
                  </a:ext>
                </a:extLst>
              </p:cNvPr>
              <p:cNvSpPr>
                <a:spLocks noGrp="1"/>
              </p:cNvSpPr>
              <p:nvPr>
                <p:ph idx="1"/>
              </p:nvPr>
            </p:nvSpPr>
            <p:spPr>
              <a:xfrm>
                <a:off x="756712" y="1942633"/>
                <a:ext cx="10739535" cy="4725663"/>
              </a:xfrm>
            </p:spPr>
            <p:txBody>
              <a:bodyPr>
                <a:normAutofit fontScale="77500" lnSpcReduction="20000"/>
              </a:bodyPr>
              <a:lstStyle/>
              <a:p>
                <a:pPr algn="just">
                  <a:lnSpc>
                    <a:spcPct val="120000"/>
                  </a:lnSpc>
                  <a:buFont typeface="Arial" panose="020B0604020202020204" pitchFamily="34" charset="0"/>
                  <a:buChar char="•"/>
                </a:pPr>
                <a:r>
                  <a:rPr lang="he-IL" sz="4600" b="1" spc="-50" dirty="0">
                    <a:latin typeface="+mj-lt"/>
                    <a:ea typeface="+mj-ea"/>
                    <a:cs typeface="+mj-cs"/>
                  </a:rPr>
                  <a:t> טענה:</a:t>
                </a:r>
              </a:p>
              <a:p>
                <a:pPr marL="0" indent="0" algn="just">
                  <a:lnSpc>
                    <a:spcPct val="120000"/>
                  </a:lnSpc>
                  <a:buNone/>
                </a:pPr>
                <a:r>
                  <a:rPr lang="he-IL" sz="4000" spc="-50" dirty="0">
                    <a:latin typeface="+mj-lt"/>
                    <a:ea typeface="+mj-ea"/>
                    <a:cs typeface="+mj-cs"/>
                  </a:rPr>
                  <a:t>לקבלת זמן המתנה מינימלי, בחירה תחילה של </a:t>
                </a:r>
                <a14:m>
                  <m:oMath xmlns:m="http://schemas.openxmlformats.org/officeDocument/2006/math">
                    <m:sSub>
                      <m:sSubPr>
                        <m:ctrlPr>
                          <a:rPr lang="en-US" sz="4000" i="1" spc="-50" smtClean="0">
                            <a:latin typeface="Cambria Math" panose="02040503050406030204" pitchFamily="18" charset="0"/>
                            <a:ea typeface="+mj-ea"/>
                            <a:cs typeface="+mj-cs"/>
                          </a:rPr>
                        </m:ctrlPr>
                      </m:sSubPr>
                      <m:e>
                        <m:r>
                          <a:rPr lang="en-US" sz="4000" b="0" i="1" spc="-50" smtClean="0">
                            <a:latin typeface="Cambria Math" panose="02040503050406030204" pitchFamily="18" charset="0"/>
                            <a:ea typeface="+mj-ea"/>
                            <a:cs typeface="+mj-cs"/>
                          </a:rPr>
                          <m:t>𝑡</m:t>
                        </m:r>
                      </m:e>
                      <m:sub>
                        <m:r>
                          <a:rPr lang="en-US" sz="4000" b="0" i="1" spc="-50" smtClean="0">
                            <a:latin typeface="Cambria Math" panose="02040503050406030204" pitchFamily="18" charset="0"/>
                            <a:ea typeface="+mj-ea"/>
                            <a:cs typeface="+mj-cs"/>
                          </a:rPr>
                          <m:t>𝑚𝑖𝑛</m:t>
                        </m:r>
                      </m:sub>
                    </m:sSub>
                  </m:oMath>
                </a14:m>
                <a:r>
                  <a:rPr lang="he-IL" sz="4000" spc="-50" dirty="0">
                    <a:latin typeface="+mj-lt"/>
                    <a:ea typeface="+mj-ea"/>
                    <a:cs typeface="+mj-cs"/>
                  </a:rPr>
                  <a:t> מהווה בחירה בטוחה.</a:t>
                </a:r>
              </a:p>
              <a:p>
                <a:pPr>
                  <a:lnSpc>
                    <a:spcPct val="120000"/>
                  </a:lnSpc>
                  <a:buFont typeface="Arial" panose="020B0604020202020204" pitchFamily="34" charset="0"/>
                  <a:buChar char="•"/>
                </a:pPr>
                <a:r>
                  <a:rPr lang="he-IL" sz="4600" b="1" spc="-50" dirty="0">
                    <a:latin typeface="+mj-lt"/>
                    <a:ea typeface="+mj-ea"/>
                    <a:cs typeface="+mj-cs"/>
                  </a:rPr>
                  <a:t> רעיון ההוכחה:</a:t>
                </a:r>
              </a:p>
              <a:p>
                <a:pPr marL="0" indent="0">
                  <a:lnSpc>
                    <a:spcPct val="120000"/>
                  </a:lnSpc>
                  <a:buNone/>
                </a:pPr>
                <a:r>
                  <a:rPr lang="he-IL" sz="3600" spc="-50" dirty="0">
                    <a:latin typeface="+mj-lt"/>
                    <a:ea typeface="+mj-ea"/>
                    <a:cs typeface="+mj-cs"/>
                  </a:rPr>
                  <a:t>האם יתכן שבפתרון אופטימלי יהיו 2 פציינטים רצופים </a:t>
                </a:r>
                <a14:m>
                  <m:oMath xmlns:m="http://schemas.openxmlformats.org/officeDocument/2006/math">
                    <m:sSub>
                      <m:sSubPr>
                        <m:ctrlPr>
                          <a:rPr lang="en-US" sz="3600" i="1" spc="-50" smtClean="0">
                            <a:latin typeface="Cambria Math" panose="02040503050406030204" pitchFamily="18" charset="0"/>
                            <a:ea typeface="+mj-ea"/>
                            <a:cs typeface="+mj-cs"/>
                          </a:rPr>
                        </m:ctrlPr>
                      </m:sSubPr>
                      <m:e>
                        <m:r>
                          <a:rPr lang="en-US" sz="3600" b="0" i="1" spc="-50" smtClean="0">
                            <a:latin typeface="Cambria Math" panose="02040503050406030204" pitchFamily="18" charset="0"/>
                            <a:ea typeface="+mj-ea"/>
                            <a:cs typeface="+mj-cs"/>
                          </a:rPr>
                          <m:t>𝑡</m:t>
                        </m:r>
                      </m:e>
                      <m:sub>
                        <m:r>
                          <a:rPr lang="en-US" sz="3600" b="0" i="1" spc="-50" smtClean="0">
                            <a:latin typeface="Cambria Math" panose="02040503050406030204" pitchFamily="18" charset="0"/>
                            <a:ea typeface="+mj-ea"/>
                            <a:cs typeface="+mj-cs"/>
                          </a:rPr>
                          <m:t>1</m:t>
                        </m:r>
                      </m:sub>
                    </m:sSub>
                  </m:oMath>
                </a14:m>
                <a:r>
                  <a:rPr lang="he-IL" sz="3600" spc="-50" dirty="0">
                    <a:latin typeface="+mj-lt"/>
                    <a:ea typeface="+mj-ea"/>
                    <a:cs typeface="+mj-cs"/>
                  </a:rPr>
                  <a:t> ואחריו </a:t>
                </a:r>
                <a:r>
                  <a:rPr lang="en-US" sz="3600" spc="-50" dirty="0"/>
                  <a:t> </a:t>
                </a:r>
                <a14:m>
                  <m:oMath xmlns:m="http://schemas.openxmlformats.org/officeDocument/2006/math">
                    <m:sSub>
                      <m:sSubPr>
                        <m:ctrlPr>
                          <a:rPr lang="en-US" sz="3600" i="1" spc="-50">
                            <a:latin typeface="Cambria Math" panose="02040503050406030204" pitchFamily="18" charset="0"/>
                          </a:rPr>
                        </m:ctrlPr>
                      </m:sSubPr>
                      <m:e>
                        <m:r>
                          <a:rPr lang="en-US" sz="3600" i="1" spc="-50">
                            <a:latin typeface="Cambria Math" panose="02040503050406030204" pitchFamily="18" charset="0"/>
                          </a:rPr>
                          <m:t>𝑡</m:t>
                        </m:r>
                      </m:e>
                      <m:sub>
                        <m:r>
                          <a:rPr lang="en-US" sz="3600" b="0" i="1" spc="-50" smtClean="0">
                            <a:latin typeface="Cambria Math" panose="02040503050406030204" pitchFamily="18" charset="0"/>
                          </a:rPr>
                          <m:t>2</m:t>
                        </m:r>
                      </m:sub>
                    </m:sSub>
                  </m:oMath>
                </a14:m>
                <a:r>
                  <a:rPr lang="he-IL" sz="3600" spc="-50" dirty="0">
                    <a:latin typeface="+mj-lt"/>
                    <a:ea typeface="+mj-ea"/>
                    <a:cs typeface="+mj-cs"/>
                  </a:rPr>
                  <a:t> כך ש: </a:t>
                </a:r>
                <a:r>
                  <a:rPr lang="en-US" sz="3600" spc="-50" dirty="0"/>
                  <a:t> </a:t>
                </a:r>
                <a14:m>
                  <m:oMath xmlns:m="http://schemas.openxmlformats.org/officeDocument/2006/math">
                    <m:sSub>
                      <m:sSubPr>
                        <m:ctrlPr>
                          <a:rPr lang="en-US" sz="3600" i="1" spc="-50">
                            <a:latin typeface="Cambria Math" panose="02040503050406030204" pitchFamily="18" charset="0"/>
                          </a:rPr>
                        </m:ctrlPr>
                      </m:sSubPr>
                      <m:e>
                        <m:r>
                          <a:rPr lang="en-US" sz="3600" i="1" spc="-50">
                            <a:latin typeface="Cambria Math" panose="02040503050406030204" pitchFamily="18" charset="0"/>
                          </a:rPr>
                          <m:t>𝑡</m:t>
                        </m:r>
                      </m:e>
                      <m:sub>
                        <m:r>
                          <a:rPr lang="en-US" sz="3600" b="0" i="1" spc="-50" smtClean="0">
                            <a:latin typeface="Cambria Math" panose="02040503050406030204" pitchFamily="18" charset="0"/>
                          </a:rPr>
                          <m:t>1</m:t>
                        </m:r>
                      </m:sub>
                    </m:sSub>
                    <m:r>
                      <a:rPr lang="en-US" sz="3600" b="0" i="1" spc="-50" smtClean="0">
                        <a:latin typeface="Cambria Math" panose="02040503050406030204" pitchFamily="18" charset="0"/>
                      </a:rPr>
                      <m:t>&gt;</m:t>
                    </m:r>
                    <m:sSub>
                      <m:sSubPr>
                        <m:ctrlPr>
                          <a:rPr lang="en-US" sz="3600" i="1" spc="-50">
                            <a:latin typeface="Cambria Math" panose="02040503050406030204" pitchFamily="18" charset="0"/>
                          </a:rPr>
                        </m:ctrlPr>
                      </m:sSubPr>
                      <m:e>
                        <m:r>
                          <a:rPr lang="en-US" sz="3600" i="1" spc="-50">
                            <a:latin typeface="Cambria Math" panose="02040503050406030204" pitchFamily="18" charset="0"/>
                          </a:rPr>
                          <m:t>𝑡</m:t>
                        </m:r>
                      </m:e>
                      <m:sub>
                        <m:r>
                          <a:rPr lang="en-US" sz="3600" b="0" i="1" spc="-50" smtClean="0">
                            <a:latin typeface="Cambria Math" panose="02040503050406030204" pitchFamily="18" charset="0"/>
                          </a:rPr>
                          <m:t>2</m:t>
                        </m:r>
                      </m:sub>
                    </m:sSub>
                  </m:oMath>
                </a14:m>
                <a:r>
                  <a:rPr lang="he-IL" sz="3600" spc="-50" dirty="0">
                    <a:latin typeface="+mj-lt"/>
                    <a:ea typeface="+mj-ea"/>
                    <a:cs typeface="+mj-cs"/>
                  </a:rPr>
                  <a:t>? </a:t>
                </a:r>
              </a:p>
              <a:p>
                <a:pPr marL="0" indent="0">
                  <a:lnSpc>
                    <a:spcPct val="120000"/>
                  </a:lnSpc>
                  <a:buNone/>
                </a:pPr>
                <a:r>
                  <a:rPr lang="he-IL" sz="3600" spc="-50" dirty="0">
                    <a:latin typeface="+mj-lt"/>
                    <a:ea typeface="+mj-ea"/>
                    <a:cs typeface="+mj-cs"/>
                  </a:rPr>
                  <a:t>לא. </a:t>
                </a:r>
              </a:p>
              <a:p>
                <a:pPr marL="0" indent="0">
                  <a:lnSpc>
                    <a:spcPct val="120000"/>
                  </a:lnSpc>
                  <a:buNone/>
                </a:pPr>
                <a:r>
                  <a:rPr lang="he-IL" sz="3600" spc="-50" dirty="0">
                    <a:latin typeface="+mj-lt"/>
                    <a:ea typeface="+mj-ea"/>
                    <a:cs typeface="+mj-cs"/>
                  </a:rPr>
                  <a:t>נניח בשלילה שקיים סידור אופטימלי כזה, ונראה מה יקרה אם נחליף בין הפציינטים הללו.</a:t>
                </a:r>
              </a:p>
              <a:p>
                <a:pPr>
                  <a:lnSpc>
                    <a:spcPct val="120000"/>
                  </a:lnSpc>
                  <a:buFont typeface="Arial" panose="020B0604020202020204" pitchFamily="34" charset="0"/>
                  <a:buChar char="•"/>
                </a:pPr>
                <a:endParaRPr lang="he-IL" sz="3200" dirty="0"/>
              </a:p>
              <a:p>
                <a:pPr>
                  <a:lnSpc>
                    <a:spcPct val="120000"/>
                  </a:lnSpc>
                  <a:buFont typeface="Arial" panose="020B0604020202020204" pitchFamily="34" charset="0"/>
                  <a:buChar char="•"/>
                </a:pPr>
                <a:endParaRPr lang="he-IL" sz="3200" dirty="0"/>
              </a:p>
              <a:p>
                <a:pPr>
                  <a:lnSpc>
                    <a:spcPct val="120000"/>
                  </a:lnSpc>
                  <a:buFont typeface="Arial" panose="020B0604020202020204" pitchFamily="34" charset="0"/>
                  <a:buChar char="•"/>
                </a:pPr>
                <a:endParaRPr lang="he-IL" sz="3200" dirty="0"/>
              </a:p>
              <a:p>
                <a:pPr>
                  <a:lnSpc>
                    <a:spcPct val="120000"/>
                  </a:lnSpc>
                  <a:buFont typeface="Arial" panose="020B0604020202020204" pitchFamily="34" charset="0"/>
                  <a:buChar char="•"/>
                </a:pPr>
                <a:endParaRPr lang="he-IL" sz="3200" dirty="0"/>
              </a:p>
            </p:txBody>
          </p:sp>
        </mc:Choice>
        <mc:Fallback xmlns="">
          <p:sp>
            <p:nvSpPr>
              <p:cNvPr id="3" name="מציין מיקום תוכן 2">
                <a:extLst>
                  <a:ext uri="{FF2B5EF4-FFF2-40B4-BE49-F238E27FC236}">
                    <a16:creationId xmlns:a16="http://schemas.microsoft.com/office/drawing/2014/main" id="{A664E7E8-7964-572C-8CA6-FD0C76B28A11}"/>
                  </a:ext>
                </a:extLst>
              </p:cNvPr>
              <p:cNvSpPr>
                <a:spLocks noGrp="1" noRot="1" noChangeAspect="1" noMove="1" noResize="1" noEditPoints="1" noAdjustHandles="1" noChangeArrowheads="1" noChangeShapeType="1" noTextEdit="1"/>
              </p:cNvSpPr>
              <p:nvPr>
                <p:ph idx="1"/>
              </p:nvPr>
            </p:nvSpPr>
            <p:spPr>
              <a:xfrm>
                <a:off x="756712" y="1942633"/>
                <a:ext cx="10739535" cy="4725663"/>
              </a:xfrm>
              <a:blipFill>
                <a:blip r:embed="rId2"/>
                <a:stretch>
                  <a:fillRect t="-2194" r="-2497"/>
                </a:stretch>
              </a:blipFill>
            </p:spPr>
            <p:txBody>
              <a:bodyPr/>
              <a:lstStyle/>
              <a:p>
                <a:r>
                  <a:rPr lang="he-IL">
                    <a:noFill/>
                  </a:rPr>
                  <a:t> </a:t>
                </a:r>
              </a:p>
            </p:txBody>
          </p:sp>
        </mc:Fallback>
      </mc:AlternateContent>
    </p:spTree>
    <p:extLst>
      <p:ext uri="{BB962C8B-B14F-4D97-AF65-F5344CB8AC3E}">
        <p14:creationId xmlns:p14="http://schemas.microsoft.com/office/powerpoint/2010/main" val="103540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B9B8279-BB24-33BD-43E0-7283801F1CFA}"/>
              </a:ext>
            </a:extLst>
          </p:cNvPr>
          <p:cNvSpPr>
            <a:spLocks noGrp="1"/>
          </p:cNvSpPr>
          <p:nvPr>
            <p:ph type="title"/>
          </p:nvPr>
        </p:nvSpPr>
        <p:spPr/>
        <p:txBody>
          <a:bodyPr/>
          <a:lstStyle/>
          <a:p>
            <a:pPr algn="ctr"/>
            <a:r>
              <a:rPr lang="he-IL" dirty="0"/>
              <a:t>פתרון חמדני- ניהול תור</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D7D8DCDF-9C3C-31B3-9F13-AE75663E3CB2}"/>
                  </a:ext>
                </a:extLst>
              </p:cNvPr>
              <p:cNvSpPr>
                <a:spLocks noGrp="1"/>
              </p:cNvSpPr>
              <p:nvPr>
                <p:ph idx="1"/>
              </p:nvPr>
            </p:nvSpPr>
            <p:spPr>
              <a:xfrm>
                <a:off x="793102" y="1845733"/>
                <a:ext cx="10814180" cy="4424437"/>
              </a:xfrm>
            </p:spPr>
            <p:txBody>
              <a:bodyPr>
                <a:normAutofit fontScale="62500" lnSpcReduction="20000"/>
              </a:bodyPr>
              <a:lstStyle/>
              <a:p>
                <a:pPr marL="0" indent="0">
                  <a:lnSpc>
                    <a:spcPct val="120000"/>
                  </a:lnSpc>
                  <a:buNone/>
                </a:pPr>
                <a:r>
                  <a:rPr lang="he-IL" sz="3600" spc="-50" dirty="0">
                    <a:latin typeface="+mj-lt"/>
                    <a:ea typeface="+mj-ea"/>
                    <a:cs typeface="+mj-cs"/>
                  </a:rPr>
                  <a:t> </a:t>
                </a:r>
                <a:r>
                  <a:rPr lang="he-IL" sz="5100" b="1" spc="-50" dirty="0">
                    <a:latin typeface="+mj-lt"/>
                    <a:ea typeface="+mj-ea"/>
                    <a:cs typeface="+mj-cs"/>
                  </a:rPr>
                  <a:t>אם נחליף בין 2 הפציינטים הרצופים </a:t>
                </a:r>
                <a14:m>
                  <m:oMath xmlns:m="http://schemas.openxmlformats.org/officeDocument/2006/math">
                    <m:sSub>
                      <m:sSubPr>
                        <m:ctrlPr>
                          <a:rPr lang="en-US" sz="5100" b="1" i="1" spc="-50" smtClean="0">
                            <a:latin typeface="Cambria Math" panose="02040503050406030204" pitchFamily="18" charset="0"/>
                            <a:ea typeface="+mj-ea"/>
                            <a:cs typeface="+mj-cs"/>
                          </a:rPr>
                        </m:ctrlPr>
                      </m:sSubPr>
                      <m:e>
                        <m:r>
                          <a:rPr lang="en-US" sz="5100" b="1" i="1" spc="-50" smtClean="0">
                            <a:latin typeface="Cambria Math" panose="02040503050406030204" pitchFamily="18" charset="0"/>
                            <a:ea typeface="+mj-ea"/>
                            <a:cs typeface="+mj-cs"/>
                          </a:rPr>
                          <m:t>𝒕</m:t>
                        </m:r>
                      </m:e>
                      <m:sub>
                        <m:r>
                          <a:rPr lang="en-US" sz="5100" b="1" i="1" spc="-50" smtClean="0">
                            <a:latin typeface="Cambria Math" panose="02040503050406030204" pitchFamily="18" charset="0"/>
                            <a:ea typeface="+mj-ea"/>
                            <a:cs typeface="+mj-cs"/>
                          </a:rPr>
                          <m:t>𝟏</m:t>
                        </m:r>
                      </m:sub>
                    </m:sSub>
                  </m:oMath>
                </a14:m>
                <a:r>
                  <a:rPr lang="he-IL" sz="5100" b="1" spc="-50" dirty="0">
                    <a:latin typeface="+mj-lt"/>
                    <a:ea typeface="+mj-ea"/>
                    <a:cs typeface="+mj-cs"/>
                  </a:rPr>
                  <a:t> ו- </a:t>
                </a:r>
                <a:r>
                  <a:rPr lang="en-US" sz="5100" b="1" spc="-50" dirty="0"/>
                  <a:t> </a:t>
                </a:r>
                <a14:m>
                  <m:oMath xmlns:m="http://schemas.openxmlformats.org/officeDocument/2006/math">
                    <m:sSub>
                      <m:sSubPr>
                        <m:ctrlPr>
                          <a:rPr lang="en-US" sz="5100" b="1" i="1" spc="-50">
                            <a:latin typeface="Cambria Math" panose="02040503050406030204" pitchFamily="18" charset="0"/>
                          </a:rPr>
                        </m:ctrlPr>
                      </m:sSubPr>
                      <m:e>
                        <m:r>
                          <a:rPr lang="en-US" sz="5100" b="1" i="1" spc="-50">
                            <a:latin typeface="Cambria Math" panose="02040503050406030204" pitchFamily="18" charset="0"/>
                          </a:rPr>
                          <m:t>𝒕</m:t>
                        </m:r>
                      </m:e>
                      <m:sub>
                        <m:r>
                          <a:rPr lang="en-US" sz="5100" b="1" i="1" spc="-50" smtClean="0">
                            <a:latin typeface="Cambria Math" panose="02040503050406030204" pitchFamily="18" charset="0"/>
                          </a:rPr>
                          <m:t>𝟐</m:t>
                        </m:r>
                      </m:sub>
                    </m:sSub>
                  </m:oMath>
                </a14:m>
                <a:r>
                  <a:rPr lang="he-IL" sz="5100" b="1" spc="-50" dirty="0">
                    <a:latin typeface="+mj-lt"/>
                    <a:ea typeface="+mj-ea"/>
                    <a:cs typeface="+mj-cs"/>
                  </a:rPr>
                  <a:t> המקיימים: </a:t>
                </a:r>
                <a:r>
                  <a:rPr lang="en-US" sz="5100" b="1" spc="-50" dirty="0"/>
                  <a:t> </a:t>
                </a:r>
                <a14:m>
                  <m:oMath xmlns:m="http://schemas.openxmlformats.org/officeDocument/2006/math">
                    <m:sSub>
                      <m:sSubPr>
                        <m:ctrlPr>
                          <a:rPr lang="en-US" sz="5100" b="1" i="1" spc="-50">
                            <a:latin typeface="Cambria Math" panose="02040503050406030204" pitchFamily="18" charset="0"/>
                          </a:rPr>
                        </m:ctrlPr>
                      </m:sSubPr>
                      <m:e>
                        <m:r>
                          <a:rPr lang="en-US" sz="5100" b="1" i="1" spc="-50">
                            <a:latin typeface="Cambria Math" panose="02040503050406030204" pitchFamily="18" charset="0"/>
                          </a:rPr>
                          <m:t>𝒕</m:t>
                        </m:r>
                      </m:e>
                      <m:sub>
                        <m:r>
                          <a:rPr lang="en-US" sz="5100" b="1" i="1" spc="-50" smtClean="0">
                            <a:latin typeface="Cambria Math" panose="02040503050406030204" pitchFamily="18" charset="0"/>
                          </a:rPr>
                          <m:t>𝟏</m:t>
                        </m:r>
                      </m:sub>
                    </m:sSub>
                    <m:r>
                      <a:rPr lang="en-US" sz="5100" b="1" i="1" spc="-50" smtClean="0">
                        <a:latin typeface="Cambria Math" panose="02040503050406030204" pitchFamily="18" charset="0"/>
                      </a:rPr>
                      <m:t>&gt;</m:t>
                    </m:r>
                    <m:sSub>
                      <m:sSubPr>
                        <m:ctrlPr>
                          <a:rPr lang="en-US" sz="5100" b="1" i="1" spc="-50">
                            <a:latin typeface="Cambria Math" panose="02040503050406030204" pitchFamily="18" charset="0"/>
                          </a:rPr>
                        </m:ctrlPr>
                      </m:sSubPr>
                      <m:e>
                        <m:r>
                          <a:rPr lang="en-US" sz="5100" b="1" i="1" spc="-50">
                            <a:latin typeface="Cambria Math" panose="02040503050406030204" pitchFamily="18" charset="0"/>
                          </a:rPr>
                          <m:t>𝒕</m:t>
                        </m:r>
                      </m:e>
                      <m:sub>
                        <m:r>
                          <a:rPr lang="en-US" sz="5100" b="1" i="1" spc="-50" smtClean="0">
                            <a:latin typeface="Cambria Math" panose="02040503050406030204" pitchFamily="18" charset="0"/>
                          </a:rPr>
                          <m:t>𝟐</m:t>
                        </m:r>
                      </m:sub>
                    </m:sSub>
                  </m:oMath>
                </a14:m>
                <a:r>
                  <a:rPr lang="he-IL" sz="5100" b="1" spc="-50" dirty="0">
                    <a:latin typeface="+mj-lt"/>
                    <a:ea typeface="+mj-ea"/>
                    <a:cs typeface="+mj-cs"/>
                  </a:rPr>
                  <a:t> :</a:t>
                </a:r>
              </a:p>
              <a:p>
                <a:pPr>
                  <a:lnSpc>
                    <a:spcPct val="120000"/>
                  </a:lnSpc>
                  <a:buFont typeface="Arial" panose="020B0604020202020204" pitchFamily="34" charset="0"/>
                  <a:buChar char="•"/>
                </a:pPr>
                <a:r>
                  <a:rPr lang="he-IL" sz="5100" spc="-50" dirty="0">
                    <a:latin typeface="+mj-lt"/>
                    <a:ea typeface="+mj-ea"/>
                    <a:cs typeface="+mj-cs"/>
                  </a:rPr>
                  <a:t> זמן ההמתנה של כל הפציינטים </a:t>
                </a:r>
                <a:r>
                  <a:rPr lang="he-IL" sz="5100" u="sng" spc="-50" dirty="0">
                    <a:latin typeface="+mj-lt"/>
                    <a:ea typeface="+mj-ea"/>
                    <a:cs typeface="+mj-cs"/>
                  </a:rPr>
                  <a:t>לפני</a:t>
                </a:r>
                <a:r>
                  <a:rPr lang="he-IL" sz="5100" spc="-50" dirty="0">
                    <a:latin typeface="+mj-lt"/>
                    <a:ea typeface="+mj-ea"/>
                    <a:cs typeface="+mj-cs"/>
                  </a:rPr>
                  <a:t> ו</a:t>
                </a:r>
                <a:r>
                  <a:rPr lang="he-IL" sz="5100" u="sng" spc="-50" dirty="0">
                    <a:latin typeface="+mj-lt"/>
                    <a:ea typeface="+mj-ea"/>
                    <a:cs typeface="+mj-cs"/>
                  </a:rPr>
                  <a:t>אחרי</a:t>
                </a:r>
                <a:r>
                  <a:rPr lang="he-IL" sz="5100" spc="-50" dirty="0">
                    <a:latin typeface="+mj-lt"/>
                    <a:ea typeface="+mj-ea"/>
                    <a:cs typeface="+mj-cs"/>
                  </a:rPr>
                  <a:t> 2 פציינטים אלו לא השתנה כלל בעקבות ההחלפה.</a:t>
                </a:r>
              </a:p>
              <a:p>
                <a:pPr>
                  <a:lnSpc>
                    <a:spcPct val="120000"/>
                  </a:lnSpc>
                  <a:buFont typeface="Arial" panose="020B0604020202020204" pitchFamily="34" charset="0"/>
                  <a:buChar char="•"/>
                </a:pPr>
                <a:r>
                  <a:rPr lang="he-IL" sz="5100" spc="-50" dirty="0">
                    <a:latin typeface="+mj-lt"/>
                    <a:ea typeface="+mj-ea"/>
                    <a:cs typeface="+mj-cs"/>
                  </a:rPr>
                  <a:t> זמן ההמתנה של הפציינט הראשון מבין השניים גדל ב- </a:t>
                </a:r>
                <a14:m>
                  <m:oMath xmlns:m="http://schemas.openxmlformats.org/officeDocument/2006/math">
                    <m:sSub>
                      <m:sSubPr>
                        <m:ctrlPr>
                          <a:rPr lang="en-US" sz="5100" i="1" spc="-50" smtClean="0">
                            <a:latin typeface="Cambria Math" panose="02040503050406030204" pitchFamily="18" charset="0"/>
                          </a:rPr>
                        </m:ctrlPr>
                      </m:sSubPr>
                      <m:e>
                        <m:r>
                          <a:rPr lang="en-US" sz="5100" i="1" spc="-50">
                            <a:latin typeface="Cambria Math" panose="02040503050406030204" pitchFamily="18" charset="0"/>
                          </a:rPr>
                          <m:t>𝑡</m:t>
                        </m:r>
                      </m:e>
                      <m:sub>
                        <m:r>
                          <a:rPr lang="en-US" sz="5100" b="0" i="1" spc="-50" smtClean="0">
                            <a:latin typeface="Cambria Math" panose="02040503050406030204" pitchFamily="18" charset="0"/>
                          </a:rPr>
                          <m:t>2</m:t>
                        </m:r>
                      </m:sub>
                    </m:sSub>
                  </m:oMath>
                </a14:m>
                <a:r>
                  <a:rPr lang="he-IL" sz="5100" spc="-50" dirty="0">
                    <a:latin typeface="+mj-lt"/>
                    <a:ea typeface="+mj-ea"/>
                    <a:cs typeface="+mj-cs"/>
                  </a:rPr>
                  <a:t> ואילו זמן ההמתנה של השני קטן ב-</a:t>
                </a:r>
                <a:r>
                  <a:rPr lang="en-US" sz="5100" spc="-50" dirty="0"/>
                  <a:t> </a:t>
                </a:r>
                <a14:m>
                  <m:oMath xmlns:m="http://schemas.openxmlformats.org/officeDocument/2006/math">
                    <m:sSub>
                      <m:sSubPr>
                        <m:ctrlPr>
                          <a:rPr lang="en-US" sz="5100" i="1" spc="-50">
                            <a:latin typeface="Cambria Math" panose="02040503050406030204" pitchFamily="18" charset="0"/>
                          </a:rPr>
                        </m:ctrlPr>
                      </m:sSubPr>
                      <m:e>
                        <m:r>
                          <a:rPr lang="en-US" sz="5100" i="1" spc="-50">
                            <a:latin typeface="Cambria Math" panose="02040503050406030204" pitchFamily="18" charset="0"/>
                          </a:rPr>
                          <m:t>𝑡</m:t>
                        </m:r>
                      </m:e>
                      <m:sub>
                        <m:r>
                          <a:rPr lang="en-US" sz="5100" b="0" i="1" spc="-50" smtClean="0">
                            <a:latin typeface="Cambria Math" panose="02040503050406030204" pitchFamily="18" charset="0"/>
                          </a:rPr>
                          <m:t>1</m:t>
                        </m:r>
                      </m:sub>
                    </m:sSub>
                  </m:oMath>
                </a14:m>
                <a:r>
                  <a:rPr lang="he-IL" sz="5100" spc="-50" dirty="0"/>
                  <a:t> </a:t>
                </a:r>
              </a:p>
              <a:p>
                <a:pPr>
                  <a:lnSpc>
                    <a:spcPct val="120000"/>
                  </a:lnSpc>
                  <a:buFont typeface="Arial" panose="020B0604020202020204" pitchFamily="34" charset="0"/>
                  <a:buChar char="•"/>
                </a:pPr>
                <a:r>
                  <a:rPr lang="he-IL" sz="5100" spc="-50" dirty="0">
                    <a:latin typeface="+mj-lt"/>
                    <a:ea typeface="+mj-ea"/>
                    <a:cs typeface="+mj-cs"/>
                  </a:rPr>
                  <a:t> לזמן ההמתנה הכללי נוסף </a:t>
                </a:r>
                <a14:m>
                  <m:oMath xmlns:m="http://schemas.openxmlformats.org/officeDocument/2006/math">
                    <m:sSub>
                      <m:sSubPr>
                        <m:ctrlPr>
                          <a:rPr lang="en-US" sz="5100" i="1" spc="-50" smtClean="0">
                            <a:latin typeface="Cambria Math" panose="02040503050406030204" pitchFamily="18" charset="0"/>
                          </a:rPr>
                        </m:ctrlPr>
                      </m:sSubPr>
                      <m:e>
                        <m:r>
                          <a:rPr lang="en-US" sz="5100" i="1" spc="-50">
                            <a:latin typeface="Cambria Math" panose="02040503050406030204" pitchFamily="18" charset="0"/>
                          </a:rPr>
                          <m:t>𝑡</m:t>
                        </m:r>
                      </m:e>
                      <m:sub>
                        <m:r>
                          <a:rPr lang="en-US" sz="5100" b="0" i="1" spc="-50" smtClean="0">
                            <a:latin typeface="Cambria Math" panose="02040503050406030204" pitchFamily="18" charset="0"/>
                          </a:rPr>
                          <m:t>2</m:t>
                        </m:r>
                      </m:sub>
                    </m:sSub>
                  </m:oMath>
                </a14:m>
                <a:r>
                  <a:rPr lang="he-IL" sz="5100" spc="-50" dirty="0">
                    <a:latin typeface="+mj-lt"/>
                    <a:ea typeface="+mj-ea"/>
                    <a:cs typeface="+mj-cs"/>
                  </a:rPr>
                  <a:t> אבל הופחת </a:t>
                </a:r>
                <a14:m>
                  <m:oMath xmlns:m="http://schemas.openxmlformats.org/officeDocument/2006/math">
                    <m:sSub>
                      <m:sSubPr>
                        <m:ctrlPr>
                          <a:rPr lang="en-US" sz="5100" i="1" spc="-50">
                            <a:latin typeface="Cambria Math" panose="02040503050406030204" pitchFamily="18" charset="0"/>
                          </a:rPr>
                        </m:ctrlPr>
                      </m:sSubPr>
                      <m:e>
                        <m:r>
                          <a:rPr lang="en-US" sz="5100" i="1" spc="-50">
                            <a:latin typeface="Cambria Math" panose="02040503050406030204" pitchFamily="18" charset="0"/>
                          </a:rPr>
                          <m:t>𝑡</m:t>
                        </m:r>
                      </m:e>
                      <m:sub>
                        <m:r>
                          <a:rPr lang="en-US" sz="5100" b="0" i="1" spc="-50" smtClean="0">
                            <a:latin typeface="Cambria Math" panose="02040503050406030204" pitchFamily="18" charset="0"/>
                          </a:rPr>
                          <m:t>1</m:t>
                        </m:r>
                      </m:sub>
                    </m:sSub>
                  </m:oMath>
                </a14:m>
                <a:r>
                  <a:rPr lang="he-IL" sz="5100" spc="-50" dirty="0"/>
                  <a:t> </a:t>
                </a:r>
                <a:r>
                  <a:rPr lang="he-IL" sz="5100" spc="-50" dirty="0">
                    <a:latin typeface="+mj-lt"/>
                    <a:ea typeface="+mj-ea"/>
                    <a:cs typeface="+mj-cs"/>
                  </a:rPr>
                  <a:t>ומתקיים</a:t>
                </a:r>
                <a:r>
                  <a:rPr lang="he-IL" sz="5100" spc="-50" dirty="0"/>
                  <a:t> </a:t>
                </a:r>
                <a14:m>
                  <m:oMath xmlns:m="http://schemas.openxmlformats.org/officeDocument/2006/math">
                    <m:sSub>
                      <m:sSubPr>
                        <m:ctrlPr>
                          <a:rPr lang="en-US" sz="5100" i="1" spc="-50">
                            <a:latin typeface="Cambria Math" panose="02040503050406030204" pitchFamily="18" charset="0"/>
                          </a:rPr>
                        </m:ctrlPr>
                      </m:sSubPr>
                      <m:e>
                        <m:r>
                          <a:rPr lang="en-US" sz="5100" i="1" spc="-50">
                            <a:latin typeface="Cambria Math" panose="02040503050406030204" pitchFamily="18" charset="0"/>
                          </a:rPr>
                          <m:t>𝑡</m:t>
                        </m:r>
                      </m:e>
                      <m:sub>
                        <m:r>
                          <a:rPr lang="en-US" sz="5100" i="1" spc="-50">
                            <a:latin typeface="Cambria Math" panose="02040503050406030204" pitchFamily="18" charset="0"/>
                          </a:rPr>
                          <m:t>2</m:t>
                        </m:r>
                      </m:sub>
                    </m:sSub>
                    <m:r>
                      <a:rPr lang="en-US" sz="5100" b="0" i="1" spc="-50" smtClean="0">
                        <a:latin typeface="Cambria Math" panose="02040503050406030204" pitchFamily="18" charset="0"/>
                      </a:rPr>
                      <m:t>−</m:t>
                    </m:r>
                    <m:sSub>
                      <m:sSubPr>
                        <m:ctrlPr>
                          <a:rPr lang="en-US" sz="5100" i="1" spc="-50">
                            <a:latin typeface="Cambria Math" panose="02040503050406030204" pitchFamily="18" charset="0"/>
                          </a:rPr>
                        </m:ctrlPr>
                      </m:sSubPr>
                      <m:e>
                        <m:r>
                          <a:rPr lang="en-US" sz="5100" i="1" spc="-50">
                            <a:latin typeface="Cambria Math" panose="02040503050406030204" pitchFamily="18" charset="0"/>
                          </a:rPr>
                          <m:t>𝑡</m:t>
                        </m:r>
                      </m:e>
                      <m:sub>
                        <m:r>
                          <a:rPr lang="en-US" sz="5100" i="1" spc="-50">
                            <a:latin typeface="Cambria Math" panose="02040503050406030204" pitchFamily="18" charset="0"/>
                          </a:rPr>
                          <m:t>2</m:t>
                        </m:r>
                      </m:sub>
                    </m:sSub>
                    <m:r>
                      <a:rPr lang="en-US" sz="5100" b="0" i="0" spc="-50" smtClean="0">
                        <a:latin typeface="Cambria Math" panose="02040503050406030204" pitchFamily="18" charset="0"/>
                      </a:rPr>
                      <m:t>&lt;</m:t>
                    </m:r>
                    <m:r>
                      <a:rPr lang="en-US" sz="5100" b="0" i="0" spc="-50" smtClean="0">
                        <a:latin typeface="Cambria Math" panose="02040503050406030204" pitchFamily="18" charset="0"/>
                      </a:rPr>
                      <m:t>0</m:t>
                    </m:r>
                  </m:oMath>
                </a14:m>
                <a:endParaRPr lang="he-IL" sz="5100" spc="-50" dirty="0">
                  <a:latin typeface="+mj-lt"/>
                  <a:ea typeface="+mj-ea"/>
                  <a:cs typeface="+mj-cs"/>
                </a:endParaRPr>
              </a:p>
              <a:p>
                <a:pPr>
                  <a:lnSpc>
                    <a:spcPct val="120000"/>
                  </a:lnSpc>
                  <a:buFont typeface="Arial" panose="020B0604020202020204" pitchFamily="34" charset="0"/>
                  <a:buChar char="•"/>
                </a:pPr>
                <a:r>
                  <a:rPr lang="he-IL" sz="5100" spc="-50" dirty="0">
                    <a:latin typeface="+mj-lt"/>
                    <a:ea typeface="+mj-ea"/>
                    <a:cs typeface="+mj-cs"/>
                  </a:rPr>
                  <a:t> קיבלנו בסה"כ זמן המתנה קטן יותר. בסתירה להנחה שמדובר בפתרון אופטימלי.</a:t>
                </a:r>
              </a:p>
            </p:txBody>
          </p:sp>
        </mc:Choice>
        <mc:Fallback xmlns="">
          <p:sp>
            <p:nvSpPr>
              <p:cNvPr id="3" name="מציין מיקום תוכן 2">
                <a:extLst>
                  <a:ext uri="{FF2B5EF4-FFF2-40B4-BE49-F238E27FC236}">
                    <a16:creationId xmlns:a16="http://schemas.microsoft.com/office/drawing/2014/main" id="{D7D8DCDF-9C3C-31B3-9F13-AE75663E3CB2}"/>
                  </a:ext>
                </a:extLst>
              </p:cNvPr>
              <p:cNvSpPr>
                <a:spLocks noGrp="1" noRot="1" noChangeAspect="1" noMove="1" noResize="1" noEditPoints="1" noAdjustHandles="1" noChangeArrowheads="1" noChangeShapeType="1" noTextEdit="1"/>
              </p:cNvSpPr>
              <p:nvPr>
                <p:ph idx="1"/>
              </p:nvPr>
            </p:nvSpPr>
            <p:spPr>
              <a:xfrm>
                <a:off x="793102" y="1845733"/>
                <a:ext cx="10814180" cy="4424437"/>
              </a:xfrm>
              <a:blipFill>
                <a:blip r:embed="rId2"/>
                <a:stretch>
                  <a:fillRect l="-1015" t="-2066" r="-2198"/>
                </a:stretch>
              </a:blipFill>
            </p:spPr>
            <p:txBody>
              <a:bodyPr/>
              <a:lstStyle/>
              <a:p>
                <a:r>
                  <a:rPr lang="he-IL">
                    <a:noFill/>
                  </a:rPr>
                  <a:t> </a:t>
                </a:r>
              </a:p>
            </p:txBody>
          </p:sp>
        </mc:Fallback>
      </mc:AlternateContent>
    </p:spTree>
    <p:extLst>
      <p:ext uri="{BB962C8B-B14F-4D97-AF65-F5344CB8AC3E}">
        <p14:creationId xmlns:p14="http://schemas.microsoft.com/office/powerpoint/2010/main" val="1359154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CB6030-78B7-795E-DBAB-03B634EFF863}"/>
              </a:ext>
            </a:extLst>
          </p:cNvPr>
          <p:cNvSpPr>
            <a:spLocks noGrp="1"/>
          </p:cNvSpPr>
          <p:nvPr>
            <p:ph type="title"/>
          </p:nvPr>
        </p:nvSpPr>
        <p:spPr/>
        <p:txBody>
          <a:bodyPr/>
          <a:lstStyle/>
          <a:p>
            <a:pPr algn="ctr"/>
            <a:r>
              <a:rPr lang="he-IL" dirty="0"/>
              <a:t>פתרון חמדני- ניהול תור</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A664E7E8-7964-572C-8CA6-FD0C76B28A11}"/>
                  </a:ext>
                </a:extLst>
              </p:cNvPr>
              <p:cNvSpPr>
                <a:spLocks noGrp="1"/>
              </p:cNvSpPr>
              <p:nvPr>
                <p:ph idx="1"/>
              </p:nvPr>
            </p:nvSpPr>
            <p:spPr>
              <a:xfrm>
                <a:off x="756712" y="1765344"/>
                <a:ext cx="10739535" cy="4725663"/>
              </a:xfrm>
            </p:spPr>
            <p:txBody>
              <a:bodyPr>
                <a:normAutofit fontScale="47500" lnSpcReduction="20000"/>
              </a:bodyPr>
              <a:lstStyle/>
              <a:p>
                <a:pPr algn="just">
                  <a:lnSpc>
                    <a:spcPct val="120000"/>
                  </a:lnSpc>
                  <a:buFont typeface="Arial" panose="020B0604020202020204" pitchFamily="34" charset="0"/>
                  <a:buChar char="•"/>
                </a:pPr>
                <a:r>
                  <a:rPr lang="he-IL" sz="5100" b="1" spc="-50" dirty="0">
                    <a:latin typeface="+mj-lt"/>
                    <a:ea typeface="+mj-ea"/>
                    <a:cs typeface="+mj-cs"/>
                  </a:rPr>
                  <a:t> </a:t>
                </a:r>
                <a:r>
                  <a:rPr lang="he-IL" sz="5900" b="1" spc="-50" dirty="0">
                    <a:latin typeface="+mj-lt"/>
                    <a:ea typeface="+mj-ea"/>
                    <a:cs typeface="+mj-cs"/>
                  </a:rPr>
                  <a:t>הוכחנו את הטענה הבאה:</a:t>
                </a:r>
              </a:p>
              <a:p>
                <a:pPr marL="0" indent="0" algn="just">
                  <a:lnSpc>
                    <a:spcPct val="120000"/>
                  </a:lnSpc>
                  <a:buNone/>
                </a:pPr>
                <a:r>
                  <a:rPr lang="he-IL" sz="5100" spc="-50" dirty="0">
                    <a:latin typeface="+mj-lt"/>
                    <a:ea typeface="+mj-ea"/>
                    <a:cs typeface="+mj-cs"/>
                  </a:rPr>
                  <a:t>בכל סידור אופטימלי של פציינטים, הראשון בכל זוג עוקב הוא בעל זמן המתנה קטן יותר מהבא אחריו.</a:t>
                </a:r>
              </a:p>
              <a:p>
                <a:pPr>
                  <a:lnSpc>
                    <a:spcPct val="120000"/>
                  </a:lnSpc>
                  <a:buFont typeface="Arial" panose="020B0604020202020204" pitchFamily="34" charset="0"/>
                  <a:buChar char="•"/>
                </a:pPr>
                <a:r>
                  <a:rPr lang="he-IL" sz="5900" b="1" spc="-50" dirty="0">
                    <a:latin typeface="+mj-lt"/>
                    <a:ea typeface="+mj-ea"/>
                    <a:cs typeface="+mj-cs"/>
                  </a:rPr>
                  <a:t> נוכיח כעת שבחירת </a:t>
                </a:r>
                <a14:m>
                  <m:oMath xmlns:m="http://schemas.openxmlformats.org/officeDocument/2006/math">
                    <m:sSub>
                      <m:sSubPr>
                        <m:ctrlPr>
                          <a:rPr lang="en-US" sz="5900" i="1" spc="-50">
                            <a:latin typeface="Cambria Math" panose="02040503050406030204" pitchFamily="18" charset="0"/>
                          </a:rPr>
                        </m:ctrlPr>
                      </m:sSubPr>
                      <m:e>
                        <m:r>
                          <a:rPr lang="en-US" sz="5900" i="1" spc="-50">
                            <a:latin typeface="Cambria Math" panose="02040503050406030204" pitchFamily="18" charset="0"/>
                          </a:rPr>
                          <m:t>𝑡</m:t>
                        </m:r>
                      </m:e>
                      <m:sub>
                        <m:r>
                          <a:rPr lang="en-US" sz="5900" i="1" spc="-50">
                            <a:latin typeface="Cambria Math" panose="02040503050406030204" pitchFamily="18" charset="0"/>
                          </a:rPr>
                          <m:t>𝑚𝑖𝑛</m:t>
                        </m:r>
                      </m:sub>
                    </m:sSub>
                  </m:oMath>
                </a14:m>
                <a:r>
                  <a:rPr lang="he-IL" sz="5900" spc="-50" dirty="0"/>
                  <a:t>  </a:t>
                </a:r>
                <a:r>
                  <a:rPr lang="he-IL" sz="5900" b="1" spc="-50" dirty="0">
                    <a:latin typeface="+mj-lt"/>
                    <a:ea typeface="+mj-ea"/>
                    <a:cs typeface="+mj-cs"/>
                  </a:rPr>
                  <a:t>מהווה</a:t>
                </a:r>
                <a:r>
                  <a:rPr lang="he-IL" sz="5900" spc="-50" dirty="0"/>
                  <a:t> </a:t>
                </a:r>
                <a:r>
                  <a:rPr lang="he-IL" sz="5900" b="1" spc="-50" dirty="0">
                    <a:latin typeface="+mj-lt"/>
                    <a:ea typeface="+mj-ea"/>
                    <a:cs typeface="+mj-cs"/>
                  </a:rPr>
                  <a:t>בחירה בטוחה:</a:t>
                </a:r>
              </a:p>
              <a:p>
                <a:pPr marL="749808" lvl="1" indent="-457200">
                  <a:lnSpc>
                    <a:spcPct val="170000"/>
                  </a:lnSpc>
                  <a:buFont typeface="Courier New" panose="02070309020205020404" pitchFamily="49" charset="0"/>
                  <a:buChar char="o"/>
                </a:pPr>
                <a:r>
                  <a:rPr lang="he-IL" sz="5900" spc="-50" dirty="0">
                    <a:latin typeface="+mj-lt"/>
                    <a:ea typeface="+mj-ea"/>
                    <a:cs typeface="+mj-cs"/>
                  </a:rPr>
                  <a:t>נניח בשלילה שהפציינט בעל זמן ההמתנה המינימלי אינו הראשון בסידור האופטימלי.</a:t>
                </a:r>
              </a:p>
              <a:p>
                <a:pPr marL="749808" lvl="1" indent="-457200">
                  <a:lnSpc>
                    <a:spcPct val="170000"/>
                  </a:lnSpc>
                  <a:buFont typeface="Courier New" panose="02070309020205020404" pitchFamily="49" charset="0"/>
                  <a:buChar char="o"/>
                </a:pPr>
                <a:r>
                  <a:rPr lang="he-IL" sz="5900" spc="-50" dirty="0">
                    <a:latin typeface="+mj-lt"/>
                    <a:ea typeface="+mj-ea"/>
                    <a:cs typeface="+mj-cs"/>
                  </a:rPr>
                  <a:t>יהי </a:t>
                </a:r>
                <a14:m>
                  <m:oMath xmlns:m="http://schemas.openxmlformats.org/officeDocument/2006/math">
                    <m:r>
                      <a:rPr lang="en-US" sz="5900" b="0" i="1" spc="-50" smtClean="0">
                        <a:latin typeface="Cambria Math" panose="02040503050406030204" pitchFamily="18" charset="0"/>
                        <a:ea typeface="+mj-ea"/>
                        <a:cs typeface="+mj-cs"/>
                      </a:rPr>
                      <m:t>𝑖</m:t>
                    </m:r>
                    <m:r>
                      <a:rPr lang="en-US" sz="5900" b="0" i="1" spc="-50" smtClean="0">
                        <a:latin typeface="Cambria Math" panose="02040503050406030204" pitchFamily="18" charset="0"/>
                        <a:ea typeface="+mj-ea"/>
                        <a:cs typeface="+mj-cs"/>
                      </a:rPr>
                      <m:t>&gt;</m:t>
                    </m:r>
                    <m:r>
                      <a:rPr lang="en-US" sz="5900" b="0" i="1" spc="-50" smtClean="0">
                        <a:latin typeface="Cambria Math" panose="02040503050406030204" pitchFamily="18" charset="0"/>
                        <a:ea typeface="+mj-ea"/>
                        <a:cs typeface="+mj-cs"/>
                      </a:rPr>
                      <m:t>1</m:t>
                    </m:r>
                  </m:oMath>
                </a14:m>
                <a:r>
                  <a:rPr lang="he-IL" sz="5900" spc="-50" dirty="0">
                    <a:latin typeface="+mj-lt"/>
                    <a:ea typeface="+mj-ea"/>
                    <a:cs typeface="+mj-cs"/>
                  </a:rPr>
                  <a:t> האינדקס שבו נמצא בסידור האופטימלי הפציינט בעל זמן ההמתנה המינימלי.</a:t>
                </a:r>
              </a:p>
              <a:p>
                <a:pPr marL="749808" lvl="1" indent="-457200">
                  <a:lnSpc>
                    <a:spcPct val="120000"/>
                  </a:lnSpc>
                  <a:buFont typeface="Courier New" panose="02070309020205020404" pitchFamily="49" charset="0"/>
                  <a:buChar char="o"/>
                </a:pPr>
                <a:r>
                  <a:rPr lang="he-IL" sz="5900" spc="-50" dirty="0">
                    <a:latin typeface="+mj-lt"/>
                    <a:ea typeface="+mj-ea"/>
                    <a:cs typeface="+mj-cs"/>
                  </a:rPr>
                  <a:t>אזי, לפציינט הנמצא במיקום </a:t>
                </a:r>
                <a14:m>
                  <m:oMath xmlns:m="http://schemas.openxmlformats.org/officeDocument/2006/math">
                    <m:r>
                      <a:rPr lang="en-US" sz="5900" i="1" spc="-50">
                        <a:latin typeface="Cambria Math" panose="02040503050406030204" pitchFamily="18" charset="0"/>
                      </a:rPr>
                      <m:t>𝑖</m:t>
                    </m:r>
                    <m:r>
                      <a:rPr lang="en-US" sz="5900" b="0" i="0" spc="-50" smtClean="0">
                        <a:latin typeface="Cambria Math" panose="02040503050406030204" pitchFamily="18" charset="0"/>
                      </a:rPr>
                      <m:t>−</m:t>
                    </m:r>
                    <m:r>
                      <a:rPr lang="en-US" sz="5900" b="0" i="0" spc="-50" smtClean="0">
                        <a:latin typeface="Cambria Math" panose="02040503050406030204" pitchFamily="18" charset="0"/>
                      </a:rPr>
                      <m:t>1</m:t>
                    </m:r>
                  </m:oMath>
                </a14:m>
                <a:r>
                  <a:rPr lang="he-IL" sz="5900" spc="-50" dirty="0">
                    <a:latin typeface="+mj-lt"/>
                    <a:ea typeface="+mj-ea"/>
                    <a:cs typeface="+mj-cs"/>
                  </a:rPr>
                  <a:t> זמן המתנה גדול יותר מזמן ההמתנה של הפציינט שאחריו בסידור האופטימלי.</a:t>
                </a:r>
              </a:p>
              <a:p>
                <a:pPr marL="0" indent="0" algn="ctr">
                  <a:lnSpc>
                    <a:spcPct val="120000"/>
                  </a:lnSpc>
                  <a:buNone/>
                </a:pPr>
                <a:r>
                  <a:rPr lang="he-IL" sz="6700" b="1" spc="-50" dirty="0">
                    <a:latin typeface="+mj-lt"/>
                    <a:ea typeface="+mj-ea"/>
                    <a:cs typeface="+mj-cs"/>
                  </a:rPr>
                  <a:t>סתירה!</a:t>
                </a:r>
              </a:p>
              <a:p>
                <a:pPr marL="0" indent="0">
                  <a:lnSpc>
                    <a:spcPct val="120000"/>
                  </a:lnSpc>
                  <a:buNone/>
                </a:pPr>
                <a:endParaRPr lang="he-IL" sz="3200" dirty="0"/>
              </a:p>
            </p:txBody>
          </p:sp>
        </mc:Choice>
        <mc:Fallback xmlns="">
          <p:sp>
            <p:nvSpPr>
              <p:cNvPr id="3" name="מציין מיקום תוכן 2">
                <a:extLst>
                  <a:ext uri="{FF2B5EF4-FFF2-40B4-BE49-F238E27FC236}">
                    <a16:creationId xmlns:a16="http://schemas.microsoft.com/office/drawing/2014/main" id="{A664E7E8-7964-572C-8CA6-FD0C76B28A11}"/>
                  </a:ext>
                </a:extLst>
              </p:cNvPr>
              <p:cNvSpPr>
                <a:spLocks noGrp="1" noRot="1" noChangeAspect="1" noMove="1" noResize="1" noEditPoints="1" noAdjustHandles="1" noChangeArrowheads="1" noChangeShapeType="1" noTextEdit="1"/>
              </p:cNvSpPr>
              <p:nvPr>
                <p:ph idx="1"/>
              </p:nvPr>
            </p:nvSpPr>
            <p:spPr>
              <a:xfrm>
                <a:off x="756712" y="1765344"/>
                <a:ext cx="10739535" cy="4725663"/>
              </a:xfrm>
              <a:blipFill>
                <a:blip r:embed="rId2"/>
                <a:stretch>
                  <a:fillRect l="-227" t="-1419" r="-1930" b="-3484"/>
                </a:stretch>
              </a:blipFill>
            </p:spPr>
            <p:txBody>
              <a:bodyPr/>
              <a:lstStyle/>
              <a:p>
                <a:r>
                  <a:rPr lang="he-IL">
                    <a:noFill/>
                  </a:rPr>
                  <a:t> </a:t>
                </a:r>
              </a:p>
            </p:txBody>
          </p:sp>
        </mc:Fallback>
      </mc:AlternateContent>
    </p:spTree>
    <p:extLst>
      <p:ext uri="{BB962C8B-B14F-4D97-AF65-F5344CB8AC3E}">
        <p14:creationId xmlns:p14="http://schemas.microsoft.com/office/powerpoint/2010/main" val="3367761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CB6030-78B7-795E-DBAB-03B634EFF863}"/>
              </a:ext>
            </a:extLst>
          </p:cNvPr>
          <p:cNvSpPr>
            <a:spLocks noGrp="1"/>
          </p:cNvSpPr>
          <p:nvPr>
            <p:ph type="title"/>
          </p:nvPr>
        </p:nvSpPr>
        <p:spPr/>
        <p:txBody>
          <a:bodyPr/>
          <a:lstStyle/>
          <a:p>
            <a:pPr algn="ctr"/>
            <a:r>
              <a:rPr lang="he-IL" dirty="0"/>
              <a:t>פתרון חמדני- ניהול תור</a:t>
            </a:r>
          </a:p>
        </p:txBody>
      </p:sp>
      <p:sp>
        <p:nvSpPr>
          <p:cNvPr id="3" name="מציין מיקום תוכן 2">
            <a:extLst>
              <a:ext uri="{FF2B5EF4-FFF2-40B4-BE49-F238E27FC236}">
                <a16:creationId xmlns:a16="http://schemas.microsoft.com/office/drawing/2014/main" id="{A664E7E8-7964-572C-8CA6-FD0C76B28A11}"/>
              </a:ext>
            </a:extLst>
          </p:cNvPr>
          <p:cNvSpPr>
            <a:spLocks noGrp="1"/>
          </p:cNvSpPr>
          <p:nvPr>
            <p:ph idx="1"/>
          </p:nvPr>
        </p:nvSpPr>
        <p:spPr>
          <a:xfrm>
            <a:off x="756712" y="1942633"/>
            <a:ext cx="10739535" cy="4725663"/>
          </a:xfrm>
        </p:spPr>
        <p:txBody>
          <a:bodyPr>
            <a:normAutofit fontScale="62500" lnSpcReduction="20000"/>
          </a:bodyPr>
          <a:lstStyle/>
          <a:p>
            <a:pPr algn="just">
              <a:lnSpc>
                <a:spcPct val="120000"/>
              </a:lnSpc>
              <a:buFont typeface="Arial" panose="020B0604020202020204" pitchFamily="34" charset="0"/>
              <a:buChar char="•"/>
            </a:pPr>
            <a:r>
              <a:rPr lang="he-IL" sz="4600" b="1" spc="-50" dirty="0">
                <a:latin typeface="+mj-lt"/>
                <a:ea typeface="+mj-ea"/>
                <a:cs typeface="+mj-cs"/>
              </a:rPr>
              <a:t> </a:t>
            </a:r>
            <a:r>
              <a:rPr lang="he-IL" sz="5100" b="1" spc="-50" dirty="0">
                <a:latin typeface="+mj-lt"/>
                <a:ea typeface="+mj-ea"/>
                <a:cs typeface="+mj-cs"/>
              </a:rPr>
              <a:t>מסקנה: האלגוריתם החמדני הבא פותר את בעיית ניהול התור באופן נכון.</a:t>
            </a:r>
          </a:p>
          <a:p>
            <a:pPr marL="749808" lvl="1" indent="-457200">
              <a:lnSpc>
                <a:spcPct val="170000"/>
              </a:lnSpc>
              <a:buFont typeface="Courier New" panose="02070309020205020404" pitchFamily="49" charset="0"/>
              <a:buChar char="o"/>
            </a:pPr>
            <a:r>
              <a:rPr lang="he-IL" sz="5100" spc="-50" dirty="0">
                <a:latin typeface="+mj-lt"/>
                <a:ea typeface="+mj-ea"/>
                <a:cs typeface="+mj-cs"/>
              </a:rPr>
              <a:t>טפל תחילה בפציינט עם זמן ההמתנה המינימלי</a:t>
            </a:r>
          </a:p>
          <a:p>
            <a:pPr marL="749808" lvl="1" indent="-457200">
              <a:lnSpc>
                <a:spcPct val="170000"/>
              </a:lnSpc>
              <a:buFont typeface="Courier New" panose="02070309020205020404" pitchFamily="49" charset="0"/>
              <a:buChar char="o"/>
            </a:pPr>
            <a:r>
              <a:rPr lang="he-IL" sz="5100" spc="-50" dirty="0">
                <a:latin typeface="+mj-lt"/>
                <a:ea typeface="+mj-ea"/>
                <a:cs typeface="+mj-cs"/>
              </a:rPr>
              <a:t>מחק פציינט זה מהתור</a:t>
            </a:r>
          </a:p>
          <a:p>
            <a:pPr marL="749808" lvl="1" indent="-457200">
              <a:lnSpc>
                <a:spcPct val="170000"/>
              </a:lnSpc>
              <a:buFont typeface="Courier New" panose="02070309020205020404" pitchFamily="49" charset="0"/>
              <a:buChar char="o"/>
            </a:pPr>
            <a:r>
              <a:rPr lang="he-IL" sz="5100" spc="-50" dirty="0">
                <a:latin typeface="+mj-lt"/>
                <a:ea typeface="+mj-ea"/>
                <a:cs typeface="+mj-cs"/>
              </a:rPr>
              <a:t>טפל בכל המטופלים הנותרים על מנת למזער את זמן ההמתנה הכולל שלהם. (תת בעיה)</a:t>
            </a:r>
          </a:p>
          <a:p>
            <a:pPr marL="749808" lvl="1" indent="-457200">
              <a:lnSpc>
                <a:spcPct val="170000"/>
              </a:lnSpc>
              <a:buFont typeface="Courier New" panose="02070309020205020404" pitchFamily="49" charset="0"/>
              <a:buChar char="o"/>
            </a:pPr>
            <a:endParaRPr lang="he-IL" sz="5100" spc="-50" dirty="0">
              <a:latin typeface="+mj-lt"/>
              <a:ea typeface="+mj-ea"/>
              <a:cs typeface="+mj-cs"/>
            </a:endParaRPr>
          </a:p>
          <a:p>
            <a:pPr marL="0" indent="0">
              <a:lnSpc>
                <a:spcPct val="120000"/>
              </a:lnSpc>
              <a:buNone/>
            </a:pPr>
            <a:endParaRPr lang="he-IL" sz="3200" dirty="0"/>
          </a:p>
        </p:txBody>
      </p:sp>
    </p:spTree>
    <p:extLst>
      <p:ext uri="{BB962C8B-B14F-4D97-AF65-F5344CB8AC3E}">
        <p14:creationId xmlns:p14="http://schemas.microsoft.com/office/powerpoint/2010/main" val="2522555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3C4A1F5-16AE-D763-FE20-DDB5E911E037}"/>
              </a:ext>
            </a:extLst>
          </p:cNvPr>
          <p:cNvSpPr>
            <a:spLocks noGrp="1"/>
          </p:cNvSpPr>
          <p:nvPr>
            <p:ph type="title"/>
          </p:nvPr>
        </p:nvSpPr>
        <p:spPr>
          <a:xfrm>
            <a:off x="4543764" y="986972"/>
            <a:ext cx="10058400" cy="1450757"/>
          </a:xfrm>
        </p:spPr>
        <p:txBody>
          <a:bodyPr/>
          <a:lstStyle/>
          <a:p>
            <a:pPr algn="ctr"/>
            <a:r>
              <a:rPr lang="he-IL" dirty="0"/>
              <a:t>ניהול תור-</a:t>
            </a:r>
            <a:br>
              <a:rPr lang="he-IL" dirty="0"/>
            </a:br>
            <a:r>
              <a:rPr lang="he-IL" dirty="0"/>
              <a:t> המימוש</a:t>
            </a:r>
          </a:p>
        </p:txBody>
      </p:sp>
      <p:pic>
        <p:nvPicPr>
          <p:cNvPr id="5" name="תמונה 4">
            <a:extLst>
              <a:ext uri="{FF2B5EF4-FFF2-40B4-BE49-F238E27FC236}">
                <a16:creationId xmlns:a16="http://schemas.microsoft.com/office/drawing/2014/main" id="{AC55F4EF-7614-FDB4-747F-7FA6F8586B13}"/>
              </a:ext>
            </a:extLst>
          </p:cNvPr>
          <p:cNvPicPr>
            <a:picLocks noChangeAspect="1"/>
          </p:cNvPicPr>
          <p:nvPr/>
        </p:nvPicPr>
        <p:blipFill rotWithShape="1">
          <a:blip r:embed="rId2"/>
          <a:srcRect l="1837" t="2059" r="10841" b="2328"/>
          <a:stretch/>
        </p:blipFill>
        <p:spPr>
          <a:xfrm>
            <a:off x="508806" y="308970"/>
            <a:ext cx="7292014" cy="6240059"/>
          </a:xfrm>
          <a:prstGeom prst="rect">
            <a:avLst/>
          </a:prstGeom>
        </p:spPr>
      </p:pic>
    </p:spTree>
    <p:extLst>
      <p:ext uri="{BB962C8B-B14F-4D97-AF65-F5344CB8AC3E}">
        <p14:creationId xmlns:p14="http://schemas.microsoft.com/office/powerpoint/2010/main" val="3710430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64CE3E6-E24B-BB16-5553-FA519EF78600}"/>
              </a:ext>
            </a:extLst>
          </p:cNvPr>
          <p:cNvSpPr>
            <a:spLocks noGrp="1"/>
          </p:cNvSpPr>
          <p:nvPr>
            <p:ph type="title"/>
          </p:nvPr>
        </p:nvSpPr>
        <p:spPr/>
        <p:txBody>
          <a:bodyPr/>
          <a:lstStyle/>
          <a:p>
            <a:pPr algn="ctr"/>
            <a:r>
              <a:rPr lang="he-IL" dirty="0"/>
              <a:t>ניתוח זמן ריצה</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3A3A3B82-7FA5-9D7E-184A-6C67873B32E8}"/>
                  </a:ext>
                </a:extLst>
              </p:cNvPr>
              <p:cNvSpPr>
                <a:spLocks noGrp="1"/>
              </p:cNvSpPr>
              <p:nvPr>
                <p:ph idx="1"/>
              </p:nvPr>
            </p:nvSpPr>
            <p:spPr>
              <a:xfrm>
                <a:off x="980025" y="1892387"/>
                <a:ext cx="10231949" cy="4377784"/>
              </a:xfrm>
            </p:spPr>
            <p:txBody>
              <a:bodyPr>
                <a:normAutofit fontScale="85000" lnSpcReduction="20000"/>
              </a:bodyPr>
              <a:lstStyle/>
              <a:p>
                <a:r>
                  <a:rPr lang="he-IL" sz="4000" u="sng" spc="-50" dirty="0">
                    <a:latin typeface="Times New Roman" panose="02020603050405020304" pitchFamily="18" charset="0"/>
                    <a:ea typeface="+mj-ea"/>
                    <a:cs typeface="Times New Roman" panose="02020603050405020304" pitchFamily="18" charset="0"/>
                  </a:rPr>
                  <a:t>טענה:</a:t>
                </a:r>
              </a:p>
              <a:p>
                <a:pPr>
                  <a:lnSpc>
                    <a:spcPct val="120000"/>
                  </a:lnSpc>
                </a:pPr>
                <a:r>
                  <a:rPr lang="he-IL" sz="4700" spc="-50" dirty="0">
                    <a:latin typeface="Times New Roman" panose="02020603050405020304" pitchFamily="18" charset="0"/>
                    <a:ea typeface="+mj-ea"/>
                    <a:cs typeface="Times New Roman" panose="02020603050405020304" pitchFamily="18" charset="0"/>
                  </a:rPr>
                  <a:t>זמן הריצה של האלגוריתם </a:t>
                </a:r>
                <a14:m>
                  <m:oMath xmlns:m="http://schemas.openxmlformats.org/officeDocument/2006/math">
                    <m:r>
                      <a:rPr lang="en-US" sz="4200" i="1" spc="-50" dirty="0" smtClean="0">
                        <a:latin typeface="Cambria Math" panose="02040503050406030204" pitchFamily="18" charset="0"/>
                        <a:ea typeface="+mj-ea"/>
                        <a:cs typeface="Times New Roman" panose="02020603050405020304" pitchFamily="18" charset="0"/>
                      </a:rPr>
                      <m:t>𝑀𝑖𝑛𝑇𝑜𝑡𝑎𝑙𝑊𝑎𝑖𝑡𝑖𝑛𝑔𝑇𝑖𝑚𝑒</m:t>
                    </m:r>
                    <m:r>
                      <a:rPr lang="en-US" sz="4200" i="1" spc="-50" dirty="0" smtClean="0">
                        <a:latin typeface="Cambria Math" panose="02040503050406030204" pitchFamily="18" charset="0"/>
                        <a:ea typeface="+mj-ea"/>
                        <a:cs typeface="Times New Roman" panose="02020603050405020304" pitchFamily="18" charset="0"/>
                      </a:rPr>
                      <m:t>(</m:t>
                    </m:r>
                    <m:r>
                      <a:rPr lang="en-US" sz="4200" i="1" spc="-50" dirty="0" err="1" smtClean="0">
                        <a:latin typeface="Cambria Math" panose="02040503050406030204" pitchFamily="18" charset="0"/>
                        <a:ea typeface="+mj-ea"/>
                        <a:cs typeface="Times New Roman" panose="02020603050405020304" pitchFamily="18" charset="0"/>
                      </a:rPr>
                      <m:t>𝑡</m:t>
                    </m:r>
                    <m:r>
                      <a:rPr lang="en-US" sz="4200" i="1" spc="-50" dirty="0" err="1" smtClean="0">
                        <a:latin typeface="Cambria Math" panose="02040503050406030204" pitchFamily="18" charset="0"/>
                        <a:ea typeface="+mj-ea"/>
                        <a:cs typeface="Times New Roman" panose="02020603050405020304" pitchFamily="18" charset="0"/>
                      </a:rPr>
                      <m:t>,</m:t>
                    </m:r>
                    <m:r>
                      <a:rPr lang="en-US" sz="4200" i="1" spc="-50" dirty="0" err="1" smtClean="0">
                        <a:latin typeface="Cambria Math" panose="02040503050406030204" pitchFamily="18" charset="0"/>
                        <a:ea typeface="+mj-ea"/>
                        <a:cs typeface="Times New Roman" panose="02020603050405020304" pitchFamily="18" charset="0"/>
                      </a:rPr>
                      <m:t>𝑛</m:t>
                    </m:r>
                    <m:r>
                      <a:rPr lang="en-US" sz="4200" i="1" spc="-50" dirty="0" smtClean="0">
                        <a:latin typeface="Cambria Math" panose="02040503050406030204" pitchFamily="18" charset="0"/>
                        <a:ea typeface="+mj-ea"/>
                        <a:cs typeface="Times New Roman" panose="02020603050405020304" pitchFamily="18" charset="0"/>
                      </a:rPr>
                      <m:t>)</m:t>
                    </m:r>
                  </m:oMath>
                </a14:m>
                <a:r>
                  <a:rPr lang="he-IL" sz="4200" spc="-50" dirty="0">
                    <a:latin typeface="Times New Roman" panose="02020603050405020304" pitchFamily="18" charset="0"/>
                    <a:ea typeface="+mj-ea"/>
                    <a:cs typeface="Times New Roman" panose="02020603050405020304" pitchFamily="18" charset="0"/>
                  </a:rPr>
                  <a:t>  </a:t>
                </a:r>
                <a:r>
                  <a:rPr lang="he-IL" sz="4700" spc="-50" dirty="0">
                    <a:solidFill>
                      <a:schemeClr val="tx1"/>
                    </a:solidFill>
                    <a:latin typeface="Times New Roman" panose="02020603050405020304" pitchFamily="18" charset="0"/>
                    <a:ea typeface="+mj-ea"/>
                    <a:cs typeface="Times New Roman" panose="02020603050405020304" pitchFamily="18" charset="0"/>
                  </a:rPr>
                  <a:t>הינו</a:t>
                </a:r>
                <a:r>
                  <a:rPr lang="he-IL" sz="4700" spc="-50" dirty="0">
                    <a:solidFill>
                      <a:schemeClr val="accent2">
                        <a:lumMod val="75000"/>
                      </a:schemeClr>
                    </a:solidFill>
                    <a:latin typeface="Times New Roman" panose="02020603050405020304" pitchFamily="18" charset="0"/>
                    <a:ea typeface="+mj-ea"/>
                    <a:cs typeface="Times New Roman" panose="02020603050405020304" pitchFamily="18" charset="0"/>
                  </a:rPr>
                  <a:t> </a:t>
                </a:r>
                <a14:m>
                  <m:oMath xmlns:m="http://schemas.openxmlformats.org/officeDocument/2006/math">
                    <m: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t>𝑂</m:t>
                    </m:r>
                    <m: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sSup>
                      <m:sSupPr>
                        <m:ctrlP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ctrlPr>
                      </m:sSupPr>
                      <m:e>
                        <m: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t>𝑛</m:t>
                        </m:r>
                      </m:e>
                      <m:sup>
                        <m: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t>2</m:t>
                        </m:r>
                      </m:sup>
                    </m:sSup>
                    <m: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oMath>
                </a14:m>
                <a:r>
                  <a:rPr lang="he-IL" sz="4700" spc="-50" dirty="0">
                    <a:latin typeface="Times New Roman" panose="02020603050405020304" pitchFamily="18" charset="0"/>
                    <a:ea typeface="+mj-ea"/>
                    <a:cs typeface="Times New Roman" panose="02020603050405020304" pitchFamily="18" charset="0"/>
                  </a:rPr>
                  <a:t>.</a:t>
                </a:r>
              </a:p>
              <a:p>
                <a:endParaRPr lang="he-IL" sz="3200" spc="-50" dirty="0">
                  <a:latin typeface="Times New Roman" panose="02020603050405020304" pitchFamily="18" charset="0"/>
                  <a:ea typeface="+mj-ea"/>
                  <a:cs typeface="Times New Roman" panose="02020603050405020304" pitchFamily="18" charset="0"/>
                </a:endParaRPr>
              </a:p>
              <a:p>
                <a:r>
                  <a:rPr lang="he-IL" sz="3600" u="sng" spc="-50" dirty="0">
                    <a:latin typeface="Times New Roman" panose="02020603050405020304" pitchFamily="18" charset="0"/>
                    <a:ea typeface="+mj-ea"/>
                    <a:cs typeface="Times New Roman" panose="02020603050405020304" pitchFamily="18" charset="0"/>
                  </a:rPr>
                  <a:t>הוכחה:</a:t>
                </a:r>
              </a:p>
              <a:p>
                <a:pPr>
                  <a:buFont typeface="Arial" panose="020B0604020202020204" pitchFamily="34" charset="0"/>
                  <a:buChar char="•"/>
                </a:pPr>
                <a:r>
                  <a:rPr lang="he-IL" sz="3600" b="0" spc="-50" dirty="0">
                    <a:ea typeface="+mj-ea"/>
                    <a:cs typeface="Times New Roman" panose="02020603050405020304" pitchFamily="18" charset="0"/>
                  </a:rPr>
                  <a:t> </a:t>
                </a:r>
                <a14:m>
                  <m:oMath xmlns:m="http://schemas.openxmlformats.org/officeDocument/2006/math">
                    <m:r>
                      <a:rPr lang="en-US" sz="3600" b="0" i="1" spc="-50" dirty="0" smtClean="0">
                        <a:latin typeface="Cambria Math" panose="02040503050406030204" pitchFamily="18" charset="0"/>
                        <a:ea typeface="+mj-ea"/>
                        <a:cs typeface="Times New Roman" panose="02020603050405020304" pitchFamily="18" charset="0"/>
                      </a:rPr>
                      <m:t>𝑖</m:t>
                    </m:r>
                  </m:oMath>
                </a14:m>
                <a:r>
                  <a:rPr lang="he-IL" sz="3600" spc="-50" dirty="0">
                    <a:latin typeface="Times New Roman" panose="02020603050405020304" pitchFamily="18" charset="0"/>
                    <a:ea typeface="+mj-ea"/>
                    <a:cs typeface="Times New Roman" panose="02020603050405020304" pitchFamily="18" charset="0"/>
                  </a:rPr>
                  <a:t> משתנה מ-1 עד </a:t>
                </a:r>
                <a14:m>
                  <m:oMath xmlns:m="http://schemas.openxmlformats.org/officeDocument/2006/math">
                    <m:r>
                      <a:rPr lang="en-US" sz="3600" i="1" spc="-50" dirty="0" smtClean="0">
                        <a:latin typeface="Cambria Math" panose="02040503050406030204" pitchFamily="18" charset="0"/>
                        <a:ea typeface="+mj-ea"/>
                        <a:cs typeface="Times New Roman" panose="02020603050405020304" pitchFamily="18" charset="0"/>
                      </a:rPr>
                      <m:t>𝑛</m:t>
                    </m:r>
                  </m:oMath>
                </a14:m>
                <a:endParaRPr lang="he-IL" sz="3600" spc="-50" dirty="0">
                  <a:latin typeface="Times New Roman" panose="02020603050405020304" pitchFamily="18" charset="0"/>
                  <a:ea typeface="+mj-ea"/>
                  <a:cs typeface="Times New Roman" panose="02020603050405020304" pitchFamily="18" charset="0"/>
                </a:endParaRPr>
              </a:p>
              <a:p>
                <a:pPr>
                  <a:buFont typeface="Arial" panose="020B0604020202020204" pitchFamily="34" charset="0"/>
                  <a:buChar char="•"/>
                </a:pPr>
                <a:r>
                  <a:rPr lang="he-IL" sz="3600" spc="-50" dirty="0">
                    <a:latin typeface="Times New Roman" panose="02020603050405020304" pitchFamily="18" charset="0"/>
                    <a:ea typeface="+mj-ea"/>
                    <a:cs typeface="Times New Roman" panose="02020603050405020304" pitchFamily="18" charset="0"/>
                  </a:rPr>
                  <a:t> לכל ערך של </a:t>
                </a:r>
                <a14:m>
                  <m:oMath xmlns:m="http://schemas.openxmlformats.org/officeDocument/2006/math">
                    <m:r>
                      <a:rPr lang="en-US" sz="3600" b="0" i="1" spc="-50" dirty="0" smtClean="0">
                        <a:latin typeface="Cambria Math" panose="02040503050406030204" pitchFamily="18" charset="0"/>
                        <a:ea typeface="+mj-ea"/>
                        <a:cs typeface="Times New Roman" panose="02020603050405020304" pitchFamily="18" charset="0"/>
                      </a:rPr>
                      <m:t>𝑖</m:t>
                    </m:r>
                  </m:oMath>
                </a14:m>
                <a:r>
                  <a:rPr lang="he-IL" sz="3600" spc="-50" dirty="0">
                    <a:latin typeface="Times New Roman" panose="02020603050405020304" pitchFamily="18" charset="0"/>
                    <a:ea typeface="+mj-ea"/>
                    <a:cs typeface="Times New Roman" panose="02020603050405020304" pitchFamily="18" charset="0"/>
                  </a:rPr>
                  <a:t> , </a:t>
                </a:r>
                <a14:m>
                  <m:oMath xmlns:m="http://schemas.openxmlformats.org/officeDocument/2006/math">
                    <m:r>
                      <a:rPr lang="en-US" sz="3600" i="1" spc="-50" dirty="0" smtClean="0">
                        <a:latin typeface="Cambria Math" panose="02040503050406030204" pitchFamily="18" charset="0"/>
                        <a:ea typeface="+mj-ea"/>
                        <a:cs typeface="Times New Roman" panose="02020603050405020304" pitchFamily="18" charset="0"/>
                      </a:rPr>
                      <m:t>𝑗</m:t>
                    </m:r>
                  </m:oMath>
                </a14:m>
                <a:r>
                  <a:rPr lang="he-IL" sz="3600" spc="-50" dirty="0">
                    <a:latin typeface="Times New Roman" panose="02020603050405020304" pitchFamily="18" charset="0"/>
                    <a:ea typeface="+mj-ea"/>
                    <a:cs typeface="Times New Roman" panose="02020603050405020304" pitchFamily="18" charset="0"/>
                  </a:rPr>
                  <a:t> משתנה מ-1 עד </a:t>
                </a:r>
                <a14:m>
                  <m:oMath xmlns:m="http://schemas.openxmlformats.org/officeDocument/2006/math">
                    <m:r>
                      <a:rPr lang="en-US" sz="3600" i="1" spc="-50" dirty="0">
                        <a:latin typeface="Cambria Math" panose="02040503050406030204" pitchFamily="18" charset="0"/>
                        <a:cs typeface="Times New Roman" panose="02020603050405020304" pitchFamily="18" charset="0"/>
                      </a:rPr>
                      <m:t>𝑛</m:t>
                    </m:r>
                  </m:oMath>
                </a14:m>
                <a:endParaRPr lang="he-IL" sz="3600" spc="-50" dirty="0">
                  <a:latin typeface="Times New Roman" panose="02020603050405020304" pitchFamily="18" charset="0"/>
                  <a:ea typeface="+mj-ea"/>
                  <a:cs typeface="Times New Roman" panose="02020603050405020304" pitchFamily="18" charset="0"/>
                </a:endParaRPr>
              </a:p>
              <a:p>
                <a:pPr>
                  <a:buFont typeface="Arial" panose="020B0604020202020204" pitchFamily="34" charset="0"/>
                  <a:buChar char="•"/>
                </a:pPr>
                <a:r>
                  <a:rPr lang="he-IL" sz="3600" spc="-50" dirty="0">
                    <a:latin typeface="Times New Roman" panose="02020603050405020304" pitchFamily="18" charset="0"/>
                    <a:ea typeface="+mj-ea"/>
                    <a:cs typeface="Times New Roman" panose="02020603050405020304" pitchFamily="18" charset="0"/>
                  </a:rPr>
                  <a:t> סה"כ </a:t>
                </a:r>
                <a14:m>
                  <m:oMath xmlns:m="http://schemas.openxmlformats.org/officeDocument/2006/math">
                    <m:r>
                      <a:rPr lang="en-US" sz="3600" b="0" i="1" spc="-50" smtClean="0">
                        <a:solidFill>
                          <a:schemeClr val="accent2">
                            <a:lumMod val="75000"/>
                          </a:schemeClr>
                        </a:solidFill>
                        <a:latin typeface="Cambria Math" panose="02040503050406030204" pitchFamily="18" charset="0"/>
                        <a:ea typeface="+mj-ea"/>
                        <a:cs typeface="Times New Roman" panose="02020603050405020304" pitchFamily="18" charset="0"/>
                      </a:rPr>
                      <m:t>𝑂</m:t>
                    </m:r>
                    <m:r>
                      <a:rPr lang="en-US" sz="3600" b="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sSup>
                      <m:sSupPr>
                        <m:ctrlPr>
                          <a:rPr lang="en-US" sz="3600" b="0" i="1" spc="-50" smtClean="0">
                            <a:solidFill>
                              <a:schemeClr val="accent2">
                                <a:lumMod val="75000"/>
                              </a:schemeClr>
                            </a:solidFill>
                            <a:latin typeface="Cambria Math" panose="02040503050406030204" pitchFamily="18" charset="0"/>
                            <a:ea typeface="+mj-ea"/>
                            <a:cs typeface="Times New Roman" panose="02020603050405020304" pitchFamily="18" charset="0"/>
                          </a:rPr>
                        </m:ctrlPr>
                      </m:sSupPr>
                      <m:e>
                        <m:r>
                          <a:rPr lang="en-US" sz="3600" b="0" i="1" spc="-50" smtClean="0">
                            <a:solidFill>
                              <a:schemeClr val="accent2">
                                <a:lumMod val="75000"/>
                              </a:schemeClr>
                            </a:solidFill>
                            <a:latin typeface="Cambria Math" panose="02040503050406030204" pitchFamily="18" charset="0"/>
                            <a:ea typeface="+mj-ea"/>
                            <a:cs typeface="Times New Roman" panose="02020603050405020304" pitchFamily="18" charset="0"/>
                          </a:rPr>
                          <m:t>𝑛</m:t>
                        </m:r>
                      </m:e>
                      <m:sup>
                        <m:r>
                          <a:rPr lang="en-US" sz="3600" b="0" i="1" spc="-50" smtClean="0">
                            <a:solidFill>
                              <a:schemeClr val="accent2">
                                <a:lumMod val="75000"/>
                              </a:schemeClr>
                            </a:solidFill>
                            <a:latin typeface="Cambria Math" panose="02040503050406030204" pitchFamily="18" charset="0"/>
                            <a:ea typeface="+mj-ea"/>
                            <a:cs typeface="Times New Roman" panose="02020603050405020304" pitchFamily="18" charset="0"/>
                          </a:rPr>
                          <m:t>2</m:t>
                        </m:r>
                      </m:sup>
                    </m:sSup>
                    <m:r>
                      <a:rPr lang="en-US" sz="3600" b="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oMath>
                </a14:m>
                <a:r>
                  <a:rPr lang="he-IL" sz="3600" spc="-50" dirty="0">
                    <a:latin typeface="Times New Roman" panose="02020603050405020304" pitchFamily="18" charset="0"/>
                    <a:ea typeface="+mj-ea"/>
                    <a:cs typeface="Times New Roman" panose="02020603050405020304" pitchFamily="18" charset="0"/>
                  </a:rPr>
                  <a:t>.</a:t>
                </a:r>
              </a:p>
              <a:p>
                <a:endParaRPr lang="he-IL" sz="3200" spc="-50" dirty="0">
                  <a:latin typeface="Times New Roman" panose="02020603050405020304" pitchFamily="18" charset="0"/>
                  <a:ea typeface="+mj-ea"/>
                  <a:cs typeface="Times New Roman" panose="02020603050405020304" pitchFamily="18" charset="0"/>
                </a:endParaRPr>
              </a:p>
            </p:txBody>
          </p:sp>
        </mc:Choice>
        <mc:Fallback xmlns="">
          <p:sp>
            <p:nvSpPr>
              <p:cNvPr id="3" name="מציין מיקום תוכן 2">
                <a:extLst>
                  <a:ext uri="{FF2B5EF4-FFF2-40B4-BE49-F238E27FC236}">
                    <a16:creationId xmlns:a16="http://schemas.microsoft.com/office/drawing/2014/main" id="{3A3A3B82-7FA5-9D7E-184A-6C67873B32E8}"/>
                  </a:ext>
                </a:extLst>
              </p:cNvPr>
              <p:cNvSpPr>
                <a:spLocks noGrp="1" noRot="1" noChangeAspect="1" noMove="1" noResize="1" noEditPoints="1" noAdjustHandles="1" noChangeArrowheads="1" noChangeShapeType="1" noTextEdit="1"/>
              </p:cNvSpPr>
              <p:nvPr>
                <p:ph idx="1"/>
              </p:nvPr>
            </p:nvSpPr>
            <p:spPr>
              <a:xfrm>
                <a:off x="980025" y="1892387"/>
                <a:ext cx="10231949" cy="4377784"/>
              </a:xfrm>
              <a:blipFill>
                <a:blip r:embed="rId2"/>
                <a:stretch>
                  <a:fillRect l="-1847" t="-5285" r="-3039" b="-3894"/>
                </a:stretch>
              </a:blipFill>
            </p:spPr>
            <p:txBody>
              <a:bodyPr/>
              <a:lstStyle/>
              <a:p>
                <a:r>
                  <a:rPr lang="he-IL">
                    <a:noFill/>
                  </a:rPr>
                  <a:t> </a:t>
                </a:r>
              </a:p>
            </p:txBody>
          </p:sp>
        </mc:Fallback>
      </mc:AlternateContent>
    </p:spTree>
    <p:extLst>
      <p:ext uri="{BB962C8B-B14F-4D97-AF65-F5344CB8AC3E}">
        <p14:creationId xmlns:p14="http://schemas.microsoft.com/office/powerpoint/2010/main" val="703230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F30E3CF-3A28-9730-B5B9-CBB075F3BFF9}"/>
              </a:ext>
            </a:extLst>
          </p:cNvPr>
          <p:cNvSpPr>
            <a:spLocks noGrp="1"/>
          </p:cNvSpPr>
          <p:nvPr>
            <p:ph type="title"/>
          </p:nvPr>
        </p:nvSpPr>
        <p:spPr/>
        <p:txBody>
          <a:bodyPr/>
          <a:lstStyle/>
          <a:p>
            <a:pPr algn="ctr"/>
            <a:r>
              <a:rPr lang="he-IL" dirty="0"/>
              <a:t>שיפור האלגוריתם</a:t>
            </a:r>
          </a:p>
        </p:txBody>
      </p:sp>
      <mc:AlternateContent xmlns:mc="http://schemas.openxmlformats.org/markup-compatibility/2006" xmlns:a14="http://schemas.microsoft.com/office/drawing/2010/main">
        <mc:Choice Requires="a14">
          <p:sp>
            <p:nvSpPr>
              <p:cNvPr id="4" name="מציין מיקום תוכן 3">
                <a:extLst>
                  <a:ext uri="{FF2B5EF4-FFF2-40B4-BE49-F238E27FC236}">
                    <a16:creationId xmlns:a16="http://schemas.microsoft.com/office/drawing/2014/main" id="{911F8DE8-FF67-A49D-A990-6C09DD7FCC11}"/>
                  </a:ext>
                </a:extLst>
              </p:cNvPr>
              <p:cNvSpPr>
                <a:spLocks noGrp="1"/>
              </p:cNvSpPr>
              <p:nvPr>
                <p:ph idx="1"/>
              </p:nvPr>
            </p:nvSpPr>
            <p:spPr/>
            <p:txBody>
              <a:bodyPr>
                <a:normAutofit fontScale="92500"/>
              </a:bodyPr>
              <a:lstStyle/>
              <a:p>
                <a:pPr algn="just">
                  <a:lnSpc>
                    <a:spcPct val="150000"/>
                  </a:lnSpc>
                  <a:buFont typeface="Arial" panose="020B0604020202020204" pitchFamily="34" charset="0"/>
                  <a:buChar char="•"/>
                </a:pPr>
                <a:r>
                  <a:rPr lang="he-IL" sz="3200" spc="-50" dirty="0">
                    <a:latin typeface="Times New Roman" panose="02020603050405020304" pitchFamily="18" charset="0"/>
                    <a:ea typeface="+mj-ea"/>
                    <a:cs typeface="Times New Roman" panose="02020603050405020304" pitchFamily="18" charset="0"/>
                  </a:rPr>
                  <a:t> למעשה, לבעיה זו קיים פתרון בזמן </a:t>
                </a:r>
                <a14:m>
                  <m:oMath xmlns:m="http://schemas.openxmlformats.org/officeDocument/2006/math">
                    <m:r>
                      <a:rPr lang="en-US" sz="3200" i="1" spc="-50">
                        <a:solidFill>
                          <a:schemeClr val="accent2">
                            <a:lumMod val="75000"/>
                          </a:schemeClr>
                        </a:solidFill>
                        <a:latin typeface="Cambria Math" panose="02040503050406030204" pitchFamily="18" charset="0"/>
                        <a:ea typeface="+mj-ea"/>
                        <a:cs typeface="Times New Roman" panose="02020603050405020304" pitchFamily="18" charset="0"/>
                      </a:rPr>
                      <m:t>𝑂</m:t>
                    </m:r>
                    <m:r>
                      <a:rPr lang="en-US" sz="3200" i="1" spc="-50">
                        <a:solidFill>
                          <a:schemeClr val="accent2">
                            <a:lumMod val="75000"/>
                          </a:schemeClr>
                        </a:solidFill>
                        <a:latin typeface="Cambria Math" panose="02040503050406030204" pitchFamily="18" charset="0"/>
                        <a:ea typeface="+mj-ea"/>
                        <a:cs typeface="Times New Roman" panose="02020603050405020304" pitchFamily="18" charset="0"/>
                      </a:rPr>
                      <m:t>(</m:t>
                    </m:r>
                    <m:r>
                      <a:rPr lang="en-US" sz="3200" i="1" spc="-50">
                        <a:solidFill>
                          <a:schemeClr val="accent2">
                            <a:lumMod val="75000"/>
                          </a:schemeClr>
                        </a:solidFill>
                        <a:latin typeface="Cambria Math" panose="02040503050406030204" pitchFamily="18" charset="0"/>
                        <a:ea typeface="+mj-ea"/>
                        <a:cs typeface="Times New Roman" panose="02020603050405020304" pitchFamily="18" charset="0"/>
                      </a:rPr>
                      <m:t>𝑛</m:t>
                    </m:r>
                    <m:r>
                      <a:rPr lang="en-US" sz="3200" i="1" spc="-50">
                        <a:solidFill>
                          <a:schemeClr val="accent2">
                            <a:lumMod val="75000"/>
                          </a:schemeClr>
                        </a:solidFill>
                        <a:latin typeface="Cambria Math" panose="02040503050406030204" pitchFamily="18" charset="0"/>
                        <a:ea typeface="+mj-ea"/>
                        <a:cs typeface="Times New Roman" panose="02020603050405020304" pitchFamily="18" charset="0"/>
                      </a:rPr>
                      <m:t> </m:t>
                    </m:r>
                    <m:r>
                      <a:rPr lang="en-US" sz="3200" i="1" spc="-50">
                        <a:solidFill>
                          <a:schemeClr val="accent2">
                            <a:lumMod val="75000"/>
                          </a:schemeClr>
                        </a:solidFill>
                        <a:latin typeface="Cambria Math" panose="02040503050406030204" pitchFamily="18" charset="0"/>
                        <a:ea typeface="+mj-ea"/>
                        <a:cs typeface="Times New Roman" panose="02020603050405020304" pitchFamily="18" charset="0"/>
                      </a:rPr>
                      <m:t>𝑙𝑜𝑔</m:t>
                    </m:r>
                    <m:r>
                      <a:rPr lang="en-US" sz="3200" i="1" spc="-50">
                        <a:solidFill>
                          <a:schemeClr val="accent2">
                            <a:lumMod val="75000"/>
                          </a:schemeClr>
                        </a:solidFill>
                        <a:latin typeface="Cambria Math" panose="02040503050406030204" pitchFamily="18" charset="0"/>
                        <a:ea typeface="+mj-ea"/>
                        <a:cs typeface="Times New Roman" panose="02020603050405020304" pitchFamily="18" charset="0"/>
                      </a:rPr>
                      <m:t> </m:t>
                    </m:r>
                    <m:r>
                      <a:rPr lang="en-US" sz="3200" i="1" spc="-50">
                        <a:solidFill>
                          <a:schemeClr val="accent2">
                            <a:lumMod val="75000"/>
                          </a:schemeClr>
                        </a:solidFill>
                        <a:latin typeface="Cambria Math" panose="02040503050406030204" pitchFamily="18" charset="0"/>
                        <a:ea typeface="+mj-ea"/>
                        <a:cs typeface="Times New Roman" panose="02020603050405020304" pitchFamily="18" charset="0"/>
                      </a:rPr>
                      <m:t>𝑛</m:t>
                    </m:r>
                    <m:r>
                      <a:rPr lang="en-US" sz="3200" i="1" spc="-50">
                        <a:solidFill>
                          <a:schemeClr val="accent2">
                            <a:lumMod val="75000"/>
                          </a:schemeClr>
                        </a:solidFill>
                        <a:latin typeface="Cambria Math" panose="02040503050406030204" pitchFamily="18" charset="0"/>
                        <a:ea typeface="+mj-ea"/>
                        <a:cs typeface="Times New Roman" panose="02020603050405020304" pitchFamily="18" charset="0"/>
                      </a:rPr>
                      <m:t>)</m:t>
                    </m:r>
                  </m:oMath>
                </a14:m>
                <a:r>
                  <a:rPr lang="he-IL" sz="3200" i="1" spc="-50" dirty="0">
                    <a:solidFill>
                      <a:schemeClr val="accent2">
                        <a:lumMod val="75000"/>
                      </a:schemeClr>
                    </a:solidFill>
                    <a:latin typeface="Cambria Math" panose="02040503050406030204" pitchFamily="18" charset="0"/>
                    <a:ea typeface="+mj-ea"/>
                    <a:cs typeface="Times New Roman" panose="02020603050405020304" pitchFamily="18" charset="0"/>
                  </a:rPr>
                  <a:t> </a:t>
                </a:r>
              </a:p>
              <a:p>
                <a:pPr algn="just">
                  <a:lnSpc>
                    <a:spcPct val="150000"/>
                  </a:lnSpc>
                  <a:buFont typeface="Arial" panose="020B0604020202020204" pitchFamily="34" charset="0"/>
                  <a:buChar char="•"/>
                </a:pPr>
                <a:r>
                  <a:rPr lang="he-IL" sz="3200" spc="-50" dirty="0">
                    <a:latin typeface="Times New Roman" panose="02020603050405020304" pitchFamily="18" charset="0"/>
                    <a:ea typeface="+mj-ea"/>
                    <a:cs typeface="Times New Roman" panose="02020603050405020304" pitchFamily="18" charset="0"/>
                  </a:rPr>
                  <a:t> במקום לבחור את הפציינט עם זמן ההמתנה המינימלי </a:t>
                </a:r>
                <a14:m>
                  <m:oMath xmlns:m="http://schemas.openxmlformats.org/officeDocument/2006/math">
                    <m:r>
                      <a:rPr lang="en-US" sz="3200" i="1" spc="-50" dirty="0" smtClean="0">
                        <a:latin typeface="Cambria Math" panose="02040503050406030204" pitchFamily="18" charset="0"/>
                        <a:ea typeface="+mj-ea"/>
                        <a:cs typeface="Times New Roman" panose="02020603050405020304" pitchFamily="18" charset="0"/>
                      </a:rPr>
                      <m:t>𝑛</m:t>
                    </m:r>
                  </m:oMath>
                </a14:m>
                <a:r>
                  <a:rPr lang="he-IL" sz="3200" spc="-50" dirty="0">
                    <a:latin typeface="Times New Roman" panose="02020603050405020304" pitchFamily="18" charset="0"/>
                    <a:ea typeface="+mj-ea"/>
                    <a:cs typeface="Times New Roman" panose="02020603050405020304" pitchFamily="18" charset="0"/>
                  </a:rPr>
                  <a:t> פעמים, נמיין את הפציינטים על פי זמני ההמתנה מהקטן לגדול במיון שזמן ריצתו </a:t>
                </a:r>
                <a14:m>
                  <m:oMath xmlns:m="http://schemas.openxmlformats.org/officeDocument/2006/math">
                    <m:r>
                      <a:rPr lang="en-US" sz="3200" i="1" spc="-50">
                        <a:solidFill>
                          <a:schemeClr val="accent2">
                            <a:lumMod val="75000"/>
                          </a:schemeClr>
                        </a:solidFill>
                        <a:latin typeface="Cambria Math" panose="02040503050406030204" pitchFamily="18" charset="0"/>
                        <a:cs typeface="Times New Roman" panose="02020603050405020304" pitchFamily="18" charset="0"/>
                      </a:rPr>
                      <m:t>𝑂</m:t>
                    </m:r>
                    <m:r>
                      <a:rPr lang="en-US" sz="3200" i="1" spc="-50">
                        <a:solidFill>
                          <a:schemeClr val="accent2">
                            <a:lumMod val="75000"/>
                          </a:schemeClr>
                        </a:solidFill>
                        <a:latin typeface="Cambria Math" panose="02040503050406030204" pitchFamily="18" charset="0"/>
                        <a:cs typeface="Times New Roman" panose="02020603050405020304" pitchFamily="18" charset="0"/>
                      </a:rPr>
                      <m:t>(</m:t>
                    </m:r>
                    <m:r>
                      <a:rPr lang="en-US" sz="3200" i="1" spc="-50">
                        <a:solidFill>
                          <a:schemeClr val="accent2">
                            <a:lumMod val="75000"/>
                          </a:schemeClr>
                        </a:solidFill>
                        <a:latin typeface="Cambria Math" panose="02040503050406030204" pitchFamily="18" charset="0"/>
                        <a:cs typeface="Times New Roman" panose="02020603050405020304" pitchFamily="18" charset="0"/>
                      </a:rPr>
                      <m:t>𝑛</m:t>
                    </m:r>
                    <m:r>
                      <a:rPr lang="en-US" sz="3200" i="1" spc="-50">
                        <a:solidFill>
                          <a:schemeClr val="accent2">
                            <a:lumMod val="75000"/>
                          </a:schemeClr>
                        </a:solidFill>
                        <a:latin typeface="Cambria Math" panose="02040503050406030204" pitchFamily="18" charset="0"/>
                        <a:cs typeface="Times New Roman" panose="02020603050405020304" pitchFamily="18" charset="0"/>
                      </a:rPr>
                      <m:t> </m:t>
                    </m:r>
                    <m:r>
                      <a:rPr lang="en-US" sz="3200" i="1" spc="-50">
                        <a:solidFill>
                          <a:schemeClr val="accent2">
                            <a:lumMod val="75000"/>
                          </a:schemeClr>
                        </a:solidFill>
                        <a:latin typeface="Cambria Math" panose="02040503050406030204" pitchFamily="18" charset="0"/>
                        <a:cs typeface="Times New Roman" panose="02020603050405020304" pitchFamily="18" charset="0"/>
                      </a:rPr>
                      <m:t>𝑙𝑜𝑔</m:t>
                    </m:r>
                    <m:r>
                      <a:rPr lang="en-US" sz="3200" i="1" spc="-50">
                        <a:solidFill>
                          <a:schemeClr val="accent2">
                            <a:lumMod val="75000"/>
                          </a:schemeClr>
                        </a:solidFill>
                        <a:latin typeface="Cambria Math" panose="02040503050406030204" pitchFamily="18" charset="0"/>
                        <a:cs typeface="Times New Roman" panose="02020603050405020304" pitchFamily="18" charset="0"/>
                      </a:rPr>
                      <m:t> </m:t>
                    </m:r>
                    <m:r>
                      <a:rPr lang="en-US" sz="3200" i="1" spc="-50">
                        <a:solidFill>
                          <a:schemeClr val="accent2">
                            <a:lumMod val="75000"/>
                          </a:schemeClr>
                        </a:solidFill>
                        <a:latin typeface="Cambria Math" panose="02040503050406030204" pitchFamily="18" charset="0"/>
                        <a:cs typeface="Times New Roman" panose="02020603050405020304" pitchFamily="18" charset="0"/>
                      </a:rPr>
                      <m:t>𝑛</m:t>
                    </m:r>
                    <m:r>
                      <a:rPr lang="en-US" sz="3200" i="1" spc="-50">
                        <a:solidFill>
                          <a:schemeClr val="accent2">
                            <a:lumMod val="75000"/>
                          </a:schemeClr>
                        </a:solidFill>
                        <a:latin typeface="Cambria Math" panose="02040503050406030204" pitchFamily="18" charset="0"/>
                        <a:cs typeface="Times New Roman" panose="02020603050405020304" pitchFamily="18" charset="0"/>
                      </a:rPr>
                      <m:t>)</m:t>
                    </m:r>
                  </m:oMath>
                </a14:m>
                <a:r>
                  <a:rPr lang="he-IL" sz="3200" i="1" spc="-50" dirty="0">
                    <a:solidFill>
                      <a:schemeClr val="accent2">
                        <a:lumMod val="75000"/>
                      </a:schemeClr>
                    </a:solidFill>
                    <a:latin typeface="Cambria Math" panose="02040503050406030204" pitchFamily="18" charset="0"/>
                    <a:cs typeface="Times New Roman" panose="02020603050405020304" pitchFamily="18" charset="0"/>
                  </a:rPr>
                  <a:t> </a:t>
                </a:r>
                <a:r>
                  <a:rPr lang="he-IL" sz="3200" spc="-50" dirty="0">
                    <a:latin typeface="Times New Roman" panose="02020603050405020304" pitchFamily="18" charset="0"/>
                    <a:ea typeface="+mj-ea"/>
                    <a:cs typeface="Times New Roman" panose="02020603050405020304" pitchFamily="18" charset="0"/>
                  </a:rPr>
                  <a:t>.</a:t>
                </a:r>
              </a:p>
              <a:p>
                <a:pPr algn="just">
                  <a:lnSpc>
                    <a:spcPct val="150000"/>
                  </a:lnSpc>
                  <a:buFont typeface="Arial" panose="020B0604020202020204" pitchFamily="34" charset="0"/>
                  <a:buChar char="•"/>
                </a:pPr>
                <a:r>
                  <a:rPr lang="he-IL" sz="3200" spc="-50" dirty="0">
                    <a:latin typeface="Times New Roman" panose="02020603050405020304" pitchFamily="18" charset="0"/>
                    <a:ea typeface="+mj-ea"/>
                    <a:cs typeface="Times New Roman" panose="02020603050405020304" pitchFamily="18" charset="0"/>
                  </a:rPr>
                  <a:t> הקלט הממוין הינו סידור </a:t>
                </a:r>
                <a:r>
                  <a:rPr lang="he-IL" sz="3200" spc="-50" dirty="0" err="1">
                    <a:latin typeface="Times New Roman" panose="02020603050405020304" pitchFamily="18" charset="0"/>
                    <a:ea typeface="+mj-ea"/>
                    <a:cs typeface="Times New Roman" panose="02020603050405020304" pitchFamily="18" charset="0"/>
                  </a:rPr>
                  <a:t>אופטימילי</a:t>
                </a:r>
                <a:r>
                  <a:rPr lang="he-IL" sz="3200" spc="-50" dirty="0">
                    <a:latin typeface="Times New Roman" panose="02020603050405020304" pitchFamily="18" charset="0"/>
                    <a:ea typeface="+mj-ea"/>
                    <a:cs typeface="Times New Roman" panose="02020603050405020304" pitchFamily="18" charset="0"/>
                  </a:rPr>
                  <a:t> של הפציינטים.</a:t>
                </a:r>
              </a:p>
            </p:txBody>
          </p:sp>
        </mc:Choice>
        <mc:Fallback xmlns="">
          <p:sp>
            <p:nvSpPr>
              <p:cNvPr id="4" name="מציין מיקום תוכן 3">
                <a:extLst>
                  <a:ext uri="{FF2B5EF4-FFF2-40B4-BE49-F238E27FC236}">
                    <a16:creationId xmlns:a16="http://schemas.microsoft.com/office/drawing/2014/main" id="{911F8DE8-FF67-A49D-A990-6C09DD7FCC11}"/>
                  </a:ext>
                </a:extLst>
              </p:cNvPr>
              <p:cNvSpPr>
                <a:spLocks noGrp="1" noRot="1" noChangeAspect="1" noMove="1" noResize="1" noEditPoints="1" noAdjustHandles="1" noChangeArrowheads="1" noChangeShapeType="1" noTextEdit="1"/>
              </p:cNvSpPr>
              <p:nvPr>
                <p:ph idx="1"/>
              </p:nvPr>
            </p:nvSpPr>
            <p:spPr>
              <a:blipFill>
                <a:blip r:embed="rId2"/>
                <a:stretch>
                  <a:fillRect l="-3152" r="-2182"/>
                </a:stretch>
              </a:blipFill>
            </p:spPr>
            <p:txBody>
              <a:bodyPr/>
              <a:lstStyle/>
              <a:p>
                <a:r>
                  <a:rPr lang="he-IL">
                    <a:noFill/>
                  </a:rPr>
                  <a:t> </a:t>
                </a:r>
              </a:p>
            </p:txBody>
          </p:sp>
        </mc:Fallback>
      </mc:AlternateContent>
    </p:spTree>
    <p:extLst>
      <p:ext uri="{BB962C8B-B14F-4D97-AF65-F5344CB8AC3E}">
        <p14:creationId xmlns:p14="http://schemas.microsoft.com/office/powerpoint/2010/main" val="2714093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D30F238-41B4-0793-EA81-328D59B9053B}"/>
              </a:ext>
            </a:extLst>
          </p:cNvPr>
          <p:cNvSpPr>
            <a:spLocks noGrp="1"/>
          </p:cNvSpPr>
          <p:nvPr>
            <p:ph type="title"/>
          </p:nvPr>
        </p:nvSpPr>
        <p:spPr/>
        <p:txBody>
          <a:bodyPr/>
          <a:lstStyle/>
          <a:p>
            <a:r>
              <a:rPr lang="he-IL" dirty="0"/>
              <a:t>מה נראה היום?</a:t>
            </a:r>
          </a:p>
        </p:txBody>
      </p:sp>
      <p:sp>
        <p:nvSpPr>
          <p:cNvPr id="3" name="מציין מיקום תוכן 2">
            <a:extLst>
              <a:ext uri="{FF2B5EF4-FFF2-40B4-BE49-F238E27FC236}">
                <a16:creationId xmlns:a16="http://schemas.microsoft.com/office/drawing/2014/main" id="{2CFEA2EA-1886-D54E-1689-BF9D0BF0A9FF}"/>
              </a:ext>
            </a:extLst>
          </p:cNvPr>
          <p:cNvSpPr>
            <a:spLocks noGrp="1"/>
          </p:cNvSpPr>
          <p:nvPr>
            <p:ph idx="1"/>
          </p:nvPr>
        </p:nvSpPr>
        <p:spPr>
          <a:xfrm>
            <a:off x="4819262" y="668068"/>
            <a:ext cx="6492240" cy="6600476"/>
          </a:xfrm>
        </p:spPr>
        <p:txBody>
          <a:bodyPr>
            <a:normAutofit/>
          </a:bodyPr>
          <a:lstStyle/>
          <a:p>
            <a:pPr>
              <a:lnSpc>
                <a:spcPct val="120000"/>
              </a:lnSpc>
              <a:buFont typeface="Arial" panose="020B0604020202020204" pitchFamily="34" charset="0"/>
              <a:buChar char="•"/>
            </a:pPr>
            <a:r>
              <a:rPr lang="he-IL" dirty="0">
                <a:latin typeface="Times New Roman" panose="02020603050405020304" pitchFamily="18" charset="0"/>
                <a:cs typeface="Times New Roman" panose="02020603050405020304" pitchFamily="18" charset="0"/>
              </a:rPr>
              <a:t> </a:t>
            </a:r>
            <a:r>
              <a:rPr lang="he-IL" sz="3600" dirty="0">
                <a:solidFill>
                  <a:schemeClr val="bg1">
                    <a:lumMod val="75000"/>
                  </a:schemeClr>
                </a:solidFill>
                <a:latin typeface="Times New Roman" panose="02020603050405020304" pitchFamily="18" charset="0"/>
                <a:cs typeface="Times New Roman" panose="02020603050405020304" pitchFamily="18" charset="0"/>
              </a:rPr>
              <a:t>דוגמא 1- שכר מקסימלי</a:t>
            </a:r>
          </a:p>
          <a:p>
            <a:pPr>
              <a:lnSpc>
                <a:spcPct val="120000"/>
              </a:lnSpc>
              <a:buFont typeface="Arial" panose="020B0604020202020204" pitchFamily="34" charset="0"/>
              <a:buChar char="•"/>
            </a:pPr>
            <a:r>
              <a:rPr lang="he-IL" sz="3600" dirty="0">
                <a:latin typeface="Times New Roman" panose="02020603050405020304" pitchFamily="18" charset="0"/>
                <a:cs typeface="Times New Roman" panose="02020603050405020304" pitchFamily="18" charset="0"/>
              </a:rPr>
              <a:t> </a:t>
            </a:r>
            <a:r>
              <a:rPr lang="he-IL" sz="3600" dirty="0">
                <a:solidFill>
                  <a:schemeClr val="bg1">
                    <a:lumMod val="75000"/>
                  </a:schemeClr>
                </a:solidFill>
                <a:latin typeface="Times New Roman" panose="02020603050405020304" pitchFamily="18" charset="0"/>
                <a:cs typeface="Times New Roman" panose="02020603050405020304" pitchFamily="18" charset="0"/>
              </a:rPr>
              <a:t>דוגמא 2- ניהול תור</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a:t>
            </a:r>
            <a:r>
              <a:rPr lang="he-IL" sz="3600" dirty="0">
                <a:solidFill>
                  <a:schemeClr val="tx1"/>
                </a:solidFill>
                <a:latin typeface="Times New Roman" panose="02020603050405020304" pitchFamily="18" charset="0"/>
                <a:cs typeface="Times New Roman" panose="02020603050405020304" pitchFamily="18" charset="0"/>
              </a:rPr>
              <a:t>אלגוריתם חמדני- מרכיבים עיקריים</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דוגמא 3- מסיבה</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דוגמא 4- תרמיל הגב בשברים</a:t>
            </a:r>
          </a:p>
          <a:p>
            <a:pPr>
              <a:lnSpc>
                <a:spcPct val="120000"/>
              </a:lnSpc>
              <a:buFont typeface="Arial" panose="020B0604020202020204" pitchFamily="34" charset="0"/>
              <a:buChar char="•"/>
            </a:pPr>
            <a:endParaRPr lang="he-IL"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2162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6EE0584-F2DF-DF2E-22DB-99CA75C027E5}"/>
              </a:ext>
            </a:extLst>
          </p:cNvPr>
          <p:cNvSpPr>
            <a:spLocks noGrp="1"/>
          </p:cNvSpPr>
          <p:nvPr>
            <p:ph type="title"/>
          </p:nvPr>
        </p:nvSpPr>
        <p:spPr/>
        <p:txBody>
          <a:bodyPr/>
          <a:lstStyle/>
          <a:p>
            <a:pPr algn="ctr"/>
            <a:r>
              <a:rPr lang="he-IL" dirty="0"/>
              <a:t>אלגוריתם חמדן – מרכיבים עיקריים</a:t>
            </a:r>
          </a:p>
        </p:txBody>
      </p:sp>
      <p:sp>
        <p:nvSpPr>
          <p:cNvPr id="4" name="מציין מיקום תוכן 3">
            <a:extLst>
              <a:ext uri="{FF2B5EF4-FFF2-40B4-BE49-F238E27FC236}">
                <a16:creationId xmlns:a16="http://schemas.microsoft.com/office/drawing/2014/main" id="{B0D16197-6CE9-E28C-BD90-3BB0D03075C1}"/>
              </a:ext>
            </a:extLst>
          </p:cNvPr>
          <p:cNvSpPr>
            <a:spLocks noGrp="1"/>
          </p:cNvSpPr>
          <p:nvPr>
            <p:ph idx="1"/>
          </p:nvPr>
        </p:nvSpPr>
        <p:spPr>
          <a:xfrm>
            <a:off x="1097280" y="2122825"/>
            <a:ext cx="10058400" cy="4023360"/>
          </a:xfrm>
        </p:spPr>
        <p:txBody>
          <a:bodyPr>
            <a:normAutofit lnSpcReduction="10000"/>
          </a:bodyPr>
          <a:lstStyle/>
          <a:p>
            <a:r>
              <a:rPr lang="he-IL" sz="3600" spc="-50" dirty="0">
                <a:solidFill>
                  <a:schemeClr val="accent1">
                    <a:lumMod val="75000"/>
                  </a:schemeClr>
                </a:solidFill>
                <a:latin typeface="Times New Roman" panose="02020603050405020304" pitchFamily="18" charset="0"/>
                <a:ea typeface="+mj-ea"/>
                <a:cs typeface="Times New Roman" panose="02020603050405020304" pitchFamily="18" charset="0"/>
              </a:rPr>
              <a:t>1. החלטה על בחירה חמדנית</a:t>
            </a:r>
          </a:p>
          <a:p>
            <a:r>
              <a:rPr lang="he-IL" sz="3600" spc="-50" dirty="0">
                <a:solidFill>
                  <a:schemeClr val="accent1">
                    <a:lumMod val="75000"/>
                  </a:schemeClr>
                </a:solidFill>
                <a:latin typeface="Times New Roman" panose="02020603050405020304" pitchFamily="18" charset="0"/>
                <a:ea typeface="+mj-ea"/>
                <a:cs typeface="Times New Roman" panose="02020603050405020304" pitchFamily="18" charset="0"/>
              </a:rPr>
              <a:t>2. הוכחה שהבחירה החמדנית מניבה פתרון: </a:t>
            </a:r>
          </a:p>
          <a:p>
            <a:pPr lvl="2"/>
            <a:r>
              <a:rPr lang="he-IL" sz="3000" spc="-50" dirty="0">
                <a:solidFill>
                  <a:schemeClr val="accent1">
                    <a:lumMod val="75000"/>
                  </a:schemeClr>
                </a:solidFill>
                <a:latin typeface="Times New Roman" panose="02020603050405020304" pitchFamily="18" charset="0"/>
                <a:ea typeface="+mj-ea"/>
                <a:cs typeface="Times New Roman" panose="02020603050405020304" pitchFamily="18" charset="0"/>
              </a:rPr>
              <a:t>תקין</a:t>
            </a:r>
          </a:p>
          <a:p>
            <a:pPr lvl="2"/>
            <a:r>
              <a:rPr lang="he-IL" sz="3000" spc="-50" dirty="0">
                <a:solidFill>
                  <a:schemeClr val="accent1">
                    <a:lumMod val="75000"/>
                  </a:schemeClr>
                </a:solidFill>
                <a:latin typeface="Times New Roman" panose="02020603050405020304" pitchFamily="18" charset="0"/>
                <a:ea typeface="+mj-ea"/>
                <a:cs typeface="Times New Roman" panose="02020603050405020304" pitchFamily="18" charset="0"/>
              </a:rPr>
              <a:t>אופטימלי</a:t>
            </a:r>
          </a:p>
          <a:p>
            <a:r>
              <a:rPr lang="he-IL" sz="3600" spc="-50" dirty="0">
                <a:solidFill>
                  <a:schemeClr val="accent1">
                    <a:lumMod val="75000"/>
                  </a:schemeClr>
                </a:solidFill>
                <a:latin typeface="Times New Roman" panose="02020603050405020304" pitchFamily="18" charset="0"/>
                <a:ea typeface="+mj-ea"/>
                <a:cs typeface="Times New Roman" panose="02020603050405020304" pitchFamily="18" charset="0"/>
              </a:rPr>
              <a:t>3. פתרון תת בעיה- האלגוריתם הכללי לפתרון הבעיה כולה</a:t>
            </a:r>
          </a:p>
          <a:p>
            <a:r>
              <a:rPr lang="he-IL" sz="3600" spc="-50" dirty="0">
                <a:solidFill>
                  <a:schemeClr val="accent1">
                    <a:lumMod val="75000"/>
                  </a:schemeClr>
                </a:solidFill>
                <a:latin typeface="Times New Roman" panose="02020603050405020304" pitchFamily="18" charset="0"/>
                <a:ea typeface="+mj-ea"/>
                <a:cs typeface="Times New Roman" panose="02020603050405020304" pitchFamily="18" charset="0"/>
              </a:rPr>
              <a:t>4. ממש </a:t>
            </a:r>
            <a:r>
              <a:rPr lang="he-IL" sz="3600" spc="-50" dirty="0" err="1">
                <a:solidFill>
                  <a:schemeClr val="accent1">
                    <a:lumMod val="75000"/>
                  </a:schemeClr>
                </a:solidFill>
                <a:latin typeface="Times New Roman" panose="02020603050405020304" pitchFamily="18" charset="0"/>
                <a:ea typeface="+mj-ea"/>
                <a:cs typeface="Times New Roman" panose="02020603050405020304" pitchFamily="18" charset="0"/>
              </a:rPr>
              <a:t>בפסאודו</a:t>
            </a:r>
            <a:r>
              <a:rPr lang="he-IL" sz="3600" spc="-50" dirty="0">
                <a:solidFill>
                  <a:schemeClr val="accent1">
                    <a:lumMod val="75000"/>
                  </a:schemeClr>
                </a:solidFill>
                <a:latin typeface="Times New Roman" panose="02020603050405020304" pitchFamily="18" charset="0"/>
                <a:ea typeface="+mj-ea"/>
                <a:cs typeface="Times New Roman" panose="02020603050405020304" pitchFamily="18" charset="0"/>
              </a:rPr>
              <a:t> קוד</a:t>
            </a:r>
          </a:p>
          <a:p>
            <a:r>
              <a:rPr lang="he-IL" sz="3600" spc="-50" dirty="0">
                <a:solidFill>
                  <a:schemeClr val="accent1">
                    <a:lumMod val="75000"/>
                  </a:schemeClr>
                </a:solidFill>
                <a:latin typeface="Times New Roman" panose="02020603050405020304" pitchFamily="18" charset="0"/>
                <a:ea typeface="+mj-ea"/>
                <a:cs typeface="Times New Roman" panose="02020603050405020304" pitchFamily="18" charset="0"/>
              </a:rPr>
              <a:t>5. נתח זמן ריצה</a:t>
            </a:r>
          </a:p>
        </p:txBody>
      </p:sp>
    </p:spTree>
    <p:extLst>
      <p:ext uri="{BB962C8B-B14F-4D97-AF65-F5344CB8AC3E}">
        <p14:creationId xmlns:p14="http://schemas.microsoft.com/office/powerpoint/2010/main" val="3129794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6EE0584-F2DF-DF2E-22DB-99CA75C027E5}"/>
              </a:ext>
            </a:extLst>
          </p:cNvPr>
          <p:cNvSpPr>
            <a:spLocks noGrp="1"/>
          </p:cNvSpPr>
          <p:nvPr>
            <p:ph type="title"/>
          </p:nvPr>
        </p:nvSpPr>
        <p:spPr/>
        <p:txBody>
          <a:bodyPr/>
          <a:lstStyle/>
          <a:p>
            <a:pPr algn="ctr"/>
            <a:r>
              <a:rPr lang="he-IL" dirty="0"/>
              <a:t>בחירה בטוחה</a:t>
            </a:r>
          </a:p>
        </p:txBody>
      </p:sp>
      <p:sp>
        <p:nvSpPr>
          <p:cNvPr id="4" name="מציין מיקום תוכן 3">
            <a:extLst>
              <a:ext uri="{FF2B5EF4-FFF2-40B4-BE49-F238E27FC236}">
                <a16:creationId xmlns:a16="http://schemas.microsoft.com/office/drawing/2014/main" id="{B0D16197-6CE9-E28C-BD90-3BB0D03075C1}"/>
              </a:ext>
            </a:extLst>
          </p:cNvPr>
          <p:cNvSpPr>
            <a:spLocks noGrp="1"/>
          </p:cNvSpPr>
          <p:nvPr>
            <p:ph idx="1"/>
          </p:nvPr>
        </p:nvSpPr>
        <p:spPr>
          <a:xfrm>
            <a:off x="1066800" y="1934511"/>
            <a:ext cx="10058400" cy="4023360"/>
          </a:xfrm>
        </p:spPr>
        <p:txBody>
          <a:bodyPr>
            <a:normAutofit fontScale="92500"/>
          </a:bodyPr>
          <a:lstStyle/>
          <a:p>
            <a:pPr>
              <a:lnSpc>
                <a:spcPct val="150000"/>
              </a:lnSpc>
            </a:pPr>
            <a:r>
              <a:rPr lang="he-IL" sz="3600" spc="-50" dirty="0">
                <a:solidFill>
                  <a:schemeClr val="accent1">
                    <a:lumMod val="75000"/>
                  </a:schemeClr>
                </a:solidFill>
                <a:latin typeface="Times New Roman" panose="02020603050405020304" pitchFamily="18" charset="0"/>
                <a:ea typeface="+mj-ea"/>
                <a:cs typeface="Times New Roman" panose="02020603050405020304" pitchFamily="18" charset="0"/>
              </a:rPr>
              <a:t>בחירות חמדניות שהוכחנו שהן בטוחות:</a:t>
            </a:r>
          </a:p>
          <a:p>
            <a:pPr lvl="1">
              <a:lnSpc>
                <a:spcPct val="150000"/>
              </a:lnSpc>
            </a:pPr>
            <a:r>
              <a:rPr lang="he-IL" sz="3400" spc="-50" dirty="0">
                <a:solidFill>
                  <a:schemeClr val="tx1"/>
                </a:solidFill>
                <a:latin typeface="Times New Roman" panose="02020603050405020304" pitchFamily="18" charset="0"/>
                <a:ea typeface="+mj-ea"/>
                <a:cs typeface="Times New Roman" panose="02020603050405020304" pitchFamily="18" charset="0"/>
              </a:rPr>
              <a:t>שים את הספרה המקסימלית תחילה</a:t>
            </a:r>
          </a:p>
          <a:p>
            <a:pPr lvl="1">
              <a:lnSpc>
                <a:spcPct val="150000"/>
              </a:lnSpc>
            </a:pPr>
            <a:r>
              <a:rPr lang="he-IL" sz="3400" spc="-50" dirty="0">
                <a:solidFill>
                  <a:schemeClr val="tx1"/>
                </a:solidFill>
                <a:latin typeface="Times New Roman" panose="02020603050405020304" pitchFamily="18" charset="0"/>
                <a:ea typeface="+mj-ea"/>
                <a:cs typeface="Times New Roman" panose="02020603050405020304" pitchFamily="18" charset="0"/>
              </a:rPr>
              <a:t>בחר את הפציינט עם זמן ההמתנה המינימלי</a:t>
            </a:r>
          </a:p>
          <a:p>
            <a:pPr lvl="1">
              <a:lnSpc>
                <a:spcPct val="150000"/>
              </a:lnSpc>
            </a:pPr>
            <a:r>
              <a:rPr lang="he-IL" sz="3400" spc="-50" dirty="0">
                <a:solidFill>
                  <a:schemeClr val="tx1"/>
                </a:solidFill>
                <a:latin typeface="Times New Roman" panose="02020603050405020304" pitchFamily="18" charset="0"/>
                <a:ea typeface="+mj-ea"/>
                <a:cs typeface="Times New Roman" panose="02020603050405020304" pitchFamily="18" charset="0"/>
              </a:rPr>
              <a:t>כסה את הנקודה השמאלית ביותר</a:t>
            </a:r>
          </a:p>
          <a:p>
            <a:pPr lvl="1">
              <a:lnSpc>
                <a:spcPct val="150000"/>
              </a:lnSpc>
            </a:pPr>
            <a:r>
              <a:rPr lang="he-IL" sz="3400" spc="-50" dirty="0">
                <a:solidFill>
                  <a:schemeClr val="tx1"/>
                </a:solidFill>
                <a:latin typeface="Times New Roman" panose="02020603050405020304" pitchFamily="18" charset="0"/>
                <a:ea typeface="+mj-ea"/>
                <a:cs typeface="Times New Roman" panose="02020603050405020304" pitchFamily="18" charset="0"/>
              </a:rPr>
              <a:t>קח את הפריט עם ערך מקסימלי ליחידת משקל</a:t>
            </a:r>
          </a:p>
          <a:p>
            <a:endParaRPr lang="he-IL" sz="3600" spc="-50" dirty="0">
              <a:latin typeface="Times New Roman" panose="02020603050405020304" pitchFamily="18" charset="0"/>
              <a:ea typeface="+mj-ea"/>
              <a:cs typeface="Times New Roman" panose="02020603050405020304" pitchFamily="18" charset="0"/>
            </a:endParaRPr>
          </a:p>
          <a:p>
            <a:endParaRPr lang="he-IL" sz="3600" spc="-50" dirty="0">
              <a:solidFill>
                <a:schemeClr val="accent1">
                  <a:lumMod val="75000"/>
                </a:schemeClr>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826704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1B0D088-7905-E366-B153-9736A4B5A10D}"/>
              </a:ext>
            </a:extLst>
          </p:cNvPr>
          <p:cNvSpPr>
            <a:spLocks noGrp="1"/>
          </p:cNvSpPr>
          <p:nvPr>
            <p:ph type="title"/>
          </p:nvPr>
        </p:nvSpPr>
        <p:spPr/>
        <p:txBody>
          <a:bodyPr/>
          <a:lstStyle/>
          <a:p>
            <a:pPr algn="ctr"/>
            <a:r>
              <a:rPr lang="he-IL" dirty="0"/>
              <a:t>הוכחת נכונות- בחירה בטוחה</a:t>
            </a:r>
          </a:p>
        </p:txBody>
      </p:sp>
      <p:sp>
        <p:nvSpPr>
          <p:cNvPr id="3" name="מציין מיקום תוכן 2">
            <a:extLst>
              <a:ext uri="{FF2B5EF4-FFF2-40B4-BE49-F238E27FC236}">
                <a16:creationId xmlns:a16="http://schemas.microsoft.com/office/drawing/2014/main" id="{4B1EEDAA-BDE7-7205-AE17-58C7967ABE17}"/>
              </a:ext>
            </a:extLst>
          </p:cNvPr>
          <p:cNvSpPr>
            <a:spLocks noGrp="1"/>
          </p:cNvSpPr>
          <p:nvPr>
            <p:ph idx="1"/>
          </p:nvPr>
        </p:nvSpPr>
        <p:spPr>
          <a:xfrm>
            <a:off x="633152" y="1742902"/>
            <a:ext cx="10986655" cy="4555066"/>
          </a:xfrm>
        </p:spPr>
        <p:txBody>
          <a:bodyPr>
            <a:normAutofit fontScale="85000" lnSpcReduction="20000"/>
          </a:bodyPr>
          <a:lstStyle/>
          <a:p>
            <a:pPr algn="just">
              <a:lnSpc>
                <a:spcPct val="150000"/>
              </a:lnSpc>
            </a:pPr>
            <a:r>
              <a:rPr lang="he-IL" sz="3600" spc="-50" dirty="0">
                <a:solidFill>
                  <a:schemeClr val="tx1"/>
                </a:solidFill>
                <a:latin typeface="Times New Roman" panose="02020603050405020304" pitchFamily="18" charset="0"/>
                <a:ea typeface="+mj-ea"/>
                <a:cs typeface="Times New Roman" panose="02020603050405020304" pitchFamily="18" charset="0"/>
              </a:rPr>
              <a:t>בכל שלב, אלגוריתם חמדני מקטין את מרחב החיפוש אחר הפתרון האופטימלי על ידי בחירת חלק הפתרון ה"רווחי" ביותר. </a:t>
            </a:r>
          </a:p>
          <a:p>
            <a:pPr algn="just">
              <a:lnSpc>
                <a:spcPct val="150000"/>
              </a:lnSpc>
            </a:pPr>
            <a:r>
              <a:rPr lang="he-IL" sz="3600" spc="-50" dirty="0">
                <a:solidFill>
                  <a:schemeClr val="tx1"/>
                </a:solidFill>
                <a:latin typeface="Times New Roman" panose="02020603050405020304" pitchFamily="18" charset="0"/>
                <a:ea typeface="+mj-ea"/>
                <a:cs typeface="Times New Roman" panose="02020603050405020304" pitchFamily="18" charset="0"/>
              </a:rPr>
              <a:t>לדוגמה:</a:t>
            </a:r>
          </a:p>
          <a:p>
            <a:pPr lvl="1" algn="just">
              <a:lnSpc>
                <a:spcPct val="150000"/>
              </a:lnSpc>
            </a:pPr>
            <a:r>
              <a:rPr lang="he-IL" sz="3200" spc="-50" dirty="0">
                <a:solidFill>
                  <a:schemeClr val="tx1"/>
                </a:solidFill>
                <a:latin typeface="Times New Roman" panose="02020603050405020304" pitchFamily="18" charset="0"/>
                <a:ea typeface="+mj-ea"/>
                <a:cs typeface="Times New Roman" panose="02020603050405020304" pitchFamily="18" charset="0"/>
              </a:rPr>
              <a:t>במקום לבחון את כל השרשורים האפשריים, האלגוריתם החמדני למציאת המספר הגדול ביותר</a:t>
            </a:r>
            <a:r>
              <a:rPr lang="en-US" sz="3200" spc="-50" dirty="0">
                <a:solidFill>
                  <a:schemeClr val="tx1"/>
                </a:solidFill>
                <a:latin typeface="Times New Roman" panose="02020603050405020304" pitchFamily="18" charset="0"/>
                <a:ea typeface="+mj-ea"/>
                <a:cs typeface="Times New Roman" panose="02020603050405020304" pitchFamily="18" charset="0"/>
              </a:rPr>
              <a:t> </a:t>
            </a:r>
            <a:r>
              <a:rPr lang="he-IL" sz="3200" spc="-50" dirty="0">
                <a:solidFill>
                  <a:schemeClr val="tx1"/>
                </a:solidFill>
                <a:latin typeface="Times New Roman" panose="02020603050405020304" pitchFamily="18" charset="0"/>
                <a:ea typeface="+mj-ea"/>
                <a:cs typeface="Times New Roman" panose="02020603050405020304" pitchFamily="18" charset="0"/>
              </a:rPr>
              <a:t>בוחן רק שרשורים שמתחילים מהספרה הגדולה ביותר.</a:t>
            </a:r>
          </a:p>
          <a:p>
            <a:pPr lvl="1" algn="just">
              <a:lnSpc>
                <a:spcPct val="150000"/>
              </a:lnSpc>
            </a:pPr>
            <a:r>
              <a:rPr lang="he-IL" sz="3200" spc="-50" dirty="0">
                <a:solidFill>
                  <a:schemeClr val="tx1"/>
                </a:solidFill>
                <a:latin typeface="Times New Roman" panose="02020603050405020304" pitchFamily="18" charset="0"/>
                <a:ea typeface="+mj-ea"/>
                <a:cs typeface="Times New Roman" panose="02020603050405020304" pitchFamily="18" charset="0"/>
              </a:rPr>
              <a:t>במקום כל הדרכים האפשריות לסדר פציינטים בתור, האלגוריתם החמדני בוחן רק סידורים שבהם הפציינט הראשון הוא בעל זמן הטיפול המינימלי.</a:t>
            </a:r>
          </a:p>
        </p:txBody>
      </p:sp>
    </p:spTree>
    <p:extLst>
      <p:ext uri="{BB962C8B-B14F-4D97-AF65-F5344CB8AC3E}">
        <p14:creationId xmlns:p14="http://schemas.microsoft.com/office/powerpoint/2010/main" val="1548392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1B0D088-7905-E366-B153-9736A4B5A10D}"/>
              </a:ext>
            </a:extLst>
          </p:cNvPr>
          <p:cNvSpPr>
            <a:spLocks noGrp="1"/>
          </p:cNvSpPr>
          <p:nvPr>
            <p:ph type="title"/>
          </p:nvPr>
        </p:nvSpPr>
        <p:spPr/>
        <p:txBody>
          <a:bodyPr/>
          <a:lstStyle/>
          <a:p>
            <a:pPr algn="ctr"/>
            <a:r>
              <a:rPr lang="he-IL" dirty="0"/>
              <a:t>הוכחת נכונות- בחירה בטוחה</a:t>
            </a:r>
          </a:p>
        </p:txBody>
      </p:sp>
      <p:sp>
        <p:nvSpPr>
          <p:cNvPr id="5" name="תיבת טקסט 4">
            <a:extLst>
              <a:ext uri="{FF2B5EF4-FFF2-40B4-BE49-F238E27FC236}">
                <a16:creationId xmlns:a16="http://schemas.microsoft.com/office/drawing/2014/main" id="{138D762D-8901-05E2-8E64-9D4F6A487CBC}"/>
              </a:ext>
            </a:extLst>
          </p:cNvPr>
          <p:cNvSpPr txBox="1"/>
          <p:nvPr/>
        </p:nvSpPr>
        <p:spPr>
          <a:xfrm>
            <a:off x="471747" y="1632065"/>
            <a:ext cx="11309465" cy="4893647"/>
          </a:xfrm>
          <a:prstGeom prst="rect">
            <a:avLst/>
          </a:prstGeom>
          <a:noFill/>
        </p:spPr>
        <p:txBody>
          <a:bodyPr wrap="square">
            <a:spAutoFit/>
          </a:bodyPr>
          <a:lstStyle/>
          <a:p>
            <a:pPr algn="just" rtl="1"/>
            <a:r>
              <a:rPr lang="he-IL" sz="3200" b="1" u="sng" spc="-50" dirty="0">
                <a:solidFill>
                  <a:schemeClr val="tx1"/>
                </a:solidFill>
                <a:latin typeface="Times New Roman" panose="02020603050405020304" pitchFamily="18" charset="0"/>
                <a:ea typeface="+mj-ea"/>
                <a:cs typeface="Times New Roman" panose="02020603050405020304" pitchFamily="18" charset="0"/>
              </a:rPr>
              <a:t>מה שצריך להוכיח הוא: </a:t>
            </a:r>
          </a:p>
          <a:p>
            <a:pPr algn="just" rtl="1"/>
            <a:r>
              <a:rPr lang="he-IL" sz="3200" spc="-50" dirty="0">
                <a:solidFill>
                  <a:schemeClr val="accent1">
                    <a:lumMod val="50000"/>
                  </a:schemeClr>
                </a:solidFill>
                <a:latin typeface="Times New Roman" panose="02020603050405020304" pitchFamily="18" charset="0"/>
                <a:ea typeface="+mj-ea"/>
                <a:cs typeface="Times New Roman" panose="02020603050405020304" pitchFamily="18" charset="0"/>
              </a:rPr>
              <a:t>קבוצת הפתרונות המסכימים עם הבחירה החמדנית של האלגוריתם מכילה לפחות פתרון אופטימלי אחד. </a:t>
            </a:r>
          </a:p>
          <a:p>
            <a:pPr algn="just" rtl="1">
              <a:lnSpc>
                <a:spcPct val="150000"/>
              </a:lnSpc>
            </a:pPr>
            <a:r>
              <a:rPr lang="he-IL" sz="3200" b="1" u="sng" spc="-50" dirty="0">
                <a:solidFill>
                  <a:schemeClr val="tx1"/>
                </a:solidFill>
                <a:latin typeface="Times New Roman" panose="02020603050405020304" pitchFamily="18" charset="0"/>
                <a:ea typeface="+mj-ea"/>
                <a:cs typeface="Times New Roman" panose="02020603050405020304" pitchFamily="18" charset="0"/>
              </a:rPr>
              <a:t>נעשה זאת באופן הבא: </a:t>
            </a:r>
          </a:p>
          <a:p>
            <a:pPr algn="just" rtl="1"/>
            <a:r>
              <a:rPr lang="he-IL" sz="2800" spc="-50" dirty="0">
                <a:solidFill>
                  <a:schemeClr val="tx1"/>
                </a:solidFill>
                <a:latin typeface="Times New Roman" panose="02020603050405020304" pitchFamily="18" charset="0"/>
                <a:ea typeface="+mj-ea"/>
                <a:cs typeface="Times New Roman" panose="02020603050405020304" pitchFamily="18" charset="0"/>
              </a:rPr>
              <a:t>נתבונן בפתרון אופטימלי כלשהו. אם הוא מכיל את הבחירה החמדנית, מצוין, נמשיך לתת הבעיה. אם הוא לא מכיל את הבחירה החמדנית, יש 2 אפשרויות להמשך ההוכחה:</a:t>
            </a:r>
          </a:p>
          <a:p>
            <a:pPr marL="457200" indent="-457200" algn="just" rtl="1">
              <a:buFont typeface="Arial" panose="020B0604020202020204" pitchFamily="34" charset="0"/>
              <a:buChar char="•"/>
            </a:pPr>
            <a:r>
              <a:rPr lang="he-IL" sz="2800" u="sng" spc="-50" dirty="0">
                <a:latin typeface="Times New Roman" panose="02020603050405020304" pitchFamily="18" charset="0"/>
                <a:cs typeface="Times New Roman" panose="02020603050405020304" pitchFamily="18" charset="0"/>
              </a:rPr>
              <a:t>דרך השלילה-</a:t>
            </a:r>
            <a:r>
              <a:rPr lang="he-IL" sz="2800" spc="-50" dirty="0">
                <a:latin typeface="Times New Roman" panose="02020603050405020304" pitchFamily="18" charset="0"/>
                <a:cs typeface="Times New Roman" panose="02020603050405020304" pitchFamily="18" charset="0"/>
              </a:rPr>
              <a:t> נשנה את הפתרון כך שיכיל את הבחירה החמדנית אבל כעת יהיה טוב יותר מלפני השינוי ובכך נסתור את האופטימליות שלו.</a:t>
            </a:r>
            <a:endParaRPr lang="he-IL" sz="2800" spc="-50" dirty="0">
              <a:solidFill>
                <a:schemeClr val="tx1"/>
              </a:solidFill>
              <a:latin typeface="Times New Roman" panose="02020603050405020304" pitchFamily="18" charset="0"/>
              <a:ea typeface="+mj-ea"/>
              <a:cs typeface="Times New Roman" panose="02020603050405020304" pitchFamily="18" charset="0"/>
            </a:endParaRPr>
          </a:p>
          <a:p>
            <a:pPr marL="457200" indent="-457200" algn="just" rtl="1">
              <a:buFont typeface="Arial" panose="020B0604020202020204" pitchFamily="34" charset="0"/>
              <a:buChar char="•"/>
            </a:pPr>
            <a:r>
              <a:rPr lang="he-IL" sz="2800" u="sng" spc="-50" dirty="0">
                <a:solidFill>
                  <a:schemeClr val="tx1"/>
                </a:solidFill>
                <a:latin typeface="Times New Roman" panose="02020603050405020304" pitchFamily="18" charset="0"/>
                <a:ea typeface="+mj-ea"/>
                <a:cs typeface="Times New Roman" panose="02020603050405020304" pitchFamily="18" charset="0"/>
              </a:rPr>
              <a:t>טיעון החלפה-</a:t>
            </a:r>
            <a:r>
              <a:rPr lang="he-IL" sz="2800" spc="-50" dirty="0">
                <a:solidFill>
                  <a:schemeClr val="tx1"/>
                </a:solidFill>
                <a:latin typeface="Times New Roman" panose="02020603050405020304" pitchFamily="18" charset="0"/>
                <a:ea typeface="+mj-ea"/>
                <a:cs typeface="Times New Roman" panose="02020603050405020304" pitchFamily="18" charset="0"/>
              </a:rPr>
              <a:t> נשנה אותו כך שהוא עדיין יהיה </a:t>
            </a:r>
            <a:r>
              <a:rPr lang="he-IL" sz="2800" b="1" spc="-50" dirty="0">
                <a:solidFill>
                  <a:schemeClr val="tx1"/>
                </a:solidFill>
                <a:latin typeface="Times New Roman" panose="02020603050405020304" pitchFamily="18" charset="0"/>
                <a:ea typeface="+mj-ea"/>
                <a:cs typeface="Times New Roman" panose="02020603050405020304" pitchFamily="18" charset="0"/>
              </a:rPr>
              <a:t>תקין</a:t>
            </a:r>
            <a:r>
              <a:rPr lang="he-IL" sz="2800" spc="-50" dirty="0">
                <a:solidFill>
                  <a:schemeClr val="tx1"/>
                </a:solidFill>
                <a:latin typeface="Times New Roman" panose="02020603050405020304" pitchFamily="18" charset="0"/>
                <a:ea typeface="+mj-ea"/>
                <a:cs typeface="Times New Roman" panose="02020603050405020304" pitchFamily="18" charset="0"/>
              </a:rPr>
              <a:t> ו</a:t>
            </a:r>
            <a:r>
              <a:rPr lang="he-IL" sz="2800" b="1" spc="-50" dirty="0">
                <a:solidFill>
                  <a:schemeClr val="tx1"/>
                </a:solidFill>
                <a:latin typeface="Times New Roman" panose="02020603050405020304" pitchFamily="18" charset="0"/>
                <a:ea typeface="+mj-ea"/>
                <a:cs typeface="Times New Roman" panose="02020603050405020304" pitchFamily="18" charset="0"/>
              </a:rPr>
              <a:t>אופטימלי</a:t>
            </a:r>
            <a:r>
              <a:rPr lang="he-IL" sz="2800" spc="-50" dirty="0">
                <a:solidFill>
                  <a:schemeClr val="tx1"/>
                </a:solidFill>
                <a:latin typeface="Times New Roman" panose="02020603050405020304" pitchFamily="18" charset="0"/>
                <a:ea typeface="+mj-ea"/>
                <a:cs typeface="Times New Roman" panose="02020603050405020304" pitchFamily="18" charset="0"/>
              </a:rPr>
              <a:t> אבל יכיל את הבחירה החמדנית. </a:t>
            </a:r>
          </a:p>
        </p:txBody>
      </p:sp>
    </p:spTree>
    <p:extLst>
      <p:ext uri="{BB962C8B-B14F-4D97-AF65-F5344CB8AC3E}">
        <p14:creationId xmlns:p14="http://schemas.microsoft.com/office/powerpoint/2010/main" val="3151063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26F57A-A5BE-FE66-2B6A-5BA6B8CAFF3B}"/>
              </a:ext>
            </a:extLst>
          </p:cNvPr>
          <p:cNvSpPr>
            <a:spLocks noGrp="1"/>
          </p:cNvSpPr>
          <p:nvPr>
            <p:ph type="title"/>
          </p:nvPr>
        </p:nvSpPr>
        <p:spPr/>
        <p:txBody>
          <a:bodyPr/>
          <a:lstStyle/>
          <a:p>
            <a:pPr algn="ctr"/>
            <a:r>
              <a:rPr lang="he-IL" dirty="0"/>
              <a:t>סיכום הוכחה</a:t>
            </a:r>
          </a:p>
        </p:txBody>
      </p:sp>
      <p:graphicFrame>
        <p:nvGraphicFramePr>
          <p:cNvPr id="4" name="מציין מיקום תוכן 3">
            <a:extLst>
              <a:ext uri="{FF2B5EF4-FFF2-40B4-BE49-F238E27FC236}">
                <a16:creationId xmlns:a16="http://schemas.microsoft.com/office/drawing/2014/main" id="{6654076F-8289-1F59-D056-B40C0729567B}"/>
              </a:ext>
            </a:extLst>
          </p:cNvPr>
          <p:cNvGraphicFramePr>
            <a:graphicFrameLocks noGrp="1"/>
          </p:cNvGraphicFramePr>
          <p:nvPr>
            <p:ph idx="1"/>
            <p:extLst>
              <p:ext uri="{D42A27DB-BD31-4B8C-83A1-F6EECF244321}">
                <p14:modId xmlns:p14="http://schemas.microsoft.com/office/powerpoint/2010/main" val="1846896312"/>
              </p:ext>
            </p:extLst>
          </p:nvPr>
        </p:nvGraphicFramePr>
        <p:xfrm>
          <a:off x="818147" y="2629504"/>
          <a:ext cx="10555706" cy="1598991"/>
        </p:xfrm>
        <a:graphic>
          <a:graphicData uri="http://schemas.openxmlformats.org/drawingml/2006/table">
            <a:tbl>
              <a:tblPr/>
              <a:tblGrid>
                <a:gridCol w="4212424">
                  <a:extLst>
                    <a:ext uri="{9D8B030D-6E8A-4147-A177-3AD203B41FA5}">
                      <a16:colId xmlns:a16="http://schemas.microsoft.com/office/drawing/2014/main" val="147897957"/>
                    </a:ext>
                  </a:extLst>
                </a:gridCol>
                <a:gridCol w="3171641">
                  <a:extLst>
                    <a:ext uri="{9D8B030D-6E8A-4147-A177-3AD203B41FA5}">
                      <a16:colId xmlns:a16="http://schemas.microsoft.com/office/drawing/2014/main" val="1466194671"/>
                    </a:ext>
                  </a:extLst>
                </a:gridCol>
                <a:gridCol w="3171641">
                  <a:extLst>
                    <a:ext uri="{9D8B030D-6E8A-4147-A177-3AD203B41FA5}">
                      <a16:colId xmlns:a16="http://schemas.microsoft.com/office/drawing/2014/main" val="2920155069"/>
                    </a:ext>
                  </a:extLst>
                </a:gridCol>
              </a:tblGrid>
              <a:tr h="653836">
                <a:tc>
                  <a:txBody>
                    <a:bodyPr/>
                    <a:lstStyle/>
                    <a:p>
                      <a:pPr algn="ctr" rtl="1">
                        <a:buNone/>
                      </a:pPr>
                      <a:r>
                        <a:rPr lang="he-IL" sz="3200" kern="1200" spc="-50" dirty="0">
                          <a:solidFill>
                            <a:schemeClr val="tx1"/>
                          </a:solidFill>
                          <a:latin typeface="Times New Roman" panose="02020603050405020304" pitchFamily="18" charset="0"/>
                          <a:ea typeface="+mj-ea"/>
                          <a:cs typeface="Times New Roman" panose="02020603050405020304" pitchFamily="18" charset="0"/>
                        </a:rPr>
                        <a:t>טיעון החלפה</a:t>
                      </a:r>
                      <a:endParaRPr lang="en-US" sz="3200" kern="1200" spc="-50" dirty="0">
                        <a:solidFill>
                          <a:schemeClr val="tx1"/>
                        </a:solidFill>
                        <a:latin typeface="Times New Roman" panose="02020603050405020304" pitchFamily="18" charset="0"/>
                        <a:ea typeface="+mj-ea"/>
                        <a:cs typeface="Times New Roman" panose="02020603050405020304" pitchFamily="18" charset="0"/>
                      </a:endParaRPr>
                    </a:p>
                  </a:txBody>
                  <a:tcPr marL="74495" marR="74495" marT="37247" marB="37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1">
                        <a:buNone/>
                      </a:pPr>
                      <a:r>
                        <a:rPr lang="he-IL" sz="3200" kern="1200" spc="-50" dirty="0">
                          <a:solidFill>
                            <a:schemeClr val="tx1"/>
                          </a:solidFill>
                          <a:latin typeface="Times New Roman" panose="02020603050405020304" pitchFamily="18" charset="0"/>
                          <a:ea typeface="+mj-ea"/>
                          <a:cs typeface="Times New Roman" panose="02020603050405020304" pitchFamily="18" charset="0"/>
                        </a:rPr>
                        <a:t>הוכחה בשלילה</a:t>
                      </a:r>
                      <a:endParaRPr lang="en-US" sz="3200" kern="1200" spc="-50" dirty="0">
                        <a:solidFill>
                          <a:schemeClr val="tx1"/>
                        </a:solidFill>
                        <a:latin typeface="Times New Roman" panose="02020603050405020304" pitchFamily="18" charset="0"/>
                        <a:ea typeface="+mj-ea"/>
                        <a:cs typeface="Times New Roman" panose="02020603050405020304" pitchFamily="18" charset="0"/>
                      </a:endParaRPr>
                    </a:p>
                  </a:txBody>
                  <a:tcPr marL="74495" marR="74495" marT="37247" marB="37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1">
                        <a:buNone/>
                      </a:pPr>
                      <a:endParaRPr lang="he-IL" sz="3200" kern="1200" spc="-50" dirty="0">
                        <a:solidFill>
                          <a:schemeClr val="tx1"/>
                        </a:solidFill>
                        <a:latin typeface="Times New Roman" panose="02020603050405020304" pitchFamily="18" charset="0"/>
                        <a:ea typeface="+mj-ea"/>
                        <a:cs typeface="Times New Roman" panose="02020603050405020304" pitchFamily="18" charset="0"/>
                      </a:endParaRPr>
                    </a:p>
                  </a:txBody>
                  <a:tcPr marL="74495" marR="74495" marT="37247" marB="37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196454378"/>
                  </a:ext>
                </a:extLst>
              </a:tr>
              <a:tr h="945155">
                <a:tc>
                  <a:txBody>
                    <a:bodyPr/>
                    <a:lstStyle/>
                    <a:p>
                      <a:pPr algn="ctr" rtl="1">
                        <a:buNone/>
                      </a:pPr>
                      <a:r>
                        <a:rPr lang="he-IL" sz="2800" kern="1200" spc="-50" dirty="0">
                          <a:solidFill>
                            <a:schemeClr val="tx1"/>
                          </a:solidFill>
                          <a:latin typeface="Times New Roman" panose="02020603050405020304" pitchFamily="18" charset="0"/>
                          <a:ea typeface="+mj-ea"/>
                          <a:cs typeface="Times New Roman" panose="02020603050405020304" pitchFamily="18" charset="0"/>
                        </a:rPr>
                        <a:t>יתכנו הרבה פתרונות אופטימליים</a:t>
                      </a:r>
                    </a:p>
                  </a:txBody>
                  <a:tcPr marL="74495" marR="74495" marT="37247" marB="37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buNone/>
                      </a:pPr>
                      <a:r>
                        <a:rPr lang="he-IL" sz="2800" kern="1200" spc="-50" dirty="0">
                          <a:solidFill>
                            <a:schemeClr val="tx1"/>
                          </a:solidFill>
                          <a:latin typeface="Times New Roman" panose="02020603050405020304" pitchFamily="18" charset="0"/>
                          <a:ea typeface="+mj-ea"/>
                          <a:cs typeface="Times New Roman" panose="02020603050405020304" pitchFamily="18" charset="0"/>
                        </a:rPr>
                        <a:t>יש פתרון אופטימלי יחיד</a:t>
                      </a:r>
                    </a:p>
                  </a:txBody>
                  <a:tcPr marL="74495" marR="74495" marT="37247" marB="37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1">
                        <a:buNone/>
                      </a:pPr>
                      <a:r>
                        <a:rPr lang="he-IL" sz="3200" kern="1200" spc="-50" dirty="0">
                          <a:solidFill>
                            <a:schemeClr val="tx1"/>
                          </a:solidFill>
                          <a:latin typeface="Times New Roman" panose="02020603050405020304" pitchFamily="18" charset="0"/>
                          <a:ea typeface="+mj-ea"/>
                          <a:cs typeface="Times New Roman" panose="02020603050405020304" pitchFamily="18" charset="0"/>
                        </a:rPr>
                        <a:t>מתי מתאים?</a:t>
                      </a:r>
                    </a:p>
                  </a:txBody>
                  <a:tcPr marL="74495" marR="74495" marT="37247" marB="37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3608028"/>
                  </a:ext>
                </a:extLst>
              </a:tr>
            </a:tbl>
          </a:graphicData>
        </a:graphic>
      </p:graphicFrame>
    </p:spTree>
    <p:extLst>
      <p:ext uri="{BB962C8B-B14F-4D97-AF65-F5344CB8AC3E}">
        <p14:creationId xmlns:p14="http://schemas.microsoft.com/office/powerpoint/2010/main" val="4258635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3DB6DC-62AC-6F68-C5C9-DFC662F3A00C}"/>
              </a:ext>
            </a:extLst>
          </p:cNvPr>
          <p:cNvSpPr>
            <a:spLocks noGrp="1"/>
          </p:cNvSpPr>
          <p:nvPr>
            <p:ph type="title"/>
          </p:nvPr>
        </p:nvSpPr>
        <p:spPr/>
        <p:txBody>
          <a:bodyPr/>
          <a:lstStyle/>
          <a:p>
            <a:pPr algn="ctr"/>
            <a:r>
              <a:rPr lang="he-IL" dirty="0"/>
              <a:t>אופטימיזציה</a:t>
            </a:r>
          </a:p>
        </p:txBody>
      </p:sp>
      <p:sp>
        <p:nvSpPr>
          <p:cNvPr id="3" name="מציין מיקום תוכן 3">
            <a:extLst>
              <a:ext uri="{FF2B5EF4-FFF2-40B4-BE49-F238E27FC236}">
                <a16:creationId xmlns:a16="http://schemas.microsoft.com/office/drawing/2014/main" id="{204EC77D-BB44-88F4-B8AE-F8817A0A5414}"/>
              </a:ext>
            </a:extLst>
          </p:cNvPr>
          <p:cNvSpPr>
            <a:spLocks noGrp="1"/>
          </p:cNvSpPr>
          <p:nvPr>
            <p:ph idx="1"/>
          </p:nvPr>
        </p:nvSpPr>
        <p:spPr>
          <a:xfrm>
            <a:off x="1066800" y="1934511"/>
            <a:ext cx="10058400" cy="4023360"/>
          </a:xfrm>
        </p:spPr>
        <p:txBody>
          <a:bodyPr>
            <a:normAutofit/>
          </a:bodyPr>
          <a:lstStyle/>
          <a:p>
            <a:pPr>
              <a:lnSpc>
                <a:spcPct val="150000"/>
              </a:lnSpc>
            </a:pPr>
            <a:r>
              <a:rPr lang="he-IL" sz="3600" spc="-50" dirty="0">
                <a:solidFill>
                  <a:schemeClr val="accent1">
                    <a:lumMod val="75000"/>
                  </a:schemeClr>
                </a:solidFill>
                <a:latin typeface="Times New Roman" panose="02020603050405020304" pitchFamily="18" charset="0"/>
                <a:ea typeface="+mj-ea"/>
                <a:cs typeface="Times New Roman" panose="02020603050405020304" pitchFamily="18" charset="0"/>
              </a:rPr>
              <a:t>לעיתים רבות ניתן לממש באופן יעיל יותר את האלגוריתם החמדן.</a:t>
            </a:r>
          </a:p>
          <a:p>
            <a:pPr lvl="1">
              <a:lnSpc>
                <a:spcPct val="150000"/>
              </a:lnSpc>
            </a:pPr>
            <a:r>
              <a:rPr lang="he-IL" sz="3400" spc="-50" dirty="0">
                <a:solidFill>
                  <a:schemeClr val="tx1"/>
                </a:solidFill>
                <a:latin typeface="Times New Roman" panose="02020603050405020304" pitchFamily="18" charset="0"/>
                <a:ea typeface="+mj-ea"/>
                <a:cs typeface="Times New Roman" panose="02020603050405020304" pitchFamily="18" charset="0"/>
              </a:rPr>
              <a:t>נניח שהאיברים ממוינים במיון כלשהו.</a:t>
            </a:r>
          </a:p>
          <a:p>
            <a:pPr lvl="1">
              <a:lnSpc>
                <a:spcPct val="150000"/>
              </a:lnSpc>
            </a:pPr>
            <a:r>
              <a:rPr lang="he-IL" sz="3400" spc="-50" dirty="0">
                <a:solidFill>
                  <a:schemeClr val="tx1"/>
                </a:solidFill>
                <a:latin typeface="Times New Roman" panose="02020603050405020304" pitchFamily="18" charset="0"/>
                <a:ea typeface="+mj-ea"/>
                <a:cs typeface="Times New Roman" panose="02020603050405020304" pitchFamily="18" charset="0"/>
              </a:rPr>
              <a:t>נחשוב: איזה מיון יכול להועיל לנו במימוש האלגוריתם החמדן באופן פשוט יותר?</a:t>
            </a:r>
          </a:p>
          <a:p>
            <a:endParaRPr lang="he-IL" sz="3600" spc="-50" dirty="0">
              <a:latin typeface="Times New Roman" panose="02020603050405020304" pitchFamily="18" charset="0"/>
              <a:ea typeface="+mj-ea"/>
              <a:cs typeface="Times New Roman" panose="02020603050405020304" pitchFamily="18" charset="0"/>
            </a:endParaRPr>
          </a:p>
          <a:p>
            <a:endParaRPr lang="he-IL" sz="3600" spc="-50" dirty="0">
              <a:solidFill>
                <a:schemeClr val="accent1">
                  <a:lumMod val="75000"/>
                </a:schemeClr>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828821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F30E3CF-3A28-9730-B5B9-CBB075F3BFF9}"/>
              </a:ext>
            </a:extLst>
          </p:cNvPr>
          <p:cNvSpPr>
            <a:spLocks noGrp="1"/>
          </p:cNvSpPr>
          <p:nvPr>
            <p:ph type="title"/>
          </p:nvPr>
        </p:nvSpPr>
        <p:spPr/>
        <p:txBody>
          <a:bodyPr/>
          <a:lstStyle/>
          <a:p>
            <a:pPr algn="ctr"/>
            <a:r>
              <a:rPr lang="he-IL" dirty="0"/>
              <a:t>אסטרטגיה כללית</a:t>
            </a:r>
          </a:p>
        </p:txBody>
      </p:sp>
      <p:sp>
        <p:nvSpPr>
          <p:cNvPr id="3" name="מציין מיקום תוכן 3">
            <a:extLst>
              <a:ext uri="{FF2B5EF4-FFF2-40B4-BE49-F238E27FC236}">
                <a16:creationId xmlns:a16="http://schemas.microsoft.com/office/drawing/2014/main" id="{829D5662-DEF2-15E2-9BE4-2A095F93778C}"/>
              </a:ext>
            </a:extLst>
          </p:cNvPr>
          <p:cNvSpPr>
            <a:spLocks noGrp="1"/>
          </p:cNvSpPr>
          <p:nvPr>
            <p:ph idx="1"/>
          </p:nvPr>
        </p:nvSpPr>
        <p:spPr>
          <a:xfrm>
            <a:off x="938660" y="3982572"/>
            <a:ext cx="10058400" cy="4023360"/>
          </a:xfrm>
        </p:spPr>
        <p:txBody>
          <a:bodyPr>
            <a:normAutofit/>
          </a:bodyPr>
          <a:lstStyle/>
          <a:p>
            <a:pPr algn="just">
              <a:buFont typeface="Arial" panose="020B0604020202020204" pitchFamily="34" charset="0"/>
              <a:buChar char="•"/>
            </a:pPr>
            <a:r>
              <a:rPr lang="he-IL" sz="3200" spc="-50" dirty="0">
                <a:latin typeface="Times New Roman" panose="02020603050405020304" pitchFamily="18" charset="0"/>
                <a:ea typeface="+mj-ea"/>
                <a:cs typeface="Times New Roman" panose="02020603050405020304" pitchFamily="18" charset="0"/>
              </a:rPr>
              <a:t> בצע בחירה חמדנית.</a:t>
            </a:r>
          </a:p>
          <a:p>
            <a:pPr algn="just">
              <a:buFont typeface="Arial" panose="020B0604020202020204" pitchFamily="34" charset="0"/>
              <a:buChar char="•"/>
            </a:pPr>
            <a:r>
              <a:rPr lang="he-IL" sz="3200" spc="-50" dirty="0">
                <a:latin typeface="Times New Roman" panose="02020603050405020304" pitchFamily="18" charset="0"/>
                <a:ea typeface="+mj-ea"/>
                <a:cs typeface="Times New Roman" panose="02020603050405020304" pitchFamily="18" charset="0"/>
              </a:rPr>
              <a:t> </a:t>
            </a:r>
            <a:r>
              <a:rPr lang="he-IL" sz="3200" spc="-50" dirty="0">
                <a:solidFill>
                  <a:srgbClr val="E82121"/>
                </a:solidFill>
                <a:latin typeface="Times New Roman" panose="02020603050405020304" pitchFamily="18" charset="0"/>
                <a:ea typeface="+mj-ea"/>
                <a:cs typeface="Times New Roman" panose="02020603050405020304" pitchFamily="18" charset="0"/>
              </a:rPr>
              <a:t>הוכח</a:t>
            </a:r>
            <a:r>
              <a:rPr lang="he-IL" sz="3200" spc="-50" dirty="0">
                <a:latin typeface="Times New Roman" panose="02020603050405020304" pitchFamily="18" charset="0"/>
                <a:ea typeface="+mj-ea"/>
                <a:cs typeface="Times New Roman" panose="02020603050405020304" pitchFamily="18" charset="0"/>
              </a:rPr>
              <a:t> שהבחירה היא </a:t>
            </a:r>
            <a:r>
              <a:rPr lang="he-IL" sz="3200" spc="-50" dirty="0">
                <a:solidFill>
                  <a:srgbClr val="7AF478"/>
                </a:solidFill>
                <a:latin typeface="Times New Roman" panose="02020603050405020304" pitchFamily="18" charset="0"/>
                <a:ea typeface="+mj-ea"/>
                <a:cs typeface="Times New Roman" panose="02020603050405020304" pitchFamily="18" charset="0"/>
              </a:rPr>
              <a:t>בחירה בטוחה</a:t>
            </a:r>
            <a:r>
              <a:rPr lang="he-IL" sz="3200" spc="-50" dirty="0">
                <a:latin typeface="Times New Roman" panose="02020603050405020304" pitchFamily="18" charset="0"/>
                <a:ea typeface="+mj-ea"/>
                <a:cs typeface="Times New Roman" panose="02020603050405020304" pitchFamily="18" charset="0"/>
              </a:rPr>
              <a:t>.</a:t>
            </a:r>
          </a:p>
          <a:p>
            <a:pPr algn="just">
              <a:buFont typeface="Arial" panose="020B0604020202020204" pitchFamily="34" charset="0"/>
              <a:buChar char="•"/>
            </a:pPr>
            <a:r>
              <a:rPr lang="he-IL" sz="3200" spc="-50" dirty="0">
                <a:latin typeface="Times New Roman" panose="02020603050405020304" pitchFamily="18" charset="0"/>
                <a:ea typeface="+mj-ea"/>
                <a:cs typeface="Times New Roman" panose="02020603050405020304" pitchFamily="18" charset="0"/>
              </a:rPr>
              <a:t> עבור ל</a:t>
            </a:r>
            <a:r>
              <a:rPr lang="he-IL" sz="3200" spc="-50" dirty="0">
                <a:solidFill>
                  <a:srgbClr val="605CCE"/>
                </a:solidFill>
                <a:latin typeface="Times New Roman" panose="02020603050405020304" pitchFamily="18" charset="0"/>
                <a:ea typeface="+mj-ea"/>
                <a:cs typeface="Times New Roman" panose="02020603050405020304" pitchFamily="18" charset="0"/>
              </a:rPr>
              <a:t>תת הבעיה</a:t>
            </a:r>
            <a:r>
              <a:rPr lang="he-IL" sz="3200" spc="-50" dirty="0">
                <a:latin typeface="Times New Roman" panose="02020603050405020304" pitchFamily="18" charset="0"/>
                <a:ea typeface="+mj-ea"/>
                <a:cs typeface="Times New Roman" panose="02020603050405020304" pitchFamily="18" charset="0"/>
              </a:rPr>
              <a:t>.</a:t>
            </a:r>
          </a:p>
          <a:p>
            <a:pPr algn="just">
              <a:buFont typeface="Arial" panose="020B0604020202020204" pitchFamily="34" charset="0"/>
              <a:buChar char="•"/>
            </a:pPr>
            <a:r>
              <a:rPr lang="he-IL" sz="3200" spc="-50" dirty="0">
                <a:latin typeface="Times New Roman" panose="02020603050405020304" pitchFamily="18" charset="0"/>
                <a:ea typeface="+mj-ea"/>
                <a:cs typeface="Times New Roman" panose="02020603050405020304" pitchFamily="18" charset="0"/>
              </a:rPr>
              <a:t> פתור את </a:t>
            </a:r>
            <a:r>
              <a:rPr lang="he-IL" sz="3200" spc="-50" dirty="0">
                <a:solidFill>
                  <a:srgbClr val="605CCE"/>
                </a:solidFill>
                <a:latin typeface="Times New Roman" panose="02020603050405020304" pitchFamily="18" charset="0"/>
                <a:ea typeface="+mj-ea"/>
                <a:cs typeface="Times New Roman" panose="02020603050405020304" pitchFamily="18" charset="0"/>
              </a:rPr>
              <a:t>תת הבעיה</a:t>
            </a:r>
            <a:r>
              <a:rPr lang="he-IL" sz="3200" spc="-50" dirty="0">
                <a:latin typeface="Times New Roman" panose="02020603050405020304" pitchFamily="18" charset="0"/>
                <a:ea typeface="+mj-ea"/>
                <a:cs typeface="Times New Roman" panose="02020603050405020304" pitchFamily="18" charset="0"/>
              </a:rPr>
              <a:t>.</a:t>
            </a:r>
          </a:p>
          <a:p>
            <a:pPr algn="just">
              <a:buFont typeface="Arial" panose="020B0604020202020204" pitchFamily="34" charset="0"/>
              <a:buChar char="•"/>
            </a:pPr>
            <a:endParaRPr lang="he-IL" sz="3200" spc="-50" dirty="0">
              <a:latin typeface="Times New Roman" panose="02020603050405020304" pitchFamily="18" charset="0"/>
              <a:ea typeface="+mj-ea"/>
              <a:cs typeface="Times New Roman" panose="02020603050405020304" pitchFamily="18" charset="0"/>
            </a:endParaRPr>
          </a:p>
        </p:txBody>
      </p:sp>
      <p:pic>
        <p:nvPicPr>
          <p:cNvPr id="5" name="תמונה 4">
            <a:extLst>
              <a:ext uri="{FF2B5EF4-FFF2-40B4-BE49-F238E27FC236}">
                <a16:creationId xmlns:a16="http://schemas.microsoft.com/office/drawing/2014/main" id="{225D2E05-C712-7E44-6EEF-0ED893113E49}"/>
              </a:ext>
            </a:extLst>
          </p:cNvPr>
          <p:cNvPicPr>
            <a:picLocks noChangeAspect="1"/>
          </p:cNvPicPr>
          <p:nvPr/>
        </p:nvPicPr>
        <p:blipFill>
          <a:blip r:embed="rId2"/>
          <a:stretch>
            <a:fillRect/>
          </a:stretch>
        </p:blipFill>
        <p:spPr>
          <a:xfrm>
            <a:off x="2922834" y="1833853"/>
            <a:ext cx="6585158" cy="1218983"/>
          </a:xfrm>
          <a:prstGeom prst="rect">
            <a:avLst/>
          </a:prstGeom>
        </p:spPr>
      </p:pic>
      <p:pic>
        <p:nvPicPr>
          <p:cNvPr id="7" name="תמונה 6">
            <a:extLst>
              <a:ext uri="{FF2B5EF4-FFF2-40B4-BE49-F238E27FC236}">
                <a16:creationId xmlns:a16="http://schemas.microsoft.com/office/drawing/2014/main" id="{FD420DCC-2ABA-6D9F-7FF4-10A1237EC176}"/>
              </a:ext>
            </a:extLst>
          </p:cNvPr>
          <p:cNvPicPr>
            <a:picLocks noChangeAspect="1"/>
          </p:cNvPicPr>
          <p:nvPr/>
        </p:nvPicPr>
        <p:blipFill rotWithShape="1">
          <a:blip r:embed="rId3"/>
          <a:srcRect t="10046"/>
          <a:stretch/>
        </p:blipFill>
        <p:spPr>
          <a:xfrm>
            <a:off x="5243804" y="2984985"/>
            <a:ext cx="3335850" cy="1109426"/>
          </a:xfrm>
          <a:prstGeom prst="rect">
            <a:avLst/>
          </a:prstGeom>
        </p:spPr>
      </p:pic>
      <p:pic>
        <p:nvPicPr>
          <p:cNvPr id="9" name="תמונה 8">
            <a:extLst>
              <a:ext uri="{FF2B5EF4-FFF2-40B4-BE49-F238E27FC236}">
                <a16:creationId xmlns:a16="http://schemas.microsoft.com/office/drawing/2014/main" id="{DEA0D526-AF55-DA09-D460-12FA4ED4CF93}"/>
              </a:ext>
            </a:extLst>
          </p:cNvPr>
          <p:cNvPicPr>
            <a:picLocks noChangeAspect="1"/>
          </p:cNvPicPr>
          <p:nvPr/>
        </p:nvPicPr>
        <p:blipFill>
          <a:blip r:embed="rId4"/>
          <a:stretch>
            <a:fillRect/>
          </a:stretch>
        </p:blipFill>
        <p:spPr>
          <a:xfrm>
            <a:off x="3404230" y="2763589"/>
            <a:ext cx="1822472" cy="1271797"/>
          </a:xfrm>
          <a:prstGeom prst="rect">
            <a:avLst/>
          </a:prstGeom>
        </p:spPr>
      </p:pic>
    </p:spTree>
    <p:extLst>
      <p:ext uri="{BB962C8B-B14F-4D97-AF65-F5344CB8AC3E}">
        <p14:creationId xmlns:p14="http://schemas.microsoft.com/office/powerpoint/2010/main" val="199229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D30F238-41B4-0793-EA81-328D59B9053B}"/>
              </a:ext>
            </a:extLst>
          </p:cNvPr>
          <p:cNvSpPr>
            <a:spLocks noGrp="1"/>
          </p:cNvSpPr>
          <p:nvPr>
            <p:ph type="title"/>
          </p:nvPr>
        </p:nvSpPr>
        <p:spPr/>
        <p:txBody>
          <a:bodyPr/>
          <a:lstStyle/>
          <a:p>
            <a:r>
              <a:rPr lang="he-IL" dirty="0"/>
              <a:t>מה נראה היום?</a:t>
            </a:r>
          </a:p>
        </p:txBody>
      </p:sp>
      <p:sp>
        <p:nvSpPr>
          <p:cNvPr id="3" name="מציין מיקום תוכן 2">
            <a:extLst>
              <a:ext uri="{FF2B5EF4-FFF2-40B4-BE49-F238E27FC236}">
                <a16:creationId xmlns:a16="http://schemas.microsoft.com/office/drawing/2014/main" id="{2CFEA2EA-1886-D54E-1689-BF9D0BF0A9FF}"/>
              </a:ext>
            </a:extLst>
          </p:cNvPr>
          <p:cNvSpPr>
            <a:spLocks noGrp="1"/>
          </p:cNvSpPr>
          <p:nvPr>
            <p:ph idx="1"/>
          </p:nvPr>
        </p:nvSpPr>
        <p:spPr>
          <a:xfrm>
            <a:off x="4819262" y="668068"/>
            <a:ext cx="6492240" cy="6600476"/>
          </a:xfrm>
        </p:spPr>
        <p:txBody>
          <a:bodyPr>
            <a:normAutofit/>
          </a:bodyPr>
          <a:lstStyle/>
          <a:p>
            <a:pPr>
              <a:lnSpc>
                <a:spcPct val="120000"/>
              </a:lnSpc>
              <a:buFont typeface="Arial" panose="020B0604020202020204" pitchFamily="34" charset="0"/>
              <a:buChar char="•"/>
            </a:pPr>
            <a:r>
              <a:rPr lang="he-IL" dirty="0">
                <a:latin typeface="Times New Roman" panose="02020603050405020304" pitchFamily="18" charset="0"/>
                <a:cs typeface="Times New Roman" panose="02020603050405020304" pitchFamily="18" charset="0"/>
              </a:rPr>
              <a:t> </a:t>
            </a:r>
            <a:r>
              <a:rPr lang="he-IL" sz="3600" dirty="0">
                <a:solidFill>
                  <a:schemeClr val="bg1">
                    <a:lumMod val="75000"/>
                  </a:schemeClr>
                </a:solidFill>
                <a:latin typeface="Times New Roman" panose="02020603050405020304" pitchFamily="18" charset="0"/>
                <a:cs typeface="Times New Roman" panose="02020603050405020304" pitchFamily="18" charset="0"/>
              </a:rPr>
              <a:t>דוגמא 1- שכר מקסימלי</a:t>
            </a:r>
          </a:p>
          <a:p>
            <a:pPr>
              <a:lnSpc>
                <a:spcPct val="120000"/>
              </a:lnSpc>
              <a:buFont typeface="Arial" panose="020B0604020202020204" pitchFamily="34" charset="0"/>
              <a:buChar char="•"/>
            </a:pPr>
            <a:r>
              <a:rPr lang="he-IL" sz="3600" dirty="0">
                <a:latin typeface="Times New Roman" panose="02020603050405020304" pitchFamily="18" charset="0"/>
                <a:cs typeface="Times New Roman" panose="02020603050405020304" pitchFamily="18" charset="0"/>
              </a:rPr>
              <a:t> </a:t>
            </a:r>
            <a:r>
              <a:rPr lang="he-IL" sz="3600" dirty="0">
                <a:solidFill>
                  <a:schemeClr val="bg1">
                    <a:lumMod val="75000"/>
                  </a:schemeClr>
                </a:solidFill>
                <a:latin typeface="Times New Roman" panose="02020603050405020304" pitchFamily="18" charset="0"/>
                <a:cs typeface="Times New Roman" panose="02020603050405020304" pitchFamily="18" charset="0"/>
              </a:rPr>
              <a:t>דוגמא 2- ניהול תור</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אלגוריתם חמדני- מרכיבים עיקריים</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a:t>
            </a:r>
            <a:r>
              <a:rPr lang="he-IL" sz="3600" dirty="0">
                <a:solidFill>
                  <a:schemeClr val="tx1"/>
                </a:solidFill>
                <a:latin typeface="Times New Roman" panose="02020603050405020304" pitchFamily="18" charset="0"/>
                <a:cs typeface="Times New Roman" panose="02020603050405020304" pitchFamily="18" charset="0"/>
              </a:rPr>
              <a:t>דוגמא 3- מסיבה</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דוגמא 4- תרמיל הגב בשברים</a:t>
            </a:r>
          </a:p>
          <a:p>
            <a:pPr>
              <a:lnSpc>
                <a:spcPct val="120000"/>
              </a:lnSpc>
              <a:buFont typeface="Arial" panose="020B0604020202020204" pitchFamily="34" charset="0"/>
              <a:buChar char="•"/>
            </a:pPr>
            <a:endParaRPr lang="he-IL" sz="3600" dirty="0">
              <a:solidFill>
                <a:schemeClr val="bg1">
                  <a:lumMod val="75000"/>
                </a:schemeClr>
              </a:solidFill>
              <a:latin typeface="Times New Roman" panose="02020603050405020304" pitchFamily="18" charset="0"/>
              <a:cs typeface="Times New Roman" panose="02020603050405020304" pitchFamily="18" charset="0"/>
            </a:endParaRPr>
          </a:p>
          <a:p>
            <a:pPr>
              <a:lnSpc>
                <a:spcPct val="120000"/>
              </a:lnSpc>
              <a:buFont typeface="Arial" panose="020B0604020202020204" pitchFamily="34" charset="0"/>
              <a:buChar char="•"/>
            </a:pPr>
            <a:endParaRPr lang="he-IL"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885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30</a:t>
            </a:fld>
            <a:endParaRPr lang="he-IL" dirty="0">
              <a:solidFill>
                <a:schemeClr val="bg1"/>
              </a:solidFill>
            </a:endParaRPr>
          </a:p>
        </p:txBody>
      </p:sp>
      <p:sp>
        <p:nvSpPr>
          <p:cNvPr id="6" name="Rectangle 5"/>
          <p:cNvSpPr/>
          <p:nvPr/>
        </p:nvSpPr>
        <p:spPr>
          <a:xfrm>
            <a:off x="3154340" y="848094"/>
            <a:ext cx="5883341" cy="830997"/>
          </a:xfrm>
          <a:prstGeom prst="rect">
            <a:avLst/>
          </a:prstGeom>
        </p:spPr>
        <p:txBody>
          <a:bodyPr wrap="none">
            <a:spAutoFit/>
          </a:bodyPr>
          <a:lstStyle/>
          <a:p>
            <a:pPr lvl="0" algn="ctr" rtl="1" eaLnBrk="0" fontAlgn="base" hangingPunct="0">
              <a:spcBef>
                <a:spcPct val="0"/>
              </a:spcBef>
              <a:spcAft>
                <a:spcPct val="0"/>
              </a:spcAft>
            </a:pPr>
            <a:r>
              <a:rPr lang="he-IL" altLang="he-IL" sz="4800" spc="-50" dirty="0">
                <a:solidFill>
                  <a:schemeClr val="tx1">
                    <a:lumMod val="75000"/>
                    <a:lumOff val="25000"/>
                  </a:schemeClr>
                </a:solidFill>
                <a:latin typeface="+mj-lt"/>
                <a:ea typeface="+mj-ea"/>
                <a:cs typeface="+mj-cs"/>
              </a:rPr>
              <a:t>בעיית המסיבה-תיאור הבעיה</a:t>
            </a:r>
            <a:endParaRPr lang="en-US" altLang="he-IL" sz="4800" spc="-50" dirty="0">
              <a:solidFill>
                <a:schemeClr val="tx1">
                  <a:lumMod val="75000"/>
                  <a:lumOff val="25000"/>
                </a:schemeClr>
              </a:solidFill>
              <a:latin typeface="+mj-lt"/>
              <a:ea typeface="+mj-ea"/>
              <a:cs typeface="+mj-cs"/>
            </a:endParaRPr>
          </a:p>
        </p:txBody>
      </p:sp>
      <p:sp>
        <p:nvSpPr>
          <p:cNvPr id="2" name="תיבת טקסט 1">
            <a:extLst>
              <a:ext uri="{FF2B5EF4-FFF2-40B4-BE49-F238E27FC236}">
                <a16:creationId xmlns:a16="http://schemas.microsoft.com/office/drawing/2014/main" id="{8B99F4F7-FD2C-5E26-1BD8-96C5D85E2DF7}"/>
              </a:ext>
            </a:extLst>
          </p:cNvPr>
          <p:cNvSpPr txBox="1"/>
          <p:nvPr/>
        </p:nvSpPr>
        <p:spPr>
          <a:xfrm>
            <a:off x="1355705" y="2073206"/>
            <a:ext cx="9856778" cy="2985433"/>
          </a:xfrm>
          <a:prstGeom prst="rect">
            <a:avLst/>
          </a:prstGeom>
          <a:noFill/>
          <a:ln w="12700">
            <a:noFill/>
          </a:ln>
        </p:spPr>
        <p:txBody>
          <a:bodyPr wrap="square">
            <a:spAutoFit/>
          </a:bodyPr>
          <a:lstStyle/>
          <a:p>
            <a:pPr algn="just" rtl="1">
              <a:lnSpc>
                <a:spcPct val="150000"/>
              </a:lnSpc>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ילדים רבים הגיעו למסיבה.</a:t>
            </a:r>
          </a:p>
          <a:p>
            <a:pPr algn="just" rtl="1">
              <a:lnSpc>
                <a:spcPct val="150000"/>
              </a:lnSpc>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יש לארגן אותם במינימום האפשרי של קבוצות כך שלכל שני ילדים באותה הקבוצה הפרש הגילאים לא עולה על שנתיים.</a:t>
            </a:r>
          </a:p>
          <a:p>
            <a:pPr algn="just" rtl="1">
              <a:lnSpc>
                <a:spcPct val="150000"/>
              </a:lnSpc>
            </a:pPr>
            <a:endParaRPr lang="he-IL" sz="32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3400554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31</a:t>
            </a:fld>
            <a:endParaRPr lang="he-IL" dirty="0">
              <a:solidFill>
                <a:schemeClr val="bg1"/>
              </a:solidFill>
            </a:endParaRPr>
          </a:p>
        </p:txBody>
      </p:sp>
      <p:sp>
        <p:nvSpPr>
          <p:cNvPr id="6" name="Rectangle 5"/>
          <p:cNvSpPr/>
          <p:nvPr/>
        </p:nvSpPr>
        <p:spPr>
          <a:xfrm>
            <a:off x="4419106" y="848094"/>
            <a:ext cx="3353803" cy="830997"/>
          </a:xfrm>
          <a:prstGeom prst="rect">
            <a:avLst/>
          </a:prstGeom>
        </p:spPr>
        <p:txBody>
          <a:bodyPr wrap="none">
            <a:spAutoFit/>
          </a:bodyPr>
          <a:lstStyle/>
          <a:p>
            <a:pPr lvl="0" algn="ctr" rtl="1" eaLnBrk="0" fontAlgn="base" hangingPunct="0">
              <a:spcBef>
                <a:spcPct val="0"/>
              </a:spcBef>
              <a:spcAft>
                <a:spcPct val="0"/>
              </a:spcAft>
            </a:pPr>
            <a:r>
              <a:rPr lang="he-IL" altLang="he-IL" sz="4800" spc="-50" dirty="0">
                <a:solidFill>
                  <a:schemeClr val="tx1">
                    <a:lumMod val="75000"/>
                    <a:lumOff val="25000"/>
                  </a:schemeClr>
                </a:solidFill>
                <a:latin typeface="+mj-lt"/>
                <a:ea typeface="+mj-ea"/>
                <a:cs typeface="+mj-cs"/>
              </a:rPr>
              <a:t>אלגוריתם נאיבי</a:t>
            </a:r>
            <a:endParaRPr lang="en-US" altLang="he-IL" sz="4800" spc="-50" dirty="0">
              <a:solidFill>
                <a:schemeClr val="tx1">
                  <a:lumMod val="75000"/>
                  <a:lumOff val="25000"/>
                </a:schemeClr>
              </a:solidFill>
              <a:latin typeface="+mj-lt"/>
              <a:ea typeface="+mj-ea"/>
              <a:cs typeface="+mj-cs"/>
            </a:endParaRPr>
          </a:p>
        </p:txBody>
      </p:sp>
      <p:sp>
        <p:nvSpPr>
          <p:cNvPr id="2" name="תיבת טקסט 1">
            <a:extLst>
              <a:ext uri="{FF2B5EF4-FFF2-40B4-BE49-F238E27FC236}">
                <a16:creationId xmlns:a16="http://schemas.microsoft.com/office/drawing/2014/main" id="{8B99F4F7-FD2C-5E26-1BD8-96C5D85E2DF7}"/>
              </a:ext>
            </a:extLst>
          </p:cNvPr>
          <p:cNvSpPr txBox="1"/>
          <p:nvPr/>
        </p:nvSpPr>
        <p:spPr>
          <a:xfrm>
            <a:off x="1355705" y="2073206"/>
            <a:ext cx="9856778" cy="3724096"/>
          </a:xfrm>
          <a:prstGeom prst="rect">
            <a:avLst/>
          </a:prstGeom>
          <a:noFill/>
          <a:ln w="12700">
            <a:noFill/>
          </a:ln>
        </p:spPr>
        <p:txBody>
          <a:bodyPr wrap="square">
            <a:spAutoFit/>
          </a:bodyPr>
          <a:lstStyle/>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נסה את כל החלוקות האפשריות של הילדים לקבוצה אחת או יותר.</a:t>
            </a:r>
          </a:p>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בכל חלוקה אפשרית, בדוק האם כל שני ילדים בקבוצה אחת נבדלים זה מזה בשנתיים לכל היותר.</a:t>
            </a:r>
          </a:p>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החזר את הפתרון הכולל מספר מינימלי של קבוצות ועומד בדרישה.</a:t>
            </a:r>
          </a:p>
          <a:p>
            <a:pPr algn="just" rtl="1">
              <a:lnSpc>
                <a:spcPct val="150000"/>
              </a:lnSpc>
            </a:pPr>
            <a:endParaRPr lang="he-IL" sz="3200" dirty="0">
              <a:latin typeface="David" panose="020E0502060401010101" pitchFamily="34" charset="-79"/>
              <a:cs typeface="David" panose="020E0502060401010101" pitchFamily="34" charset="-79"/>
            </a:endParaRPr>
          </a:p>
        </p:txBody>
      </p:sp>
    </p:spTree>
    <p:extLst>
      <p:ext uri="{BB962C8B-B14F-4D97-AF65-F5344CB8AC3E}">
        <p14:creationId xmlns:p14="http://schemas.microsoft.com/office/powerpoint/2010/main" val="1011144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754419E7-9F86-29E6-BE4E-7EF20AE1FB41}"/>
              </a:ext>
            </a:extLst>
          </p:cNvPr>
          <p:cNvPicPr>
            <a:picLocks noChangeAspect="1"/>
          </p:cNvPicPr>
          <p:nvPr/>
        </p:nvPicPr>
        <p:blipFill>
          <a:blip r:embed="rId2"/>
          <a:stretch>
            <a:fillRect/>
          </a:stretch>
        </p:blipFill>
        <p:spPr>
          <a:xfrm>
            <a:off x="2987040" y="519847"/>
            <a:ext cx="6776720" cy="5423770"/>
          </a:xfrm>
          <a:prstGeom prst="rect">
            <a:avLst/>
          </a:prstGeom>
        </p:spPr>
      </p:pic>
      <p:sp>
        <p:nvSpPr>
          <p:cNvPr id="6" name="תיבת טקסט 5">
            <a:extLst>
              <a:ext uri="{FF2B5EF4-FFF2-40B4-BE49-F238E27FC236}">
                <a16:creationId xmlns:a16="http://schemas.microsoft.com/office/drawing/2014/main" id="{36615A5B-6271-1947-5F97-CDBAFD39C239}"/>
              </a:ext>
            </a:extLst>
          </p:cNvPr>
          <p:cNvSpPr txBox="1"/>
          <p:nvPr/>
        </p:nvSpPr>
        <p:spPr>
          <a:xfrm>
            <a:off x="7376160" y="3642360"/>
            <a:ext cx="619760" cy="523220"/>
          </a:xfrm>
          <a:prstGeom prst="rect">
            <a:avLst/>
          </a:prstGeom>
          <a:solidFill>
            <a:srgbClr val="F4E0DE"/>
          </a:solidFill>
        </p:spPr>
        <p:txBody>
          <a:bodyPr wrap="square" rtlCol="1">
            <a:spAutoFit/>
          </a:bodyPr>
          <a:lstStyle/>
          <a:p>
            <a:r>
              <a:rPr lang="he-IL" sz="2800" dirty="0"/>
              <a:t>:2</a:t>
            </a:r>
          </a:p>
        </p:txBody>
      </p:sp>
    </p:spTree>
    <p:extLst>
      <p:ext uri="{BB962C8B-B14F-4D97-AF65-F5344CB8AC3E}">
        <p14:creationId xmlns:p14="http://schemas.microsoft.com/office/powerpoint/2010/main" val="36777803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33</a:t>
            </a:fld>
            <a:endParaRPr lang="he-IL" dirty="0">
              <a:solidFill>
                <a:schemeClr val="bg1"/>
              </a:solidFill>
            </a:endParaRPr>
          </a:p>
        </p:txBody>
      </p:sp>
      <p:sp>
        <p:nvSpPr>
          <p:cNvPr id="6" name="Rectangle 5"/>
          <p:cNvSpPr/>
          <p:nvPr/>
        </p:nvSpPr>
        <p:spPr>
          <a:xfrm>
            <a:off x="3360325" y="848094"/>
            <a:ext cx="5471371" cy="830997"/>
          </a:xfrm>
          <a:prstGeom prst="rect">
            <a:avLst/>
          </a:prstGeom>
        </p:spPr>
        <p:txBody>
          <a:bodyPr wrap="none">
            <a:spAutoFit/>
          </a:bodyPr>
          <a:lstStyle/>
          <a:p>
            <a:pPr lvl="0" algn="ctr" rtl="1" eaLnBrk="0" fontAlgn="base" hangingPunct="0">
              <a:spcBef>
                <a:spcPct val="0"/>
              </a:spcBef>
              <a:spcAft>
                <a:spcPct val="0"/>
              </a:spcAft>
            </a:pPr>
            <a:r>
              <a:rPr lang="he-IL" altLang="he-IL" sz="4800" spc="-50" dirty="0">
                <a:solidFill>
                  <a:schemeClr val="tx1">
                    <a:lumMod val="75000"/>
                    <a:lumOff val="25000"/>
                  </a:schemeClr>
                </a:solidFill>
                <a:latin typeface="+mj-lt"/>
                <a:ea typeface="+mj-ea"/>
                <a:cs typeface="+mj-cs"/>
              </a:rPr>
              <a:t>אלגוריתם נאיבי- זמן ריצה</a:t>
            </a:r>
            <a:endParaRPr lang="en-US" altLang="he-IL" sz="4800" spc="-50" dirty="0">
              <a:solidFill>
                <a:schemeClr val="tx1">
                  <a:lumMod val="75000"/>
                  <a:lumOff val="25000"/>
                </a:schemeClr>
              </a:solidFill>
              <a:latin typeface="+mj-lt"/>
              <a:ea typeface="+mj-ea"/>
              <a:cs typeface="+mj-cs"/>
            </a:endParaRPr>
          </a:p>
        </p:txBody>
      </p:sp>
      <mc:AlternateContent xmlns:mc="http://schemas.openxmlformats.org/markup-compatibility/2006" xmlns:a14="http://schemas.microsoft.com/office/drawing/2010/main">
        <mc:Choice Requires="a14">
          <p:sp>
            <p:nvSpPr>
              <p:cNvPr id="2" name="תיבת טקסט 1">
                <a:extLst>
                  <a:ext uri="{FF2B5EF4-FFF2-40B4-BE49-F238E27FC236}">
                    <a16:creationId xmlns:a16="http://schemas.microsoft.com/office/drawing/2014/main" id="{8B99F4F7-FD2C-5E26-1BD8-96C5D85E2DF7}"/>
                  </a:ext>
                </a:extLst>
              </p:cNvPr>
              <p:cNvSpPr txBox="1"/>
              <p:nvPr/>
            </p:nvSpPr>
            <p:spPr>
              <a:xfrm>
                <a:off x="1355705" y="2073206"/>
                <a:ext cx="9856778" cy="3354765"/>
              </a:xfrm>
              <a:prstGeom prst="rect">
                <a:avLst/>
              </a:prstGeom>
              <a:noFill/>
              <a:ln w="12700">
                <a:noFill/>
              </a:ln>
            </p:spPr>
            <p:txBody>
              <a:bodyPr wrap="square">
                <a:spAutoFit/>
              </a:bodyPr>
              <a:lstStyle/>
              <a:p>
                <a:pPr algn="just" rtl="1">
                  <a:lnSpc>
                    <a:spcPct val="150000"/>
                  </a:lnSpc>
                </a:pPr>
                <a:r>
                  <a:rPr lang="he-IL" sz="4000" u="sng"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טענה:</a:t>
                </a:r>
              </a:p>
              <a:p>
                <a:pPr algn="just" rtl="1">
                  <a:lnSpc>
                    <a:spcPct val="150000"/>
                  </a:lnSpc>
                </a:pPr>
                <a:r>
                  <a:rPr lang="he-IL"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זמן הריצה של האלגוריתם הנאיבי הוא לפחות </a:t>
                </a:r>
                <a14:m>
                  <m:oMath xmlns:m="http://schemas.openxmlformats.org/officeDocument/2006/math">
                    <m:sSup>
                      <m:sSupPr>
                        <m:ctrlPr>
                          <a:rPr lang="he-IL" sz="360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ctrlPr>
                      </m:sSupPr>
                      <m:e>
                        <m:r>
                          <a:rPr lang="he-IL" sz="36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2</m:t>
                        </m:r>
                      </m:e>
                      <m:sup>
                        <m:r>
                          <a:rPr lang="en-US" sz="36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𝑛</m:t>
                        </m:r>
                      </m:sup>
                    </m:sSup>
                  </m:oMath>
                </a14:m>
                <a:r>
                  <a:rPr lang="he-IL"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כאשר </a:t>
                </a:r>
                <a14:m>
                  <m:oMath xmlns:m="http://schemas.openxmlformats.org/officeDocument/2006/math">
                    <m:r>
                      <a:rPr lang="en-US" sz="3600" i="1" spc="-50" dirty="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𝑛</m:t>
                    </m:r>
                  </m:oMath>
                </a14:m>
                <a:r>
                  <a:rPr lang="he-IL"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זהו מספר הילדים שהגיעו למסיבה. </a:t>
                </a:r>
              </a:p>
              <a:p>
                <a:pPr algn="just" rtl="1">
                  <a:lnSpc>
                    <a:spcPct val="150000"/>
                  </a:lnSpc>
                </a:pPr>
                <a:endParaRPr lang="he-IL" sz="3200" dirty="0">
                  <a:latin typeface="David" panose="020E0502060401010101" pitchFamily="34" charset="-79"/>
                  <a:cs typeface="David" panose="020E0502060401010101" pitchFamily="34" charset="-79"/>
                </a:endParaRPr>
              </a:p>
            </p:txBody>
          </p:sp>
        </mc:Choice>
        <mc:Fallback xmlns="">
          <p:sp>
            <p:nvSpPr>
              <p:cNvPr id="2" name="תיבת טקסט 1">
                <a:extLst>
                  <a:ext uri="{FF2B5EF4-FFF2-40B4-BE49-F238E27FC236}">
                    <a16:creationId xmlns:a16="http://schemas.microsoft.com/office/drawing/2014/main" id="{8B99F4F7-FD2C-5E26-1BD8-96C5D85E2DF7}"/>
                  </a:ext>
                </a:extLst>
              </p:cNvPr>
              <p:cNvSpPr txBox="1">
                <a:spLocks noRot="1" noChangeAspect="1" noMove="1" noResize="1" noEditPoints="1" noAdjustHandles="1" noChangeArrowheads="1" noChangeShapeType="1" noTextEdit="1"/>
              </p:cNvSpPr>
              <p:nvPr/>
            </p:nvSpPr>
            <p:spPr>
              <a:xfrm>
                <a:off x="1355705" y="2073206"/>
                <a:ext cx="9856778" cy="3354765"/>
              </a:xfrm>
              <a:prstGeom prst="rect">
                <a:avLst/>
              </a:prstGeom>
              <a:blipFill>
                <a:blip r:embed="rId2"/>
                <a:stretch>
                  <a:fillRect l="-2968" r="-2226" b="-5273"/>
                </a:stretch>
              </a:blipFill>
              <a:ln w="12700">
                <a:noFill/>
              </a:ln>
            </p:spPr>
            <p:txBody>
              <a:bodyPr/>
              <a:lstStyle/>
              <a:p>
                <a:r>
                  <a:rPr lang="he-IL">
                    <a:noFill/>
                  </a:rPr>
                  <a:t> </a:t>
                </a:r>
              </a:p>
            </p:txBody>
          </p:sp>
        </mc:Fallback>
      </mc:AlternateContent>
    </p:spTree>
    <p:extLst>
      <p:ext uri="{BB962C8B-B14F-4D97-AF65-F5344CB8AC3E}">
        <p14:creationId xmlns:p14="http://schemas.microsoft.com/office/powerpoint/2010/main" val="3418319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34</a:t>
            </a:fld>
            <a:endParaRPr lang="he-IL" dirty="0">
              <a:solidFill>
                <a:schemeClr val="bg1"/>
              </a:solidFill>
            </a:endParaRPr>
          </a:p>
        </p:txBody>
      </p:sp>
      <p:sp>
        <p:nvSpPr>
          <p:cNvPr id="6" name="Rectangle 5"/>
          <p:cNvSpPr/>
          <p:nvPr/>
        </p:nvSpPr>
        <p:spPr>
          <a:xfrm>
            <a:off x="3360325" y="848094"/>
            <a:ext cx="5471371" cy="830997"/>
          </a:xfrm>
          <a:prstGeom prst="rect">
            <a:avLst/>
          </a:prstGeom>
        </p:spPr>
        <p:txBody>
          <a:bodyPr wrap="none">
            <a:spAutoFit/>
          </a:bodyPr>
          <a:lstStyle/>
          <a:p>
            <a:pPr lvl="0" algn="ctr" rtl="1" eaLnBrk="0" fontAlgn="base" hangingPunct="0">
              <a:spcBef>
                <a:spcPct val="0"/>
              </a:spcBef>
              <a:spcAft>
                <a:spcPct val="0"/>
              </a:spcAft>
            </a:pPr>
            <a:r>
              <a:rPr lang="he-IL" altLang="he-IL" sz="4800" spc="-50" dirty="0">
                <a:solidFill>
                  <a:schemeClr val="tx1">
                    <a:lumMod val="75000"/>
                    <a:lumOff val="25000"/>
                  </a:schemeClr>
                </a:solidFill>
                <a:latin typeface="+mj-lt"/>
                <a:ea typeface="+mj-ea"/>
                <a:cs typeface="+mj-cs"/>
              </a:rPr>
              <a:t>אלגוריתם נאיבי- זמן ריצה</a:t>
            </a:r>
            <a:endParaRPr lang="en-US" altLang="he-IL" sz="4800" spc="-50" dirty="0">
              <a:solidFill>
                <a:schemeClr val="tx1">
                  <a:lumMod val="75000"/>
                  <a:lumOff val="25000"/>
                </a:schemeClr>
              </a:solidFill>
              <a:latin typeface="+mj-lt"/>
              <a:ea typeface="+mj-ea"/>
              <a:cs typeface="+mj-cs"/>
            </a:endParaRPr>
          </a:p>
        </p:txBody>
      </p:sp>
      <mc:AlternateContent xmlns:mc="http://schemas.openxmlformats.org/markup-compatibility/2006" xmlns:a14="http://schemas.microsoft.com/office/drawing/2010/main">
        <mc:Choice Requires="a14">
          <p:sp>
            <p:nvSpPr>
              <p:cNvPr id="2" name="תיבת טקסט 1">
                <a:extLst>
                  <a:ext uri="{FF2B5EF4-FFF2-40B4-BE49-F238E27FC236}">
                    <a16:creationId xmlns:a16="http://schemas.microsoft.com/office/drawing/2014/main" id="{8B99F4F7-FD2C-5E26-1BD8-96C5D85E2DF7}"/>
                  </a:ext>
                </a:extLst>
              </p:cNvPr>
              <p:cNvSpPr txBox="1"/>
              <p:nvPr/>
            </p:nvSpPr>
            <p:spPr>
              <a:xfrm>
                <a:off x="1355705" y="1727968"/>
                <a:ext cx="9856778" cy="5201424"/>
              </a:xfrm>
              <a:prstGeom prst="rect">
                <a:avLst/>
              </a:prstGeom>
              <a:noFill/>
              <a:ln w="12700">
                <a:noFill/>
              </a:ln>
            </p:spPr>
            <p:txBody>
              <a:bodyPr wrap="square">
                <a:spAutoFit/>
              </a:bodyPr>
              <a:lstStyle/>
              <a:p>
                <a:pPr algn="just" rtl="1">
                  <a:lnSpc>
                    <a:spcPct val="150000"/>
                  </a:lnSpc>
                </a:pPr>
                <a:r>
                  <a:rPr lang="he-IL" sz="3200" u="sng"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הוכחה:</a:t>
                </a:r>
              </a:p>
              <a:p>
                <a:pPr algn="just" rtl="1">
                  <a:lnSpc>
                    <a:spcPct val="150000"/>
                  </a:lnSpc>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האלגוריתם יבחן לכל הפחות חלוקה של הילדים ל-2 קבוצות.</a:t>
                </a:r>
              </a:p>
              <a:p>
                <a:pPr algn="just" rtl="1">
                  <a:lnSpc>
                    <a:spcPct val="150000"/>
                  </a:lnSpc>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בכדי למצוא חלוקה ל-2 קבוצות, יש לבחון את כל הסידורים האפשריים של חלוקת </a:t>
                </a:r>
                <a14:m>
                  <m:oMath xmlns:m="http://schemas.openxmlformats.org/officeDocument/2006/math">
                    <m:r>
                      <a:rPr lang="en-US" sz="3200" i="1" spc="-50" dirty="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𝑛</m:t>
                    </m:r>
                  </m:oMath>
                </a14:m>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ילדים ל-2 קבוצות.</a:t>
                </a:r>
              </a:p>
              <a:p>
                <a:pPr algn="just" rtl="1">
                  <a:lnSpc>
                    <a:spcPct val="150000"/>
                  </a:lnSpc>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בעיה זו שקולה למספר תתי הקבוצות האפשריות מקבוצה בת </a:t>
                </a:r>
                <a14:m>
                  <m:oMath xmlns:m="http://schemas.openxmlformats.org/officeDocument/2006/math">
                    <m:r>
                      <a:rPr lang="en-US" sz="3200" i="1" spc="-50" dirty="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𝑛</m:t>
                    </m:r>
                  </m:oMath>
                </a14:m>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איברים. </a:t>
                </a:r>
              </a:p>
              <a:p>
                <a:pPr algn="just" rtl="1">
                  <a:lnSpc>
                    <a:spcPct val="150000"/>
                  </a:lnSpc>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מספר תתי הקבוצות הוא </a:t>
                </a:r>
                <a14:m>
                  <m:oMath xmlns:m="http://schemas.openxmlformats.org/officeDocument/2006/math">
                    <m:sSup>
                      <m:sSupPr>
                        <m:ctrlPr>
                          <a:rPr lang="he-IL" sz="320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ctrlPr>
                      </m:sSupPr>
                      <m:e>
                        <m:r>
                          <a:rPr lang="he-IL"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2</m:t>
                        </m:r>
                      </m:e>
                      <m:sup>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𝑛</m:t>
                        </m:r>
                      </m:sup>
                    </m:sSup>
                  </m:oMath>
                </a14:m>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a:t>
                </a:r>
              </a:p>
              <a:p>
                <a:pPr algn="just" rtl="1">
                  <a:lnSpc>
                    <a:spcPct val="150000"/>
                  </a:lnSpc>
                </a:pPr>
                <a:endParaRPr lang="he-IL" sz="3200" dirty="0">
                  <a:latin typeface="David" panose="020E0502060401010101" pitchFamily="34" charset="-79"/>
                  <a:cs typeface="David" panose="020E0502060401010101" pitchFamily="34" charset="-79"/>
                </a:endParaRPr>
              </a:p>
            </p:txBody>
          </p:sp>
        </mc:Choice>
        <mc:Fallback xmlns="">
          <p:sp>
            <p:nvSpPr>
              <p:cNvPr id="2" name="תיבת טקסט 1">
                <a:extLst>
                  <a:ext uri="{FF2B5EF4-FFF2-40B4-BE49-F238E27FC236}">
                    <a16:creationId xmlns:a16="http://schemas.microsoft.com/office/drawing/2014/main" id="{8B99F4F7-FD2C-5E26-1BD8-96C5D85E2DF7}"/>
                  </a:ext>
                </a:extLst>
              </p:cNvPr>
              <p:cNvSpPr txBox="1">
                <a:spLocks noRot="1" noChangeAspect="1" noMove="1" noResize="1" noEditPoints="1" noAdjustHandles="1" noChangeArrowheads="1" noChangeShapeType="1" noTextEdit="1"/>
              </p:cNvSpPr>
              <p:nvPr/>
            </p:nvSpPr>
            <p:spPr>
              <a:xfrm>
                <a:off x="1355705" y="1727968"/>
                <a:ext cx="9856778" cy="5201424"/>
              </a:xfrm>
              <a:prstGeom prst="rect">
                <a:avLst/>
              </a:prstGeom>
              <a:blipFill>
                <a:blip r:embed="rId2"/>
                <a:stretch>
                  <a:fillRect l="-2474" r="-1608" b="-2927"/>
                </a:stretch>
              </a:blipFill>
              <a:ln w="12700">
                <a:noFill/>
              </a:ln>
            </p:spPr>
            <p:txBody>
              <a:bodyPr/>
              <a:lstStyle/>
              <a:p>
                <a:r>
                  <a:rPr lang="he-IL">
                    <a:noFill/>
                  </a:rPr>
                  <a:t> </a:t>
                </a:r>
              </a:p>
            </p:txBody>
          </p:sp>
        </mc:Fallback>
      </mc:AlternateContent>
    </p:spTree>
    <p:extLst>
      <p:ext uri="{BB962C8B-B14F-4D97-AF65-F5344CB8AC3E}">
        <p14:creationId xmlns:p14="http://schemas.microsoft.com/office/powerpoint/2010/main" val="1544838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35</a:t>
            </a:fld>
            <a:endParaRPr lang="he-IL" dirty="0">
              <a:solidFill>
                <a:schemeClr val="bg1"/>
              </a:solidFill>
            </a:endParaRPr>
          </a:p>
        </p:txBody>
      </p:sp>
      <p:sp>
        <p:nvSpPr>
          <p:cNvPr id="6" name="Rectangle 5"/>
          <p:cNvSpPr/>
          <p:nvPr/>
        </p:nvSpPr>
        <p:spPr>
          <a:xfrm>
            <a:off x="3360325" y="848094"/>
            <a:ext cx="5471371" cy="830997"/>
          </a:xfrm>
          <a:prstGeom prst="rect">
            <a:avLst/>
          </a:prstGeom>
        </p:spPr>
        <p:txBody>
          <a:bodyPr wrap="none">
            <a:spAutoFit/>
          </a:bodyPr>
          <a:lstStyle/>
          <a:p>
            <a:pPr lvl="0" algn="ctr" rtl="1" eaLnBrk="0" fontAlgn="base" hangingPunct="0">
              <a:spcBef>
                <a:spcPct val="0"/>
              </a:spcBef>
              <a:spcAft>
                <a:spcPct val="0"/>
              </a:spcAft>
            </a:pPr>
            <a:r>
              <a:rPr lang="he-IL" altLang="he-IL" sz="4800" spc="-50" dirty="0">
                <a:solidFill>
                  <a:schemeClr val="tx1">
                    <a:lumMod val="75000"/>
                    <a:lumOff val="25000"/>
                  </a:schemeClr>
                </a:solidFill>
                <a:latin typeface="+mj-lt"/>
                <a:ea typeface="+mj-ea"/>
                <a:cs typeface="+mj-cs"/>
              </a:rPr>
              <a:t>אלגוריתם נאיבי- זמן ריצה</a:t>
            </a:r>
            <a:endParaRPr lang="en-US" altLang="he-IL" sz="4800" spc="-50" dirty="0">
              <a:solidFill>
                <a:schemeClr val="tx1">
                  <a:lumMod val="75000"/>
                  <a:lumOff val="25000"/>
                </a:schemeClr>
              </a:solidFill>
              <a:latin typeface="+mj-lt"/>
              <a:ea typeface="+mj-ea"/>
              <a:cs typeface="+mj-cs"/>
            </a:endParaRPr>
          </a:p>
        </p:txBody>
      </p:sp>
      <mc:AlternateContent xmlns:mc="http://schemas.openxmlformats.org/markup-compatibility/2006" xmlns:a14="http://schemas.microsoft.com/office/drawing/2010/main">
        <mc:Choice Requires="a14">
          <p:sp>
            <p:nvSpPr>
              <p:cNvPr id="2" name="תיבת טקסט 1">
                <a:extLst>
                  <a:ext uri="{FF2B5EF4-FFF2-40B4-BE49-F238E27FC236}">
                    <a16:creationId xmlns:a16="http://schemas.microsoft.com/office/drawing/2014/main" id="{8B99F4F7-FD2C-5E26-1BD8-96C5D85E2DF7}"/>
                  </a:ext>
                </a:extLst>
              </p:cNvPr>
              <p:cNvSpPr txBox="1"/>
              <p:nvPr/>
            </p:nvSpPr>
            <p:spPr>
              <a:xfrm>
                <a:off x="1355705" y="2035879"/>
                <a:ext cx="9856778" cy="5940088"/>
              </a:xfrm>
              <a:prstGeom prst="rect">
                <a:avLst/>
              </a:prstGeom>
              <a:noFill/>
              <a:ln w="12700">
                <a:noFill/>
              </a:ln>
            </p:spPr>
            <p:txBody>
              <a:bodyPr wrap="square">
                <a:spAutoFit/>
              </a:bodyPr>
              <a:lstStyle/>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האלגוריתם הנאיבי ירוץ בזמן (</a:t>
                </a:r>
                <a14:m>
                  <m:oMath xmlns:m="http://schemas.openxmlformats.org/officeDocument/2006/math">
                    <m:r>
                      <m:rPr>
                        <m:sty m:val="p"/>
                      </m:rPr>
                      <a:rPr lang="el-GR" sz="3200" i="1" spc="-50" smtClean="0">
                        <a:solidFill>
                          <a:schemeClr val="tx1">
                            <a:lumMod val="75000"/>
                            <a:lumOff val="25000"/>
                          </a:schemeClr>
                        </a:solidFill>
                        <a:latin typeface="Cambria Math" panose="02040503050406030204" pitchFamily="18" charset="0"/>
                        <a:ea typeface="Cambria Math" panose="02040503050406030204" pitchFamily="18" charset="0"/>
                        <a:cs typeface="Times New Roman" panose="02020603050405020304" pitchFamily="18" charset="0"/>
                      </a:rPr>
                      <m:t>Ω</m:t>
                    </m:r>
                    <m:r>
                      <a:rPr lang="en-US" sz="3200" b="0" i="1" spc="-50" smtClean="0">
                        <a:solidFill>
                          <a:schemeClr val="tx1">
                            <a:lumMod val="75000"/>
                            <a:lumOff val="25000"/>
                          </a:schemeClr>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3200" b="0" i="1" spc="-50" smtClean="0">
                            <a:solidFill>
                              <a:schemeClr val="tx1">
                                <a:lumMod val="75000"/>
                                <a:lumOff val="25000"/>
                              </a:schemeClr>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3200" b="0" i="1" spc="-50" smtClean="0">
                            <a:solidFill>
                              <a:schemeClr val="tx1">
                                <a:lumMod val="75000"/>
                                <a:lumOff val="25000"/>
                              </a:schemeClr>
                            </a:solidFill>
                            <a:latin typeface="Cambria Math" panose="02040503050406030204" pitchFamily="18" charset="0"/>
                            <a:ea typeface="Cambria Math" panose="02040503050406030204" pitchFamily="18" charset="0"/>
                            <a:cs typeface="Times New Roman" panose="02020603050405020304" pitchFamily="18" charset="0"/>
                          </a:rPr>
                          <m:t>2</m:t>
                        </m:r>
                      </m:e>
                      <m:sup>
                        <m:r>
                          <a:rPr lang="en-US" sz="3200" b="0" i="1" spc="-50" smtClean="0">
                            <a:solidFill>
                              <a:schemeClr val="tx1">
                                <a:lumMod val="75000"/>
                                <a:lumOff val="25000"/>
                              </a:schemeClr>
                            </a:solidFill>
                            <a:latin typeface="Cambria Math" panose="02040503050406030204" pitchFamily="18" charset="0"/>
                            <a:ea typeface="Cambria Math" panose="02040503050406030204" pitchFamily="18" charset="0"/>
                            <a:cs typeface="Times New Roman" panose="02020603050405020304" pitchFamily="18" charset="0"/>
                          </a:rPr>
                          <m:t>𝑛</m:t>
                        </m:r>
                      </m:sup>
                    </m:sSup>
                  </m:oMath>
                </a14:m>
                <a:endParaRPr lang="en-US" sz="3200" b="0" spc="-50" dirty="0">
                  <a:solidFill>
                    <a:schemeClr val="tx1">
                      <a:lumMod val="75000"/>
                      <a:lumOff val="25000"/>
                    </a:schemeClr>
                  </a:solidFill>
                  <a:latin typeface="Times New Roman" panose="02020603050405020304" pitchFamily="18" charset="0"/>
                  <a:ea typeface="Cambria Math" panose="02040503050406030204" pitchFamily="18" charset="0"/>
                  <a:cs typeface="Times New Roman" panose="02020603050405020304" pitchFamily="18" charset="0"/>
                </a:endParaRPr>
              </a:p>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כאשר </a:t>
                </a:r>
                <a14:m>
                  <m:oMath xmlns:m="http://schemas.openxmlformats.org/officeDocument/2006/math">
                    <m:r>
                      <a:rPr lang="en-US" sz="3200" i="1" spc="-50" dirty="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𝑛</m:t>
                    </m:r>
                    <m:r>
                      <a:rPr lang="en-US" sz="3200" i="1" spc="-50" dirty="0" smtClean="0">
                        <a:solidFill>
                          <a:schemeClr val="tx1">
                            <a:lumMod val="75000"/>
                            <a:lumOff val="25000"/>
                          </a:schemeClr>
                        </a:solidFill>
                        <a:latin typeface="Cambria Math" panose="02040503050406030204" pitchFamily="18" charset="0"/>
                        <a:ea typeface="+mj-ea"/>
                        <a:cs typeface="Times New Roman" panose="02020603050405020304" pitchFamily="18" charset="0"/>
                      </a:rPr>
                      <m:t>=</m:t>
                    </m:r>
                    <m:r>
                      <a:rPr lang="en-US" sz="3200" i="1" spc="-50" dirty="0" smtClean="0">
                        <a:solidFill>
                          <a:schemeClr val="tx1">
                            <a:lumMod val="75000"/>
                            <a:lumOff val="25000"/>
                          </a:schemeClr>
                        </a:solidFill>
                        <a:latin typeface="Cambria Math" panose="02040503050406030204" pitchFamily="18" charset="0"/>
                        <a:ea typeface="+mj-ea"/>
                        <a:cs typeface="Times New Roman" panose="02020603050405020304" pitchFamily="18" charset="0"/>
                      </a:rPr>
                      <m:t>50</m:t>
                    </m:r>
                    <m:r>
                      <a:rPr lang="he-IL" sz="3200" i="1" spc="-50" dirty="0">
                        <a:solidFill>
                          <a:schemeClr val="tx1">
                            <a:lumMod val="75000"/>
                            <a:lumOff val="25000"/>
                          </a:schemeClr>
                        </a:solidFill>
                        <a:latin typeface="Cambria Math" panose="02040503050406030204" pitchFamily="18" charset="0"/>
                        <a:ea typeface="+mj-ea"/>
                        <a:cs typeface="Times New Roman" panose="02020603050405020304" pitchFamily="18" charset="0"/>
                      </a:rPr>
                      <m:t> </m:t>
                    </m:r>
                  </m:oMath>
                </a14:m>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זה לפחות:                                              פעולות!</a:t>
                </a:r>
              </a:p>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זהו זמן לא מעשי עבור אלגוריתם לתוכנית מחשב.</a:t>
                </a:r>
              </a:p>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נראה אלגוריתם חמדני יעיל בהרבה לפתרון הבעיה.</a:t>
                </a:r>
              </a:p>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בטרם נראה את הפתרון נציג בעיה חדשה.</a:t>
                </a:r>
              </a:p>
              <a:p>
                <a:pPr algn="just" rtl="1">
                  <a:lnSpc>
                    <a:spcPct val="150000"/>
                  </a:lnSpc>
                </a:pPr>
                <a:endPar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endParaRPr>
              </a:p>
              <a:p>
                <a:pPr marL="457200" indent="-457200" algn="just" rtl="1">
                  <a:lnSpc>
                    <a:spcPct val="150000"/>
                  </a:lnSpc>
                  <a:buFont typeface="Arial" panose="020B0604020202020204" pitchFamily="34" charset="0"/>
                  <a:buChar char="•"/>
                </a:pPr>
                <a:endPar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endParaRPr>
              </a:p>
              <a:p>
                <a:pPr algn="just" rtl="1">
                  <a:lnSpc>
                    <a:spcPct val="150000"/>
                  </a:lnSpc>
                </a:pPr>
                <a:endParaRPr lang="he-IL" sz="3200" dirty="0">
                  <a:latin typeface="David" panose="020E0502060401010101" pitchFamily="34" charset="-79"/>
                  <a:cs typeface="David" panose="020E0502060401010101" pitchFamily="34" charset="-79"/>
                </a:endParaRPr>
              </a:p>
            </p:txBody>
          </p:sp>
        </mc:Choice>
        <mc:Fallback xmlns="">
          <p:sp>
            <p:nvSpPr>
              <p:cNvPr id="2" name="תיבת טקסט 1">
                <a:extLst>
                  <a:ext uri="{FF2B5EF4-FFF2-40B4-BE49-F238E27FC236}">
                    <a16:creationId xmlns:a16="http://schemas.microsoft.com/office/drawing/2014/main" id="{8B99F4F7-FD2C-5E26-1BD8-96C5D85E2DF7}"/>
                  </a:ext>
                </a:extLst>
              </p:cNvPr>
              <p:cNvSpPr txBox="1">
                <a:spLocks noRot="1" noChangeAspect="1" noMove="1" noResize="1" noEditPoints="1" noAdjustHandles="1" noChangeArrowheads="1" noChangeShapeType="1" noTextEdit="1"/>
              </p:cNvSpPr>
              <p:nvPr/>
            </p:nvSpPr>
            <p:spPr>
              <a:xfrm>
                <a:off x="1355705" y="2035879"/>
                <a:ext cx="9856778" cy="5940088"/>
              </a:xfrm>
              <a:prstGeom prst="rect">
                <a:avLst/>
              </a:prstGeom>
              <a:blipFill>
                <a:blip r:embed="rId2"/>
                <a:stretch>
                  <a:fillRect r="-1608" b="-2567"/>
                </a:stretch>
              </a:blipFill>
              <a:ln w="12700">
                <a:noFill/>
              </a:ln>
            </p:spPr>
            <p:txBody>
              <a:bodyPr/>
              <a:lstStyle/>
              <a:p>
                <a:r>
                  <a:rPr lang="he-IL">
                    <a:noFill/>
                  </a:rPr>
                  <a:t> </a:t>
                </a:r>
              </a:p>
            </p:txBody>
          </p:sp>
        </mc:Fallback>
      </mc:AlternateContent>
      <p:pic>
        <p:nvPicPr>
          <p:cNvPr id="4" name="תמונה 3">
            <a:extLst>
              <a:ext uri="{FF2B5EF4-FFF2-40B4-BE49-F238E27FC236}">
                <a16:creationId xmlns:a16="http://schemas.microsoft.com/office/drawing/2014/main" id="{3EE24E05-748A-6B5A-3602-B6F8E82F702F}"/>
              </a:ext>
            </a:extLst>
          </p:cNvPr>
          <p:cNvPicPr>
            <a:picLocks noChangeAspect="1"/>
          </p:cNvPicPr>
          <p:nvPr/>
        </p:nvPicPr>
        <p:blipFill>
          <a:blip r:embed="rId3"/>
          <a:stretch>
            <a:fillRect/>
          </a:stretch>
        </p:blipFill>
        <p:spPr>
          <a:xfrm>
            <a:off x="2875134" y="2795170"/>
            <a:ext cx="4076700" cy="733425"/>
          </a:xfrm>
          <a:prstGeom prst="rect">
            <a:avLst/>
          </a:prstGeom>
        </p:spPr>
      </p:pic>
    </p:spTree>
    <p:extLst>
      <p:ext uri="{BB962C8B-B14F-4D97-AF65-F5344CB8AC3E}">
        <p14:creationId xmlns:p14="http://schemas.microsoft.com/office/powerpoint/2010/main" val="18404767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36</a:t>
            </a:fld>
            <a:endParaRPr lang="he-IL" dirty="0">
              <a:solidFill>
                <a:schemeClr val="bg1"/>
              </a:solidFill>
            </a:endParaRPr>
          </a:p>
        </p:txBody>
      </p:sp>
      <p:sp>
        <p:nvSpPr>
          <p:cNvPr id="6" name="Rectangle 5"/>
          <p:cNvSpPr/>
          <p:nvPr/>
        </p:nvSpPr>
        <p:spPr>
          <a:xfrm>
            <a:off x="3149535" y="848094"/>
            <a:ext cx="5892960" cy="830997"/>
          </a:xfrm>
          <a:prstGeom prst="rect">
            <a:avLst/>
          </a:prstGeom>
        </p:spPr>
        <p:txBody>
          <a:bodyPr wrap="none">
            <a:spAutoFit/>
          </a:bodyPr>
          <a:lstStyle/>
          <a:p>
            <a:pPr lvl="0" algn="ctr" rtl="1" eaLnBrk="0" fontAlgn="base" hangingPunct="0">
              <a:spcBef>
                <a:spcPct val="0"/>
              </a:spcBef>
              <a:spcAft>
                <a:spcPct val="0"/>
              </a:spcAft>
            </a:pPr>
            <a:r>
              <a:rPr lang="he-IL" altLang="he-IL" sz="4800" spc="-50" dirty="0">
                <a:solidFill>
                  <a:schemeClr val="tx1">
                    <a:lumMod val="75000"/>
                    <a:lumOff val="25000"/>
                  </a:schemeClr>
                </a:solidFill>
                <a:latin typeface="+mj-lt"/>
                <a:ea typeface="+mj-ea"/>
                <a:cs typeface="+mj-cs"/>
              </a:rPr>
              <a:t>בעיית כיסוי נקודות בקטעים</a:t>
            </a:r>
            <a:endParaRPr lang="en-US" altLang="he-IL" sz="4800" spc="-50" dirty="0">
              <a:solidFill>
                <a:schemeClr val="tx1">
                  <a:lumMod val="75000"/>
                  <a:lumOff val="25000"/>
                </a:schemeClr>
              </a:solidFill>
              <a:latin typeface="+mj-lt"/>
              <a:ea typeface="+mj-ea"/>
              <a:cs typeface="+mj-cs"/>
            </a:endParaRPr>
          </a:p>
        </p:txBody>
      </p:sp>
      <mc:AlternateContent xmlns:mc="http://schemas.openxmlformats.org/markup-compatibility/2006" xmlns:a14="http://schemas.microsoft.com/office/drawing/2010/main">
        <mc:Choice Requires="a14">
          <p:sp>
            <p:nvSpPr>
              <p:cNvPr id="2" name="תיבת טקסט 1">
                <a:extLst>
                  <a:ext uri="{FF2B5EF4-FFF2-40B4-BE49-F238E27FC236}">
                    <a16:creationId xmlns:a16="http://schemas.microsoft.com/office/drawing/2014/main" id="{8B99F4F7-FD2C-5E26-1BD8-96C5D85E2DF7}"/>
                  </a:ext>
                </a:extLst>
              </p:cNvPr>
              <p:cNvSpPr txBox="1"/>
              <p:nvPr/>
            </p:nvSpPr>
            <p:spPr>
              <a:xfrm>
                <a:off x="1355705" y="2035879"/>
                <a:ext cx="9856778" cy="4647426"/>
              </a:xfrm>
              <a:prstGeom prst="rect">
                <a:avLst/>
              </a:prstGeom>
              <a:noFill/>
              <a:ln w="12700">
                <a:noFill/>
              </a:ln>
            </p:spPr>
            <p:txBody>
              <a:bodyPr wrap="square">
                <a:spAutoFit/>
              </a:bodyPr>
              <a:lstStyle/>
              <a:p>
                <a:pPr algn="just" rtl="1">
                  <a:lnSpc>
                    <a:spcPct val="150000"/>
                  </a:lnSpc>
                </a:pPr>
                <a:r>
                  <a:rPr lang="he-IL" sz="3600" u="sng"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קלט: </a:t>
                </a:r>
              </a:p>
              <a:p>
                <a:pPr algn="just" rtl="1">
                  <a:lnSpc>
                    <a:spcPct val="150000"/>
                  </a:lnSpc>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קבוצת בת </a:t>
                </a:r>
                <a14:m>
                  <m:oMath xmlns:m="http://schemas.openxmlformats.org/officeDocument/2006/math">
                    <m:r>
                      <a:rPr lang="en-US" sz="3200" i="1" spc="-50" dirty="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𝑛</m:t>
                    </m:r>
                  </m:oMath>
                </a14:m>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נקודות </a:t>
                </a:r>
                <a14:m>
                  <m:oMath xmlns:m="http://schemas.openxmlformats.org/officeDocument/2006/math">
                    <m:sSub>
                      <m:sSubPr>
                        <m:ctrlPr>
                          <a:rPr lang="he-IL" sz="320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ctrlPr>
                      </m:sSubPr>
                      <m:e>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𝑥</m:t>
                        </m:r>
                      </m:e>
                      <m:sub>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1</m:t>
                        </m:r>
                      </m:sub>
                    </m:sSub>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 </m:t>
                    </m:r>
                    <m:sSub>
                      <m:sSubPr>
                        <m:ctrlP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ctrlPr>
                      </m:sSubPr>
                      <m:e>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𝑥</m:t>
                        </m:r>
                      </m:e>
                      <m:sub>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𝑛</m:t>
                        </m:r>
                      </m:sub>
                    </m:sSub>
                    <m:r>
                      <a:rPr lang="en-US" sz="3200" b="0" i="1" spc="-50" smtClean="0">
                        <a:solidFill>
                          <a:schemeClr val="tx1">
                            <a:lumMod val="75000"/>
                            <a:lumOff val="25000"/>
                          </a:schemeClr>
                        </a:solidFill>
                        <a:latin typeface="Cambria Math" panose="02040503050406030204" pitchFamily="18" charset="0"/>
                        <a:ea typeface="Cambria Math" panose="02040503050406030204" pitchFamily="18" charset="0"/>
                        <a:cs typeface="Times New Roman" panose="02020603050405020304" pitchFamily="18" charset="0"/>
                      </a:rPr>
                      <m:t>∈</m:t>
                    </m:r>
                    <m:r>
                      <a:rPr lang="en-US" sz="3200" b="0" i="1" spc="-50" smtClean="0">
                        <a:solidFill>
                          <a:schemeClr val="tx1">
                            <a:lumMod val="75000"/>
                            <a:lumOff val="25000"/>
                          </a:schemeClr>
                        </a:solidFill>
                        <a:latin typeface="Cambria Math" panose="02040503050406030204" pitchFamily="18" charset="0"/>
                        <a:ea typeface="Cambria Math" panose="02040503050406030204" pitchFamily="18" charset="0"/>
                        <a:cs typeface="Times New Roman" panose="02020603050405020304" pitchFamily="18" charset="0"/>
                      </a:rPr>
                      <m:t>ℝ</m:t>
                    </m:r>
                  </m:oMath>
                </a14:m>
                <a:endParaRPr lang="he-IL" sz="3200" b="0" spc="-50" dirty="0">
                  <a:solidFill>
                    <a:schemeClr val="tx1">
                      <a:lumMod val="75000"/>
                      <a:lumOff val="25000"/>
                    </a:schemeClr>
                  </a:solidFill>
                  <a:latin typeface="Times New Roman" panose="02020603050405020304" pitchFamily="18" charset="0"/>
                  <a:ea typeface="Cambria Math" panose="02040503050406030204" pitchFamily="18" charset="0"/>
                  <a:cs typeface="Times New Roman" panose="02020603050405020304" pitchFamily="18" charset="0"/>
                </a:endParaRPr>
              </a:p>
              <a:p>
                <a:pPr algn="just" rtl="1">
                  <a:lnSpc>
                    <a:spcPct val="150000"/>
                  </a:lnSpc>
                </a:pPr>
                <a:r>
                  <a:rPr lang="he-IL" sz="3600" u="sng"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פלט:</a:t>
                </a:r>
                <a:r>
                  <a:rPr lang="en-US" sz="3600" u="sng"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a:t>
                </a:r>
                <a:endParaRPr lang="he-IL" sz="3600" u="sng" spc="-50" dirty="0">
                  <a:solidFill>
                    <a:schemeClr val="tx1">
                      <a:lumMod val="75000"/>
                      <a:lumOff val="25000"/>
                    </a:schemeClr>
                  </a:solidFill>
                  <a:latin typeface="Times New Roman" panose="02020603050405020304" pitchFamily="18" charset="0"/>
                  <a:ea typeface="+mj-ea"/>
                  <a:cs typeface="Times New Roman" panose="02020603050405020304" pitchFamily="18" charset="0"/>
                </a:endParaRPr>
              </a:p>
              <a:p>
                <a:pPr algn="just" rtl="1">
                  <a:lnSpc>
                    <a:spcPct val="150000"/>
                  </a:lnSpc>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המספר המינימלי של קטעים באורך לכל היותר 2 המכסים את כל הנקודות.</a:t>
                </a:r>
              </a:p>
              <a:p>
                <a:pPr marL="457200" indent="-457200" algn="just" rtl="1">
                  <a:lnSpc>
                    <a:spcPct val="150000"/>
                  </a:lnSpc>
                  <a:buFont typeface="Arial" panose="020B0604020202020204" pitchFamily="34" charset="0"/>
                  <a:buChar char="•"/>
                </a:pPr>
                <a:endPar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endParaRPr>
              </a:p>
              <a:p>
                <a:pPr algn="just" rtl="1">
                  <a:lnSpc>
                    <a:spcPct val="150000"/>
                  </a:lnSpc>
                </a:pPr>
                <a:endParaRPr lang="he-IL" sz="3200" dirty="0">
                  <a:latin typeface="David" panose="020E0502060401010101" pitchFamily="34" charset="-79"/>
                  <a:cs typeface="David" panose="020E0502060401010101" pitchFamily="34" charset="-79"/>
                </a:endParaRPr>
              </a:p>
            </p:txBody>
          </p:sp>
        </mc:Choice>
        <mc:Fallback xmlns="">
          <p:sp>
            <p:nvSpPr>
              <p:cNvPr id="2" name="תיבת טקסט 1">
                <a:extLst>
                  <a:ext uri="{FF2B5EF4-FFF2-40B4-BE49-F238E27FC236}">
                    <a16:creationId xmlns:a16="http://schemas.microsoft.com/office/drawing/2014/main" id="{8B99F4F7-FD2C-5E26-1BD8-96C5D85E2DF7}"/>
                  </a:ext>
                </a:extLst>
              </p:cNvPr>
              <p:cNvSpPr txBox="1">
                <a:spLocks noRot="1" noChangeAspect="1" noMove="1" noResize="1" noEditPoints="1" noAdjustHandles="1" noChangeArrowheads="1" noChangeShapeType="1" noTextEdit="1"/>
              </p:cNvSpPr>
              <p:nvPr/>
            </p:nvSpPr>
            <p:spPr>
              <a:xfrm>
                <a:off x="1355705" y="2035879"/>
                <a:ext cx="9856778" cy="4647426"/>
              </a:xfrm>
              <a:prstGeom prst="rect">
                <a:avLst/>
              </a:prstGeom>
              <a:blipFill>
                <a:blip r:embed="rId2"/>
                <a:stretch>
                  <a:fillRect l="-1237" r="-1917" b="-3543"/>
                </a:stretch>
              </a:blipFill>
              <a:ln w="12700">
                <a:noFill/>
              </a:ln>
            </p:spPr>
            <p:txBody>
              <a:bodyPr/>
              <a:lstStyle/>
              <a:p>
                <a:r>
                  <a:rPr lang="he-IL">
                    <a:noFill/>
                  </a:rPr>
                  <a:t> </a:t>
                </a:r>
              </a:p>
            </p:txBody>
          </p:sp>
        </mc:Fallback>
      </mc:AlternateContent>
    </p:spTree>
    <p:extLst>
      <p:ext uri="{BB962C8B-B14F-4D97-AF65-F5344CB8AC3E}">
        <p14:creationId xmlns:p14="http://schemas.microsoft.com/office/powerpoint/2010/main" val="484366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37</a:t>
            </a:fld>
            <a:endParaRPr lang="he-IL" dirty="0">
              <a:solidFill>
                <a:schemeClr val="bg1"/>
              </a:solidFill>
            </a:endParaRPr>
          </a:p>
        </p:txBody>
      </p:sp>
      <p:sp>
        <p:nvSpPr>
          <p:cNvPr id="6" name="Rectangle 5"/>
          <p:cNvSpPr/>
          <p:nvPr/>
        </p:nvSpPr>
        <p:spPr>
          <a:xfrm>
            <a:off x="3149535" y="848094"/>
            <a:ext cx="5892960" cy="830997"/>
          </a:xfrm>
          <a:prstGeom prst="rect">
            <a:avLst/>
          </a:prstGeom>
        </p:spPr>
        <p:txBody>
          <a:bodyPr wrap="none">
            <a:spAutoFit/>
          </a:bodyPr>
          <a:lstStyle/>
          <a:p>
            <a:pPr lvl="0" algn="ctr" rtl="1" eaLnBrk="0" fontAlgn="base" hangingPunct="0">
              <a:spcBef>
                <a:spcPct val="0"/>
              </a:spcBef>
              <a:spcAft>
                <a:spcPct val="0"/>
              </a:spcAft>
            </a:pPr>
            <a:r>
              <a:rPr lang="he-IL" altLang="he-IL" sz="4800" spc="-50" dirty="0">
                <a:solidFill>
                  <a:schemeClr val="tx1">
                    <a:lumMod val="75000"/>
                    <a:lumOff val="25000"/>
                  </a:schemeClr>
                </a:solidFill>
                <a:latin typeface="+mj-lt"/>
                <a:ea typeface="+mj-ea"/>
                <a:cs typeface="+mj-cs"/>
              </a:rPr>
              <a:t>בעיית כיסוי נקודות בקטעים</a:t>
            </a:r>
            <a:endParaRPr lang="en-US" altLang="he-IL" sz="4800" spc="-50" dirty="0">
              <a:solidFill>
                <a:schemeClr val="tx1">
                  <a:lumMod val="75000"/>
                  <a:lumOff val="25000"/>
                </a:schemeClr>
              </a:solidFill>
              <a:latin typeface="+mj-lt"/>
              <a:ea typeface="+mj-ea"/>
              <a:cs typeface="+mj-cs"/>
            </a:endParaRPr>
          </a:p>
        </p:txBody>
      </p:sp>
      <p:sp>
        <p:nvSpPr>
          <p:cNvPr id="2" name="תיבת טקסט 1">
            <a:extLst>
              <a:ext uri="{FF2B5EF4-FFF2-40B4-BE49-F238E27FC236}">
                <a16:creationId xmlns:a16="http://schemas.microsoft.com/office/drawing/2014/main" id="{8B99F4F7-FD2C-5E26-1BD8-96C5D85E2DF7}"/>
              </a:ext>
            </a:extLst>
          </p:cNvPr>
          <p:cNvSpPr txBox="1"/>
          <p:nvPr/>
        </p:nvSpPr>
        <p:spPr>
          <a:xfrm>
            <a:off x="1355705" y="2035879"/>
            <a:ext cx="9856778" cy="1600438"/>
          </a:xfrm>
          <a:prstGeom prst="rect">
            <a:avLst/>
          </a:prstGeom>
          <a:noFill/>
          <a:ln w="12700">
            <a:noFill/>
          </a:ln>
        </p:spPr>
        <p:txBody>
          <a:bodyPr wrap="square">
            <a:spAutoFit/>
          </a:bodyPr>
          <a:lstStyle/>
          <a:p>
            <a:pPr algn="just" rtl="1">
              <a:lnSpc>
                <a:spcPct val="150000"/>
              </a:lnSpc>
            </a:pPr>
            <a:r>
              <a:rPr lang="he-IL" sz="3600" u="sng"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לדוגמא:</a:t>
            </a:r>
          </a:p>
          <a:p>
            <a:pPr algn="just" rtl="1">
              <a:lnSpc>
                <a:spcPct val="150000"/>
              </a:lnSpc>
            </a:pPr>
            <a:endParaRPr lang="he-IL" sz="3200" dirty="0">
              <a:latin typeface="David" panose="020E0502060401010101" pitchFamily="34" charset="-79"/>
              <a:cs typeface="David" panose="020E0502060401010101" pitchFamily="34" charset="-79"/>
            </a:endParaRPr>
          </a:p>
        </p:txBody>
      </p:sp>
      <p:pic>
        <p:nvPicPr>
          <p:cNvPr id="4" name="תמונה 3">
            <a:extLst>
              <a:ext uri="{FF2B5EF4-FFF2-40B4-BE49-F238E27FC236}">
                <a16:creationId xmlns:a16="http://schemas.microsoft.com/office/drawing/2014/main" id="{DB8D8FF2-5E44-4A8D-F613-BF672F90A52D}"/>
              </a:ext>
            </a:extLst>
          </p:cNvPr>
          <p:cNvPicPr>
            <a:picLocks noChangeAspect="1"/>
          </p:cNvPicPr>
          <p:nvPr/>
        </p:nvPicPr>
        <p:blipFill>
          <a:blip r:embed="rId2"/>
          <a:stretch>
            <a:fillRect/>
          </a:stretch>
        </p:blipFill>
        <p:spPr>
          <a:xfrm>
            <a:off x="2313700" y="2169464"/>
            <a:ext cx="7191375" cy="2276475"/>
          </a:xfrm>
          <a:prstGeom prst="rect">
            <a:avLst/>
          </a:prstGeom>
        </p:spPr>
      </p:pic>
      <p:pic>
        <p:nvPicPr>
          <p:cNvPr id="8" name="תמונה 7">
            <a:extLst>
              <a:ext uri="{FF2B5EF4-FFF2-40B4-BE49-F238E27FC236}">
                <a16:creationId xmlns:a16="http://schemas.microsoft.com/office/drawing/2014/main" id="{0E33DB1A-603F-CCCC-B83A-A9B88F5AF31A}"/>
              </a:ext>
            </a:extLst>
          </p:cNvPr>
          <p:cNvPicPr>
            <a:picLocks noChangeAspect="1"/>
          </p:cNvPicPr>
          <p:nvPr/>
        </p:nvPicPr>
        <p:blipFill>
          <a:blip r:embed="rId3"/>
          <a:stretch>
            <a:fillRect/>
          </a:stretch>
        </p:blipFill>
        <p:spPr>
          <a:xfrm>
            <a:off x="3259785" y="3052953"/>
            <a:ext cx="5000625" cy="733425"/>
          </a:xfrm>
          <a:prstGeom prst="rect">
            <a:avLst/>
          </a:prstGeom>
        </p:spPr>
      </p:pic>
      <p:pic>
        <p:nvPicPr>
          <p:cNvPr id="11" name="תמונה 10">
            <a:extLst>
              <a:ext uri="{FF2B5EF4-FFF2-40B4-BE49-F238E27FC236}">
                <a16:creationId xmlns:a16="http://schemas.microsoft.com/office/drawing/2014/main" id="{3B39CE94-2F1C-ECEE-294C-2F814009126A}"/>
              </a:ext>
            </a:extLst>
          </p:cNvPr>
          <p:cNvPicPr>
            <a:picLocks noChangeAspect="1"/>
          </p:cNvPicPr>
          <p:nvPr/>
        </p:nvPicPr>
        <p:blipFill rotWithShape="1">
          <a:blip r:embed="rId2"/>
          <a:srcRect t="35394" b="32389"/>
          <a:stretch/>
        </p:blipFill>
        <p:spPr>
          <a:xfrm>
            <a:off x="2313699" y="4421251"/>
            <a:ext cx="7191375" cy="733425"/>
          </a:xfrm>
          <a:prstGeom prst="rect">
            <a:avLst/>
          </a:prstGeom>
        </p:spPr>
      </p:pic>
      <p:pic>
        <p:nvPicPr>
          <p:cNvPr id="10" name="תמונה 9">
            <a:extLst>
              <a:ext uri="{FF2B5EF4-FFF2-40B4-BE49-F238E27FC236}">
                <a16:creationId xmlns:a16="http://schemas.microsoft.com/office/drawing/2014/main" id="{D463D9A8-56D2-2533-0EB5-754FF54B9E10}"/>
              </a:ext>
            </a:extLst>
          </p:cNvPr>
          <p:cNvPicPr>
            <a:picLocks noChangeAspect="1"/>
          </p:cNvPicPr>
          <p:nvPr/>
        </p:nvPicPr>
        <p:blipFill>
          <a:blip r:embed="rId4"/>
          <a:stretch>
            <a:fillRect/>
          </a:stretch>
        </p:blipFill>
        <p:spPr>
          <a:xfrm>
            <a:off x="3889117" y="4203051"/>
            <a:ext cx="4133850" cy="485775"/>
          </a:xfrm>
          <a:prstGeom prst="rect">
            <a:avLst/>
          </a:prstGeom>
        </p:spPr>
      </p:pic>
    </p:spTree>
    <p:extLst>
      <p:ext uri="{BB962C8B-B14F-4D97-AF65-F5344CB8AC3E}">
        <p14:creationId xmlns:p14="http://schemas.microsoft.com/office/powerpoint/2010/main" val="36701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38</a:t>
            </a:fld>
            <a:endParaRPr lang="he-IL" dirty="0">
              <a:solidFill>
                <a:schemeClr val="bg1"/>
              </a:solidFill>
            </a:endParaRPr>
          </a:p>
        </p:txBody>
      </p:sp>
      <p:sp>
        <p:nvSpPr>
          <p:cNvPr id="6" name="Rectangle 5"/>
          <p:cNvSpPr/>
          <p:nvPr/>
        </p:nvSpPr>
        <p:spPr>
          <a:xfrm>
            <a:off x="2282312" y="848094"/>
            <a:ext cx="7627409" cy="830997"/>
          </a:xfrm>
          <a:prstGeom prst="rect">
            <a:avLst/>
          </a:prstGeom>
        </p:spPr>
        <p:txBody>
          <a:bodyPr wrap="none">
            <a:spAutoFit/>
          </a:bodyPr>
          <a:lstStyle/>
          <a:p>
            <a:pPr lvl="0" algn="ctr" rtl="1" eaLnBrk="0" fontAlgn="base" hangingPunct="0">
              <a:spcBef>
                <a:spcPct val="0"/>
              </a:spcBef>
              <a:spcAft>
                <a:spcPct val="0"/>
              </a:spcAft>
            </a:pPr>
            <a:r>
              <a:rPr lang="he-IL" altLang="he-IL" sz="4800" spc="-50" dirty="0">
                <a:solidFill>
                  <a:schemeClr val="tx1">
                    <a:lumMod val="75000"/>
                    <a:lumOff val="25000"/>
                  </a:schemeClr>
                </a:solidFill>
                <a:latin typeface="+mj-lt"/>
                <a:ea typeface="+mj-ea"/>
                <a:cs typeface="+mj-cs"/>
              </a:rPr>
              <a:t>כיסוי נקודות בקטעים- ילדים במסיבה</a:t>
            </a:r>
            <a:endParaRPr lang="en-US" altLang="he-IL" sz="4800" spc="-50" dirty="0">
              <a:solidFill>
                <a:schemeClr val="tx1">
                  <a:lumMod val="75000"/>
                  <a:lumOff val="25000"/>
                </a:schemeClr>
              </a:solidFill>
              <a:latin typeface="+mj-lt"/>
              <a:ea typeface="+mj-ea"/>
              <a:cs typeface="+mj-cs"/>
            </a:endParaRPr>
          </a:p>
        </p:txBody>
      </p:sp>
      <mc:AlternateContent xmlns:mc="http://schemas.openxmlformats.org/markup-compatibility/2006" xmlns:a14="http://schemas.microsoft.com/office/drawing/2010/main">
        <mc:Choice Requires="a14">
          <p:sp>
            <p:nvSpPr>
              <p:cNvPr id="2" name="תיבת טקסט 1">
                <a:extLst>
                  <a:ext uri="{FF2B5EF4-FFF2-40B4-BE49-F238E27FC236}">
                    <a16:creationId xmlns:a16="http://schemas.microsoft.com/office/drawing/2014/main" id="{8B99F4F7-FD2C-5E26-1BD8-96C5D85E2DF7}"/>
                  </a:ext>
                </a:extLst>
              </p:cNvPr>
              <p:cNvSpPr txBox="1"/>
              <p:nvPr/>
            </p:nvSpPr>
            <p:spPr>
              <a:xfrm>
                <a:off x="1355705" y="1746622"/>
                <a:ext cx="9856778" cy="8156079"/>
              </a:xfrm>
              <a:prstGeom prst="rect">
                <a:avLst/>
              </a:prstGeom>
              <a:noFill/>
              <a:ln w="12700">
                <a:noFill/>
              </a:ln>
            </p:spPr>
            <p:txBody>
              <a:bodyPr wrap="square">
                <a:spAutoFit/>
              </a:bodyPr>
              <a:lstStyle/>
              <a:p>
                <a:pPr algn="just" rtl="1">
                  <a:lnSpc>
                    <a:spcPct val="150000"/>
                  </a:lnSpc>
                </a:pPr>
                <a:r>
                  <a:rPr lang="he-IL" sz="3200" u="sng"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מה הקשר בין בעיית כיסוי הנקודות לבין בעיית חלוקת הילדים לקבוצות?</a:t>
                </a:r>
              </a:p>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הקבוצה בת </a:t>
                </a:r>
                <a14:m>
                  <m:oMath xmlns:m="http://schemas.openxmlformats.org/officeDocument/2006/math">
                    <m:r>
                      <a:rPr lang="en-US" sz="3200" i="1" spc="-50" dirty="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𝑛</m:t>
                    </m:r>
                  </m:oMath>
                </a14:m>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הנקודות </a:t>
                </a:r>
                <a14:m>
                  <m:oMath xmlns:m="http://schemas.openxmlformats.org/officeDocument/2006/math">
                    <m:sSub>
                      <m:sSubPr>
                        <m:ctrlPr>
                          <a:rPr lang="he-IL" sz="320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ctrlPr>
                      </m:sSubPr>
                      <m:e>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𝑥</m:t>
                        </m:r>
                      </m:e>
                      <m:sub>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1</m:t>
                        </m:r>
                      </m:sub>
                    </m:sSub>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 </m:t>
                    </m:r>
                    <m:sSub>
                      <m:sSubPr>
                        <m:ctrlP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ctrlPr>
                      </m:sSubPr>
                      <m:e>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𝑥</m:t>
                        </m:r>
                      </m:e>
                      <m:sub>
                        <m:r>
                          <a:rPr lang="en-US" sz="3200" b="0" i="1" spc="-50" smtClean="0">
                            <a:solidFill>
                              <a:schemeClr val="tx1">
                                <a:lumMod val="75000"/>
                                <a:lumOff val="25000"/>
                              </a:schemeClr>
                            </a:solidFill>
                            <a:latin typeface="Cambria Math" panose="02040503050406030204" pitchFamily="18" charset="0"/>
                            <a:ea typeface="+mj-ea"/>
                            <a:cs typeface="Times New Roman" panose="02020603050405020304" pitchFamily="18" charset="0"/>
                          </a:rPr>
                          <m:t>𝑛</m:t>
                        </m:r>
                      </m:sub>
                    </m:sSub>
                  </m:oMath>
                </a14:m>
                <a:r>
                  <a:rPr lang="he-IL" sz="3200" b="0" spc="-50" dirty="0">
                    <a:solidFill>
                      <a:schemeClr val="tx1">
                        <a:lumMod val="75000"/>
                        <a:lumOff val="25000"/>
                      </a:schemeClr>
                    </a:solidFill>
                    <a:latin typeface="Times New Roman" panose="02020603050405020304" pitchFamily="18" charset="0"/>
                    <a:ea typeface="Cambria Math" panose="02040503050406030204" pitchFamily="18" charset="0"/>
                    <a:cs typeface="Times New Roman" panose="02020603050405020304" pitchFamily="18" charset="0"/>
                  </a:rPr>
                  <a:t> מקבילה לקבוצת גילאי הילדים.</a:t>
                </a:r>
              </a:p>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Cambria Math" panose="02040503050406030204" pitchFamily="18" charset="0"/>
                    <a:cs typeface="Times New Roman" panose="02020603050405020304" pitchFamily="18" charset="0"/>
                  </a:rPr>
                  <a:t>הקטעים מקבילים לחלוקה לקבוצות.</a:t>
                </a:r>
              </a:p>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Cambria Math" panose="02040503050406030204" pitchFamily="18" charset="0"/>
                    <a:cs typeface="Times New Roman" panose="02020603050405020304" pitchFamily="18" charset="0"/>
                  </a:rPr>
                  <a:t>כל 2 ילדים השייכים לאותו הקטע (שהוא באורך 2) נבדלים זה מזה בשנתיים לכל היותר.</a:t>
                </a:r>
              </a:p>
              <a:p>
                <a:pPr marL="457200" indent="-457200" algn="just" rtl="1">
                  <a:lnSpc>
                    <a:spcPct val="150000"/>
                  </a:lnSpc>
                  <a:buFont typeface="Arial" panose="020B0604020202020204" pitchFamily="34" charset="0"/>
                  <a:buChar char="•"/>
                </a:pPr>
                <a:r>
                  <a:rPr lang="he-IL" sz="3200" spc="-50" dirty="0">
                    <a:solidFill>
                      <a:schemeClr val="tx1">
                        <a:lumMod val="75000"/>
                        <a:lumOff val="25000"/>
                      </a:schemeClr>
                    </a:solidFill>
                    <a:latin typeface="Times New Roman" panose="02020603050405020304" pitchFamily="18" charset="0"/>
                    <a:ea typeface="Cambria Math" panose="02040503050406030204" pitchFamily="18" charset="0"/>
                    <a:cs typeface="Times New Roman" panose="02020603050405020304" pitchFamily="18" charset="0"/>
                  </a:rPr>
                  <a:t>כל קבוצת ילדים תקינה הינה קטע באורך עד 2. </a:t>
                </a:r>
              </a:p>
              <a:p>
                <a:pPr algn="just" rtl="1">
                  <a:lnSpc>
                    <a:spcPct val="150000"/>
                  </a:lnSpc>
                </a:pPr>
                <a:endParaRPr lang="he-IL" sz="3200" b="0" spc="-50" dirty="0">
                  <a:solidFill>
                    <a:schemeClr val="tx1">
                      <a:lumMod val="75000"/>
                      <a:lumOff val="25000"/>
                    </a:schemeClr>
                  </a:solidFill>
                  <a:latin typeface="Times New Roman" panose="02020603050405020304" pitchFamily="18" charset="0"/>
                  <a:ea typeface="Cambria Math" panose="02040503050406030204" pitchFamily="18" charset="0"/>
                  <a:cs typeface="Times New Roman" panose="02020603050405020304" pitchFamily="18" charset="0"/>
                </a:endParaRPr>
              </a:p>
              <a:p>
                <a:pPr algn="just" rtl="1">
                  <a:lnSpc>
                    <a:spcPct val="150000"/>
                  </a:lnSpc>
                </a:pPr>
                <a:endParaRPr lang="he-IL" sz="3200" b="0" spc="-50" dirty="0">
                  <a:solidFill>
                    <a:schemeClr val="tx1">
                      <a:lumMod val="75000"/>
                      <a:lumOff val="25000"/>
                    </a:schemeClr>
                  </a:solidFill>
                  <a:latin typeface="Times New Roman" panose="02020603050405020304" pitchFamily="18" charset="0"/>
                  <a:ea typeface="Cambria Math" panose="02040503050406030204" pitchFamily="18" charset="0"/>
                  <a:cs typeface="Times New Roman" panose="02020603050405020304" pitchFamily="18" charset="0"/>
                </a:endParaRPr>
              </a:p>
              <a:p>
                <a:pPr algn="just" rtl="1">
                  <a:lnSpc>
                    <a:spcPct val="150000"/>
                  </a:lnSpc>
                </a:pPr>
                <a:endPar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endParaRPr>
              </a:p>
              <a:p>
                <a:pPr marL="457200" indent="-457200" algn="just" rtl="1">
                  <a:lnSpc>
                    <a:spcPct val="150000"/>
                  </a:lnSpc>
                  <a:buFont typeface="Arial" panose="020B0604020202020204" pitchFamily="34" charset="0"/>
                  <a:buChar char="•"/>
                </a:pPr>
                <a:endPar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endParaRPr>
              </a:p>
              <a:p>
                <a:pPr algn="just" rtl="1">
                  <a:lnSpc>
                    <a:spcPct val="150000"/>
                  </a:lnSpc>
                </a:pPr>
                <a:endParaRPr lang="he-IL" sz="3200" dirty="0">
                  <a:latin typeface="David" panose="020E0502060401010101" pitchFamily="34" charset="-79"/>
                  <a:cs typeface="David" panose="020E0502060401010101" pitchFamily="34" charset="-79"/>
                </a:endParaRPr>
              </a:p>
            </p:txBody>
          </p:sp>
        </mc:Choice>
        <mc:Fallback xmlns="">
          <p:sp>
            <p:nvSpPr>
              <p:cNvPr id="2" name="תיבת טקסט 1">
                <a:extLst>
                  <a:ext uri="{FF2B5EF4-FFF2-40B4-BE49-F238E27FC236}">
                    <a16:creationId xmlns:a16="http://schemas.microsoft.com/office/drawing/2014/main" id="{8B99F4F7-FD2C-5E26-1BD8-96C5D85E2DF7}"/>
                  </a:ext>
                </a:extLst>
              </p:cNvPr>
              <p:cNvSpPr txBox="1">
                <a:spLocks noRot="1" noChangeAspect="1" noMove="1" noResize="1" noEditPoints="1" noAdjustHandles="1" noChangeArrowheads="1" noChangeShapeType="1" noTextEdit="1"/>
              </p:cNvSpPr>
              <p:nvPr/>
            </p:nvSpPr>
            <p:spPr>
              <a:xfrm>
                <a:off x="1355705" y="1746622"/>
                <a:ext cx="9856778" cy="8156079"/>
              </a:xfrm>
              <a:prstGeom prst="rect">
                <a:avLst/>
              </a:prstGeom>
              <a:blipFill>
                <a:blip r:embed="rId2"/>
                <a:stretch>
                  <a:fillRect l="-2474" r="-1608" b="-1645"/>
                </a:stretch>
              </a:blipFill>
              <a:ln w="12700">
                <a:noFill/>
              </a:ln>
            </p:spPr>
            <p:txBody>
              <a:bodyPr/>
              <a:lstStyle/>
              <a:p>
                <a:r>
                  <a:rPr lang="he-IL">
                    <a:noFill/>
                  </a:rPr>
                  <a:t> </a:t>
                </a:r>
              </a:p>
            </p:txBody>
          </p:sp>
        </mc:Fallback>
      </mc:AlternateContent>
    </p:spTree>
    <p:extLst>
      <p:ext uri="{BB962C8B-B14F-4D97-AF65-F5344CB8AC3E}">
        <p14:creationId xmlns:p14="http://schemas.microsoft.com/office/powerpoint/2010/main" val="33762045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39</a:t>
            </a:fld>
            <a:endParaRPr lang="he-IL" dirty="0">
              <a:solidFill>
                <a:schemeClr val="bg1"/>
              </a:solidFill>
            </a:endParaRPr>
          </a:p>
        </p:txBody>
      </p:sp>
      <p:sp>
        <p:nvSpPr>
          <p:cNvPr id="2" name="תיבת טקסט 1">
            <a:extLst>
              <a:ext uri="{FF2B5EF4-FFF2-40B4-BE49-F238E27FC236}">
                <a16:creationId xmlns:a16="http://schemas.microsoft.com/office/drawing/2014/main" id="{8B99F4F7-FD2C-5E26-1BD8-96C5D85E2DF7}"/>
              </a:ext>
            </a:extLst>
          </p:cNvPr>
          <p:cNvSpPr txBox="1"/>
          <p:nvPr/>
        </p:nvSpPr>
        <p:spPr>
          <a:xfrm>
            <a:off x="1411081" y="1679091"/>
            <a:ext cx="9856778" cy="4801314"/>
          </a:xfrm>
          <a:prstGeom prst="rect">
            <a:avLst/>
          </a:prstGeom>
          <a:noFill/>
          <a:ln w="12700">
            <a:noFill/>
          </a:ln>
        </p:spPr>
        <p:txBody>
          <a:bodyPr wrap="square">
            <a:spAutoFit/>
          </a:bodyPr>
          <a:lstStyle/>
          <a:p>
            <a:pPr algn="just" rtl="1">
              <a:lnSpc>
                <a:spcPct val="150000"/>
              </a:lnSpc>
            </a:pPr>
            <a:r>
              <a:rPr lang="he-IL" sz="3200" dirty="0">
                <a:cs typeface="+mj-cs"/>
              </a:rPr>
              <a:t>בכל צעד: בחר את הנקודה השמאלית ביותר שטרם כוסתה, והנח קטע באורך 2 שמתחיל בה.</a:t>
            </a:r>
          </a:p>
          <a:p>
            <a:pPr algn="just" rtl="1">
              <a:lnSpc>
                <a:spcPct val="150000"/>
              </a:lnSpc>
            </a:pPr>
            <a:endParaRPr lang="he-IL" sz="3600" u="sng" spc="-50" dirty="0">
              <a:solidFill>
                <a:schemeClr val="tx1">
                  <a:lumMod val="75000"/>
                  <a:lumOff val="25000"/>
                </a:schemeClr>
              </a:solidFill>
              <a:latin typeface="Times New Roman" panose="02020603050405020304" pitchFamily="18" charset="0"/>
              <a:ea typeface="+mj-ea"/>
              <a:cs typeface="+mj-cs"/>
            </a:endParaRPr>
          </a:p>
          <a:p>
            <a:pPr algn="just" rtl="1">
              <a:lnSpc>
                <a:spcPct val="150000"/>
              </a:lnSpc>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עלינו להוכיח שהבחירה מניבה פתרון:</a:t>
            </a:r>
          </a:p>
          <a:p>
            <a:pPr marL="742950" indent="-742950" algn="just" rtl="1">
              <a:buAutoNum type="arabicPeriod"/>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תקין.</a:t>
            </a:r>
          </a:p>
          <a:p>
            <a:pPr marL="742950" indent="-742950" algn="just" rtl="1">
              <a:buAutoNum type="arabicPeriod"/>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אופטימלי</a:t>
            </a:r>
            <a:endParaRPr lang="he-IL" sz="2800" spc="-50" dirty="0">
              <a:solidFill>
                <a:schemeClr val="tx1">
                  <a:lumMod val="75000"/>
                  <a:lumOff val="25000"/>
                </a:schemeClr>
              </a:solidFill>
              <a:latin typeface="Times New Roman" panose="02020603050405020304" pitchFamily="18" charset="0"/>
              <a:ea typeface="+mj-ea"/>
              <a:cs typeface="Times New Roman" panose="02020603050405020304" pitchFamily="18" charset="0"/>
            </a:endParaRPr>
          </a:p>
          <a:p>
            <a:pPr algn="just" rtl="1">
              <a:lnSpc>
                <a:spcPct val="150000"/>
              </a:lnSpc>
            </a:pPr>
            <a:endParaRPr lang="he-IL" sz="3200" dirty="0">
              <a:latin typeface="David" panose="020E0502060401010101" pitchFamily="34" charset="-79"/>
              <a:cs typeface="David" panose="020E0502060401010101" pitchFamily="34" charset="-79"/>
            </a:endParaRPr>
          </a:p>
        </p:txBody>
      </p:sp>
      <p:sp>
        <p:nvSpPr>
          <p:cNvPr id="11" name="תיבת טקסט 10">
            <a:extLst>
              <a:ext uri="{FF2B5EF4-FFF2-40B4-BE49-F238E27FC236}">
                <a16:creationId xmlns:a16="http://schemas.microsoft.com/office/drawing/2014/main" id="{68EFF45B-0A3A-BF8C-D781-933092FEEB7D}"/>
              </a:ext>
            </a:extLst>
          </p:cNvPr>
          <p:cNvSpPr txBox="1"/>
          <p:nvPr/>
        </p:nvSpPr>
        <p:spPr>
          <a:xfrm>
            <a:off x="7565923" y="858377"/>
            <a:ext cx="4626077" cy="461665"/>
          </a:xfrm>
          <a:prstGeom prst="rect">
            <a:avLst/>
          </a:prstGeom>
          <a:solidFill>
            <a:schemeClr val="accent1">
              <a:lumMod val="60000"/>
              <a:lumOff val="40000"/>
            </a:schemeClr>
          </a:solidFill>
        </p:spPr>
        <p:txBody>
          <a:bodyPr wrap="square">
            <a:spAutoFit/>
          </a:bodyPr>
          <a:lstStyle/>
          <a:p>
            <a:pPr algn="r" rtl="1"/>
            <a:r>
              <a:rPr lang="he-IL" sz="2400" spc="-50" dirty="0">
                <a:solidFill>
                  <a:schemeClr val="accent1">
                    <a:lumMod val="75000"/>
                  </a:schemeClr>
                </a:solidFill>
                <a:latin typeface="Times New Roman" panose="02020603050405020304" pitchFamily="18" charset="0"/>
                <a:ea typeface="+mj-ea"/>
                <a:cs typeface="Times New Roman" panose="02020603050405020304" pitchFamily="18" charset="0"/>
              </a:rPr>
              <a:t>1. החלטה על בחירה חמדנית</a:t>
            </a:r>
          </a:p>
        </p:txBody>
      </p:sp>
      <p:sp>
        <p:nvSpPr>
          <p:cNvPr id="12" name="תיבת טקסט 11">
            <a:extLst>
              <a:ext uri="{FF2B5EF4-FFF2-40B4-BE49-F238E27FC236}">
                <a16:creationId xmlns:a16="http://schemas.microsoft.com/office/drawing/2014/main" id="{47A4A07E-2948-2B03-8A94-4CA1E31E53F5}"/>
              </a:ext>
            </a:extLst>
          </p:cNvPr>
          <p:cNvSpPr txBox="1"/>
          <p:nvPr/>
        </p:nvSpPr>
        <p:spPr>
          <a:xfrm>
            <a:off x="7565923" y="3725805"/>
            <a:ext cx="4626077" cy="461665"/>
          </a:xfrm>
          <a:prstGeom prst="rect">
            <a:avLst/>
          </a:prstGeom>
          <a:solidFill>
            <a:schemeClr val="accent1">
              <a:lumMod val="60000"/>
              <a:lumOff val="40000"/>
            </a:schemeClr>
          </a:solidFill>
        </p:spPr>
        <p:txBody>
          <a:bodyPr wrap="square">
            <a:spAutoFit/>
          </a:bodyPr>
          <a:lstStyle>
            <a:defPPr>
              <a:defRPr lang="en-US"/>
            </a:defPPr>
            <a:lvl1pPr algn="r" rtl="1">
              <a:defRPr sz="2400" spc="-50">
                <a:solidFill>
                  <a:schemeClr val="accent1">
                    <a:lumMod val="75000"/>
                  </a:schemeClr>
                </a:solidFill>
                <a:latin typeface="Times New Roman" panose="02020603050405020304" pitchFamily="18" charset="0"/>
                <a:ea typeface="+mj-ea"/>
                <a:cs typeface="Times New Roman" panose="02020603050405020304" pitchFamily="18" charset="0"/>
              </a:defRPr>
            </a:lvl1pPr>
          </a:lstStyle>
          <a:p>
            <a:r>
              <a:rPr lang="he-IL" dirty="0"/>
              <a:t>2. הוכחה</a:t>
            </a:r>
          </a:p>
        </p:txBody>
      </p:sp>
      <p:sp>
        <p:nvSpPr>
          <p:cNvPr id="13" name="תיבת טקסט 12">
            <a:extLst>
              <a:ext uri="{FF2B5EF4-FFF2-40B4-BE49-F238E27FC236}">
                <a16:creationId xmlns:a16="http://schemas.microsoft.com/office/drawing/2014/main" id="{43436092-9976-125F-DA2F-FCA8DAAEE9A6}"/>
              </a:ext>
            </a:extLst>
          </p:cNvPr>
          <p:cNvSpPr txBox="1"/>
          <p:nvPr/>
        </p:nvSpPr>
        <p:spPr>
          <a:xfrm>
            <a:off x="6622026" y="764598"/>
            <a:ext cx="5569974" cy="584775"/>
          </a:xfrm>
          <a:prstGeom prst="rect">
            <a:avLst/>
          </a:prstGeom>
          <a:solidFill>
            <a:schemeClr val="accent1">
              <a:lumMod val="60000"/>
              <a:lumOff val="40000"/>
            </a:schemeClr>
          </a:solidFill>
        </p:spPr>
        <p:txBody>
          <a:bodyPr wrap="square">
            <a:spAutoFit/>
          </a:bodyPr>
          <a:lstStyle/>
          <a:p>
            <a:pPr algn="r" rtl="1"/>
            <a:r>
              <a:rPr lang="he-IL" sz="3200" spc="-50" dirty="0">
                <a:solidFill>
                  <a:schemeClr val="accent1">
                    <a:lumMod val="75000"/>
                  </a:schemeClr>
                </a:solidFill>
                <a:latin typeface="Times New Roman" panose="02020603050405020304" pitchFamily="18" charset="0"/>
                <a:ea typeface="+mj-ea"/>
                <a:cs typeface="Times New Roman" panose="02020603050405020304" pitchFamily="18" charset="0"/>
              </a:rPr>
              <a:t>1. הבחירה החמדנית</a:t>
            </a:r>
          </a:p>
        </p:txBody>
      </p:sp>
      <p:sp>
        <p:nvSpPr>
          <p:cNvPr id="14" name="תיבת טקסט 13">
            <a:extLst>
              <a:ext uri="{FF2B5EF4-FFF2-40B4-BE49-F238E27FC236}">
                <a16:creationId xmlns:a16="http://schemas.microsoft.com/office/drawing/2014/main" id="{0AE8B3BA-591F-4858-3011-9CEB3F3F1A7D}"/>
              </a:ext>
            </a:extLst>
          </p:cNvPr>
          <p:cNvSpPr txBox="1"/>
          <p:nvPr/>
        </p:nvSpPr>
        <p:spPr>
          <a:xfrm>
            <a:off x="6622026" y="3621688"/>
            <a:ext cx="5569974" cy="584775"/>
          </a:xfrm>
          <a:prstGeom prst="rect">
            <a:avLst/>
          </a:prstGeom>
          <a:solidFill>
            <a:schemeClr val="accent1">
              <a:lumMod val="60000"/>
              <a:lumOff val="40000"/>
            </a:schemeClr>
          </a:solidFill>
        </p:spPr>
        <p:txBody>
          <a:bodyPr wrap="square">
            <a:spAutoFit/>
          </a:bodyPr>
          <a:lstStyle/>
          <a:p>
            <a:pPr algn="r" rtl="1"/>
            <a:r>
              <a:rPr lang="he-IL" sz="3200" spc="-50" dirty="0">
                <a:solidFill>
                  <a:schemeClr val="accent1">
                    <a:lumMod val="75000"/>
                  </a:schemeClr>
                </a:solidFill>
                <a:latin typeface="Times New Roman" panose="02020603050405020304" pitchFamily="18" charset="0"/>
                <a:ea typeface="+mj-ea"/>
                <a:cs typeface="Times New Roman" panose="02020603050405020304" pitchFamily="18" charset="0"/>
              </a:rPr>
              <a:t>2. הוכחה</a:t>
            </a:r>
          </a:p>
        </p:txBody>
      </p:sp>
    </p:spTree>
    <p:extLst>
      <p:ext uri="{BB962C8B-B14F-4D97-AF65-F5344CB8AC3E}">
        <p14:creationId xmlns:p14="http://schemas.microsoft.com/office/powerpoint/2010/main" val="3307602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7A95857-EE34-1240-AAED-E39DB6A959FB}"/>
              </a:ext>
            </a:extLst>
          </p:cNvPr>
          <p:cNvSpPr>
            <a:spLocks noGrp="1"/>
          </p:cNvSpPr>
          <p:nvPr>
            <p:ph type="title"/>
          </p:nvPr>
        </p:nvSpPr>
        <p:spPr/>
        <p:txBody>
          <a:bodyPr/>
          <a:lstStyle/>
          <a:p>
            <a:pPr algn="ctr"/>
            <a:r>
              <a:rPr lang="he-IL" dirty="0">
                <a:solidFill>
                  <a:srgbClr val="C00000"/>
                </a:solidFill>
              </a:rPr>
              <a:t>שלב 1:</a:t>
            </a:r>
            <a:r>
              <a:rPr lang="he-IL" dirty="0"/>
              <a:t> הוכחת תקינות</a:t>
            </a:r>
          </a:p>
        </p:txBody>
      </p:sp>
      <p:sp>
        <p:nvSpPr>
          <p:cNvPr id="3" name="מציין מיקום תוכן 2">
            <a:extLst>
              <a:ext uri="{FF2B5EF4-FFF2-40B4-BE49-F238E27FC236}">
                <a16:creationId xmlns:a16="http://schemas.microsoft.com/office/drawing/2014/main" id="{ACBC0BFE-64F9-C56A-29E8-E6495A04C9DD}"/>
              </a:ext>
            </a:extLst>
          </p:cNvPr>
          <p:cNvSpPr>
            <a:spLocks noGrp="1"/>
          </p:cNvSpPr>
          <p:nvPr>
            <p:ph idx="1"/>
          </p:nvPr>
        </p:nvSpPr>
        <p:spPr/>
        <p:txBody>
          <a:bodyPr>
            <a:normAutofit/>
          </a:bodyPr>
          <a:lstStyle/>
          <a:p>
            <a:pPr>
              <a:lnSpc>
                <a:spcPct val="150000"/>
              </a:lnSpc>
            </a:pPr>
            <a:r>
              <a:rPr lang="he-IL" sz="3200" dirty="0">
                <a:cs typeface="+mj-cs"/>
              </a:rPr>
              <a:t>בכל שלב בוחרים לכסות את הנקודה השמאלית ביותר </a:t>
            </a:r>
            <a:r>
              <a:rPr lang="he-IL" sz="3200" u="sng" dirty="0">
                <a:cs typeface="+mj-cs"/>
              </a:rPr>
              <a:t>שעדיין לא כוסתה</a:t>
            </a:r>
            <a:r>
              <a:rPr lang="he-IL" sz="3200" dirty="0">
                <a:cs typeface="+mj-cs"/>
              </a:rPr>
              <a:t>. </a:t>
            </a:r>
          </a:p>
          <a:p>
            <a:pPr>
              <a:lnSpc>
                <a:spcPct val="150000"/>
              </a:lnSpc>
            </a:pPr>
            <a:r>
              <a:rPr lang="he-IL" sz="3200" dirty="0">
                <a:cs typeface="+mj-cs"/>
              </a:rPr>
              <a:t>באופן זה, בהכרח נקבל כיסוי מלא של כל הנקודות.</a:t>
            </a:r>
          </a:p>
        </p:txBody>
      </p:sp>
    </p:spTree>
    <p:extLst>
      <p:ext uri="{BB962C8B-B14F-4D97-AF65-F5344CB8AC3E}">
        <p14:creationId xmlns:p14="http://schemas.microsoft.com/office/powerpoint/2010/main" val="30612468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תיבת טקסט 10">
            <a:extLst>
              <a:ext uri="{FF2B5EF4-FFF2-40B4-BE49-F238E27FC236}">
                <a16:creationId xmlns:a16="http://schemas.microsoft.com/office/drawing/2014/main" id="{D8B3FF86-70BE-56D3-2069-1E190DFAD13B}"/>
              </a:ext>
            </a:extLst>
          </p:cNvPr>
          <p:cNvSpPr txBox="1"/>
          <p:nvPr/>
        </p:nvSpPr>
        <p:spPr>
          <a:xfrm>
            <a:off x="2102032" y="733901"/>
            <a:ext cx="9856778" cy="764184"/>
          </a:xfrm>
          <a:prstGeom prst="rect">
            <a:avLst/>
          </a:prstGeom>
          <a:noFill/>
          <a:ln w="12700">
            <a:noFill/>
          </a:ln>
        </p:spPr>
        <p:txBody>
          <a:bodyPr wrap="square">
            <a:spAutoFit/>
          </a:bodyPr>
          <a:lstStyle/>
          <a:p>
            <a:pPr algn="just" rtl="1">
              <a:lnSpc>
                <a:spcPct val="150000"/>
              </a:lnSpc>
            </a:pPr>
            <a:r>
              <a:rPr lang="he-IL" sz="32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נוכיח שקיים פתרון אופטימלי המסכים עם הבחירה הבטוחה שלנו.</a:t>
            </a:r>
            <a:endParaRPr lang="he-IL" sz="2800" dirty="0">
              <a:latin typeface="David" panose="020E0502060401010101" pitchFamily="34" charset="-79"/>
              <a:cs typeface="David" panose="020E0502060401010101" pitchFamily="34" charset="-79"/>
            </a:endParaRPr>
          </a:p>
        </p:txBody>
      </p:sp>
      <p:sp>
        <p:nvSpPr>
          <p:cNvPr id="4" name="Rectangle 1">
            <a:extLst>
              <a:ext uri="{FF2B5EF4-FFF2-40B4-BE49-F238E27FC236}">
                <a16:creationId xmlns:a16="http://schemas.microsoft.com/office/drawing/2014/main" id="{BBD18932-553F-C6D8-1ECF-2BC79801BE61}"/>
              </a:ext>
            </a:extLst>
          </p:cNvPr>
          <p:cNvSpPr>
            <a:spLocks noChangeArrowheads="1"/>
          </p:cNvSpPr>
          <p:nvPr/>
        </p:nvSpPr>
        <p:spPr bwMode="auto">
          <a:xfrm>
            <a:off x="1508380" y="1502138"/>
            <a:ext cx="1031974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AutoNum type="arabicPeriod"/>
              <a:tabLst/>
            </a:pPr>
            <a:r>
              <a:rPr kumimoji="0" lang="he-IL" altLang="he-IL" sz="2400" b="1" i="0" u="none" strike="noStrike" cap="none" normalizeH="0" baseline="0" dirty="0">
                <a:ln>
                  <a:noFill/>
                </a:ln>
                <a:solidFill>
                  <a:schemeClr val="tx1"/>
                </a:solidFill>
                <a:effectLst/>
                <a:latin typeface="Arial" panose="020B0604020202020204" pitchFamily="34" charset="0"/>
                <a:cs typeface="+mj-cs"/>
              </a:rPr>
              <a:t> בחירה חמדנית </a:t>
            </a:r>
            <a:endParaRPr lang="he-IL" altLang="he-IL" sz="2400" b="1" dirty="0">
              <a:latin typeface="Arial" panose="020B0604020202020204" pitchFamily="34" charset="0"/>
              <a:cs typeface="+mj-cs"/>
            </a:endParaRPr>
          </a:p>
          <a:p>
            <a:pPr marL="800100" lvl="1" indent="-342900" algn="r" defTabSz="914400" rtl="1" eaLnBrk="0" fontAlgn="base" hangingPunct="0">
              <a:spcBef>
                <a:spcPct val="0"/>
              </a:spcBef>
              <a:spcAft>
                <a:spcPct val="0"/>
              </a:spcAft>
              <a:buFont typeface="Arial" panose="020B0604020202020204" pitchFamily="34" charset="0"/>
              <a:buChar char="•"/>
            </a:pPr>
            <a:r>
              <a:rPr kumimoji="0" lang="he-IL" altLang="he-IL" sz="2400" b="0" i="0" u="none" strike="noStrike" cap="none" normalizeH="0" baseline="0" dirty="0">
                <a:ln>
                  <a:noFill/>
                </a:ln>
                <a:solidFill>
                  <a:schemeClr val="tx1"/>
                </a:solidFill>
                <a:effectLst/>
                <a:latin typeface="Arial" panose="020B0604020202020204" pitchFamily="34" charset="0"/>
                <a:cs typeface="+mj-cs"/>
              </a:rPr>
              <a:t>נניח שיש פתרון אופטימלי- אוסף קטעים לכיסוי הנקודו</a:t>
            </a:r>
            <a:r>
              <a:rPr lang="he-IL" altLang="he-IL" sz="2400" dirty="0">
                <a:latin typeface="Arial" panose="020B0604020202020204" pitchFamily="34" charset="0"/>
                <a:cs typeface="+mj-cs"/>
              </a:rPr>
              <a:t>ת</a:t>
            </a:r>
            <a:r>
              <a:rPr kumimoji="0" lang="he-IL" altLang="he-IL" sz="2400" b="0" i="0" u="none" strike="noStrike" cap="none" normalizeH="0" baseline="0" dirty="0">
                <a:ln>
                  <a:noFill/>
                </a:ln>
                <a:solidFill>
                  <a:schemeClr val="tx1"/>
                </a:solidFill>
                <a:effectLst/>
                <a:latin typeface="Arial" panose="020B0604020202020204" pitchFamily="34" charset="0"/>
                <a:cs typeface="+mj-cs"/>
              </a:rPr>
              <a:t>. נמיין את הקטעים על פי נקודות ההתחלה שלהם.</a:t>
            </a:r>
          </a:p>
          <a:p>
            <a:pPr lvl="1" algn="r" defTabSz="914400" rtl="1" eaLnBrk="0" fontAlgn="base" hangingPunct="0">
              <a:spcBef>
                <a:spcPct val="0"/>
              </a:spcBef>
              <a:spcAft>
                <a:spcPct val="0"/>
              </a:spcAft>
              <a:buFontTx/>
              <a:buChar char="•"/>
            </a:pPr>
            <a:r>
              <a:rPr kumimoji="0" lang="he-IL" altLang="he-IL" sz="2400" b="0" i="0" u="none" strike="noStrike" cap="none" normalizeH="0" baseline="0" dirty="0">
                <a:ln>
                  <a:noFill/>
                </a:ln>
                <a:solidFill>
                  <a:schemeClr val="tx1"/>
                </a:solidFill>
                <a:effectLst/>
                <a:latin typeface="Arial" panose="020B0604020202020204" pitchFamily="34" charset="0"/>
                <a:cs typeface="+mj-cs"/>
              </a:rPr>
              <a:t> אם הקטע הראשון לא מתחיל בנקודה השמאלית ביותר,  נזיז אותו כך שיתחיל בדיוק שם.</a:t>
            </a:r>
          </a:p>
          <a:p>
            <a:pPr lvl="1" algn="r" defTabSz="914400" rtl="1" eaLnBrk="0" fontAlgn="base" hangingPunct="0">
              <a:spcBef>
                <a:spcPct val="0"/>
              </a:spcBef>
              <a:spcAft>
                <a:spcPct val="0"/>
              </a:spcAft>
              <a:buFontTx/>
              <a:buChar char="•"/>
            </a:pPr>
            <a:r>
              <a:rPr kumimoji="0" lang="he-IL" altLang="he-IL" sz="2400" b="0" i="0" u="none" strike="noStrike" cap="none" normalizeH="0" baseline="0" dirty="0">
                <a:ln>
                  <a:noFill/>
                </a:ln>
                <a:solidFill>
                  <a:schemeClr val="tx1"/>
                </a:solidFill>
                <a:effectLst/>
                <a:latin typeface="Arial" panose="020B0604020202020204" pitchFamily="34" charset="0"/>
                <a:cs typeface="+mj-cs"/>
              </a:rPr>
              <a:t> אחרי ההזזה הפתרון עדיין </a:t>
            </a:r>
            <a:r>
              <a:rPr lang="he-IL" sz="2400" b="1" spc="-50" dirty="0">
                <a:solidFill>
                  <a:schemeClr val="tx1">
                    <a:lumMod val="75000"/>
                    <a:lumOff val="25000"/>
                  </a:schemeClr>
                </a:solidFill>
                <a:latin typeface="Times New Roman" panose="02020603050405020304" pitchFamily="18" charset="0"/>
                <a:cs typeface="Times New Roman" panose="02020603050405020304" pitchFamily="18" charset="0"/>
              </a:rPr>
              <a:t>תקין</a:t>
            </a:r>
            <a:r>
              <a:rPr lang="he-IL" sz="2400" spc="-50" dirty="0">
                <a:solidFill>
                  <a:schemeClr val="tx1">
                    <a:lumMod val="75000"/>
                    <a:lumOff val="25000"/>
                  </a:schemeClr>
                </a:solidFill>
                <a:latin typeface="Times New Roman" panose="02020603050405020304" pitchFamily="18" charset="0"/>
                <a:cs typeface="Times New Roman" panose="02020603050405020304" pitchFamily="18" charset="0"/>
              </a:rPr>
              <a:t> משום שהנחנו שהנקודה הינה השמאלית ביותר ולכן אין נקודות משמאלה שנשארו כעת ללא כיסוי. הפתרון נותר </a:t>
            </a:r>
            <a:r>
              <a:rPr lang="he-IL" sz="2400" b="1" spc="-50" dirty="0">
                <a:solidFill>
                  <a:schemeClr val="tx1">
                    <a:lumMod val="75000"/>
                    <a:lumOff val="25000"/>
                  </a:schemeClr>
                </a:solidFill>
                <a:latin typeface="Times New Roman" panose="02020603050405020304" pitchFamily="18" charset="0"/>
                <a:cs typeface="Times New Roman" panose="02020603050405020304" pitchFamily="18" charset="0"/>
              </a:rPr>
              <a:t>אופטימלי</a:t>
            </a:r>
            <a:r>
              <a:rPr lang="he-IL" sz="2400" spc="-50" dirty="0">
                <a:solidFill>
                  <a:schemeClr val="tx1">
                    <a:lumMod val="75000"/>
                    <a:lumOff val="25000"/>
                  </a:schemeClr>
                </a:solidFill>
                <a:latin typeface="Times New Roman" panose="02020603050405020304" pitchFamily="18" charset="0"/>
                <a:cs typeface="Times New Roman" panose="02020603050405020304" pitchFamily="18" charset="0"/>
              </a:rPr>
              <a:t> משום שלא שינינו את כמות הקטעים.</a:t>
            </a:r>
            <a:endParaRPr kumimoji="0" lang="he-IL" altLang="he-IL" sz="2400" b="0" i="0" u="none" strike="noStrike" cap="none" normalizeH="0" baseline="0" dirty="0">
              <a:ln>
                <a:noFill/>
              </a:ln>
              <a:solidFill>
                <a:schemeClr val="tx1"/>
              </a:solidFill>
              <a:effectLst/>
              <a:latin typeface="Arial" panose="020B0604020202020204" pitchFamily="34" charset="0"/>
              <a:cs typeface="+mj-cs"/>
            </a:endParaRPr>
          </a:p>
          <a:p>
            <a:pPr marL="0" marR="0" lvl="0" indent="0" algn="r" defTabSz="914400" rtl="1" eaLnBrk="0" fontAlgn="base" latinLnBrk="0" hangingPunct="0">
              <a:lnSpc>
                <a:spcPct val="100000"/>
              </a:lnSpc>
              <a:spcBef>
                <a:spcPct val="0"/>
              </a:spcBef>
              <a:spcAft>
                <a:spcPct val="0"/>
              </a:spcAft>
              <a:buClrTx/>
              <a:buSzTx/>
              <a:buFontTx/>
              <a:buAutoNum type="arabicPeriod" startAt="2"/>
              <a:tabLst/>
            </a:pPr>
            <a:r>
              <a:rPr kumimoji="0" lang="he-IL" altLang="he-IL" sz="2400" b="1" i="0" u="none" strike="noStrike" cap="none" normalizeH="0" baseline="0" dirty="0">
                <a:ln>
                  <a:noFill/>
                </a:ln>
                <a:solidFill>
                  <a:schemeClr val="tx1"/>
                </a:solidFill>
                <a:effectLst/>
                <a:latin typeface="Arial" panose="020B0604020202020204" pitchFamily="34" charset="0"/>
                <a:cs typeface="+mj-cs"/>
              </a:rPr>
              <a:t> תת-מבנה אופטימלי </a:t>
            </a:r>
          </a:p>
          <a:p>
            <a:pPr marL="800100" lvl="1" indent="-342900" algn="r" defTabSz="914400" rtl="1" eaLnBrk="0" fontAlgn="base" hangingPunct="0">
              <a:spcBef>
                <a:spcPct val="0"/>
              </a:spcBef>
              <a:spcAft>
                <a:spcPct val="0"/>
              </a:spcAft>
              <a:buFont typeface="Arial" panose="020B0604020202020204" pitchFamily="34" charset="0"/>
              <a:buChar char="•"/>
            </a:pPr>
            <a:r>
              <a:rPr kumimoji="0" lang="he-IL" altLang="he-IL" sz="2400" b="0" i="0" u="none" strike="noStrike" cap="none" normalizeH="0" baseline="0" dirty="0">
                <a:ln>
                  <a:noFill/>
                </a:ln>
                <a:solidFill>
                  <a:schemeClr val="tx1"/>
                </a:solidFill>
                <a:effectLst/>
                <a:latin typeface="Arial" panose="020B0604020202020204" pitchFamily="34" charset="0"/>
                <a:cs typeface="+mj-cs"/>
              </a:rPr>
              <a:t>אחרי הקטע הראשון, נותרות נקודות מימין.</a:t>
            </a:r>
          </a:p>
          <a:p>
            <a:pPr marL="800100" lvl="1" indent="-342900" algn="r" defTabSz="914400" rtl="1" eaLnBrk="0" fontAlgn="base" hangingPunct="0">
              <a:spcBef>
                <a:spcPct val="0"/>
              </a:spcBef>
              <a:spcAft>
                <a:spcPct val="0"/>
              </a:spcAft>
              <a:buFont typeface="Arial" panose="020B0604020202020204" pitchFamily="34" charset="0"/>
              <a:buChar char="•"/>
            </a:pPr>
            <a:r>
              <a:rPr kumimoji="0" lang="he-IL" altLang="he-IL" sz="2400" b="0" i="0" u="none" strike="noStrike" cap="none" normalizeH="0" baseline="0" dirty="0">
                <a:ln>
                  <a:noFill/>
                </a:ln>
                <a:solidFill>
                  <a:schemeClr val="tx1"/>
                </a:solidFill>
                <a:effectLst/>
                <a:latin typeface="Arial" panose="020B0604020202020204" pitchFamily="34" charset="0"/>
                <a:cs typeface="+mj-cs"/>
              </a:rPr>
              <a:t>זו שוב אותה בעיה – כיסוי נקודות בקטעים באורך 2.</a:t>
            </a:r>
          </a:p>
          <a:p>
            <a:pPr marL="457200" marR="0" lvl="1" indent="0" algn="r" defTabSz="914400" rtl="1" eaLnBrk="0" fontAlgn="base" latinLnBrk="0" hangingPunct="0">
              <a:lnSpc>
                <a:spcPct val="100000"/>
              </a:lnSpc>
              <a:spcBef>
                <a:spcPct val="0"/>
              </a:spcBef>
              <a:spcAft>
                <a:spcPct val="0"/>
              </a:spcAft>
              <a:buClrTx/>
              <a:buSzTx/>
              <a:buFontTx/>
              <a:buChar char="•"/>
              <a:tabLst/>
            </a:pPr>
            <a:r>
              <a:rPr kumimoji="0" lang="he-IL" altLang="he-IL" sz="2400" b="0" i="0" u="none" strike="noStrike" cap="none" normalizeH="0" baseline="0" dirty="0">
                <a:ln>
                  <a:noFill/>
                </a:ln>
                <a:solidFill>
                  <a:schemeClr val="tx1"/>
                </a:solidFill>
                <a:effectLst/>
                <a:latin typeface="Arial" panose="020B0604020202020204" pitchFamily="34" charset="0"/>
                <a:cs typeface="+mj-cs"/>
              </a:rPr>
              <a:t>בכל שלב הבחירה החמדנית נשמרת.</a:t>
            </a:r>
          </a:p>
          <a:p>
            <a:pPr marL="457200" marR="0" lvl="1" indent="0" algn="r" defTabSz="914400" rtl="1" eaLnBrk="0" fontAlgn="base" latinLnBrk="0" hangingPunct="0">
              <a:lnSpc>
                <a:spcPct val="100000"/>
              </a:lnSpc>
              <a:spcBef>
                <a:spcPct val="0"/>
              </a:spcBef>
              <a:spcAft>
                <a:spcPct val="0"/>
              </a:spcAft>
              <a:buClrTx/>
              <a:buSzTx/>
              <a:buFontTx/>
              <a:buChar char="•"/>
              <a:tabLst/>
            </a:pPr>
            <a:r>
              <a:rPr kumimoji="0" lang="he-IL" altLang="he-IL" sz="2400" b="0" i="0" u="none" strike="noStrike" cap="none" normalizeH="0" baseline="0" dirty="0">
                <a:ln>
                  <a:noFill/>
                </a:ln>
                <a:solidFill>
                  <a:schemeClr val="tx1"/>
                </a:solidFill>
                <a:effectLst/>
                <a:latin typeface="Arial" panose="020B0604020202020204" pitchFamily="34" charset="0"/>
                <a:cs typeface="+mj-cs"/>
              </a:rPr>
              <a:t>לכן האלגוריתם יוצר פתרון אופטימלי לכל גודל קלט.</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he-IL" altLang="he-IL" sz="2400" b="0" i="0" u="none" strike="noStrike" cap="none" normalizeH="0" baseline="0" dirty="0">
              <a:ln>
                <a:noFill/>
              </a:ln>
              <a:solidFill>
                <a:schemeClr val="tx1"/>
              </a:solidFill>
              <a:effectLst/>
              <a:latin typeface="Arial" panose="020B0604020202020204" pitchFamily="34" charset="0"/>
              <a:cs typeface="+mj-cs"/>
            </a:endParaRPr>
          </a:p>
        </p:txBody>
      </p:sp>
      <p:pic>
        <p:nvPicPr>
          <p:cNvPr id="8" name="תמונה 7">
            <a:extLst>
              <a:ext uri="{FF2B5EF4-FFF2-40B4-BE49-F238E27FC236}">
                <a16:creationId xmlns:a16="http://schemas.microsoft.com/office/drawing/2014/main" id="{F27206E4-CF06-E7D1-507B-CD78BF4157AD}"/>
              </a:ext>
            </a:extLst>
          </p:cNvPr>
          <p:cNvPicPr>
            <a:picLocks noChangeAspect="1"/>
          </p:cNvPicPr>
          <p:nvPr/>
        </p:nvPicPr>
        <p:blipFill>
          <a:blip r:embed="rId2"/>
          <a:stretch>
            <a:fillRect/>
          </a:stretch>
        </p:blipFill>
        <p:spPr>
          <a:xfrm>
            <a:off x="203694" y="3782685"/>
            <a:ext cx="4648568" cy="792221"/>
          </a:xfrm>
          <a:prstGeom prst="rect">
            <a:avLst/>
          </a:prstGeom>
        </p:spPr>
      </p:pic>
      <p:pic>
        <p:nvPicPr>
          <p:cNvPr id="10" name="תמונה 9">
            <a:extLst>
              <a:ext uri="{FF2B5EF4-FFF2-40B4-BE49-F238E27FC236}">
                <a16:creationId xmlns:a16="http://schemas.microsoft.com/office/drawing/2014/main" id="{B99FB488-13E8-8ADE-4A4C-59E77404D7E0}"/>
              </a:ext>
            </a:extLst>
          </p:cNvPr>
          <p:cNvPicPr>
            <a:picLocks noChangeAspect="1"/>
          </p:cNvPicPr>
          <p:nvPr/>
        </p:nvPicPr>
        <p:blipFill rotWithShape="1">
          <a:blip r:embed="rId3"/>
          <a:srcRect b="14996"/>
          <a:stretch/>
        </p:blipFill>
        <p:spPr>
          <a:xfrm>
            <a:off x="144697" y="4502653"/>
            <a:ext cx="4486054" cy="1397321"/>
          </a:xfrm>
          <a:prstGeom prst="rect">
            <a:avLst/>
          </a:prstGeom>
        </p:spPr>
      </p:pic>
      <p:sp>
        <p:nvSpPr>
          <p:cNvPr id="5" name="כותרת 1">
            <a:extLst>
              <a:ext uri="{FF2B5EF4-FFF2-40B4-BE49-F238E27FC236}">
                <a16:creationId xmlns:a16="http://schemas.microsoft.com/office/drawing/2014/main" id="{F2497F45-B30F-ADAB-C200-0134EFD90F6E}"/>
              </a:ext>
            </a:extLst>
          </p:cNvPr>
          <p:cNvSpPr txBox="1">
            <a:spLocks/>
          </p:cNvSpPr>
          <p:nvPr/>
        </p:nvSpPr>
        <p:spPr>
          <a:xfrm>
            <a:off x="1097280" y="286603"/>
            <a:ext cx="10058400" cy="1450757"/>
          </a:xfrm>
          <a:prstGeom prst="rect">
            <a:avLst/>
          </a:prstGeom>
        </p:spPr>
        <p:txBody>
          <a:bodyPr/>
          <a:lst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he-IL" dirty="0">
                <a:solidFill>
                  <a:srgbClr val="C00000"/>
                </a:solidFill>
              </a:rPr>
              <a:t>שלב 2:</a:t>
            </a:r>
            <a:r>
              <a:rPr lang="he-IL" dirty="0"/>
              <a:t> הוכחת אופטימליות</a:t>
            </a:r>
          </a:p>
        </p:txBody>
      </p:sp>
      <p:sp>
        <p:nvSpPr>
          <p:cNvPr id="6" name="אליפסה 5">
            <a:extLst>
              <a:ext uri="{FF2B5EF4-FFF2-40B4-BE49-F238E27FC236}">
                <a16:creationId xmlns:a16="http://schemas.microsoft.com/office/drawing/2014/main" id="{4566891D-A1E0-76AB-6FCD-AB426416888C}"/>
              </a:ext>
            </a:extLst>
          </p:cNvPr>
          <p:cNvSpPr/>
          <p:nvPr/>
        </p:nvSpPr>
        <p:spPr>
          <a:xfrm>
            <a:off x="672423" y="390614"/>
            <a:ext cx="1854467" cy="14507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sz="2000" dirty="0"/>
              <a:t>יש הרבה פתרונות אופטימליים- החלפה</a:t>
            </a:r>
          </a:p>
        </p:txBody>
      </p:sp>
    </p:spTree>
    <p:extLst>
      <p:ext uri="{BB962C8B-B14F-4D97-AF65-F5344CB8AC3E}">
        <p14:creationId xmlns:p14="http://schemas.microsoft.com/office/powerpoint/2010/main" val="98576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42</a:t>
            </a:fld>
            <a:endParaRPr lang="he-IL" dirty="0">
              <a:solidFill>
                <a:schemeClr val="bg1"/>
              </a:solidFill>
            </a:endParaRPr>
          </a:p>
        </p:txBody>
      </p:sp>
      <p:sp>
        <p:nvSpPr>
          <p:cNvPr id="11" name="תיבת טקסט 10">
            <a:extLst>
              <a:ext uri="{FF2B5EF4-FFF2-40B4-BE49-F238E27FC236}">
                <a16:creationId xmlns:a16="http://schemas.microsoft.com/office/drawing/2014/main" id="{D8B3FF86-70BE-56D3-2069-1E190DFAD13B}"/>
              </a:ext>
            </a:extLst>
          </p:cNvPr>
          <p:cNvSpPr txBox="1"/>
          <p:nvPr/>
        </p:nvSpPr>
        <p:spPr>
          <a:xfrm>
            <a:off x="1315295" y="2106936"/>
            <a:ext cx="9856778" cy="3908762"/>
          </a:xfrm>
          <a:prstGeom prst="rect">
            <a:avLst/>
          </a:prstGeom>
          <a:noFill/>
          <a:ln w="12700">
            <a:noFill/>
          </a:ln>
        </p:spPr>
        <p:txBody>
          <a:bodyPr wrap="square">
            <a:spAutoFit/>
          </a:bodyPr>
          <a:lstStyle/>
          <a:p>
            <a:pPr algn="just" rtl="1"/>
            <a:r>
              <a:rPr lang="he-IL" sz="3600" u="sng"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תיאור האלגוריתם:</a:t>
            </a:r>
          </a:p>
          <a:p>
            <a:pPr marL="571500" indent="-571500" algn="just" rtl="1">
              <a:buFont typeface="Arial" panose="020B0604020202020204" pitchFamily="34" charset="0"/>
              <a:buChar char="•"/>
            </a:pPr>
            <a:r>
              <a:rPr lang="he-IL"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מיין את הנקודות על פי נקודת ההתחלה.</a:t>
            </a:r>
          </a:p>
          <a:p>
            <a:pPr marL="571500" indent="-571500" algn="just" rtl="1">
              <a:buFont typeface="Arial" panose="020B0604020202020204" pitchFamily="34" charset="0"/>
              <a:buChar char="•"/>
            </a:pPr>
            <a:r>
              <a:rPr lang="he-IL"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הוסף לרשימת הקטעים קטע המתחיל בנקודה הראשונה </a:t>
            </a:r>
            <a:r>
              <a:rPr lang="en-US" sz="3600" spc="-50" dirty="0" err="1">
                <a:solidFill>
                  <a:schemeClr val="tx1">
                    <a:lumMod val="75000"/>
                    <a:lumOff val="25000"/>
                  </a:schemeClr>
                </a:solidFill>
                <a:latin typeface="Times New Roman" panose="02020603050405020304" pitchFamily="18" charset="0"/>
                <a:ea typeface="+mj-ea"/>
                <a:cs typeface="Times New Roman" panose="02020603050405020304" pitchFamily="18" charset="0"/>
              </a:rPr>
              <a:t>x</a:t>
            </a:r>
            <a:r>
              <a:rPr lang="en-US" sz="3600" spc="-50" baseline="-25000" dirty="0" err="1">
                <a:solidFill>
                  <a:schemeClr val="tx1">
                    <a:lumMod val="75000"/>
                    <a:lumOff val="25000"/>
                  </a:schemeClr>
                </a:solidFill>
                <a:latin typeface="Times New Roman" panose="02020603050405020304" pitchFamily="18" charset="0"/>
                <a:ea typeface="+mj-ea"/>
                <a:cs typeface="Times New Roman" panose="02020603050405020304" pitchFamily="18" charset="0"/>
              </a:rPr>
              <a:t>left</a:t>
            </a:r>
            <a:r>
              <a:rPr lang="he-IL"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ומסתיים ב- </a:t>
            </a:r>
            <a:r>
              <a:rPr lang="en-US"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x</a:t>
            </a:r>
            <a:r>
              <a:rPr lang="en-US" sz="3600" spc="-50" baseline="-25000" dirty="0">
                <a:solidFill>
                  <a:schemeClr val="tx1">
                    <a:lumMod val="75000"/>
                    <a:lumOff val="25000"/>
                  </a:schemeClr>
                </a:solidFill>
                <a:latin typeface="Times New Roman" panose="02020603050405020304" pitchFamily="18" charset="0"/>
                <a:ea typeface="+mj-ea"/>
                <a:cs typeface="Times New Roman" panose="02020603050405020304" pitchFamily="18" charset="0"/>
              </a:rPr>
              <a:t>left</a:t>
            </a:r>
            <a:r>
              <a:rPr lang="en-US"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+2</a:t>
            </a:r>
            <a:r>
              <a:rPr lang="he-IL"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 </a:t>
            </a:r>
          </a:p>
          <a:p>
            <a:pPr marL="571500" indent="-571500" algn="just" rtl="1">
              <a:buFont typeface="Arial" panose="020B0604020202020204" pitchFamily="34" charset="0"/>
              <a:buChar char="•"/>
            </a:pPr>
            <a:r>
              <a:rPr lang="he-IL"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דלג על כל הנקודות שכוסו על ידי הקטע בשלב זה.</a:t>
            </a:r>
          </a:p>
          <a:p>
            <a:pPr marL="571500" indent="-571500" algn="just" rtl="1">
              <a:buFont typeface="Arial" panose="020B0604020202020204" pitchFamily="34" charset="0"/>
              <a:buChar char="•"/>
            </a:pPr>
            <a:r>
              <a:rPr lang="he-IL" sz="3600" spc="-50" dirty="0">
                <a:solidFill>
                  <a:schemeClr val="tx1">
                    <a:lumMod val="75000"/>
                    <a:lumOff val="25000"/>
                  </a:schemeClr>
                </a:solidFill>
                <a:latin typeface="Times New Roman" panose="02020603050405020304" pitchFamily="18" charset="0"/>
                <a:ea typeface="+mj-ea"/>
                <a:cs typeface="Times New Roman" panose="02020603050405020304" pitchFamily="18" charset="0"/>
              </a:rPr>
              <a:t>חזור על התהליך כל עוד נותרו קטעים שעדיין לא כוסו.</a:t>
            </a:r>
          </a:p>
          <a:p>
            <a:pPr algn="just" rtl="1"/>
            <a:endParaRPr lang="he-IL" sz="3200" dirty="0">
              <a:latin typeface="David" panose="020E0502060401010101" pitchFamily="34" charset="-79"/>
              <a:cs typeface="David" panose="020E0502060401010101" pitchFamily="34" charset="-79"/>
            </a:endParaRPr>
          </a:p>
        </p:txBody>
      </p:sp>
      <p:sp>
        <p:nvSpPr>
          <p:cNvPr id="2" name="תיבת טקסט 1">
            <a:extLst>
              <a:ext uri="{FF2B5EF4-FFF2-40B4-BE49-F238E27FC236}">
                <a16:creationId xmlns:a16="http://schemas.microsoft.com/office/drawing/2014/main" id="{4909ECE3-B374-4207-BADA-FADEC797BC53}"/>
              </a:ext>
            </a:extLst>
          </p:cNvPr>
          <p:cNvSpPr txBox="1"/>
          <p:nvPr/>
        </p:nvSpPr>
        <p:spPr>
          <a:xfrm>
            <a:off x="7565923" y="764598"/>
            <a:ext cx="4626077" cy="461665"/>
          </a:xfrm>
          <a:prstGeom prst="rect">
            <a:avLst/>
          </a:prstGeom>
          <a:solidFill>
            <a:schemeClr val="accent1">
              <a:lumMod val="60000"/>
              <a:lumOff val="40000"/>
            </a:schemeClr>
          </a:solidFill>
        </p:spPr>
        <p:txBody>
          <a:bodyPr wrap="square">
            <a:spAutoFit/>
          </a:bodyPr>
          <a:lstStyle/>
          <a:p>
            <a:pPr algn="r" rtl="1"/>
            <a:r>
              <a:rPr lang="he-IL" sz="2400" spc="-50" dirty="0">
                <a:solidFill>
                  <a:schemeClr val="accent1">
                    <a:lumMod val="75000"/>
                  </a:schemeClr>
                </a:solidFill>
                <a:latin typeface="Times New Roman" panose="02020603050405020304" pitchFamily="18" charset="0"/>
                <a:ea typeface="+mj-ea"/>
                <a:cs typeface="Times New Roman" panose="02020603050405020304" pitchFamily="18" charset="0"/>
              </a:rPr>
              <a:t>3. האלגוריתם</a:t>
            </a:r>
          </a:p>
        </p:txBody>
      </p:sp>
      <p:sp>
        <p:nvSpPr>
          <p:cNvPr id="3" name="תיבת טקסט 2">
            <a:extLst>
              <a:ext uri="{FF2B5EF4-FFF2-40B4-BE49-F238E27FC236}">
                <a16:creationId xmlns:a16="http://schemas.microsoft.com/office/drawing/2014/main" id="{863C6964-2CF5-BAA9-A40E-AB178B941E35}"/>
              </a:ext>
            </a:extLst>
          </p:cNvPr>
          <p:cNvSpPr txBox="1"/>
          <p:nvPr/>
        </p:nvSpPr>
        <p:spPr>
          <a:xfrm>
            <a:off x="6622026" y="764598"/>
            <a:ext cx="5569974" cy="584775"/>
          </a:xfrm>
          <a:prstGeom prst="rect">
            <a:avLst/>
          </a:prstGeom>
          <a:solidFill>
            <a:schemeClr val="accent1">
              <a:lumMod val="60000"/>
              <a:lumOff val="40000"/>
            </a:schemeClr>
          </a:solidFill>
        </p:spPr>
        <p:txBody>
          <a:bodyPr wrap="square">
            <a:spAutoFit/>
          </a:bodyPr>
          <a:lstStyle/>
          <a:p>
            <a:pPr algn="r" rtl="1"/>
            <a:r>
              <a:rPr lang="he-IL" sz="3200" spc="-50" dirty="0">
                <a:solidFill>
                  <a:schemeClr val="accent1">
                    <a:lumMod val="75000"/>
                  </a:schemeClr>
                </a:solidFill>
                <a:latin typeface="Times New Roman" panose="02020603050405020304" pitchFamily="18" charset="0"/>
                <a:ea typeface="+mj-ea"/>
                <a:cs typeface="Times New Roman" panose="02020603050405020304" pitchFamily="18" charset="0"/>
              </a:rPr>
              <a:t>3. האלגוריתם</a:t>
            </a:r>
          </a:p>
        </p:txBody>
      </p:sp>
    </p:spTree>
    <p:extLst>
      <p:ext uri="{BB962C8B-B14F-4D97-AF65-F5344CB8AC3E}">
        <p14:creationId xmlns:p14="http://schemas.microsoft.com/office/powerpoint/2010/main" val="38457746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FE3379F-16A1-28B3-92CD-3FCD09A2A139}"/>
              </a:ext>
            </a:extLst>
          </p:cNvPr>
          <p:cNvPicPr>
            <a:picLocks noChangeAspect="1"/>
          </p:cNvPicPr>
          <p:nvPr/>
        </p:nvPicPr>
        <p:blipFill>
          <a:blip r:embed="rId2"/>
          <a:stretch>
            <a:fillRect/>
          </a:stretch>
        </p:blipFill>
        <p:spPr>
          <a:xfrm>
            <a:off x="5262685" y="1423112"/>
            <a:ext cx="6153610" cy="4884739"/>
          </a:xfrm>
          <a:prstGeom prst="rect">
            <a:avLst/>
          </a:prstGeom>
        </p:spPr>
      </p:pic>
      <mc:AlternateContent xmlns:mc="http://schemas.openxmlformats.org/markup-compatibility/2006" xmlns:a14="http://schemas.microsoft.com/office/drawing/2010/main">
        <mc:Choice Requires="a14">
          <p:sp>
            <p:nvSpPr>
              <p:cNvPr id="2" name="מציין מיקום תוכן 2">
                <a:extLst>
                  <a:ext uri="{FF2B5EF4-FFF2-40B4-BE49-F238E27FC236}">
                    <a16:creationId xmlns:a16="http://schemas.microsoft.com/office/drawing/2014/main" id="{3A3A3B82-7FA5-9D7E-184A-6C67873B32E8}"/>
                  </a:ext>
                </a:extLst>
              </p:cNvPr>
              <p:cNvSpPr txBox="1">
                <a:spLocks/>
              </p:cNvSpPr>
              <p:nvPr/>
            </p:nvSpPr>
            <p:spPr>
              <a:xfrm>
                <a:off x="244763" y="1653063"/>
                <a:ext cx="4371483" cy="4377784"/>
              </a:xfrm>
              <a:prstGeom prst="rect">
                <a:avLst/>
              </a:prstGeom>
            </p:spPr>
            <p:txBody>
              <a:bodyPr>
                <a:normAutofit fontScale="62500" lnSpcReduction="20000"/>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pPr>
                <a:r>
                  <a:rPr lang="he-IL" sz="4700" spc="-50" dirty="0">
                    <a:latin typeface="Times New Roman" panose="02020603050405020304" pitchFamily="18" charset="0"/>
                    <a:ea typeface="+mj-ea"/>
                    <a:cs typeface="Times New Roman" panose="02020603050405020304" pitchFamily="18" charset="0"/>
                  </a:rPr>
                  <a:t>זמן הריצה: </a:t>
                </a:r>
                <a14:m>
                  <m:oMath xmlns:m="http://schemas.openxmlformats.org/officeDocument/2006/math">
                    <m:r>
                      <a:rPr lang="en-US" sz="4700" i="1" spc="-50" smtClean="0">
                        <a:solidFill>
                          <a:schemeClr val="accent2">
                            <a:lumMod val="75000"/>
                          </a:schemeClr>
                        </a:solidFill>
                        <a:latin typeface="Cambria Math" panose="02040503050406030204" pitchFamily="18" charset="0"/>
                        <a:ea typeface="+mj-ea"/>
                        <a:cs typeface="Times New Roman" panose="02020603050405020304" pitchFamily="18" charset="0"/>
                      </a:rPr>
                      <m:t>𝑂</m:t>
                    </m:r>
                    <m:r>
                      <a:rPr lang="en-US" sz="470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r>
                      <a:rPr lang="en-US" sz="4700" i="1" spc="-50" smtClean="0">
                        <a:solidFill>
                          <a:schemeClr val="accent2">
                            <a:lumMod val="75000"/>
                          </a:schemeClr>
                        </a:solidFill>
                        <a:latin typeface="Cambria Math" panose="02040503050406030204" pitchFamily="18" charset="0"/>
                        <a:ea typeface="+mj-ea"/>
                        <a:cs typeface="Times New Roman" panose="02020603050405020304" pitchFamily="18" charset="0"/>
                      </a:rPr>
                      <m:t>𝑛</m:t>
                    </m:r>
                    <m:r>
                      <a:rPr lang="en-US" sz="470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oMath>
                </a14:m>
                <a:r>
                  <a:rPr lang="he-IL" sz="4700" spc="-50" dirty="0">
                    <a:latin typeface="Times New Roman" panose="02020603050405020304" pitchFamily="18" charset="0"/>
                    <a:ea typeface="+mj-ea"/>
                    <a:cs typeface="Times New Roman" panose="02020603050405020304" pitchFamily="18" charset="0"/>
                  </a:rPr>
                  <a:t>.</a:t>
                </a:r>
              </a:p>
              <a:p>
                <a:pPr>
                  <a:lnSpc>
                    <a:spcPct val="120000"/>
                  </a:lnSpc>
                </a:pPr>
                <a:r>
                  <a:rPr lang="he-IL" sz="4700" spc="-50" dirty="0">
                    <a:latin typeface="Times New Roman" panose="02020603050405020304" pitchFamily="18" charset="0"/>
                    <a:ea typeface="+mj-ea"/>
                    <a:cs typeface="Times New Roman" panose="02020603050405020304" pitchFamily="18" charset="0"/>
                  </a:rPr>
                  <a:t>בהנחה שקבוצת הנקודות הנתונה ממוינת.</a:t>
                </a:r>
              </a:p>
              <a:p>
                <a:endParaRPr lang="he-IL" sz="3200" spc="-50" dirty="0">
                  <a:latin typeface="Times New Roman" panose="02020603050405020304" pitchFamily="18" charset="0"/>
                  <a:ea typeface="+mj-ea"/>
                  <a:cs typeface="Times New Roman" panose="02020603050405020304" pitchFamily="18" charset="0"/>
                </a:endParaRPr>
              </a:p>
              <a:p>
                <a:r>
                  <a:rPr lang="he-IL" sz="4100" u="sng" spc="-50" dirty="0">
                    <a:latin typeface="Times New Roman" panose="02020603050405020304" pitchFamily="18" charset="0"/>
                    <a:ea typeface="+mj-ea"/>
                    <a:cs typeface="Times New Roman" panose="02020603050405020304" pitchFamily="18" charset="0"/>
                  </a:rPr>
                  <a:t>הסבר:</a:t>
                </a:r>
              </a:p>
              <a:p>
                <a:pPr>
                  <a:buFont typeface="Arial" panose="020B0604020202020204" pitchFamily="34" charset="0"/>
                  <a:buChar char="•"/>
                </a:pPr>
                <a:r>
                  <a:rPr lang="he-IL" sz="4100" spc="-50" dirty="0">
                    <a:ea typeface="+mj-ea"/>
                    <a:cs typeface="Times New Roman" panose="02020603050405020304" pitchFamily="18" charset="0"/>
                  </a:rPr>
                  <a:t> </a:t>
                </a:r>
                <a14:m>
                  <m:oMath xmlns:m="http://schemas.openxmlformats.org/officeDocument/2006/math">
                    <m:r>
                      <a:rPr lang="en-US" sz="4100" i="1" spc="-50" dirty="0" smtClean="0">
                        <a:latin typeface="Cambria Math" panose="02040503050406030204" pitchFamily="18" charset="0"/>
                        <a:ea typeface="+mj-ea"/>
                        <a:cs typeface="Times New Roman" panose="02020603050405020304" pitchFamily="18" charset="0"/>
                      </a:rPr>
                      <m:t>𝑙𝑒𝑓𝑡</m:t>
                    </m:r>
                  </m:oMath>
                </a14:m>
                <a:r>
                  <a:rPr lang="he-IL" sz="4100" spc="-50" dirty="0">
                    <a:latin typeface="Times New Roman" panose="02020603050405020304" pitchFamily="18" charset="0"/>
                    <a:ea typeface="+mj-ea"/>
                    <a:cs typeface="Times New Roman" panose="02020603050405020304" pitchFamily="18" charset="0"/>
                  </a:rPr>
                  <a:t> משתנה מ-1 עד </a:t>
                </a:r>
                <a14:m>
                  <m:oMath xmlns:m="http://schemas.openxmlformats.org/officeDocument/2006/math">
                    <m:r>
                      <a:rPr lang="en-US" sz="4100" i="1" spc="-50" dirty="0" smtClean="0">
                        <a:latin typeface="Cambria Math" panose="02040503050406030204" pitchFamily="18" charset="0"/>
                        <a:ea typeface="+mj-ea"/>
                        <a:cs typeface="Times New Roman" panose="02020603050405020304" pitchFamily="18" charset="0"/>
                      </a:rPr>
                      <m:t>𝑛</m:t>
                    </m:r>
                  </m:oMath>
                </a14:m>
                <a:endParaRPr lang="he-IL" sz="4100" spc="-50" dirty="0">
                  <a:latin typeface="Times New Roman" panose="02020603050405020304" pitchFamily="18" charset="0"/>
                  <a:ea typeface="+mj-ea"/>
                  <a:cs typeface="Times New Roman" panose="02020603050405020304" pitchFamily="18" charset="0"/>
                </a:endParaRPr>
              </a:p>
              <a:p>
                <a:pPr>
                  <a:buFont typeface="Arial" panose="020B0604020202020204" pitchFamily="34" charset="0"/>
                  <a:buChar char="•"/>
                </a:pPr>
                <a:r>
                  <a:rPr lang="he-IL" sz="4100" spc="-50" dirty="0">
                    <a:latin typeface="Times New Roman" panose="02020603050405020304" pitchFamily="18" charset="0"/>
                    <a:ea typeface="+mj-ea"/>
                    <a:cs typeface="Times New Roman" panose="02020603050405020304" pitchFamily="18" charset="0"/>
                  </a:rPr>
                  <a:t> לכל ערך של </a:t>
                </a:r>
                <a14:m>
                  <m:oMath xmlns:m="http://schemas.openxmlformats.org/officeDocument/2006/math">
                    <m:r>
                      <a:rPr lang="en-US" sz="4100" i="1" spc="-50" dirty="0" smtClean="0">
                        <a:latin typeface="Cambria Math" panose="02040503050406030204" pitchFamily="18" charset="0"/>
                        <a:ea typeface="+mj-ea"/>
                        <a:cs typeface="Times New Roman" panose="02020603050405020304" pitchFamily="18" charset="0"/>
                      </a:rPr>
                      <m:t>𝑙𝑒𝑓𝑡</m:t>
                    </m:r>
                  </m:oMath>
                </a14:m>
                <a:r>
                  <a:rPr lang="he-IL" sz="4100" spc="-50" dirty="0">
                    <a:latin typeface="Times New Roman" panose="02020603050405020304" pitchFamily="18" charset="0"/>
                    <a:ea typeface="+mj-ea"/>
                    <a:cs typeface="Times New Roman" panose="02020603050405020304" pitchFamily="18" charset="0"/>
                  </a:rPr>
                  <a:t> , נוסף לכל היותר קטע אחד לפתרון.</a:t>
                </a:r>
              </a:p>
              <a:p>
                <a:pPr>
                  <a:buFont typeface="Arial" panose="020B0604020202020204" pitchFamily="34" charset="0"/>
                  <a:buChar char="•"/>
                </a:pPr>
                <a:r>
                  <a:rPr lang="he-IL" sz="4100" spc="-50" dirty="0">
                    <a:latin typeface="Times New Roman" panose="02020603050405020304" pitchFamily="18" charset="0"/>
                    <a:ea typeface="+mj-ea"/>
                    <a:cs typeface="Times New Roman" panose="02020603050405020304" pitchFamily="18" charset="0"/>
                  </a:rPr>
                  <a:t>סה"כ </a:t>
                </a:r>
                <a14:m>
                  <m:oMath xmlns:m="http://schemas.openxmlformats.org/officeDocument/2006/math">
                    <m:r>
                      <a:rPr lang="en-US" sz="4100" i="1" spc="-50" smtClean="0">
                        <a:solidFill>
                          <a:schemeClr val="accent2">
                            <a:lumMod val="75000"/>
                          </a:schemeClr>
                        </a:solidFill>
                        <a:latin typeface="Cambria Math" panose="02040503050406030204" pitchFamily="18" charset="0"/>
                        <a:ea typeface="+mj-ea"/>
                        <a:cs typeface="Times New Roman" panose="02020603050405020304" pitchFamily="18" charset="0"/>
                      </a:rPr>
                      <m:t>𝑂</m:t>
                    </m:r>
                    <m:r>
                      <a:rPr lang="en-US" sz="410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r>
                      <a:rPr lang="en-US" sz="4100" i="1" spc="-50" smtClean="0">
                        <a:solidFill>
                          <a:schemeClr val="accent2">
                            <a:lumMod val="75000"/>
                          </a:schemeClr>
                        </a:solidFill>
                        <a:latin typeface="Cambria Math" panose="02040503050406030204" pitchFamily="18" charset="0"/>
                        <a:ea typeface="+mj-ea"/>
                        <a:cs typeface="Times New Roman" panose="02020603050405020304" pitchFamily="18" charset="0"/>
                      </a:rPr>
                      <m:t>𝑛</m:t>
                    </m:r>
                    <m:r>
                      <a:rPr lang="en-US" sz="410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oMath>
                </a14:m>
                <a:r>
                  <a:rPr lang="he-IL" sz="4100" spc="-50" dirty="0">
                    <a:latin typeface="Times New Roman" panose="02020603050405020304" pitchFamily="18" charset="0"/>
                    <a:ea typeface="+mj-ea"/>
                    <a:cs typeface="Times New Roman" panose="02020603050405020304" pitchFamily="18" charset="0"/>
                  </a:rPr>
                  <a:t>.</a:t>
                </a:r>
              </a:p>
              <a:p>
                <a:endParaRPr lang="he-IL" sz="3200" spc="-50" dirty="0">
                  <a:latin typeface="Times New Roman" panose="02020603050405020304" pitchFamily="18" charset="0"/>
                  <a:ea typeface="+mj-ea"/>
                  <a:cs typeface="Times New Roman" panose="02020603050405020304" pitchFamily="18" charset="0"/>
                </a:endParaRPr>
              </a:p>
            </p:txBody>
          </p:sp>
        </mc:Choice>
        <mc:Fallback xmlns="">
          <p:sp>
            <p:nvSpPr>
              <p:cNvPr id="2" name="מציין מיקום תוכן 2">
                <a:extLst>
                  <a:ext uri="{FF2B5EF4-FFF2-40B4-BE49-F238E27FC236}">
                    <a16:creationId xmlns:a16="http://schemas.microsoft.com/office/drawing/2014/main" id="{3A3A3B82-7FA5-9D7E-184A-6C67873B32E8}"/>
                  </a:ext>
                </a:extLst>
              </p:cNvPr>
              <p:cNvSpPr txBox="1">
                <a:spLocks noRot="1" noChangeAspect="1" noMove="1" noResize="1" noEditPoints="1" noAdjustHandles="1" noChangeArrowheads="1" noChangeShapeType="1" noTextEdit="1"/>
              </p:cNvSpPr>
              <p:nvPr/>
            </p:nvSpPr>
            <p:spPr>
              <a:xfrm>
                <a:off x="244763" y="1653063"/>
                <a:ext cx="4371483" cy="4377784"/>
              </a:xfrm>
              <a:prstGeom prst="rect">
                <a:avLst/>
              </a:prstGeom>
              <a:blipFill>
                <a:blip r:embed="rId3"/>
                <a:stretch>
                  <a:fillRect l="-976" t="-1532" r="-3208"/>
                </a:stretch>
              </a:blipFill>
            </p:spPr>
            <p:txBody>
              <a:bodyPr/>
              <a:lstStyle/>
              <a:p>
                <a:r>
                  <a:rPr lang="he-IL">
                    <a:noFill/>
                  </a:rPr>
                  <a:t> </a:t>
                </a:r>
              </a:p>
            </p:txBody>
          </p:sp>
        </mc:Fallback>
      </mc:AlternateContent>
      <p:sp>
        <p:nvSpPr>
          <p:cNvPr id="4" name="תיבת טקסט 3">
            <a:extLst>
              <a:ext uri="{FF2B5EF4-FFF2-40B4-BE49-F238E27FC236}">
                <a16:creationId xmlns:a16="http://schemas.microsoft.com/office/drawing/2014/main" id="{3BA5D085-1018-963C-110C-2C22150A2B43}"/>
              </a:ext>
            </a:extLst>
          </p:cNvPr>
          <p:cNvSpPr txBox="1"/>
          <p:nvPr/>
        </p:nvSpPr>
        <p:spPr>
          <a:xfrm>
            <a:off x="7565923" y="764598"/>
            <a:ext cx="4626077" cy="461665"/>
          </a:xfrm>
          <a:prstGeom prst="rect">
            <a:avLst/>
          </a:prstGeom>
          <a:solidFill>
            <a:schemeClr val="accent1">
              <a:lumMod val="60000"/>
              <a:lumOff val="40000"/>
            </a:schemeClr>
          </a:solidFill>
        </p:spPr>
        <p:txBody>
          <a:bodyPr wrap="square">
            <a:spAutoFit/>
          </a:bodyPr>
          <a:lstStyle/>
          <a:p>
            <a:pPr algn="r" rtl="1"/>
            <a:r>
              <a:rPr lang="he-IL" sz="2400" spc="-50" dirty="0">
                <a:solidFill>
                  <a:schemeClr val="accent1">
                    <a:lumMod val="75000"/>
                  </a:schemeClr>
                </a:solidFill>
                <a:latin typeface="Times New Roman" panose="02020603050405020304" pitchFamily="18" charset="0"/>
                <a:ea typeface="+mj-ea"/>
                <a:cs typeface="Times New Roman" panose="02020603050405020304" pitchFamily="18" charset="0"/>
              </a:rPr>
              <a:t>4. </a:t>
            </a:r>
            <a:r>
              <a:rPr lang="he-IL" sz="2400" spc="-50" dirty="0" err="1">
                <a:solidFill>
                  <a:schemeClr val="accent1">
                    <a:lumMod val="75000"/>
                  </a:schemeClr>
                </a:solidFill>
                <a:latin typeface="Times New Roman" panose="02020603050405020304" pitchFamily="18" charset="0"/>
                <a:ea typeface="+mj-ea"/>
                <a:cs typeface="Times New Roman" panose="02020603050405020304" pitchFamily="18" charset="0"/>
              </a:rPr>
              <a:t>פסאודו</a:t>
            </a:r>
            <a:r>
              <a:rPr lang="he-IL" sz="2400" spc="-50" dirty="0">
                <a:solidFill>
                  <a:schemeClr val="accent1">
                    <a:lumMod val="75000"/>
                  </a:schemeClr>
                </a:solidFill>
                <a:latin typeface="Times New Roman" panose="02020603050405020304" pitchFamily="18" charset="0"/>
                <a:ea typeface="+mj-ea"/>
                <a:cs typeface="Times New Roman" panose="02020603050405020304" pitchFamily="18" charset="0"/>
              </a:rPr>
              <a:t> קוד</a:t>
            </a:r>
          </a:p>
        </p:txBody>
      </p:sp>
      <p:sp>
        <p:nvSpPr>
          <p:cNvPr id="5" name="תיבת טקסט 4">
            <a:extLst>
              <a:ext uri="{FF2B5EF4-FFF2-40B4-BE49-F238E27FC236}">
                <a16:creationId xmlns:a16="http://schemas.microsoft.com/office/drawing/2014/main" id="{889C01D6-14F7-9F8A-3C5A-9B8DEDB37874}"/>
              </a:ext>
            </a:extLst>
          </p:cNvPr>
          <p:cNvSpPr txBox="1"/>
          <p:nvPr/>
        </p:nvSpPr>
        <p:spPr>
          <a:xfrm>
            <a:off x="6622026" y="764598"/>
            <a:ext cx="5569974" cy="584775"/>
          </a:xfrm>
          <a:prstGeom prst="rect">
            <a:avLst/>
          </a:prstGeom>
          <a:solidFill>
            <a:schemeClr val="accent1">
              <a:lumMod val="60000"/>
              <a:lumOff val="40000"/>
            </a:schemeClr>
          </a:solidFill>
        </p:spPr>
        <p:txBody>
          <a:bodyPr wrap="square">
            <a:spAutoFit/>
          </a:bodyPr>
          <a:lstStyle/>
          <a:p>
            <a:pPr algn="r" rtl="1"/>
            <a:r>
              <a:rPr lang="he-IL" sz="3200" spc="-50" dirty="0">
                <a:solidFill>
                  <a:schemeClr val="accent1">
                    <a:lumMod val="75000"/>
                  </a:schemeClr>
                </a:solidFill>
                <a:latin typeface="Times New Roman" panose="02020603050405020304" pitchFamily="18" charset="0"/>
                <a:ea typeface="+mj-ea"/>
                <a:cs typeface="Times New Roman" panose="02020603050405020304" pitchFamily="18" charset="0"/>
              </a:rPr>
              <a:t>4. </a:t>
            </a:r>
            <a:r>
              <a:rPr lang="he-IL" sz="3200" spc="-50" dirty="0" err="1">
                <a:solidFill>
                  <a:schemeClr val="accent1">
                    <a:lumMod val="75000"/>
                  </a:schemeClr>
                </a:solidFill>
                <a:latin typeface="Times New Roman" panose="02020603050405020304" pitchFamily="18" charset="0"/>
                <a:ea typeface="+mj-ea"/>
                <a:cs typeface="Times New Roman" panose="02020603050405020304" pitchFamily="18" charset="0"/>
              </a:rPr>
              <a:t>פסאודו</a:t>
            </a:r>
            <a:r>
              <a:rPr lang="he-IL" sz="3200" spc="-50" dirty="0">
                <a:solidFill>
                  <a:schemeClr val="accent1">
                    <a:lumMod val="75000"/>
                  </a:schemeClr>
                </a:solidFill>
                <a:latin typeface="Times New Roman" panose="02020603050405020304" pitchFamily="18" charset="0"/>
                <a:ea typeface="+mj-ea"/>
                <a:cs typeface="Times New Roman" panose="02020603050405020304" pitchFamily="18" charset="0"/>
              </a:rPr>
              <a:t> קוד</a:t>
            </a:r>
          </a:p>
        </p:txBody>
      </p:sp>
    </p:spTree>
    <p:extLst>
      <p:ext uri="{BB962C8B-B14F-4D97-AF65-F5344CB8AC3E}">
        <p14:creationId xmlns:p14="http://schemas.microsoft.com/office/powerpoint/2010/main" val="3132378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3A3A3B82-7FA5-9D7E-184A-6C67873B32E8}"/>
                  </a:ext>
                </a:extLst>
              </p:cNvPr>
              <p:cNvSpPr>
                <a:spLocks noGrp="1"/>
              </p:cNvSpPr>
              <p:nvPr>
                <p:ph idx="1"/>
              </p:nvPr>
            </p:nvSpPr>
            <p:spPr>
              <a:xfrm>
                <a:off x="1249680" y="1892387"/>
                <a:ext cx="10393680" cy="4377784"/>
              </a:xfrm>
            </p:spPr>
            <p:txBody>
              <a:bodyPr>
                <a:normAutofit fontScale="92500" lnSpcReduction="20000"/>
              </a:bodyPr>
              <a:lstStyle/>
              <a:p>
                <a:pPr algn="just">
                  <a:lnSpc>
                    <a:spcPct val="150000"/>
                  </a:lnSpc>
                </a:pPr>
                <a:r>
                  <a:rPr lang="he-IL" sz="3200" spc="-50" dirty="0">
                    <a:latin typeface="Times New Roman" panose="02020603050405020304" pitchFamily="18" charset="0"/>
                    <a:ea typeface="+mj-ea"/>
                    <a:cs typeface="Times New Roman" panose="02020603050405020304" pitchFamily="18" charset="0"/>
                  </a:rPr>
                  <a:t>בהינתן קבוצת נקודות כלשהי, תחילה נמיין, ולאחר מכן נזמן את האלגוריתם </a:t>
                </a:r>
                <a14:m>
                  <m:oMath xmlns:m="http://schemas.openxmlformats.org/officeDocument/2006/math">
                    <m:r>
                      <a:rPr lang="en-US" sz="3200" b="0" i="1" spc="-50" dirty="0" smtClean="0">
                        <a:latin typeface="Cambria Math" panose="02040503050406030204" pitchFamily="18" charset="0"/>
                        <a:ea typeface="+mj-ea"/>
                        <a:cs typeface="Times New Roman" panose="02020603050405020304" pitchFamily="18" charset="0"/>
                      </a:rPr>
                      <m:t>𝑃𝑜𝑖𝑛𝑡𝑠𝐶𝑜𝑣𝑒𝑟𝑆𝑜𝑟𝑡𝑒𝑑</m:t>
                    </m:r>
                  </m:oMath>
                </a14:m>
                <a:r>
                  <a:rPr lang="he-IL" sz="3200" spc="-50" dirty="0">
                    <a:latin typeface="Times New Roman" panose="02020603050405020304" pitchFamily="18" charset="0"/>
                    <a:ea typeface="+mj-ea"/>
                    <a:cs typeface="Times New Roman" panose="02020603050405020304" pitchFamily="18" charset="0"/>
                  </a:rPr>
                  <a:t>.</a:t>
                </a:r>
              </a:p>
              <a:p>
                <a:pPr algn="just">
                  <a:lnSpc>
                    <a:spcPct val="150000"/>
                  </a:lnSpc>
                </a:pPr>
                <a:r>
                  <a:rPr lang="he-IL" sz="3200" u="sng" spc="-50" dirty="0">
                    <a:latin typeface="Times New Roman" panose="02020603050405020304" pitchFamily="18" charset="0"/>
                    <a:ea typeface="+mj-ea"/>
                    <a:cs typeface="Times New Roman" panose="02020603050405020304" pitchFamily="18" charset="0"/>
                  </a:rPr>
                  <a:t>ולכן זמן הריצה הכולל הוא:</a:t>
                </a:r>
              </a:p>
              <a:p>
                <a:pPr algn="just">
                  <a:lnSpc>
                    <a:spcPct val="150000"/>
                  </a:lnSpc>
                  <a:buFont typeface="Arial" panose="020B0604020202020204" pitchFamily="34" charset="0"/>
                  <a:buChar char="•"/>
                </a:pPr>
                <a:r>
                  <a:rPr lang="he-IL" sz="3200" spc="-50" dirty="0">
                    <a:latin typeface="Times New Roman" panose="02020603050405020304" pitchFamily="18" charset="0"/>
                    <a:ea typeface="+mj-ea"/>
                    <a:cs typeface="Times New Roman" panose="02020603050405020304" pitchFamily="18" charset="0"/>
                  </a:rPr>
                  <a:t> מיון- </a:t>
                </a:r>
                <a14:m>
                  <m:oMath xmlns:m="http://schemas.openxmlformats.org/officeDocument/2006/math">
                    <m:r>
                      <a:rPr lang="en-US" sz="3200" b="0" i="1" spc="-50" smtClean="0">
                        <a:solidFill>
                          <a:schemeClr val="accent2">
                            <a:lumMod val="75000"/>
                          </a:schemeClr>
                        </a:solidFill>
                        <a:latin typeface="Cambria Math" panose="02040503050406030204" pitchFamily="18" charset="0"/>
                        <a:ea typeface="+mj-ea"/>
                        <a:cs typeface="Times New Roman" panose="02020603050405020304" pitchFamily="18" charset="0"/>
                      </a:rPr>
                      <m:t>𝑂</m:t>
                    </m:r>
                    <m:r>
                      <a:rPr lang="en-US" sz="3200" b="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r>
                      <a:rPr lang="en-US" sz="3200" b="0" i="1" spc="-50" smtClean="0">
                        <a:solidFill>
                          <a:schemeClr val="accent2">
                            <a:lumMod val="75000"/>
                          </a:schemeClr>
                        </a:solidFill>
                        <a:latin typeface="Cambria Math" panose="02040503050406030204" pitchFamily="18" charset="0"/>
                        <a:ea typeface="+mj-ea"/>
                        <a:cs typeface="Times New Roman" panose="02020603050405020304" pitchFamily="18" charset="0"/>
                      </a:rPr>
                      <m:t>𝑛𝑙𝑜𝑔</m:t>
                    </m:r>
                    <m:r>
                      <a:rPr lang="en-US" sz="3200" b="0" i="1" spc="-50" smtClean="0">
                        <a:solidFill>
                          <a:schemeClr val="accent2">
                            <a:lumMod val="75000"/>
                          </a:schemeClr>
                        </a:solidFill>
                        <a:latin typeface="Cambria Math" panose="02040503050406030204" pitchFamily="18" charset="0"/>
                        <a:ea typeface="+mj-ea"/>
                        <a:cs typeface="Times New Roman" panose="02020603050405020304" pitchFamily="18" charset="0"/>
                      </a:rPr>
                      <m:t> </m:t>
                    </m:r>
                    <m:r>
                      <a:rPr lang="en-US" sz="3200" b="0" i="1" spc="-50" smtClean="0">
                        <a:solidFill>
                          <a:schemeClr val="accent2">
                            <a:lumMod val="75000"/>
                          </a:schemeClr>
                        </a:solidFill>
                        <a:latin typeface="Cambria Math" panose="02040503050406030204" pitchFamily="18" charset="0"/>
                        <a:ea typeface="+mj-ea"/>
                        <a:cs typeface="Times New Roman" panose="02020603050405020304" pitchFamily="18" charset="0"/>
                      </a:rPr>
                      <m:t>𝑛</m:t>
                    </m:r>
                    <m:r>
                      <a:rPr lang="en-US" sz="3200" b="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oMath>
                </a14:m>
                <a:endParaRPr lang="he-IL" sz="3200" spc="-50" dirty="0">
                  <a:latin typeface="Times New Roman" panose="02020603050405020304" pitchFamily="18" charset="0"/>
                  <a:ea typeface="+mj-ea"/>
                  <a:cs typeface="Times New Roman" panose="02020603050405020304" pitchFamily="18" charset="0"/>
                </a:endParaRPr>
              </a:p>
              <a:p>
                <a:pPr algn="just">
                  <a:lnSpc>
                    <a:spcPct val="150000"/>
                  </a:lnSpc>
                  <a:buFont typeface="Arial" panose="020B0604020202020204" pitchFamily="34" charset="0"/>
                  <a:buChar char="•"/>
                </a:pPr>
                <a14:m>
                  <m:oMath xmlns:m="http://schemas.openxmlformats.org/officeDocument/2006/math">
                    <m:r>
                      <a:rPr lang="en-US" sz="2800" b="0" i="1" spc="-50" dirty="0" smtClean="0">
                        <a:latin typeface="Cambria Math" panose="02040503050406030204" pitchFamily="18" charset="0"/>
                        <a:ea typeface="+mj-ea"/>
                        <a:cs typeface="Times New Roman" panose="02020603050405020304" pitchFamily="18" charset="0"/>
                      </a:rPr>
                      <m:t>𝑃𝑜𝑖𝑛𝑡𝑠𝐶𝑜𝑣𝑒𝑟𝑆𝑜𝑟𝑡𝑒𝑑</m:t>
                    </m:r>
                    <m:r>
                      <a:rPr lang="he-IL" sz="2800" b="0" i="1" spc="-50" dirty="0" smtClean="0">
                        <a:latin typeface="Cambria Math" panose="02040503050406030204" pitchFamily="18" charset="0"/>
                        <a:ea typeface="+mj-ea"/>
                        <a:cs typeface="Times New Roman" panose="02020603050405020304" pitchFamily="18" charset="0"/>
                      </a:rPr>
                      <m:t> </m:t>
                    </m:r>
                  </m:oMath>
                </a14:m>
                <a:r>
                  <a:rPr lang="he-IL" sz="3200" spc="-50" dirty="0">
                    <a:latin typeface="Times New Roman" panose="02020603050405020304" pitchFamily="18" charset="0"/>
                    <a:ea typeface="+mj-ea"/>
                    <a:cs typeface="Times New Roman" panose="02020603050405020304" pitchFamily="18" charset="0"/>
                  </a:rPr>
                  <a:t>- </a:t>
                </a:r>
                <a14:m>
                  <m:oMath xmlns:m="http://schemas.openxmlformats.org/officeDocument/2006/math">
                    <m:r>
                      <a:rPr lang="en-US" sz="2800" i="1" spc="-50">
                        <a:solidFill>
                          <a:schemeClr val="accent2">
                            <a:lumMod val="75000"/>
                          </a:schemeClr>
                        </a:solidFill>
                        <a:latin typeface="Cambria Math" panose="02040503050406030204" pitchFamily="18" charset="0"/>
                        <a:cs typeface="Times New Roman" panose="02020603050405020304" pitchFamily="18" charset="0"/>
                      </a:rPr>
                      <m:t>𝑂</m:t>
                    </m:r>
                    <m:d>
                      <m:dPr>
                        <m:ctrlPr>
                          <a:rPr lang="en-US" sz="2800" i="1" spc="-50">
                            <a:solidFill>
                              <a:schemeClr val="accent2">
                                <a:lumMod val="75000"/>
                              </a:schemeClr>
                            </a:solidFill>
                            <a:latin typeface="Cambria Math" panose="02040503050406030204" pitchFamily="18" charset="0"/>
                            <a:cs typeface="Times New Roman" panose="02020603050405020304" pitchFamily="18" charset="0"/>
                          </a:rPr>
                        </m:ctrlPr>
                      </m:dPr>
                      <m:e>
                        <m:r>
                          <a:rPr lang="en-US" sz="2800" i="1" spc="-50">
                            <a:solidFill>
                              <a:schemeClr val="accent2">
                                <a:lumMod val="75000"/>
                              </a:schemeClr>
                            </a:solidFill>
                            <a:latin typeface="Cambria Math" panose="02040503050406030204" pitchFamily="18" charset="0"/>
                            <a:cs typeface="Times New Roman" panose="02020603050405020304" pitchFamily="18" charset="0"/>
                          </a:rPr>
                          <m:t>𝑛</m:t>
                        </m:r>
                      </m:e>
                    </m:d>
                  </m:oMath>
                </a14:m>
                <a:endParaRPr lang="he-IL" sz="2800" spc="-50" dirty="0">
                  <a:solidFill>
                    <a:schemeClr val="accent2">
                      <a:lumMod val="75000"/>
                    </a:schemeClr>
                  </a:solidFill>
                  <a:latin typeface="Times New Roman" panose="02020603050405020304" pitchFamily="18" charset="0"/>
                  <a:cs typeface="Times New Roman" panose="02020603050405020304" pitchFamily="18" charset="0"/>
                </a:endParaRPr>
              </a:p>
              <a:p>
                <a:pPr algn="just">
                  <a:lnSpc>
                    <a:spcPct val="150000"/>
                  </a:lnSpc>
                </a:pPr>
                <a:r>
                  <a:rPr lang="he-IL" sz="2800" b="1" spc="-50" dirty="0">
                    <a:latin typeface="Times New Roman" panose="02020603050405020304" pitchFamily="18" charset="0"/>
                    <a:cs typeface="Times New Roman" panose="02020603050405020304" pitchFamily="18" charset="0"/>
                  </a:rPr>
                  <a:t>בסה"כ: </a:t>
                </a:r>
                <a14:m>
                  <m:oMath xmlns:m="http://schemas.openxmlformats.org/officeDocument/2006/math">
                    <m:r>
                      <a:rPr lang="en-US" sz="2800" b="1" i="1" spc="-50" smtClean="0">
                        <a:solidFill>
                          <a:schemeClr val="accent2">
                            <a:lumMod val="75000"/>
                          </a:schemeClr>
                        </a:solidFill>
                        <a:latin typeface="Cambria Math" panose="02040503050406030204" pitchFamily="18" charset="0"/>
                        <a:ea typeface="+mj-ea"/>
                        <a:cs typeface="Times New Roman" panose="02020603050405020304" pitchFamily="18" charset="0"/>
                      </a:rPr>
                      <m:t>𝑶</m:t>
                    </m:r>
                    <m:r>
                      <a:rPr lang="en-US" sz="2800" b="1" i="1" spc="-50" smtClean="0">
                        <a:solidFill>
                          <a:schemeClr val="accent2">
                            <a:lumMod val="75000"/>
                          </a:schemeClr>
                        </a:solidFill>
                        <a:latin typeface="Cambria Math" panose="02040503050406030204" pitchFamily="18" charset="0"/>
                        <a:ea typeface="+mj-ea"/>
                        <a:cs typeface="Times New Roman" panose="02020603050405020304" pitchFamily="18" charset="0"/>
                      </a:rPr>
                      <m:t>(</m:t>
                    </m:r>
                    <m:r>
                      <a:rPr lang="en-US" sz="2800" b="1" i="1" spc="-50" smtClean="0">
                        <a:solidFill>
                          <a:schemeClr val="accent2">
                            <a:lumMod val="75000"/>
                          </a:schemeClr>
                        </a:solidFill>
                        <a:latin typeface="Cambria Math" panose="02040503050406030204" pitchFamily="18" charset="0"/>
                        <a:ea typeface="+mj-ea"/>
                        <a:cs typeface="Times New Roman" panose="02020603050405020304" pitchFamily="18" charset="0"/>
                      </a:rPr>
                      <m:t>𝒏𝒍𝒐𝒈</m:t>
                    </m:r>
                    <m:r>
                      <a:rPr lang="en-US" sz="2800" b="1" i="1" spc="-50" smtClean="0">
                        <a:solidFill>
                          <a:schemeClr val="accent2">
                            <a:lumMod val="75000"/>
                          </a:schemeClr>
                        </a:solidFill>
                        <a:latin typeface="Cambria Math" panose="02040503050406030204" pitchFamily="18" charset="0"/>
                        <a:ea typeface="+mj-ea"/>
                        <a:cs typeface="Times New Roman" panose="02020603050405020304" pitchFamily="18" charset="0"/>
                      </a:rPr>
                      <m:t> </m:t>
                    </m:r>
                    <m:r>
                      <a:rPr lang="en-US" sz="2800" b="1" i="1" spc="-50" smtClean="0">
                        <a:solidFill>
                          <a:schemeClr val="accent2">
                            <a:lumMod val="75000"/>
                          </a:schemeClr>
                        </a:solidFill>
                        <a:latin typeface="Cambria Math" panose="02040503050406030204" pitchFamily="18" charset="0"/>
                        <a:ea typeface="+mj-ea"/>
                        <a:cs typeface="Times New Roman" panose="02020603050405020304" pitchFamily="18" charset="0"/>
                      </a:rPr>
                      <m:t>𝒏</m:t>
                    </m:r>
                    <m:r>
                      <a:rPr lang="en-US" sz="2800" b="1" i="1" spc="-50" smtClean="0">
                        <a:solidFill>
                          <a:schemeClr val="accent2">
                            <a:lumMod val="75000"/>
                          </a:schemeClr>
                        </a:solidFill>
                        <a:latin typeface="Cambria Math" panose="02040503050406030204" pitchFamily="18" charset="0"/>
                        <a:ea typeface="+mj-ea"/>
                        <a:cs typeface="Times New Roman" panose="02020603050405020304" pitchFamily="18" charset="0"/>
                      </a:rPr>
                      <m:t>)</m:t>
                    </m:r>
                  </m:oMath>
                </a14:m>
                <a:endParaRPr lang="he-IL" sz="2800" b="1" spc="-50" dirty="0">
                  <a:latin typeface="Times New Roman" panose="02020603050405020304" pitchFamily="18" charset="0"/>
                  <a:ea typeface="+mj-ea"/>
                  <a:cs typeface="Times New Roman" panose="02020603050405020304" pitchFamily="18" charset="0"/>
                </a:endParaRPr>
              </a:p>
              <a:p>
                <a:endParaRPr lang="he-IL" sz="4400" spc="-50" dirty="0">
                  <a:latin typeface="Times New Roman" panose="02020603050405020304" pitchFamily="18" charset="0"/>
                  <a:cs typeface="Times New Roman" panose="02020603050405020304" pitchFamily="18" charset="0"/>
                </a:endParaRPr>
              </a:p>
              <a:p>
                <a:endParaRPr lang="he-IL" sz="4700" spc="-50" dirty="0">
                  <a:latin typeface="Times New Roman" panose="02020603050405020304" pitchFamily="18" charset="0"/>
                  <a:ea typeface="+mj-ea"/>
                  <a:cs typeface="Times New Roman" panose="02020603050405020304" pitchFamily="18" charset="0"/>
                </a:endParaRPr>
              </a:p>
              <a:p>
                <a:endParaRPr lang="he-IL" sz="3200" spc="-50" dirty="0">
                  <a:latin typeface="Times New Roman" panose="02020603050405020304" pitchFamily="18" charset="0"/>
                  <a:ea typeface="+mj-ea"/>
                  <a:cs typeface="Times New Roman" panose="02020603050405020304" pitchFamily="18" charset="0"/>
                </a:endParaRPr>
              </a:p>
              <a:p>
                <a:pPr marL="0" indent="0">
                  <a:buNone/>
                </a:pPr>
                <a:endParaRPr lang="he-IL" sz="3200" spc="-50" dirty="0">
                  <a:latin typeface="Times New Roman" panose="02020603050405020304" pitchFamily="18" charset="0"/>
                  <a:ea typeface="+mj-ea"/>
                  <a:cs typeface="Times New Roman" panose="02020603050405020304" pitchFamily="18" charset="0"/>
                </a:endParaRPr>
              </a:p>
            </p:txBody>
          </p:sp>
        </mc:Choice>
        <mc:Fallback xmlns="">
          <p:sp>
            <p:nvSpPr>
              <p:cNvPr id="3" name="מציין מיקום תוכן 2">
                <a:extLst>
                  <a:ext uri="{FF2B5EF4-FFF2-40B4-BE49-F238E27FC236}">
                    <a16:creationId xmlns:a16="http://schemas.microsoft.com/office/drawing/2014/main" id="{3A3A3B82-7FA5-9D7E-184A-6C67873B32E8}"/>
                  </a:ext>
                </a:extLst>
              </p:cNvPr>
              <p:cNvSpPr>
                <a:spLocks noGrp="1" noRot="1" noChangeAspect="1" noMove="1" noResize="1" noEditPoints="1" noAdjustHandles="1" noChangeArrowheads="1" noChangeShapeType="1" noTextEdit="1"/>
              </p:cNvSpPr>
              <p:nvPr>
                <p:ph idx="1"/>
              </p:nvPr>
            </p:nvSpPr>
            <p:spPr>
              <a:xfrm>
                <a:off x="1249680" y="1892387"/>
                <a:ext cx="10393680" cy="4377784"/>
              </a:xfrm>
              <a:blipFill>
                <a:blip r:embed="rId2"/>
                <a:stretch>
                  <a:fillRect l="-3050" r="-2287" b="-417"/>
                </a:stretch>
              </a:blipFill>
            </p:spPr>
            <p:txBody>
              <a:bodyPr/>
              <a:lstStyle/>
              <a:p>
                <a:r>
                  <a:rPr lang="he-IL">
                    <a:noFill/>
                  </a:rPr>
                  <a:t> </a:t>
                </a:r>
              </a:p>
            </p:txBody>
          </p:sp>
        </mc:Fallback>
      </mc:AlternateContent>
      <p:sp>
        <p:nvSpPr>
          <p:cNvPr id="4" name="תיבת טקסט 3">
            <a:extLst>
              <a:ext uri="{FF2B5EF4-FFF2-40B4-BE49-F238E27FC236}">
                <a16:creationId xmlns:a16="http://schemas.microsoft.com/office/drawing/2014/main" id="{503D0E12-B0DD-67E8-7496-EC7E8D04F934}"/>
              </a:ext>
            </a:extLst>
          </p:cNvPr>
          <p:cNvSpPr txBox="1"/>
          <p:nvPr/>
        </p:nvSpPr>
        <p:spPr>
          <a:xfrm>
            <a:off x="6622026" y="764598"/>
            <a:ext cx="5569974" cy="584775"/>
          </a:xfrm>
          <a:prstGeom prst="rect">
            <a:avLst/>
          </a:prstGeom>
          <a:solidFill>
            <a:schemeClr val="accent1">
              <a:lumMod val="60000"/>
              <a:lumOff val="40000"/>
            </a:schemeClr>
          </a:solidFill>
        </p:spPr>
        <p:txBody>
          <a:bodyPr wrap="square">
            <a:spAutoFit/>
          </a:bodyPr>
          <a:lstStyle/>
          <a:p>
            <a:pPr algn="r" rtl="1"/>
            <a:r>
              <a:rPr lang="he-IL" sz="3200" spc="-50" dirty="0">
                <a:solidFill>
                  <a:schemeClr val="accent1">
                    <a:lumMod val="75000"/>
                  </a:schemeClr>
                </a:solidFill>
                <a:latin typeface="Times New Roman" panose="02020603050405020304" pitchFamily="18" charset="0"/>
                <a:ea typeface="+mj-ea"/>
                <a:cs typeface="Times New Roman" panose="02020603050405020304" pitchFamily="18" charset="0"/>
              </a:rPr>
              <a:t>5. ניתוח זמן ריצה</a:t>
            </a:r>
          </a:p>
        </p:txBody>
      </p:sp>
    </p:spTree>
    <p:extLst>
      <p:ext uri="{BB962C8B-B14F-4D97-AF65-F5344CB8AC3E}">
        <p14:creationId xmlns:p14="http://schemas.microsoft.com/office/powerpoint/2010/main" val="37919086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64CE3E6-E24B-BB16-5553-FA519EF78600}"/>
              </a:ext>
            </a:extLst>
          </p:cNvPr>
          <p:cNvSpPr>
            <a:spLocks noGrp="1"/>
          </p:cNvSpPr>
          <p:nvPr>
            <p:ph type="title"/>
          </p:nvPr>
        </p:nvSpPr>
        <p:spPr/>
        <p:txBody>
          <a:bodyPr/>
          <a:lstStyle/>
          <a:p>
            <a:pPr algn="ctr"/>
            <a:r>
              <a:rPr lang="he-IL" dirty="0"/>
              <a:t>כיסוי נקודות בקטעים- ניתוח זמן ריצה</a:t>
            </a:r>
          </a:p>
        </p:txBody>
      </p:sp>
      <p:sp>
        <p:nvSpPr>
          <p:cNvPr id="3" name="מציין מיקום תוכן 2">
            <a:extLst>
              <a:ext uri="{FF2B5EF4-FFF2-40B4-BE49-F238E27FC236}">
                <a16:creationId xmlns:a16="http://schemas.microsoft.com/office/drawing/2014/main" id="{3A3A3B82-7FA5-9D7E-184A-6C67873B32E8}"/>
              </a:ext>
            </a:extLst>
          </p:cNvPr>
          <p:cNvSpPr>
            <a:spLocks noGrp="1"/>
          </p:cNvSpPr>
          <p:nvPr>
            <p:ph idx="1"/>
          </p:nvPr>
        </p:nvSpPr>
        <p:spPr>
          <a:xfrm>
            <a:off x="1249680" y="1892387"/>
            <a:ext cx="10393680" cy="4377784"/>
          </a:xfrm>
        </p:spPr>
        <p:txBody>
          <a:bodyPr>
            <a:normAutofit/>
          </a:bodyPr>
          <a:lstStyle/>
          <a:p>
            <a:pPr algn="just">
              <a:lnSpc>
                <a:spcPct val="150000"/>
              </a:lnSpc>
            </a:pPr>
            <a:r>
              <a:rPr lang="he-IL" sz="3200" spc="-50" dirty="0">
                <a:latin typeface="Times New Roman" panose="02020603050405020304" pitchFamily="18" charset="0"/>
                <a:ea typeface="+mj-ea"/>
                <a:cs typeface="Times New Roman" panose="02020603050405020304" pitchFamily="18" charset="0"/>
              </a:rPr>
              <a:t>בהשוואה לאלגוריתם הנאיבי:</a:t>
            </a:r>
          </a:p>
          <a:p>
            <a:pPr algn="just">
              <a:lnSpc>
                <a:spcPct val="150000"/>
              </a:lnSpc>
            </a:pPr>
            <a:r>
              <a:rPr lang="he-IL" sz="3200" spc="-50" dirty="0">
                <a:latin typeface="Times New Roman" panose="02020603050405020304" pitchFamily="18" charset="0"/>
                <a:ea typeface="+mj-ea"/>
                <a:cs typeface="Times New Roman" panose="02020603050405020304" pitchFamily="18" charset="0"/>
              </a:rPr>
              <a:t>האלגוריתם הנאיבי עבור קלט באורך 50 לא היה מעשי.</a:t>
            </a:r>
          </a:p>
          <a:p>
            <a:pPr algn="just">
              <a:lnSpc>
                <a:spcPct val="150000"/>
              </a:lnSpc>
            </a:pPr>
            <a:r>
              <a:rPr lang="he-IL" sz="3200" spc="-50" dirty="0">
                <a:latin typeface="Times New Roman" panose="02020603050405020304" pitchFamily="18" charset="0"/>
                <a:ea typeface="+mj-ea"/>
                <a:cs typeface="Times New Roman" panose="02020603050405020304" pitchFamily="18" charset="0"/>
              </a:rPr>
              <a:t>האלגוריתם החמדני מהיר עבור קלט באורך 10,000,000</a:t>
            </a:r>
          </a:p>
          <a:p>
            <a:pPr marL="0" indent="0" algn="just">
              <a:lnSpc>
                <a:spcPct val="150000"/>
              </a:lnSpc>
              <a:buNone/>
            </a:pPr>
            <a:r>
              <a:rPr lang="he-IL" sz="3600" spc="-50" dirty="0">
                <a:solidFill>
                  <a:schemeClr val="accent2">
                    <a:lumMod val="75000"/>
                  </a:schemeClr>
                </a:solidFill>
                <a:latin typeface="Times New Roman" panose="02020603050405020304" pitchFamily="18" charset="0"/>
                <a:cs typeface="Times New Roman" panose="02020603050405020304" pitchFamily="18" charset="0"/>
              </a:rPr>
              <a:t> </a:t>
            </a:r>
            <a:r>
              <a:rPr lang="he-IL" sz="3600" b="1" spc="-50" dirty="0">
                <a:latin typeface="Times New Roman" panose="02020603050405020304" pitchFamily="18" charset="0"/>
                <a:cs typeface="Times New Roman" panose="02020603050405020304" pitchFamily="18" charset="0"/>
              </a:rPr>
              <a:t>שיפור משמעותי!</a:t>
            </a:r>
            <a:endParaRPr lang="he-IL" sz="3600" b="1" spc="-50" dirty="0">
              <a:latin typeface="Times New Roman" panose="02020603050405020304" pitchFamily="18" charset="0"/>
              <a:ea typeface="+mj-ea"/>
              <a:cs typeface="Times New Roman" panose="02020603050405020304" pitchFamily="18" charset="0"/>
            </a:endParaRPr>
          </a:p>
          <a:p>
            <a:endParaRPr lang="he-IL" sz="4400" spc="-50" dirty="0">
              <a:latin typeface="Times New Roman" panose="02020603050405020304" pitchFamily="18" charset="0"/>
              <a:cs typeface="Times New Roman" panose="02020603050405020304" pitchFamily="18" charset="0"/>
            </a:endParaRPr>
          </a:p>
          <a:p>
            <a:endParaRPr lang="he-IL" sz="4700" spc="-50" dirty="0">
              <a:latin typeface="Times New Roman" panose="02020603050405020304" pitchFamily="18" charset="0"/>
              <a:ea typeface="+mj-ea"/>
              <a:cs typeface="Times New Roman" panose="02020603050405020304" pitchFamily="18" charset="0"/>
            </a:endParaRPr>
          </a:p>
          <a:p>
            <a:endParaRPr lang="he-IL" sz="3200" spc="-50" dirty="0">
              <a:latin typeface="Times New Roman" panose="02020603050405020304" pitchFamily="18" charset="0"/>
              <a:ea typeface="+mj-ea"/>
              <a:cs typeface="Times New Roman" panose="02020603050405020304" pitchFamily="18" charset="0"/>
            </a:endParaRPr>
          </a:p>
          <a:p>
            <a:pPr marL="0" indent="0">
              <a:buNone/>
            </a:pPr>
            <a:endParaRPr lang="he-IL" sz="3200" spc="-5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40751210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D30F238-41B4-0793-EA81-328D59B9053B}"/>
              </a:ext>
            </a:extLst>
          </p:cNvPr>
          <p:cNvSpPr>
            <a:spLocks noGrp="1"/>
          </p:cNvSpPr>
          <p:nvPr>
            <p:ph type="title"/>
          </p:nvPr>
        </p:nvSpPr>
        <p:spPr/>
        <p:txBody>
          <a:bodyPr/>
          <a:lstStyle/>
          <a:p>
            <a:r>
              <a:rPr lang="he-IL" dirty="0"/>
              <a:t>מה נראה היום?</a:t>
            </a:r>
          </a:p>
        </p:txBody>
      </p:sp>
      <p:sp>
        <p:nvSpPr>
          <p:cNvPr id="3" name="מציין מיקום תוכן 2">
            <a:extLst>
              <a:ext uri="{FF2B5EF4-FFF2-40B4-BE49-F238E27FC236}">
                <a16:creationId xmlns:a16="http://schemas.microsoft.com/office/drawing/2014/main" id="{2CFEA2EA-1886-D54E-1689-BF9D0BF0A9FF}"/>
              </a:ext>
            </a:extLst>
          </p:cNvPr>
          <p:cNvSpPr>
            <a:spLocks noGrp="1"/>
          </p:cNvSpPr>
          <p:nvPr>
            <p:ph idx="1"/>
          </p:nvPr>
        </p:nvSpPr>
        <p:spPr>
          <a:xfrm>
            <a:off x="4819262" y="668068"/>
            <a:ext cx="6492240" cy="6600476"/>
          </a:xfrm>
        </p:spPr>
        <p:txBody>
          <a:bodyPr>
            <a:normAutofit/>
          </a:bodyPr>
          <a:lstStyle/>
          <a:p>
            <a:pPr>
              <a:lnSpc>
                <a:spcPct val="120000"/>
              </a:lnSpc>
              <a:buFont typeface="Arial" panose="020B0604020202020204" pitchFamily="34" charset="0"/>
              <a:buChar char="•"/>
            </a:pPr>
            <a:r>
              <a:rPr lang="he-IL" dirty="0">
                <a:solidFill>
                  <a:schemeClr val="bg1">
                    <a:lumMod val="75000"/>
                  </a:schemeClr>
                </a:solidFill>
                <a:latin typeface="Times New Roman" panose="02020603050405020304" pitchFamily="18" charset="0"/>
                <a:cs typeface="Times New Roman" panose="02020603050405020304" pitchFamily="18" charset="0"/>
              </a:rPr>
              <a:t> </a:t>
            </a:r>
            <a:r>
              <a:rPr lang="he-IL" sz="3600" dirty="0">
                <a:solidFill>
                  <a:schemeClr val="bg1">
                    <a:lumMod val="75000"/>
                  </a:schemeClr>
                </a:solidFill>
                <a:latin typeface="Times New Roman" panose="02020603050405020304" pitchFamily="18" charset="0"/>
                <a:cs typeface="Times New Roman" panose="02020603050405020304" pitchFamily="18" charset="0"/>
              </a:rPr>
              <a:t>דוגמא 1- שכר מקסימלי</a:t>
            </a:r>
          </a:p>
          <a:p>
            <a:pPr>
              <a:lnSpc>
                <a:spcPct val="120000"/>
              </a:lnSpc>
              <a:buFont typeface="Arial" panose="020B0604020202020204" pitchFamily="34" charset="0"/>
              <a:buChar char="•"/>
            </a:pPr>
            <a:r>
              <a:rPr lang="he-IL" sz="3600" dirty="0">
                <a:latin typeface="Times New Roman" panose="02020603050405020304" pitchFamily="18" charset="0"/>
                <a:cs typeface="Times New Roman" panose="02020603050405020304" pitchFamily="18" charset="0"/>
              </a:rPr>
              <a:t> </a:t>
            </a:r>
            <a:r>
              <a:rPr lang="he-IL" sz="3600" dirty="0">
                <a:solidFill>
                  <a:schemeClr val="bg1">
                    <a:lumMod val="75000"/>
                  </a:schemeClr>
                </a:solidFill>
                <a:latin typeface="Times New Roman" panose="02020603050405020304" pitchFamily="18" charset="0"/>
                <a:cs typeface="Times New Roman" panose="02020603050405020304" pitchFamily="18" charset="0"/>
              </a:rPr>
              <a:t>דוגמא 2- ניהול תור</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אלגוריתם חמדני- מרכיבים עיקריים</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דוגמא 3- מסיבה</a:t>
            </a:r>
          </a:p>
          <a:p>
            <a:pPr>
              <a:lnSpc>
                <a:spcPct val="120000"/>
              </a:lnSpc>
              <a:buFont typeface="Arial" panose="020B0604020202020204" pitchFamily="34" charset="0"/>
              <a:buChar char="•"/>
            </a:pPr>
            <a:r>
              <a:rPr lang="he-IL" sz="3600" dirty="0">
                <a:solidFill>
                  <a:schemeClr val="bg1">
                    <a:lumMod val="75000"/>
                  </a:schemeClr>
                </a:solidFill>
                <a:latin typeface="Times New Roman" panose="02020603050405020304" pitchFamily="18" charset="0"/>
                <a:cs typeface="Times New Roman" panose="02020603050405020304" pitchFamily="18" charset="0"/>
              </a:rPr>
              <a:t> </a:t>
            </a:r>
            <a:r>
              <a:rPr lang="he-IL" sz="3600" dirty="0">
                <a:solidFill>
                  <a:schemeClr val="tx1"/>
                </a:solidFill>
                <a:latin typeface="Times New Roman" panose="02020603050405020304" pitchFamily="18" charset="0"/>
                <a:cs typeface="Times New Roman" panose="02020603050405020304" pitchFamily="18" charset="0"/>
              </a:rPr>
              <a:t>דוגמא 4- תרמיל הגב בשברים</a:t>
            </a:r>
          </a:p>
          <a:p>
            <a:pPr marL="0" indent="0">
              <a:lnSpc>
                <a:spcPct val="120000"/>
              </a:lnSpc>
              <a:buNone/>
            </a:pPr>
            <a:endParaRPr lang="he-IL"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27244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47</a:t>
            </a:fld>
            <a:endParaRPr lang="he-IL" dirty="0">
              <a:solidFill>
                <a:schemeClr val="bg1"/>
              </a:solidFill>
            </a:endParaRPr>
          </a:p>
        </p:txBody>
      </p:sp>
      <p:sp>
        <p:nvSpPr>
          <p:cNvPr id="6" name="Rectangle 5"/>
          <p:cNvSpPr/>
          <p:nvPr/>
        </p:nvSpPr>
        <p:spPr>
          <a:xfrm>
            <a:off x="3457305" y="848094"/>
            <a:ext cx="5277407" cy="830997"/>
          </a:xfrm>
          <a:prstGeom prst="rect">
            <a:avLst/>
          </a:prstGeom>
        </p:spPr>
        <p:txBody>
          <a:bodyPr wrap="none">
            <a:spAutoFit/>
          </a:bodyPr>
          <a:lstStyle/>
          <a:p>
            <a:pPr lvl="0" algn="ctr" rtl="1" eaLnBrk="0" fontAlgn="base" hangingPunct="0">
              <a:spcBef>
                <a:spcPct val="0"/>
              </a:spcBef>
              <a:spcAft>
                <a:spcPct val="0"/>
              </a:spcAft>
            </a:pPr>
            <a:r>
              <a:rPr lang="he-IL" altLang="he-IL" sz="4800" spc="-50" dirty="0">
                <a:solidFill>
                  <a:schemeClr val="tx1">
                    <a:lumMod val="75000"/>
                    <a:lumOff val="25000"/>
                  </a:schemeClr>
                </a:solidFill>
                <a:latin typeface="+mj-lt"/>
                <a:ea typeface="+mj-ea"/>
                <a:cs typeface="+mj-cs"/>
              </a:rPr>
              <a:t>בעיית התרמיל (בשברים)</a:t>
            </a:r>
            <a:endParaRPr lang="en-US" altLang="he-IL" sz="4800" spc="-50" dirty="0">
              <a:solidFill>
                <a:schemeClr val="tx1">
                  <a:lumMod val="75000"/>
                  <a:lumOff val="25000"/>
                </a:schemeClr>
              </a:solidFill>
              <a:latin typeface="+mj-lt"/>
              <a:ea typeface="+mj-ea"/>
              <a:cs typeface="+mj-cs"/>
            </a:endParaRPr>
          </a:p>
        </p:txBody>
      </p:sp>
      <p:pic>
        <p:nvPicPr>
          <p:cNvPr id="7" name="תמונה 6">
            <a:extLst>
              <a:ext uri="{FF2B5EF4-FFF2-40B4-BE49-F238E27FC236}">
                <a16:creationId xmlns:a16="http://schemas.microsoft.com/office/drawing/2014/main" id="{4E8041B4-BF79-AAE4-2CC8-A8A529E4A0D6}"/>
              </a:ext>
            </a:extLst>
          </p:cNvPr>
          <p:cNvPicPr>
            <a:picLocks noChangeAspect="1"/>
          </p:cNvPicPr>
          <p:nvPr/>
        </p:nvPicPr>
        <p:blipFill>
          <a:blip r:embed="rId2"/>
          <a:stretch>
            <a:fillRect/>
          </a:stretch>
        </p:blipFill>
        <p:spPr>
          <a:xfrm>
            <a:off x="3757612" y="1824037"/>
            <a:ext cx="4676775" cy="3209925"/>
          </a:xfrm>
          <a:prstGeom prst="rect">
            <a:avLst/>
          </a:prstGeom>
        </p:spPr>
      </p:pic>
      <p:pic>
        <p:nvPicPr>
          <p:cNvPr id="10" name="תמונה 9">
            <a:extLst>
              <a:ext uri="{FF2B5EF4-FFF2-40B4-BE49-F238E27FC236}">
                <a16:creationId xmlns:a16="http://schemas.microsoft.com/office/drawing/2014/main" id="{59CE5A1D-4F33-0FA1-633B-60AA8F6331A9}"/>
              </a:ext>
            </a:extLst>
          </p:cNvPr>
          <p:cNvPicPr>
            <a:picLocks noChangeAspect="1"/>
          </p:cNvPicPr>
          <p:nvPr/>
        </p:nvPicPr>
        <p:blipFill>
          <a:blip r:embed="rId3"/>
          <a:stretch>
            <a:fillRect/>
          </a:stretch>
        </p:blipFill>
        <p:spPr>
          <a:xfrm>
            <a:off x="5280747" y="4927889"/>
            <a:ext cx="1381125" cy="1352550"/>
          </a:xfrm>
          <a:prstGeom prst="rect">
            <a:avLst/>
          </a:prstGeom>
        </p:spPr>
      </p:pic>
    </p:spTree>
    <p:extLst>
      <p:ext uri="{BB962C8B-B14F-4D97-AF65-F5344CB8AC3E}">
        <p14:creationId xmlns:p14="http://schemas.microsoft.com/office/powerpoint/2010/main" val="17625218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25000" lnSpcReduction="20000"/>
          </a:bodyPr>
          <a:lstStyle/>
          <a:p>
            <a:fld id="{4F1E6CC7-5D87-41AE-A8C6-B06E12F85E9C}" type="slidenum">
              <a:rPr lang="he-IL" sz="8533">
                <a:solidFill>
                  <a:schemeClr val="bg1"/>
                </a:solidFill>
              </a:rPr>
              <a:pPr/>
              <a:t>48</a:t>
            </a:fld>
            <a:endParaRPr lang="he-IL" dirty="0">
              <a:solidFill>
                <a:schemeClr val="bg1"/>
              </a:solidFill>
            </a:endParaRPr>
          </a:p>
        </p:txBody>
      </p:sp>
      <p:sp>
        <p:nvSpPr>
          <p:cNvPr id="6" name="Rectangle 5"/>
          <p:cNvSpPr/>
          <p:nvPr/>
        </p:nvSpPr>
        <p:spPr>
          <a:xfrm>
            <a:off x="3457305" y="848094"/>
            <a:ext cx="5277407" cy="830997"/>
          </a:xfrm>
          <a:prstGeom prst="rect">
            <a:avLst/>
          </a:prstGeom>
        </p:spPr>
        <p:txBody>
          <a:bodyPr wrap="none">
            <a:spAutoFit/>
          </a:bodyPr>
          <a:lstStyle/>
          <a:p>
            <a:pPr lvl="0" algn="ctr" rtl="1" eaLnBrk="0" fontAlgn="base" hangingPunct="0">
              <a:spcBef>
                <a:spcPct val="0"/>
              </a:spcBef>
              <a:spcAft>
                <a:spcPct val="0"/>
              </a:spcAft>
            </a:pPr>
            <a:r>
              <a:rPr lang="he-IL" altLang="he-IL" sz="4800" spc="-50" dirty="0">
                <a:solidFill>
                  <a:schemeClr val="tx1">
                    <a:lumMod val="75000"/>
                    <a:lumOff val="25000"/>
                  </a:schemeClr>
                </a:solidFill>
                <a:latin typeface="+mj-lt"/>
                <a:ea typeface="+mj-ea"/>
                <a:cs typeface="+mj-cs"/>
              </a:rPr>
              <a:t>בעיית התרמיל (בשברים)</a:t>
            </a:r>
            <a:endParaRPr lang="en-US" altLang="he-IL" sz="4800" spc="-50" dirty="0">
              <a:solidFill>
                <a:schemeClr val="tx1">
                  <a:lumMod val="75000"/>
                  <a:lumOff val="25000"/>
                </a:schemeClr>
              </a:solidFill>
              <a:latin typeface="+mj-lt"/>
              <a:ea typeface="+mj-ea"/>
              <a:cs typeface="+mj-cs"/>
            </a:endParaRPr>
          </a:p>
        </p:txBody>
      </p:sp>
      <mc:AlternateContent xmlns:mc="http://schemas.openxmlformats.org/markup-compatibility/2006" xmlns:a14="http://schemas.microsoft.com/office/drawing/2010/main">
        <mc:Choice Requires="a14">
          <p:sp>
            <p:nvSpPr>
              <p:cNvPr id="2" name="מציין מיקום תוכן 2">
                <a:extLst>
                  <a:ext uri="{FF2B5EF4-FFF2-40B4-BE49-F238E27FC236}">
                    <a16:creationId xmlns:a16="http://schemas.microsoft.com/office/drawing/2014/main" id="{DB59EAD8-0CEF-E5AA-29DF-021A9809822A}"/>
                  </a:ext>
                </a:extLst>
              </p:cNvPr>
              <p:cNvSpPr>
                <a:spLocks noGrp="1"/>
              </p:cNvSpPr>
              <p:nvPr>
                <p:ph idx="1"/>
              </p:nvPr>
            </p:nvSpPr>
            <p:spPr>
              <a:xfrm>
                <a:off x="1249680" y="1892387"/>
                <a:ext cx="10393680" cy="4377784"/>
              </a:xfrm>
            </p:spPr>
            <p:txBody>
              <a:bodyPr>
                <a:normAutofit/>
              </a:bodyPr>
              <a:lstStyle/>
              <a:p>
                <a:pPr algn="just">
                  <a:lnSpc>
                    <a:spcPct val="150000"/>
                  </a:lnSpc>
                </a:pPr>
                <a:r>
                  <a:rPr lang="he-IL" sz="3600" b="1" spc="-50" dirty="0">
                    <a:latin typeface="Times New Roman" panose="02020603050405020304" pitchFamily="18" charset="0"/>
                    <a:ea typeface="+mj-ea"/>
                    <a:cs typeface="Times New Roman" panose="02020603050405020304" pitchFamily="18" charset="0"/>
                  </a:rPr>
                  <a:t>קלט: </a:t>
                </a:r>
              </a:p>
              <a:p>
                <a:pPr lvl="1" algn="just">
                  <a:lnSpc>
                    <a:spcPct val="150000"/>
                  </a:lnSpc>
                </a:pPr>
                <a:r>
                  <a:rPr lang="he-IL" sz="3200" spc="-50" dirty="0">
                    <a:latin typeface="Times New Roman" panose="02020603050405020304" pitchFamily="18" charset="0"/>
                    <a:ea typeface="+mj-ea"/>
                    <a:cs typeface="Times New Roman" panose="02020603050405020304" pitchFamily="18" charset="0"/>
                  </a:rPr>
                  <a:t>משקלים </a:t>
                </a:r>
                <a14:m>
                  <m:oMath xmlns:m="http://schemas.openxmlformats.org/officeDocument/2006/math">
                    <m:sSub>
                      <m:sSubPr>
                        <m:ctrlPr>
                          <a:rPr lang="he-IL" sz="3600" b="1" i="1" spc="-50" dirty="0" smtClean="0">
                            <a:solidFill>
                              <a:srgbClr val="836967"/>
                            </a:solidFill>
                            <a:latin typeface="Cambria Math" panose="02040503050406030204" pitchFamily="18" charset="0"/>
                            <a:ea typeface="+mj-ea"/>
                          </a:rPr>
                        </m:ctrlPr>
                      </m:sSubPr>
                      <m:e>
                        <m:r>
                          <a:rPr lang="he-IL" sz="3600" b="1" i="1" spc="-50" dirty="0">
                            <a:latin typeface="Cambria Math" panose="02040503050406030204" pitchFamily="18" charset="0"/>
                            <a:ea typeface="+mj-ea"/>
                          </a:rPr>
                          <m:t>𝑤</m:t>
                        </m:r>
                      </m:e>
                      <m:sub>
                        <m:r>
                          <a:rPr lang="he-IL" sz="3600" b="1" i="0" spc="-50" dirty="0">
                            <a:latin typeface="Cambria Math" panose="02040503050406030204" pitchFamily="18" charset="0"/>
                            <a:ea typeface="+mj-ea"/>
                          </a:rPr>
                          <m:t>1</m:t>
                        </m:r>
                      </m:sub>
                    </m:sSub>
                    <m:r>
                      <a:rPr lang="he-IL" sz="3600" b="1" i="0" spc="-50" dirty="0">
                        <a:latin typeface="Cambria Math" panose="02040503050406030204" pitchFamily="18" charset="0"/>
                        <a:ea typeface="+mj-ea"/>
                      </a:rPr>
                      <m:t>,</m:t>
                    </m:r>
                    <m:r>
                      <a:rPr lang="he-IL" sz="3600" b="1" i="1" spc="-50" dirty="0" smtClean="0">
                        <a:solidFill>
                          <a:srgbClr val="836967"/>
                        </a:solidFill>
                        <a:latin typeface="Cambria Math" panose="02040503050406030204" pitchFamily="18" charset="0"/>
                        <a:ea typeface="+mj-ea"/>
                      </a:rPr>
                      <m:t> </m:t>
                    </m:r>
                    <m:r>
                      <a:rPr lang="he-IL" sz="3600" b="1" i="0" spc="-50" dirty="0">
                        <a:latin typeface="Cambria Math" panose="02040503050406030204" pitchFamily="18" charset="0"/>
                        <a:ea typeface="+mj-ea"/>
                      </a:rPr>
                      <m:t>…</m:t>
                    </m:r>
                    <m:r>
                      <a:rPr lang="he-IL" sz="3600" b="1" i="0" spc="-50" dirty="0" smtClean="0">
                        <a:latin typeface="Cambria Math" panose="02040503050406030204" pitchFamily="18" charset="0"/>
                        <a:ea typeface="+mj-ea"/>
                      </a:rPr>
                      <m:t>,</m:t>
                    </m:r>
                    <m:sSub>
                      <m:sSubPr>
                        <m:ctrlPr>
                          <a:rPr lang="he-IL" sz="3600" b="1" i="1" spc="-50" dirty="0">
                            <a:solidFill>
                              <a:srgbClr val="836967"/>
                            </a:solidFill>
                            <a:latin typeface="Cambria Math" panose="02040503050406030204" pitchFamily="18" charset="0"/>
                            <a:ea typeface="+mj-ea"/>
                          </a:rPr>
                        </m:ctrlPr>
                      </m:sSubPr>
                      <m:e>
                        <m:r>
                          <a:rPr lang="he-IL" sz="3600" b="1" i="1" spc="-50" dirty="0">
                            <a:latin typeface="Cambria Math" panose="02040503050406030204" pitchFamily="18" charset="0"/>
                            <a:ea typeface="+mj-ea"/>
                          </a:rPr>
                          <m:t>𝑤</m:t>
                        </m:r>
                      </m:e>
                      <m:sub>
                        <m:r>
                          <a:rPr lang="he-IL" sz="3600" b="1" i="1" spc="-50" dirty="0">
                            <a:latin typeface="Cambria Math" panose="02040503050406030204" pitchFamily="18" charset="0"/>
                            <a:ea typeface="+mj-ea"/>
                          </a:rPr>
                          <m:t>𝑛</m:t>
                        </m:r>
                      </m:sub>
                    </m:sSub>
                  </m:oMath>
                </a14:m>
                <a:r>
                  <a:rPr lang="he-IL" sz="3600" b="1" spc="-50" dirty="0">
                    <a:latin typeface="Times New Roman" panose="02020603050405020304" pitchFamily="18" charset="0"/>
                    <a:ea typeface="+mj-ea"/>
                    <a:cs typeface="Times New Roman" panose="02020603050405020304" pitchFamily="18" charset="0"/>
                  </a:rPr>
                  <a:t>  </a:t>
                </a:r>
                <a:r>
                  <a:rPr lang="he-IL" sz="3200" spc="-50" dirty="0">
                    <a:latin typeface="Times New Roman" panose="02020603050405020304" pitchFamily="18" charset="0"/>
                    <a:ea typeface="+mj-ea"/>
                    <a:cs typeface="Times New Roman" panose="02020603050405020304" pitchFamily="18" charset="0"/>
                  </a:rPr>
                  <a:t>וערכים</a:t>
                </a:r>
                <a:r>
                  <a:rPr lang="he-IL" sz="3600" b="1" spc="-50" dirty="0">
                    <a:latin typeface="Times New Roman" panose="02020603050405020304" pitchFamily="18" charset="0"/>
                    <a:ea typeface="+mj-ea"/>
                    <a:cs typeface="Times New Roman" panose="02020603050405020304" pitchFamily="18" charset="0"/>
                  </a:rPr>
                  <a:t> </a:t>
                </a:r>
                <a14:m>
                  <m:oMath xmlns:m="http://schemas.openxmlformats.org/officeDocument/2006/math">
                    <m:sSub>
                      <m:sSubPr>
                        <m:ctrlPr>
                          <a:rPr lang="he-IL" sz="3600" b="1" i="1" spc="-50" dirty="0">
                            <a:latin typeface="Cambria Math" panose="02040503050406030204" pitchFamily="18" charset="0"/>
                            <a:ea typeface="+mj-ea"/>
                          </a:rPr>
                        </m:ctrlPr>
                      </m:sSubPr>
                      <m:e>
                        <m:r>
                          <a:rPr lang="en-US" sz="3600" b="1" i="1" spc="-50" dirty="0">
                            <a:latin typeface="Cambria Math" panose="02040503050406030204" pitchFamily="18" charset="0"/>
                            <a:ea typeface="+mj-ea"/>
                          </a:rPr>
                          <m:t>𝒗</m:t>
                        </m:r>
                      </m:e>
                      <m:sub>
                        <m:r>
                          <a:rPr lang="he-IL" sz="3600" b="1" i="1" spc="-50" dirty="0">
                            <a:latin typeface="Cambria Math" panose="02040503050406030204" pitchFamily="18" charset="0"/>
                            <a:ea typeface="+mj-ea"/>
                          </a:rPr>
                          <m:t>1</m:t>
                        </m:r>
                      </m:sub>
                    </m:sSub>
                    <m:r>
                      <a:rPr lang="he-IL" sz="3600" b="1" i="1" spc="-50" dirty="0">
                        <a:latin typeface="Cambria Math" panose="02040503050406030204" pitchFamily="18" charset="0"/>
                        <a:ea typeface="+mj-ea"/>
                      </a:rPr>
                      <m:t>, …,</m:t>
                    </m:r>
                    <m:sSub>
                      <m:sSubPr>
                        <m:ctrlPr>
                          <a:rPr lang="he-IL" sz="3600" b="1" i="1" spc="-50" dirty="0">
                            <a:latin typeface="Cambria Math" panose="02040503050406030204" pitchFamily="18" charset="0"/>
                            <a:ea typeface="+mj-ea"/>
                          </a:rPr>
                        </m:ctrlPr>
                      </m:sSubPr>
                      <m:e>
                        <m:r>
                          <a:rPr lang="en-US" sz="3600" b="1" i="1" spc="-50" dirty="0">
                            <a:latin typeface="Cambria Math" panose="02040503050406030204" pitchFamily="18" charset="0"/>
                            <a:ea typeface="+mj-ea"/>
                          </a:rPr>
                          <m:t>𝒗</m:t>
                        </m:r>
                      </m:e>
                      <m:sub>
                        <m:r>
                          <a:rPr lang="he-IL" sz="3600" b="1" i="1" spc="-50" dirty="0">
                            <a:latin typeface="Cambria Math" panose="02040503050406030204" pitchFamily="18" charset="0"/>
                            <a:ea typeface="+mj-ea"/>
                          </a:rPr>
                          <m:t>𝑛</m:t>
                        </m:r>
                      </m:sub>
                    </m:sSub>
                  </m:oMath>
                </a14:m>
                <a:r>
                  <a:rPr lang="he-IL" sz="3600" b="1" spc="-50" dirty="0">
                    <a:latin typeface="Times New Roman" panose="02020603050405020304" pitchFamily="18" charset="0"/>
                    <a:ea typeface="+mj-ea"/>
                    <a:cs typeface="Times New Roman" panose="02020603050405020304" pitchFamily="18" charset="0"/>
                  </a:rPr>
                  <a:t>  </a:t>
                </a:r>
                <a:r>
                  <a:rPr lang="he-IL" sz="3200" spc="-50" dirty="0">
                    <a:latin typeface="Times New Roman" panose="02020603050405020304" pitchFamily="18" charset="0"/>
                    <a:ea typeface="+mj-ea"/>
                    <a:cs typeface="Times New Roman" panose="02020603050405020304" pitchFamily="18" charset="0"/>
                  </a:rPr>
                  <a:t>של </a:t>
                </a:r>
                <a14:m>
                  <m:oMath xmlns:m="http://schemas.openxmlformats.org/officeDocument/2006/math">
                    <m:r>
                      <a:rPr lang="en-US" sz="3200" i="1" spc="-50" dirty="0" smtClean="0">
                        <a:latin typeface="Cambria Math" panose="02040503050406030204" pitchFamily="18" charset="0"/>
                        <a:ea typeface="+mj-ea"/>
                        <a:cs typeface="Times New Roman" panose="02020603050405020304" pitchFamily="18" charset="0"/>
                      </a:rPr>
                      <m:t>𝑛</m:t>
                    </m:r>
                  </m:oMath>
                </a14:m>
                <a:r>
                  <a:rPr lang="he-IL" sz="3200" spc="-50" dirty="0">
                    <a:latin typeface="Times New Roman" panose="02020603050405020304" pitchFamily="18" charset="0"/>
                    <a:ea typeface="+mj-ea"/>
                    <a:cs typeface="Times New Roman" panose="02020603050405020304" pitchFamily="18" charset="0"/>
                  </a:rPr>
                  <a:t> פריטים. </a:t>
                </a:r>
              </a:p>
              <a:p>
                <a:pPr lvl="1" algn="just">
                  <a:lnSpc>
                    <a:spcPct val="150000"/>
                  </a:lnSpc>
                </a:pPr>
                <a:r>
                  <a:rPr lang="he-IL" sz="3200" spc="-50" dirty="0">
                    <a:latin typeface="Times New Roman" panose="02020603050405020304" pitchFamily="18" charset="0"/>
                    <a:ea typeface="+mj-ea"/>
                    <a:cs typeface="Times New Roman" panose="02020603050405020304" pitchFamily="18" charset="0"/>
                  </a:rPr>
                  <a:t>קיבולת </a:t>
                </a:r>
                <a14:m>
                  <m:oMath xmlns:m="http://schemas.openxmlformats.org/officeDocument/2006/math">
                    <m:r>
                      <a:rPr lang="en-US" sz="3200" i="1" spc="-50" dirty="0" smtClean="0">
                        <a:latin typeface="Cambria Math" panose="02040503050406030204" pitchFamily="18" charset="0"/>
                        <a:ea typeface="+mj-ea"/>
                        <a:cs typeface="Times New Roman" panose="02020603050405020304" pitchFamily="18" charset="0"/>
                      </a:rPr>
                      <m:t>𝑊</m:t>
                    </m:r>
                  </m:oMath>
                </a14:m>
                <a:r>
                  <a:rPr lang="he-IL" sz="3200" spc="-50" dirty="0">
                    <a:latin typeface="Times New Roman" panose="02020603050405020304" pitchFamily="18" charset="0"/>
                    <a:ea typeface="+mj-ea"/>
                    <a:cs typeface="Times New Roman" panose="02020603050405020304" pitchFamily="18" charset="0"/>
                  </a:rPr>
                  <a:t>.</a:t>
                </a:r>
              </a:p>
              <a:p>
                <a:pPr marL="201168" lvl="1" indent="0" algn="just">
                  <a:lnSpc>
                    <a:spcPct val="150000"/>
                  </a:lnSpc>
                  <a:buNone/>
                </a:pPr>
                <a:r>
                  <a:rPr lang="he-IL" sz="3600" b="1" spc="-50" dirty="0">
                    <a:latin typeface="Times New Roman" panose="02020603050405020304" pitchFamily="18" charset="0"/>
                    <a:ea typeface="+mj-ea"/>
                    <a:cs typeface="Times New Roman" panose="02020603050405020304" pitchFamily="18" charset="0"/>
                  </a:rPr>
                  <a:t>פלט: </a:t>
                </a:r>
              </a:p>
              <a:p>
                <a:pPr marL="201168" lvl="1" indent="0" algn="just">
                  <a:lnSpc>
                    <a:spcPct val="150000"/>
                  </a:lnSpc>
                  <a:buNone/>
                </a:pPr>
                <a:r>
                  <a:rPr lang="he-IL" sz="3200" spc="-50" dirty="0">
                    <a:latin typeface="Times New Roman" panose="02020603050405020304" pitchFamily="18" charset="0"/>
                    <a:ea typeface="+mj-ea"/>
                    <a:cs typeface="Times New Roman" panose="02020603050405020304" pitchFamily="18" charset="0"/>
                  </a:rPr>
                  <a:t>ערך מקסימלי כולל של חלקי פריטים המתאימים לקיבולת </a:t>
                </a:r>
                <a14:m>
                  <m:oMath xmlns:m="http://schemas.openxmlformats.org/officeDocument/2006/math">
                    <m:r>
                      <a:rPr lang="en-US" sz="3200" i="1" spc="-50" dirty="0" smtClean="0">
                        <a:latin typeface="Cambria Math" panose="02040503050406030204" pitchFamily="18" charset="0"/>
                        <a:ea typeface="+mj-ea"/>
                        <a:cs typeface="Times New Roman" panose="02020603050405020304" pitchFamily="18" charset="0"/>
                      </a:rPr>
                      <m:t>𝑊</m:t>
                    </m:r>
                  </m:oMath>
                </a14:m>
                <a:r>
                  <a:rPr lang="he-IL" sz="3200" spc="-50" dirty="0">
                    <a:latin typeface="Times New Roman" panose="02020603050405020304" pitchFamily="18" charset="0"/>
                    <a:ea typeface="+mj-ea"/>
                    <a:cs typeface="Times New Roman" panose="02020603050405020304" pitchFamily="18" charset="0"/>
                  </a:rPr>
                  <a:t>.</a:t>
                </a:r>
              </a:p>
              <a:p>
                <a:endParaRPr lang="he-IL" sz="4400" spc="-50" dirty="0">
                  <a:latin typeface="Times New Roman" panose="02020603050405020304" pitchFamily="18" charset="0"/>
                  <a:cs typeface="Times New Roman" panose="02020603050405020304" pitchFamily="18" charset="0"/>
                </a:endParaRPr>
              </a:p>
              <a:p>
                <a:endParaRPr lang="he-IL" sz="4700" spc="-50" dirty="0">
                  <a:latin typeface="Times New Roman" panose="02020603050405020304" pitchFamily="18" charset="0"/>
                  <a:ea typeface="+mj-ea"/>
                  <a:cs typeface="Times New Roman" panose="02020603050405020304" pitchFamily="18" charset="0"/>
                </a:endParaRPr>
              </a:p>
              <a:p>
                <a:endParaRPr lang="he-IL" sz="3200" spc="-50" dirty="0">
                  <a:latin typeface="Times New Roman" panose="02020603050405020304" pitchFamily="18" charset="0"/>
                  <a:ea typeface="+mj-ea"/>
                  <a:cs typeface="Times New Roman" panose="02020603050405020304" pitchFamily="18" charset="0"/>
                </a:endParaRPr>
              </a:p>
              <a:p>
                <a:pPr marL="0" indent="0">
                  <a:buNone/>
                </a:pPr>
                <a:endParaRPr lang="he-IL" sz="3200" spc="-50" dirty="0">
                  <a:latin typeface="Times New Roman" panose="02020603050405020304" pitchFamily="18" charset="0"/>
                  <a:ea typeface="+mj-ea"/>
                  <a:cs typeface="Times New Roman" panose="02020603050405020304" pitchFamily="18" charset="0"/>
                </a:endParaRPr>
              </a:p>
            </p:txBody>
          </p:sp>
        </mc:Choice>
        <mc:Fallback xmlns="">
          <p:sp>
            <p:nvSpPr>
              <p:cNvPr id="2" name="מציין מיקום תוכן 2">
                <a:extLst>
                  <a:ext uri="{FF2B5EF4-FFF2-40B4-BE49-F238E27FC236}">
                    <a16:creationId xmlns:a16="http://schemas.microsoft.com/office/drawing/2014/main" id="{DB59EAD8-0CEF-E5AA-29DF-021A9809822A}"/>
                  </a:ext>
                </a:extLst>
              </p:cNvPr>
              <p:cNvSpPr>
                <a:spLocks noGrp="1" noRot="1" noChangeAspect="1" noMove="1" noResize="1" noEditPoints="1" noAdjustHandles="1" noChangeArrowheads="1" noChangeShapeType="1" noTextEdit="1"/>
              </p:cNvSpPr>
              <p:nvPr>
                <p:ph idx="1"/>
              </p:nvPr>
            </p:nvSpPr>
            <p:spPr>
              <a:xfrm>
                <a:off x="1249680" y="1892387"/>
                <a:ext cx="10393680" cy="4377784"/>
              </a:xfrm>
              <a:blipFill>
                <a:blip r:embed="rId2"/>
                <a:stretch>
                  <a:fillRect r="-2698" b="-695"/>
                </a:stretch>
              </a:blipFill>
            </p:spPr>
            <p:txBody>
              <a:bodyPr/>
              <a:lstStyle/>
              <a:p>
                <a:r>
                  <a:rPr lang="he-IL">
                    <a:noFill/>
                  </a:rPr>
                  <a:t> </a:t>
                </a:r>
              </a:p>
            </p:txBody>
          </p:sp>
        </mc:Fallback>
      </mc:AlternateContent>
    </p:spTree>
    <p:extLst>
      <p:ext uri="{BB962C8B-B14F-4D97-AF65-F5344CB8AC3E}">
        <p14:creationId xmlns:p14="http://schemas.microsoft.com/office/powerpoint/2010/main" val="20138166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מספר שקופית 4">
            <a:extLst>
              <a:ext uri="{FF2B5EF4-FFF2-40B4-BE49-F238E27FC236}">
                <a16:creationId xmlns:a16="http://schemas.microsoft.com/office/drawing/2014/main" id="{D3651888-F527-435F-BFB1-08835EDEFC88}"/>
              </a:ext>
            </a:extLst>
          </p:cNvPr>
          <p:cNvSpPr>
            <a:spLocks noGrp="1"/>
          </p:cNvSpPr>
          <p:nvPr>
            <p:ph type="sldNum" sz="quarter" idx="12"/>
          </p:nvPr>
        </p:nvSpPr>
        <p:spPr/>
        <p:txBody>
          <a:bodyPr>
            <a:normAutofit/>
          </a:bodyPr>
          <a:lstStyle/>
          <a:p>
            <a:fld id="{4F1E6CC7-5D87-41AE-A8C6-B06E12F85E9C}" type="slidenum">
              <a:rPr lang="he-IL" smtClean="0"/>
              <a:pPr/>
              <a:t>49</a:t>
            </a:fld>
            <a:endParaRPr lang="he-IL" dirty="0"/>
          </a:p>
        </p:txBody>
      </p:sp>
      <p:sp>
        <p:nvSpPr>
          <p:cNvPr id="9" name="תיבת טקסט 8">
            <a:extLst>
              <a:ext uri="{FF2B5EF4-FFF2-40B4-BE49-F238E27FC236}">
                <a16:creationId xmlns:a16="http://schemas.microsoft.com/office/drawing/2014/main" id="{F650FA66-0F60-0DE5-68B0-13EC589425D3}"/>
              </a:ext>
            </a:extLst>
          </p:cNvPr>
          <p:cNvSpPr txBox="1"/>
          <p:nvPr/>
        </p:nvSpPr>
        <p:spPr>
          <a:xfrm>
            <a:off x="3047223" y="748761"/>
            <a:ext cx="6097554" cy="923330"/>
          </a:xfrm>
          <a:prstGeom prst="rect">
            <a:avLst/>
          </a:prstGeom>
          <a:noFill/>
        </p:spPr>
        <p:txBody>
          <a:bodyPr wrap="square">
            <a:spAutoFit/>
          </a:bodyPr>
          <a:lstStyle/>
          <a:p>
            <a:pPr lvl="0" algn="ctr" rtl="1" eaLnBrk="0" fontAlgn="base" hangingPunct="0">
              <a:spcBef>
                <a:spcPct val="0"/>
              </a:spcBef>
              <a:spcAft>
                <a:spcPct val="0"/>
              </a:spcAft>
            </a:pPr>
            <a:r>
              <a:rPr lang="he-IL" altLang="he-IL" sz="5400" spc="-50" dirty="0">
                <a:solidFill>
                  <a:schemeClr val="tx1">
                    <a:lumMod val="75000"/>
                    <a:lumOff val="25000"/>
                  </a:schemeClr>
                </a:solidFill>
                <a:latin typeface="+mj-lt"/>
                <a:ea typeface="+mj-ea"/>
                <a:cs typeface="+mj-cs"/>
              </a:rPr>
              <a:t>דוגמא</a:t>
            </a:r>
            <a:endParaRPr lang="en-US" altLang="he-IL" sz="5400" spc="-50" dirty="0">
              <a:solidFill>
                <a:schemeClr val="tx1">
                  <a:lumMod val="75000"/>
                  <a:lumOff val="25000"/>
                </a:schemeClr>
              </a:solidFill>
              <a:latin typeface="+mj-lt"/>
              <a:ea typeface="+mj-ea"/>
              <a:cs typeface="+mj-cs"/>
            </a:endParaRPr>
          </a:p>
        </p:txBody>
      </p:sp>
      <p:sp>
        <p:nvSpPr>
          <p:cNvPr id="12" name="מלבן 11">
            <a:extLst>
              <a:ext uri="{FF2B5EF4-FFF2-40B4-BE49-F238E27FC236}">
                <a16:creationId xmlns:a16="http://schemas.microsoft.com/office/drawing/2014/main" id="{05C3BA3D-494D-F088-C0C8-191CFF64340E}"/>
              </a:ext>
            </a:extLst>
          </p:cNvPr>
          <p:cNvSpPr/>
          <p:nvPr/>
        </p:nvSpPr>
        <p:spPr>
          <a:xfrm>
            <a:off x="1330036" y="1945199"/>
            <a:ext cx="9683245" cy="4164040"/>
          </a:xfrm>
          <a:prstGeom prst="rect">
            <a:avLst/>
          </a:prstGeom>
          <a:solidFill>
            <a:srgbClr val="E4F4E3"/>
          </a:solidFill>
          <a:ln>
            <a:solidFill>
              <a:srgbClr val="E4F4E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a:extLst>
              <a:ext uri="{FF2B5EF4-FFF2-40B4-BE49-F238E27FC236}">
                <a16:creationId xmlns:a16="http://schemas.microsoft.com/office/drawing/2014/main" id="{19F95D00-3AFD-1A69-0868-64FA43634F91}"/>
              </a:ext>
            </a:extLst>
          </p:cNvPr>
          <p:cNvPicPr>
            <a:picLocks noChangeAspect="1"/>
          </p:cNvPicPr>
          <p:nvPr/>
        </p:nvPicPr>
        <p:blipFill rotWithShape="1">
          <a:blip r:embed="rId2"/>
          <a:srcRect r="963"/>
          <a:stretch/>
        </p:blipFill>
        <p:spPr>
          <a:xfrm>
            <a:off x="2409837" y="1945199"/>
            <a:ext cx="7433286" cy="3923895"/>
          </a:xfrm>
          <a:prstGeom prst="rect">
            <a:avLst/>
          </a:prstGeom>
        </p:spPr>
      </p:pic>
      <p:sp>
        <p:nvSpPr>
          <p:cNvPr id="8" name="מלבן 7">
            <a:extLst>
              <a:ext uri="{FF2B5EF4-FFF2-40B4-BE49-F238E27FC236}">
                <a16:creationId xmlns:a16="http://schemas.microsoft.com/office/drawing/2014/main" id="{0911E5B3-3310-690A-C71F-0A79C27D50AF}"/>
              </a:ext>
            </a:extLst>
          </p:cNvPr>
          <p:cNvSpPr/>
          <p:nvPr/>
        </p:nvSpPr>
        <p:spPr>
          <a:xfrm>
            <a:off x="9144777" y="4738255"/>
            <a:ext cx="913623" cy="942109"/>
          </a:xfrm>
          <a:prstGeom prst="rect">
            <a:avLst/>
          </a:prstGeom>
          <a:solidFill>
            <a:srgbClr val="E4F4E3"/>
          </a:solidFill>
          <a:ln>
            <a:solidFill>
              <a:srgbClr val="E4F4E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70891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מספר שקופית 4">
            <a:extLst>
              <a:ext uri="{FF2B5EF4-FFF2-40B4-BE49-F238E27FC236}">
                <a16:creationId xmlns:a16="http://schemas.microsoft.com/office/drawing/2014/main" id="{D3651888-F527-435F-BFB1-08835EDEFC88}"/>
              </a:ext>
            </a:extLst>
          </p:cNvPr>
          <p:cNvSpPr>
            <a:spLocks noGrp="1"/>
          </p:cNvSpPr>
          <p:nvPr>
            <p:ph type="sldNum" sz="quarter" idx="12"/>
          </p:nvPr>
        </p:nvSpPr>
        <p:spPr/>
        <p:txBody>
          <a:bodyPr>
            <a:normAutofit/>
          </a:bodyPr>
          <a:lstStyle/>
          <a:p>
            <a:fld id="{4F1E6CC7-5D87-41AE-A8C6-B06E12F85E9C}" type="slidenum">
              <a:rPr lang="he-IL" smtClean="0"/>
              <a:pPr/>
              <a:t>50</a:t>
            </a:fld>
            <a:endParaRPr lang="he-IL" dirty="0"/>
          </a:p>
        </p:txBody>
      </p:sp>
      <p:sp>
        <p:nvSpPr>
          <p:cNvPr id="9" name="תיבת טקסט 8">
            <a:extLst>
              <a:ext uri="{FF2B5EF4-FFF2-40B4-BE49-F238E27FC236}">
                <a16:creationId xmlns:a16="http://schemas.microsoft.com/office/drawing/2014/main" id="{F650FA66-0F60-0DE5-68B0-13EC589425D3}"/>
              </a:ext>
            </a:extLst>
          </p:cNvPr>
          <p:cNvSpPr txBox="1"/>
          <p:nvPr/>
        </p:nvSpPr>
        <p:spPr>
          <a:xfrm>
            <a:off x="3047223" y="748761"/>
            <a:ext cx="6097554" cy="923330"/>
          </a:xfrm>
          <a:prstGeom prst="rect">
            <a:avLst/>
          </a:prstGeom>
          <a:noFill/>
        </p:spPr>
        <p:txBody>
          <a:bodyPr wrap="square">
            <a:spAutoFit/>
          </a:bodyPr>
          <a:lstStyle/>
          <a:p>
            <a:pPr lvl="0" algn="ctr" rtl="1" eaLnBrk="0" fontAlgn="base" hangingPunct="0">
              <a:spcBef>
                <a:spcPct val="0"/>
              </a:spcBef>
              <a:spcAft>
                <a:spcPct val="0"/>
              </a:spcAft>
            </a:pPr>
            <a:r>
              <a:rPr lang="he-IL" altLang="he-IL" sz="5400" spc="-50" dirty="0">
                <a:solidFill>
                  <a:schemeClr val="tx1">
                    <a:lumMod val="75000"/>
                    <a:lumOff val="25000"/>
                  </a:schemeClr>
                </a:solidFill>
                <a:latin typeface="+mj-lt"/>
                <a:ea typeface="+mj-ea"/>
                <a:cs typeface="+mj-cs"/>
              </a:rPr>
              <a:t>דוגמא- פתרון 1</a:t>
            </a:r>
            <a:endParaRPr lang="en-US" altLang="he-IL" sz="5400" spc="-50" dirty="0">
              <a:solidFill>
                <a:schemeClr val="tx1">
                  <a:lumMod val="75000"/>
                  <a:lumOff val="25000"/>
                </a:schemeClr>
              </a:solidFill>
              <a:latin typeface="+mj-lt"/>
              <a:ea typeface="+mj-ea"/>
              <a:cs typeface="+mj-cs"/>
            </a:endParaRPr>
          </a:p>
        </p:txBody>
      </p:sp>
      <p:sp>
        <p:nvSpPr>
          <p:cNvPr id="12" name="מלבן 11">
            <a:extLst>
              <a:ext uri="{FF2B5EF4-FFF2-40B4-BE49-F238E27FC236}">
                <a16:creationId xmlns:a16="http://schemas.microsoft.com/office/drawing/2014/main" id="{05C3BA3D-494D-F088-C0C8-191CFF64340E}"/>
              </a:ext>
            </a:extLst>
          </p:cNvPr>
          <p:cNvSpPr/>
          <p:nvPr/>
        </p:nvSpPr>
        <p:spPr>
          <a:xfrm>
            <a:off x="1330036" y="1945199"/>
            <a:ext cx="9683245" cy="4164040"/>
          </a:xfrm>
          <a:prstGeom prst="rect">
            <a:avLst/>
          </a:prstGeom>
          <a:solidFill>
            <a:srgbClr val="E4F4E3"/>
          </a:solidFill>
          <a:ln>
            <a:solidFill>
              <a:srgbClr val="E4F4E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a:extLst>
              <a:ext uri="{FF2B5EF4-FFF2-40B4-BE49-F238E27FC236}">
                <a16:creationId xmlns:a16="http://schemas.microsoft.com/office/drawing/2014/main" id="{19F95D00-3AFD-1A69-0868-64FA43634F91}"/>
              </a:ext>
            </a:extLst>
          </p:cNvPr>
          <p:cNvPicPr>
            <a:picLocks noChangeAspect="1"/>
          </p:cNvPicPr>
          <p:nvPr/>
        </p:nvPicPr>
        <p:blipFill rotWithShape="1">
          <a:blip r:embed="rId2"/>
          <a:srcRect r="963"/>
          <a:stretch/>
        </p:blipFill>
        <p:spPr>
          <a:xfrm>
            <a:off x="2409837" y="1945199"/>
            <a:ext cx="7433286" cy="3923895"/>
          </a:xfrm>
          <a:prstGeom prst="rect">
            <a:avLst/>
          </a:prstGeom>
        </p:spPr>
      </p:pic>
      <p:sp>
        <p:nvSpPr>
          <p:cNvPr id="8" name="מלבן 7">
            <a:extLst>
              <a:ext uri="{FF2B5EF4-FFF2-40B4-BE49-F238E27FC236}">
                <a16:creationId xmlns:a16="http://schemas.microsoft.com/office/drawing/2014/main" id="{0911E5B3-3310-690A-C71F-0A79C27D50AF}"/>
              </a:ext>
            </a:extLst>
          </p:cNvPr>
          <p:cNvSpPr/>
          <p:nvPr/>
        </p:nvSpPr>
        <p:spPr>
          <a:xfrm>
            <a:off x="9144777" y="4738255"/>
            <a:ext cx="913623" cy="942109"/>
          </a:xfrm>
          <a:prstGeom prst="rect">
            <a:avLst/>
          </a:prstGeom>
          <a:solidFill>
            <a:srgbClr val="E4F4E3"/>
          </a:solidFill>
          <a:ln>
            <a:solidFill>
              <a:srgbClr val="E4F4E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מלבן 2">
            <a:extLst>
              <a:ext uri="{FF2B5EF4-FFF2-40B4-BE49-F238E27FC236}">
                <a16:creationId xmlns:a16="http://schemas.microsoft.com/office/drawing/2014/main" id="{C0BB02E8-C57A-47E1-405D-DD544ED43C52}"/>
              </a:ext>
            </a:extLst>
          </p:cNvPr>
          <p:cNvSpPr/>
          <p:nvPr/>
        </p:nvSpPr>
        <p:spPr>
          <a:xfrm>
            <a:off x="3823854" y="5140036"/>
            <a:ext cx="2660073" cy="595748"/>
          </a:xfrm>
          <a:prstGeom prst="rect">
            <a:avLst/>
          </a:prstGeom>
          <a:solidFill>
            <a:srgbClr val="85E430"/>
          </a:solidFill>
          <a:ln w="28575">
            <a:solidFill>
              <a:srgbClr val="2E65AD"/>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מלבן 3">
            <a:extLst>
              <a:ext uri="{FF2B5EF4-FFF2-40B4-BE49-F238E27FC236}">
                <a16:creationId xmlns:a16="http://schemas.microsoft.com/office/drawing/2014/main" id="{C5A50AA9-E5FE-9873-0B07-128F73C9F949}"/>
              </a:ext>
            </a:extLst>
          </p:cNvPr>
          <p:cNvSpPr/>
          <p:nvPr/>
        </p:nvSpPr>
        <p:spPr>
          <a:xfrm>
            <a:off x="6483927" y="5137110"/>
            <a:ext cx="1876750" cy="595748"/>
          </a:xfrm>
          <a:prstGeom prst="rect">
            <a:avLst/>
          </a:prstGeom>
          <a:solidFill>
            <a:srgbClr val="E13B2F"/>
          </a:solidFill>
          <a:ln w="28575">
            <a:solidFill>
              <a:srgbClr val="2E65AD"/>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תמונה 10">
            <a:extLst>
              <a:ext uri="{FF2B5EF4-FFF2-40B4-BE49-F238E27FC236}">
                <a16:creationId xmlns:a16="http://schemas.microsoft.com/office/drawing/2014/main" id="{8C91763C-1BF4-FA57-EB10-03AD862AF61F}"/>
              </a:ext>
            </a:extLst>
          </p:cNvPr>
          <p:cNvPicPr>
            <a:picLocks noChangeAspect="1"/>
          </p:cNvPicPr>
          <p:nvPr/>
        </p:nvPicPr>
        <p:blipFill>
          <a:blip r:embed="rId3"/>
          <a:stretch>
            <a:fillRect/>
          </a:stretch>
        </p:blipFill>
        <p:spPr>
          <a:xfrm>
            <a:off x="4826261" y="5203783"/>
            <a:ext cx="459799" cy="459799"/>
          </a:xfrm>
          <a:prstGeom prst="rect">
            <a:avLst/>
          </a:prstGeom>
        </p:spPr>
      </p:pic>
      <p:pic>
        <p:nvPicPr>
          <p:cNvPr id="14" name="תמונה 13">
            <a:extLst>
              <a:ext uri="{FF2B5EF4-FFF2-40B4-BE49-F238E27FC236}">
                <a16:creationId xmlns:a16="http://schemas.microsoft.com/office/drawing/2014/main" id="{BA01ABCD-D0FB-5A67-CC25-5BEC3CAA1858}"/>
              </a:ext>
            </a:extLst>
          </p:cNvPr>
          <p:cNvPicPr>
            <a:picLocks noChangeAspect="1"/>
          </p:cNvPicPr>
          <p:nvPr/>
        </p:nvPicPr>
        <p:blipFill>
          <a:blip r:embed="rId4"/>
          <a:stretch>
            <a:fillRect/>
          </a:stretch>
        </p:blipFill>
        <p:spPr>
          <a:xfrm>
            <a:off x="7174719" y="5211941"/>
            <a:ext cx="333591" cy="464127"/>
          </a:xfrm>
          <a:prstGeom prst="rect">
            <a:avLst/>
          </a:prstGeom>
        </p:spPr>
      </p:pic>
      <p:pic>
        <p:nvPicPr>
          <p:cNvPr id="16" name="תמונה 15">
            <a:extLst>
              <a:ext uri="{FF2B5EF4-FFF2-40B4-BE49-F238E27FC236}">
                <a16:creationId xmlns:a16="http://schemas.microsoft.com/office/drawing/2014/main" id="{FDF166A1-8F87-334E-08BC-3B65D628C078}"/>
              </a:ext>
            </a:extLst>
          </p:cNvPr>
          <p:cNvPicPr>
            <a:picLocks noChangeAspect="1"/>
          </p:cNvPicPr>
          <p:nvPr/>
        </p:nvPicPr>
        <p:blipFill>
          <a:blip r:embed="rId5"/>
          <a:stretch>
            <a:fillRect/>
          </a:stretch>
        </p:blipFill>
        <p:spPr>
          <a:xfrm>
            <a:off x="6936682" y="4488689"/>
            <a:ext cx="923984" cy="530155"/>
          </a:xfrm>
          <a:prstGeom prst="rect">
            <a:avLst/>
          </a:prstGeom>
        </p:spPr>
      </p:pic>
      <p:pic>
        <p:nvPicPr>
          <p:cNvPr id="18" name="תמונה 17">
            <a:extLst>
              <a:ext uri="{FF2B5EF4-FFF2-40B4-BE49-F238E27FC236}">
                <a16:creationId xmlns:a16="http://schemas.microsoft.com/office/drawing/2014/main" id="{77BC3A2F-8DD3-994D-B6F8-D5B27AEF296F}"/>
              </a:ext>
            </a:extLst>
          </p:cNvPr>
          <p:cNvPicPr>
            <a:picLocks noChangeAspect="1"/>
          </p:cNvPicPr>
          <p:nvPr/>
        </p:nvPicPr>
        <p:blipFill>
          <a:blip r:embed="rId6"/>
          <a:stretch>
            <a:fillRect/>
          </a:stretch>
        </p:blipFill>
        <p:spPr>
          <a:xfrm>
            <a:off x="4720273" y="4488689"/>
            <a:ext cx="885984" cy="595748"/>
          </a:xfrm>
          <a:prstGeom prst="rect">
            <a:avLst/>
          </a:prstGeom>
        </p:spPr>
      </p:pic>
      <p:sp>
        <p:nvSpPr>
          <p:cNvPr id="19" name="מציין מיקום תוכן 2">
            <a:extLst>
              <a:ext uri="{FF2B5EF4-FFF2-40B4-BE49-F238E27FC236}">
                <a16:creationId xmlns:a16="http://schemas.microsoft.com/office/drawing/2014/main" id="{D8425342-5429-1755-CE08-182B5FAD422C}"/>
              </a:ext>
            </a:extLst>
          </p:cNvPr>
          <p:cNvSpPr>
            <a:spLocks noGrp="1"/>
          </p:cNvSpPr>
          <p:nvPr>
            <p:ph idx="1"/>
          </p:nvPr>
        </p:nvSpPr>
        <p:spPr>
          <a:xfrm>
            <a:off x="1131322" y="4894149"/>
            <a:ext cx="2724214" cy="4377784"/>
          </a:xfrm>
        </p:spPr>
        <p:txBody>
          <a:bodyPr>
            <a:normAutofit/>
          </a:bodyPr>
          <a:lstStyle/>
          <a:p>
            <a:pPr algn="just">
              <a:lnSpc>
                <a:spcPct val="150000"/>
              </a:lnSpc>
            </a:pPr>
            <a:r>
              <a:rPr lang="he-IL" sz="3600" spc="-50" dirty="0">
                <a:latin typeface="Times New Roman" panose="02020603050405020304" pitchFamily="18" charset="0"/>
                <a:ea typeface="+mj-ea"/>
                <a:cs typeface="Times New Roman" panose="02020603050405020304" pitchFamily="18" charset="0"/>
              </a:rPr>
              <a:t>סה"כ: 58$</a:t>
            </a:r>
            <a:endParaRPr lang="he-IL" sz="3200" spc="-50" dirty="0">
              <a:latin typeface="Times New Roman" panose="02020603050405020304" pitchFamily="18" charset="0"/>
              <a:ea typeface="+mj-ea"/>
              <a:cs typeface="Times New Roman" panose="02020603050405020304" pitchFamily="18" charset="0"/>
            </a:endParaRPr>
          </a:p>
          <a:p>
            <a:endParaRPr lang="he-IL" sz="4400" spc="-50" dirty="0">
              <a:latin typeface="Times New Roman" panose="02020603050405020304" pitchFamily="18" charset="0"/>
              <a:cs typeface="Times New Roman" panose="02020603050405020304" pitchFamily="18" charset="0"/>
            </a:endParaRPr>
          </a:p>
          <a:p>
            <a:endParaRPr lang="he-IL" sz="4700" spc="-50" dirty="0">
              <a:latin typeface="Times New Roman" panose="02020603050405020304" pitchFamily="18" charset="0"/>
              <a:ea typeface="+mj-ea"/>
              <a:cs typeface="Times New Roman" panose="02020603050405020304" pitchFamily="18" charset="0"/>
            </a:endParaRPr>
          </a:p>
          <a:p>
            <a:endParaRPr lang="he-IL" sz="3200" spc="-50" dirty="0">
              <a:latin typeface="Times New Roman" panose="02020603050405020304" pitchFamily="18" charset="0"/>
              <a:ea typeface="+mj-ea"/>
              <a:cs typeface="Times New Roman" panose="02020603050405020304" pitchFamily="18" charset="0"/>
            </a:endParaRPr>
          </a:p>
          <a:p>
            <a:pPr marL="0" indent="0">
              <a:buNone/>
            </a:pPr>
            <a:endParaRPr lang="he-IL" sz="3200" spc="-5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5550858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מספר שקופית 4">
            <a:extLst>
              <a:ext uri="{FF2B5EF4-FFF2-40B4-BE49-F238E27FC236}">
                <a16:creationId xmlns:a16="http://schemas.microsoft.com/office/drawing/2014/main" id="{D3651888-F527-435F-BFB1-08835EDEFC88}"/>
              </a:ext>
            </a:extLst>
          </p:cNvPr>
          <p:cNvSpPr>
            <a:spLocks noGrp="1"/>
          </p:cNvSpPr>
          <p:nvPr>
            <p:ph type="sldNum" sz="quarter" idx="12"/>
          </p:nvPr>
        </p:nvSpPr>
        <p:spPr/>
        <p:txBody>
          <a:bodyPr>
            <a:normAutofit/>
          </a:bodyPr>
          <a:lstStyle/>
          <a:p>
            <a:fld id="{4F1E6CC7-5D87-41AE-A8C6-B06E12F85E9C}" type="slidenum">
              <a:rPr lang="he-IL" smtClean="0"/>
              <a:pPr/>
              <a:t>51</a:t>
            </a:fld>
            <a:endParaRPr lang="he-IL" dirty="0"/>
          </a:p>
        </p:txBody>
      </p:sp>
      <p:sp>
        <p:nvSpPr>
          <p:cNvPr id="9" name="תיבת טקסט 8">
            <a:extLst>
              <a:ext uri="{FF2B5EF4-FFF2-40B4-BE49-F238E27FC236}">
                <a16:creationId xmlns:a16="http://schemas.microsoft.com/office/drawing/2014/main" id="{F650FA66-0F60-0DE5-68B0-13EC589425D3}"/>
              </a:ext>
            </a:extLst>
          </p:cNvPr>
          <p:cNvSpPr txBox="1"/>
          <p:nvPr/>
        </p:nvSpPr>
        <p:spPr>
          <a:xfrm>
            <a:off x="3047223" y="748761"/>
            <a:ext cx="6097554" cy="923330"/>
          </a:xfrm>
          <a:prstGeom prst="rect">
            <a:avLst/>
          </a:prstGeom>
          <a:noFill/>
        </p:spPr>
        <p:txBody>
          <a:bodyPr wrap="square">
            <a:spAutoFit/>
          </a:bodyPr>
          <a:lstStyle/>
          <a:p>
            <a:pPr lvl="0" algn="ctr" rtl="1" eaLnBrk="0" fontAlgn="base" hangingPunct="0">
              <a:spcBef>
                <a:spcPct val="0"/>
              </a:spcBef>
              <a:spcAft>
                <a:spcPct val="0"/>
              </a:spcAft>
            </a:pPr>
            <a:r>
              <a:rPr lang="he-IL" altLang="he-IL" sz="5400" spc="-50" dirty="0">
                <a:solidFill>
                  <a:schemeClr val="tx1">
                    <a:lumMod val="75000"/>
                    <a:lumOff val="25000"/>
                  </a:schemeClr>
                </a:solidFill>
                <a:latin typeface="+mj-lt"/>
                <a:ea typeface="+mj-ea"/>
                <a:cs typeface="+mj-cs"/>
              </a:rPr>
              <a:t>דוגמא- פתרון 2</a:t>
            </a:r>
            <a:endParaRPr lang="en-US" altLang="he-IL" sz="5400" spc="-50" dirty="0">
              <a:solidFill>
                <a:schemeClr val="tx1">
                  <a:lumMod val="75000"/>
                  <a:lumOff val="25000"/>
                </a:schemeClr>
              </a:solidFill>
              <a:latin typeface="+mj-lt"/>
              <a:ea typeface="+mj-ea"/>
              <a:cs typeface="+mj-cs"/>
            </a:endParaRPr>
          </a:p>
        </p:txBody>
      </p:sp>
      <p:sp>
        <p:nvSpPr>
          <p:cNvPr id="12" name="מלבן 11">
            <a:extLst>
              <a:ext uri="{FF2B5EF4-FFF2-40B4-BE49-F238E27FC236}">
                <a16:creationId xmlns:a16="http://schemas.microsoft.com/office/drawing/2014/main" id="{05C3BA3D-494D-F088-C0C8-191CFF64340E}"/>
              </a:ext>
            </a:extLst>
          </p:cNvPr>
          <p:cNvSpPr/>
          <p:nvPr/>
        </p:nvSpPr>
        <p:spPr>
          <a:xfrm>
            <a:off x="1330036" y="1945199"/>
            <a:ext cx="9683245" cy="4164040"/>
          </a:xfrm>
          <a:prstGeom prst="rect">
            <a:avLst/>
          </a:prstGeom>
          <a:solidFill>
            <a:srgbClr val="E4F4E3"/>
          </a:solidFill>
          <a:ln>
            <a:solidFill>
              <a:srgbClr val="E4F4E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a:extLst>
              <a:ext uri="{FF2B5EF4-FFF2-40B4-BE49-F238E27FC236}">
                <a16:creationId xmlns:a16="http://schemas.microsoft.com/office/drawing/2014/main" id="{19F95D00-3AFD-1A69-0868-64FA43634F91}"/>
              </a:ext>
            </a:extLst>
          </p:cNvPr>
          <p:cNvPicPr>
            <a:picLocks noChangeAspect="1"/>
          </p:cNvPicPr>
          <p:nvPr/>
        </p:nvPicPr>
        <p:blipFill rotWithShape="1">
          <a:blip r:embed="rId2"/>
          <a:srcRect r="963"/>
          <a:stretch/>
        </p:blipFill>
        <p:spPr>
          <a:xfrm>
            <a:off x="2409837" y="1945199"/>
            <a:ext cx="7433286" cy="3923895"/>
          </a:xfrm>
          <a:prstGeom prst="rect">
            <a:avLst/>
          </a:prstGeom>
        </p:spPr>
      </p:pic>
      <p:sp>
        <p:nvSpPr>
          <p:cNvPr id="8" name="מלבן 7">
            <a:extLst>
              <a:ext uri="{FF2B5EF4-FFF2-40B4-BE49-F238E27FC236}">
                <a16:creationId xmlns:a16="http://schemas.microsoft.com/office/drawing/2014/main" id="{0911E5B3-3310-690A-C71F-0A79C27D50AF}"/>
              </a:ext>
            </a:extLst>
          </p:cNvPr>
          <p:cNvSpPr/>
          <p:nvPr/>
        </p:nvSpPr>
        <p:spPr>
          <a:xfrm>
            <a:off x="9144777" y="4738255"/>
            <a:ext cx="913623" cy="942109"/>
          </a:xfrm>
          <a:prstGeom prst="rect">
            <a:avLst/>
          </a:prstGeom>
          <a:solidFill>
            <a:srgbClr val="E4F4E3"/>
          </a:solidFill>
          <a:ln>
            <a:solidFill>
              <a:srgbClr val="E4F4E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מלבן 2">
            <a:extLst>
              <a:ext uri="{FF2B5EF4-FFF2-40B4-BE49-F238E27FC236}">
                <a16:creationId xmlns:a16="http://schemas.microsoft.com/office/drawing/2014/main" id="{C0BB02E8-C57A-47E1-405D-DD544ED43C52}"/>
              </a:ext>
            </a:extLst>
          </p:cNvPr>
          <p:cNvSpPr/>
          <p:nvPr/>
        </p:nvSpPr>
        <p:spPr>
          <a:xfrm>
            <a:off x="3823854" y="5140036"/>
            <a:ext cx="2660073" cy="595748"/>
          </a:xfrm>
          <a:prstGeom prst="rect">
            <a:avLst/>
          </a:prstGeom>
          <a:solidFill>
            <a:srgbClr val="85E430"/>
          </a:solidFill>
          <a:ln w="28575">
            <a:solidFill>
              <a:srgbClr val="2E65AD"/>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מלבן 3">
            <a:extLst>
              <a:ext uri="{FF2B5EF4-FFF2-40B4-BE49-F238E27FC236}">
                <a16:creationId xmlns:a16="http://schemas.microsoft.com/office/drawing/2014/main" id="{C5A50AA9-E5FE-9873-0B07-128F73C9F949}"/>
              </a:ext>
            </a:extLst>
          </p:cNvPr>
          <p:cNvSpPr/>
          <p:nvPr/>
        </p:nvSpPr>
        <p:spPr>
          <a:xfrm>
            <a:off x="7974619" y="5137110"/>
            <a:ext cx="386058" cy="595748"/>
          </a:xfrm>
          <a:prstGeom prst="rect">
            <a:avLst/>
          </a:prstGeom>
          <a:solidFill>
            <a:srgbClr val="E13B2F"/>
          </a:solidFill>
          <a:ln w="28575">
            <a:solidFill>
              <a:srgbClr val="2E65AD"/>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תמונה 10">
            <a:extLst>
              <a:ext uri="{FF2B5EF4-FFF2-40B4-BE49-F238E27FC236}">
                <a16:creationId xmlns:a16="http://schemas.microsoft.com/office/drawing/2014/main" id="{8C91763C-1BF4-FA57-EB10-03AD862AF61F}"/>
              </a:ext>
            </a:extLst>
          </p:cNvPr>
          <p:cNvPicPr>
            <a:picLocks noChangeAspect="1"/>
          </p:cNvPicPr>
          <p:nvPr/>
        </p:nvPicPr>
        <p:blipFill>
          <a:blip r:embed="rId3"/>
          <a:stretch>
            <a:fillRect/>
          </a:stretch>
        </p:blipFill>
        <p:spPr>
          <a:xfrm>
            <a:off x="4826261" y="5203783"/>
            <a:ext cx="459799" cy="459799"/>
          </a:xfrm>
          <a:prstGeom prst="rect">
            <a:avLst/>
          </a:prstGeom>
        </p:spPr>
      </p:pic>
      <p:pic>
        <p:nvPicPr>
          <p:cNvPr id="18" name="תמונה 17">
            <a:extLst>
              <a:ext uri="{FF2B5EF4-FFF2-40B4-BE49-F238E27FC236}">
                <a16:creationId xmlns:a16="http://schemas.microsoft.com/office/drawing/2014/main" id="{77BC3A2F-8DD3-994D-B6F8-D5B27AEF296F}"/>
              </a:ext>
            </a:extLst>
          </p:cNvPr>
          <p:cNvPicPr>
            <a:picLocks noChangeAspect="1"/>
          </p:cNvPicPr>
          <p:nvPr/>
        </p:nvPicPr>
        <p:blipFill>
          <a:blip r:embed="rId4"/>
          <a:stretch>
            <a:fillRect/>
          </a:stretch>
        </p:blipFill>
        <p:spPr>
          <a:xfrm>
            <a:off x="4720273" y="4488689"/>
            <a:ext cx="885984" cy="595748"/>
          </a:xfrm>
          <a:prstGeom prst="rect">
            <a:avLst/>
          </a:prstGeom>
        </p:spPr>
      </p:pic>
      <p:sp>
        <p:nvSpPr>
          <p:cNvPr id="19" name="מציין מיקום תוכן 2">
            <a:extLst>
              <a:ext uri="{FF2B5EF4-FFF2-40B4-BE49-F238E27FC236}">
                <a16:creationId xmlns:a16="http://schemas.microsoft.com/office/drawing/2014/main" id="{D8425342-5429-1755-CE08-182B5FAD422C}"/>
              </a:ext>
            </a:extLst>
          </p:cNvPr>
          <p:cNvSpPr>
            <a:spLocks noGrp="1"/>
          </p:cNvSpPr>
          <p:nvPr>
            <p:ph idx="1"/>
          </p:nvPr>
        </p:nvSpPr>
        <p:spPr>
          <a:xfrm>
            <a:off x="1131322" y="4894149"/>
            <a:ext cx="2724214" cy="4377784"/>
          </a:xfrm>
        </p:spPr>
        <p:txBody>
          <a:bodyPr>
            <a:normAutofit/>
          </a:bodyPr>
          <a:lstStyle/>
          <a:p>
            <a:pPr algn="just">
              <a:lnSpc>
                <a:spcPct val="150000"/>
              </a:lnSpc>
            </a:pPr>
            <a:r>
              <a:rPr lang="he-IL" sz="3600" spc="-50" dirty="0">
                <a:latin typeface="Times New Roman" panose="02020603050405020304" pitchFamily="18" charset="0"/>
                <a:ea typeface="+mj-ea"/>
                <a:cs typeface="Times New Roman" panose="02020603050405020304" pitchFamily="18" charset="0"/>
              </a:rPr>
              <a:t>סה"כ: 61$</a:t>
            </a:r>
            <a:endParaRPr lang="he-IL" sz="3200" spc="-50" dirty="0">
              <a:latin typeface="Times New Roman" panose="02020603050405020304" pitchFamily="18" charset="0"/>
              <a:ea typeface="+mj-ea"/>
              <a:cs typeface="Times New Roman" panose="02020603050405020304" pitchFamily="18" charset="0"/>
            </a:endParaRPr>
          </a:p>
          <a:p>
            <a:endParaRPr lang="he-IL" sz="4400" spc="-50" dirty="0">
              <a:latin typeface="Times New Roman" panose="02020603050405020304" pitchFamily="18" charset="0"/>
              <a:cs typeface="Times New Roman" panose="02020603050405020304" pitchFamily="18" charset="0"/>
            </a:endParaRPr>
          </a:p>
          <a:p>
            <a:endParaRPr lang="he-IL" sz="4700" spc="-50" dirty="0">
              <a:latin typeface="Times New Roman" panose="02020603050405020304" pitchFamily="18" charset="0"/>
              <a:ea typeface="+mj-ea"/>
              <a:cs typeface="Times New Roman" panose="02020603050405020304" pitchFamily="18" charset="0"/>
            </a:endParaRPr>
          </a:p>
          <a:p>
            <a:endParaRPr lang="he-IL" sz="3200" spc="-50" dirty="0">
              <a:latin typeface="Times New Roman" panose="02020603050405020304" pitchFamily="18" charset="0"/>
              <a:ea typeface="+mj-ea"/>
              <a:cs typeface="Times New Roman" panose="02020603050405020304" pitchFamily="18" charset="0"/>
            </a:endParaRPr>
          </a:p>
          <a:p>
            <a:pPr marL="0" indent="0">
              <a:buNone/>
            </a:pPr>
            <a:endParaRPr lang="he-IL" sz="3200" spc="-50" dirty="0">
              <a:latin typeface="Times New Roman" panose="02020603050405020304" pitchFamily="18" charset="0"/>
              <a:ea typeface="+mj-ea"/>
              <a:cs typeface="Times New Roman" panose="02020603050405020304" pitchFamily="18" charset="0"/>
            </a:endParaRPr>
          </a:p>
        </p:txBody>
      </p:sp>
      <p:sp>
        <p:nvSpPr>
          <p:cNvPr id="6" name="מלבן 5">
            <a:extLst>
              <a:ext uri="{FF2B5EF4-FFF2-40B4-BE49-F238E27FC236}">
                <a16:creationId xmlns:a16="http://schemas.microsoft.com/office/drawing/2014/main" id="{CE866D8C-C085-DB18-2378-12D8171CB5DB}"/>
              </a:ext>
            </a:extLst>
          </p:cNvPr>
          <p:cNvSpPr/>
          <p:nvPr/>
        </p:nvSpPr>
        <p:spPr>
          <a:xfrm>
            <a:off x="6483927" y="5135088"/>
            <a:ext cx="1486569" cy="595748"/>
          </a:xfrm>
          <a:prstGeom prst="rect">
            <a:avLst/>
          </a:prstGeom>
          <a:solidFill>
            <a:srgbClr val="32C7B7"/>
          </a:solidFill>
          <a:ln w="28575">
            <a:solidFill>
              <a:srgbClr val="2E65AD"/>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 name="תמונה 1">
            <a:extLst>
              <a:ext uri="{FF2B5EF4-FFF2-40B4-BE49-F238E27FC236}">
                <a16:creationId xmlns:a16="http://schemas.microsoft.com/office/drawing/2014/main" id="{58D59026-E880-9493-A9FE-110D5465C73C}"/>
              </a:ext>
            </a:extLst>
          </p:cNvPr>
          <p:cNvPicPr>
            <a:picLocks noChangeAspect="1"/>
          </p:cNvPicPr>
          <p:nvPr/>
        </p:nvPicPr>
        <p:blipFill rotWithShape="1">
          <a:blip r:embed="rId2"/>
          <a:srcRect l="83805" t="17037" r="9734" b="69693"/>
          <a:stretch/>
        </p:blipFill>
        <p:spPr>
          <a:xfrm>
            <a:off x="6890608" y="5157124"/>
            <a:ext cx="484909" cy="520733"/>
          </a:xfrm>
          <a:prstGeom prst="rect">
            <a:avLst/>
          </a:prstGeom>
        </p:spPr>
      </p:pic>
      <p:pic>
        <p:nvPicPr>
          <p:cNvPr id="13" name="תמונה 12">
            <a:extLst>
              <a:ext uri="{FF2B5EF4-FFF2-40B4-BE49-F238E27FC236}">
                <a16:creationId xmlns:a16="http://schemas.microsoft.com/office/drawing/2014/main" id="{EA11733D-CF94-7018-031D-1FACB34127F0}"/>
              </a:ext>
            </a:extLst>
          </p:cNvPr>
          <p:cNvPicPr>
            <a:picLocks noChangeAspect="1"/>
          </p:cNvPicPr>
          <p:nvPr/>
        </p:nvPicPr>
        <p:blipFill>
          <a:blip r:embed="rId5"/>
          <a:stretch>
            <a:fillRect/>
          </a:stretch>
        </p:blipFill>
        <p:spPr>
          <a:xfrm>
            <a:off x="8011432" y="5189928"/>
            <a:ext cx="290399" cy="459799"/>
          </a:xfrm>
          <a:prstGeom prst="rect">
            <a:avLst/>
          </a:prstGeom>
        </p:spPr>
      </p:pic>
      <p:pic>
        <p:nvPicPr>
          <p:cNvPr id="17" name="תמונה 16">
            <a:extLst>
              <a:ext uri="{FF2B5EF4-FFF2-40B4-BE49-F238E27FC236}">
                <a16:creationId xmlns:a16="http://schemas.microsoft.com/office/drawing/2014/main" id="{B7320BAC-3D6B-3FB6-49DD-150E0AE16630}"/>
              </a:ext>
            </a:extLst>
          </p:cNvPr>
          <p:cNvPicPr>
            <a:picLocks noChangeAspect="1"/>
          </p:cNvPicPr>
          <p:nvPr/>
        </p:nvPicPr>
        <p:blipFill>
          <a:blip r:embed="rId6"/>
          <a:stretch>
            <a:fillRect/>
          </a:stretch>
        </p:blipFill>
        <p:spPr>
          <a:xfrm>
            <a:off x="7788702" y="4247687"/>
            <a:ext cx="735858" cy="785747"/>
          </a:xfrm>
          <a:prstGeom prst="rect">
            <a:avLst/>
          </a:prstGeom>
        </p:spPr>
      </p:pic>
      <p:pic>
        <p:nvPicPr>
          <p:cNvPr id="21" name="תמונה 20">
            <a:extLst>
              <a:ext uri="{FF2B5EF4-FFF2-40B4-BE49-F238E27FC236}">
                <a16:creationId xmlns:a16="http://schemas.microsoft.com/office/drawing/2014/main" id="{A91D9A0B-E72D-1D00-02EF-087FC8B9BDA3}"/>
              </a:ext>
            </a:extLst>
          </p:cNvPr>
          <p:cNvPicPr>
            <a:picLocks noChangeAspect="1"/>
          </p:cNvPicPr>
          <p:nvPr/>
        </p:nvPicPr>
        <p:blipFill>
          <a:blip r:embed="rId7"/>
          <a:stretch>
            <a:fillRect/>
          </a:stretch>
        </p:blipFill>
        <p:spPr>
          <a:xfrm>
            <a:off x="6686058" y="4385233"/>
            <a:ext cx="831706" cy="620676"/>
          </a:xfrm>
          <a:prstGeom prst="rect">
            <a:avLst/>
          </a:prstGeom>
        </p:spPr>
      </p:pic>
    </p:spTree>
    <p:extLst>
      <p:ext uri="{BB962C8B-B14F-4D97-AF65-F5344CB8AC3E}">
        <p14:creationId xmlns:p14="http://schemas.microsoft.com/office/powerpoint/2010/main" val="17491104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מספר שקופית 4">
            <a:extLst>
              <a:ext uri="{FF2B5EF4-FFF2-40B4-BE49-F238E27FC236}">
                <a16:creationId xmlns:a16="http://schemas.microsoft.com/office/drawing/2014/main" id="{D3651888-F527-435F-BFB1-08835EDEFC88}"/>
              </a:ext>
            </a:extLst>
          </p:cNvPr>
          <p:cNvSpPr>
            <a:spLocks noGrp="1"/>
          </p:cNvSpPr>
          <p:nvPr>
            <p:ph type="sldNum" sz="quarter" idx="12"/>
          </p:nvPr>
        </p:nvSpPr>
        <p:spPr/>
        <p:txBody>
          <a:bodyPr>
            <a:normAutofit/>
          </a:bodyPr>
          <a:lstStyle/>
          <a:p>
            <a:fld id="{4F1E6CC7-5D87-41AE-A8C6-B06E12F85E9C}" type="slidenum">
              <a:rPr lang="he-IL" smtClean="0"/>
              <a:pPr/>
              <a:t>52</a:t>
            </a:fld>
            <a:endParaRPr lang="he-IL" dirty="0"/>
          </a:p>
        </p:txBody>
      </p:sp>
      <p:sp>
        <p:nvSpPr>
          <p:cNvPr id="9" name="תיבת טקסט 8">
            <a:extLst>
              <a:ext uri="{FF2B5EF4-FFF2-40B4-BE49-F238E27FC236}">
                <a16:creationId xmlns:a16="http://schemas.microsoft.com/office/drawing/2014/main" id="{F650FA66-0F60-0DE5-68B0-13EC589425D3}"/>
              </a:ext>
            </a:extLst>
          </p:cNvPr>
          <p:cNvSpPr txBox="1"/>
          <p:nvPr/>
        </p:nvSpPr>
        <p:spPr>
          <a:xfrm>
            <a:off x="3047223" y="748761"/>
            <a:ext cx="6097554" cy="923330"/>
          </a:xfrm>
          <a:prstGeom prst="rect">
            <a:avLst/>
          </a:prstGeom>
          <a:noFill/>
        </p:spPr>
        <p:txBody>
          <a:bodyPr wrap="square">
            <a:spAutoFit/>
          </a:bodyPr>
          <a:lstStyle/>
          <a:p>
            <a:pPr lvl="0" algn="ctr" rtl="1" eaLnBrk="0" fontAlgn="base" hangingPunct="0">
              <a:spcBef>
                <a:spcPct val="0"/>
              </a:spcBef>
              <a:spcAft>
                <a:spcPct val="0"/>
              </a:spcAft>
            </a:pPr>
            <a:r>
              <a:rPr lang="he-IL" altLang="he-IL" sz="5400" spc="-50" dirty="0">
                <a:solidFill>
                  <a:schemeClr val="tx1">
                    <a:lumMod val="75000"/>
                    <a:lumOff val="25000"/>
                  </a:schemeClr>
                </a:solidFill>
                <a:latin typeface="+mj-lt"/>
                <a:ea typeface="+mj-ea"/>
                <a:cs typeface="+mj-cs"/>
              </a:rPr>
              <a:t>דוגמא- פתרון 3</a:t>
            </a:r>
            <a:endParaRPr lang="en-US" altLang="he-IL" sz="5400" spc="-50" dirty="0">
              <a:solidFill>
                <a:schemeClr val="tx1">
                  <a:lumMod val="75000"/>
                  <a:lumOff val="25000"/>
                </a:schemeClr>
              </a:solidFill>
              <a:latin typeface="+mj-lt"/>
              <a:ea typeface="+mj-ea"/>
              <a:cs typeface="+mj-cs"/>
            </a:endParaRPr>
          </a:p>
        </p:txBody>
      </p:sp>
      <p:sp>
        <p:nvSpPr>
          <p:cNvPr id="12" name="מלבן 11">
            <a:extLst>
              <a:ext uri="{FF2B5EF4-FFF2-40B4-BE49-F238E27FC236}">
                <a16:creationId xmlns:a16="http://schemas.microsoft.com/office/drawing/2014/main" id="{05C3BA3D-494D-F088-C0C8-191CFF64340E}"/>
              </a:ext>
            </a:extLst>
          </p:cNvPr>
          <p:cNvSpPr/>
          <p:nvPr/>
        </p:nvSpPr>
        <p:spPr>
          <a:xfrm>
            <a:off x="1330036" y="1945199"/>
            <a:ext cx="9683245" cy="4164040"/>
          </a:xfrm>
          <a:prstGeom prst="rect">
            <a:avLst/>
          </a:prstGeom>
          <a:solidFill>
            <a:srgbClr val="E4F4E3"/>
          </a:solidFill>
          <a:ln>
            <a:solidFill>
              <a:srgbClr val="E4F4E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a:extLst>
              <a:ext uri="{FF2B5EF4-FFF2-40B4-BE49-F238E27FC236}">
                <a16:creationId xmlns:a16="http://schemas.microsoft.com/office/drawing/2014/main" id="{19F95D00-3AFD-1A69-0868-64FA43634F91}"/>
              </a:ext>
            </a:extLst>
          </p:cNvPr>
          <p:cNvPicPr>
            <a:picLocks noChangeAspect="1"/>
          </p:cNvPicPr>
          <p:nvPr/>
        </p:nvPicPr>
        <p:blipFill rotWithShape="1">
          <a:blip r:embed="rId2"/>
          <a:srcRect r="963"/>
          <a:stretch/>
        </p:blipFill>
        <p:spPr>
          <a:xfrm>
            <a:off x="2409837" y="1945199"/>
            <a:ext cx="7433286" cy="3923895"/>
          </a:xfrm>
          <a:prstGeom prst="rect">
            <a:avLst/>
          </a:prstGeom>
        </p:spPr>
      </p:pic>
      <p:sp>
        <p:nvSpPr>
          <p:cNvPr id="10" name="מלבן 9">
            <a:extLst>
              <a:ext uri="{FF2B5EF4-FFF2-40B4-BE49-F238E27FC236}">
                <a16:creationId xmlns:a16="http://schemas.microsoft.com/office/drawing/2014/main" id="{B2831545-D91D-B644-1CC7-A4D48D9C3689}"/>
              </a:ext>
            </a:extLst>
          </p:cNvPr>
          <p:cNvSpPr/>
          <p:nvPr/>
        </p:nvSpPr>
        <p:spPr>
          <a:xfrm>
            <a:off x="5353899" y="5135808"/>
            <a:ext cx="1876750" cy="595748"/>
          </a:xfrm>
          <a:prstGeom prst="rect">
            <a:avLst/>
          </a:prstGeom>
          <a:solidFill>
            <a:srgbClr val="E13B2F"/>
          </a:solidFill>
          <a:ln w="28575">
            <a:solidFill>
              <a:srgbClr val="2E65AD"/>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מלבן 7">
            <a:extLst>
              <a:ext uri="{FF2B5EF4-FFF2-40B4-BE49-F238E27FC236}">
                <a16:creationId xmlns:a16="http://schemas.microsoft.com/office/drawing/2014/main" id="{0911E5B3-3310-690A-C71F-0A79C27D50AF}"/>
              </a:ext>
            </a:extLst>
          </p:cNvPr>
          <p:cNvSpPr/>
          <p:nvPr/>
        </p:nvSpPr>
        <p:spPr>
          <a:xfrm>
            <a:off x="9144777" y="4738255"/>
            <a:ext cx="913623" cy="942109"/>
          </a:xfrm>
          <a:prstGeom prst="rect">
            <a:avLst/>
          </a:prstGeom>
          <a:solidFill>
            <a:srgbClr val="E4F4E3"/>
          </a:solidFill>
          <a:ln>
            <a:solidFill>
              <a:srgbClr val="E4F4E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מלבן 2">
            <a:extLst>
              <a:ext uri="{FF2B5EF4-FFF2-40B4-BE49-F238E27FC236}">
                <a16:creationId xmlns:a16="http://schemas.microsoft.com/office/drawing/2014/main" id="{C0BB02E8-C57A-47E1-405D-DD544ED43C52}"/>
              </a:ext>
            </a:extLst>
          </p:cNvPr>
          <p:cNvSpPr/>
          <p:nvPr/>
        </p:nvSpPr>
        <p:spPr>
          <a:xfrm>
            <a:off x="7225008" y="5121952"/>
            <a:ext cx="1159952" cy="595748"/>
          </a:xfrm>
          <a:prstGeom prst="rect">
            <a:avLst/>
          </a:prstGeom>
          <a:solidFill>
            <a:srgbClr val="85E430"/>
          </a:solidFill>
          <a:ln w="28575">
            <a:solidFill>
              <a:srgbClr val="2E65AD"/>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תמונה 10">
            <a:extLst>
              <a:ext uri="{FF2B5EF4-FFF2-40B4-BE49-F238E27FC236}">
                <a16:creationId xmlns:a16="http://schemas.microsoft.com/office/drawing/2014/main" id="{8C91763C-1BF4-FA57-EB10-03AD862AF61F}"/>
              </a:ext>
            </a:extLst>
          </p:cNvPr>
          <p:cNvPicPr>
            <a:picLocks noChangeAspect="1"/>
          </p:cNvPicPr>
          <p:nvPr/>
        </p:nvPicPr>
        <p:blipFill>
          <a:blip r:embed="rId3"/>
          <a:stretch>
            <a:fillRect/>
          </a:stretch>
        </p:blipFill>
        <p:spPr>
          <a:xfrm>
            <a:off x="4826261" y="5203783"/>
            <a:ext cx="459799" cy="459799"/>
          </a:xfrm>
          <a:prstGeom prst="rect">
            <a:avLst/>
          </a:prstGeom>
        </p:spPr>
      </p:pic>
      <p:sp>
        <p:nvSpPr>
          <p:cNvPr id="19" name="מציין מיקום תוכן 2">
            <a:extLst>
              <a:ext uri="{FF2B5EF4-FFF2-40B4-BE49-F238E27FC236}">
                <a16:creationId xmlns:a16="http://schemas.microsoft.com/office/drawing/2014/main" id="{D8425342-5429-1755-CE08-182B5FAD422C}"/>
              </a:ext>
            </a:extLst>
          </p:cNvPr>
          <p:cNvSpPr>
            <a:spLocks noGrp="1"/>
          </p:cNvSpPr>
          <p:nvPr>
            <p:ph idx="1"/>
          </p:nvPr>
        </p:nvSpPr>
        <p:spPr>
          <a:xfrm>
            <a:off x="1131322" y="4894149"/>
            <a:ext cx="2724214" cy="4377784"/>
          </a:xfrm>
        </p:spPr>
        <p:txBody>
          <a:bodyPr>
            <a:normAutofit/>
          </a:bodyPr>
          <a:lstStyle/>
          <a:p>
            <a:pPr algn="just">
              <a:lnSpc>
                <a:spcPct val="150000"/>
              </a:lnSpc>
            </a:pPr>
            <a:r>
              <a:rPr lang="he-IL" sz="3600" spc="-50" dirty="0">
                <a:latin typeface="Times New Roman" panose="02020603050405020304" pitchFamily="18" charset="0"/>
                <a:ea typeface="+mj-ea"/>
                <a:cs typeface="Times New Roman" panose="02020603050405020304" pitchFamily="18" charset="0"/>
              </a:rPr>
              <a:t>סה"כ: 64$</a:t>
            </a:r>
            <a:endParaRPr lang="he-IL" sz="3200" spc="-50" dirty="0">
              <a:latin typeface="Times New Roman" panose="02020603050405020304" pitchFamily="18" charset="0"/>
              <a:ea typeface="+mj-ea"/>
              <a:cs typeface="Times New Roman" panose="02020603050405020304" pitchFamily="18" charset="0"/>
            </a:endParaRPr>
          </a:p>
          <a:p>
            <a:endParaRPr lang="he-IL" sz="4400" spc="-50" dirty="0">
              <a:latin typeface="Times New Roman" panose="02020603050405020304" pitchFamily="18" charset="0"/>
              <a:cs typeface="Times New Roman" panose="02020603050405020304" pitchFamily="18" charset="0"/>
            </a:endParaRPr>
          </a:p>
          <a:p>
            <a:endParaRPr lang="he-IL" sz="4700" spc="-50" dirty="0">
              <a:latin typeface="Times New Roman" panose="02020603050405020304" pitchFamily="18" charset="0"/>
              <a:ea typeface="+mj-ea"/>
              <a:cs typeface="Times New Roman" panose="02020603050405020304" pitchFamily="18" charset="0"/>
            </a:endParaRPr>
          </a:p>
          <a:p>
            <a:endParaRPr lang="he-IL" sz="3200" spc="-50" dirty="0">
              <a:latin typeface="Times New Roman" panose="02020603050405020304" pitchFamily="18" charset="0"/>
              <a:ea typeface="+mj-ea"/>
              <a:cs typeface="Times New Roman" panose="02020603050405020304" pitchFamily="18" charset="0"/>
            </a:endParaRPr>
          </a:p>
          <a:p>
            <a:pPr marL="0" indent="0">
              <a:buNone/>
            </a:pPr>
            <a:endParaRPr lang="he-IL" sz="3200" spc="-50" dirty="0">
              <a:latin typeface="Times New Roman" panose="02020603050405020304" pitchFamily="18" charset="0"/>
              <a:ea typeface="+mj-ea"/>
              <a:cs typeface="Times New Roman" panose="02020603050405020304" pitchFamily="18" charset="0"/>
            </a:endParaRPr>
          </a:p>
        </p:txBody>
      </p:sp>
      <p:sp>
        <p:nvSpPr>
          <p:cNvPr id="6" name="מלבן 5">
            <a:extLst>
              <a:ext uri="{FF2B5EF4-FFF2-40B4-BE49-F238E27FC236}">
                <a16:creationId xmlns:a16="http://schemas.microsoft.com/office/drawing/2014/main" id="{CE866D8C-C085-DB18-2378-12D8171CB5DB}"/>
              </a:ext>
            </a:extLst>
          </p:cNvPr>
          <p:cNvSpPr/>
          <p:nvPr/>
        </p:nvSpPr>
        <p:spPr>
          <a:xfrm>
            <a:off x="3853475" y="5135808"/>
            <a:ext cx="1486569" cy="595748"/>
          </a:xfrm>
          <a:prstGeom prst="rect">
            <a:avLst/>
          </a:prstGeom>
          <a:solidFill>
            <a:srgbClr val="32C7B7"/>
          </a:solidFill>
          <a:ln w="28575">
            <a:solidFill>
              <a:srgbClr val="2E65AD"/>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 name="תמונה 1">
            <a:extLst>
              <a:ext uri="{FF2B5EF4-FFF2-40B4-BE49-F238E27FC236}">
                <a16:creationId xmlns:a16="http://schemas.microsoft.com/office/drawing/2014/main" id="{58D59026-E880-9493-A9FE-110D5465C73C}"/>
              </a:ext>
            </a:extLst>
          </p:cNvPr>
          <p:cNvPicPr>
            <a:picLocks noChangeAspect="1"/>
          </p:cNvPicPr>
          <p:nvPr/>
        </p:nvPicPr>
        <p:blipFill rotWithShape="1">
          <a:blip r:embed="rId2"/>
          <a:srcRect l="83805" t="17037" r="9734" b="69693"/>
          <a:stretch/>
        </p:blipFill>
        <p:spPr>
          <a:xfrm>
            <a:off x="4285932" y="5159460"/>
            <a:ext cx="484909" cy="520733"/>
          </a:xfrm>
          <a:prstGeom prst="rect">
            <a:avLst/>
          </a:prstGeom>
        </p:spPr>
      </p:pic>
      <p:pic>
        <p:nvPicPr>
          <p:cNvPr id="21" name="תמונה 20">
            <a:extLst>
              <a:ext uri="{FF2B5EF4-FFF2-40B4-BE49-F238E27FC236}">
                <a16:creationId xmlns:a16="http://schemas.microsoft.com/office/drawing/2014/main" id="{A91D9A0B-E72D-1D00-02EF-087FC8B9BDA3}"/>
              </a:ext>
            </a:extLst>
          </p:cNvPr>
          <p:cNvPicPr>
            <a:picLocks noChangeAspect="1"/>
          </p:cNvPicPr>
          <p:nvPr/>
        </p:nvPicPr>
        <p:blipFill>
          <a:blip r:embed="rId4"/>
          <a:stretch>
            <a:fillRect/>
          </a:stretch>
        </p:blipFill>
        <p:spPr>
          <a:xfrm>
            <a:off x="4188864" y="4411115"/>
            <a:ext cx="831706" cy="620676"/>
          </a:xfrm>
          <a:prstGeom prst="rect">
            <a:avLst/>
          </a:prstGeom>
        </p:spPr>
      </p:pic>
      <p:pic>
        <p:nvPicPr>
          <p:cNvPr id="14" name="תמונה 13">
            <a:extLst>
              <a:ext uri="{FF2B5EF4-FFF2-40B4-BE49-F238E27FC236}">
                <a16:creationId xmlns:a16="http://schemas.microsoft.com/office/drawing/2014/main" id="{515F62DF-7E4F-2DAE-A47C-FD0E6002A22B}"/>
              </a:ext>
            </a:extLst>
          </p:cNvPr>
          <p:cNvPicPr>
            <a:picLocks noChangeAspect="1"/>
          </p:cNvPicPr>
          <p:nvPr/>
        </p:nvPicPr>
        <p:blipFill>
          <a:blip r:embed="rId5"/>
          <a:stretch>
            <a:fillRect/>
          </a:stretch>
        </p:blipFill>
        <p:spPr>
          <a:xfrm>
            <a:off x="6137240" y="5199455"/>
            <a:ext cx="333591" cy="464127"/>
          </a:xfrm>
          <a:prstGeom prst="rect">
            <a:avLst/>
          </a:prstGeom>
        </p:spPr>
      </p:pic>
      <p:pic>
        <p:nvPicPr>
          <p:cNvPr id="16" name="תמונה 15">
            <a:extLst>
              <a:ext uri="{FF2B5EF4-FFF2-40B4-BE49-F238E27FC236}">
                <a16:creationId xmlns:a16="http://schemas.microsoft.com/office/drawing/2014/main" id="{C525DDF1-71F2-FC89-AD40-87B296D676C5}"/>
              </a:ext>
            </a:extLst>
          </p:cNvPr>
          <p:cNvPicPr>
            <a:picLocks noChangeAspect="1"/>
          </p:cNvPicPr>
          <p:nvPr/>
        </p:nvPicPr>
        <p:blipFill>
          <a:blip r:embed="rId6"/>
          <a:stretch>
            <a:fillRect/>
          </a:stretch>
        </p:blipFill>
        <p:spPr>
          <a:xfrm>
            <a:off x="7607692" y="5159460"/>
            <a:ext cx="416072" cy="483180"/>
          </a:xfrm>
          <a:prstGeom prst="rect">
            <a:avLst/>
          </a:prstGeom>
        </p:spPr>
      </p:pic>
      <p:pic>
        <p:nvPicPr>
          <p:cNvPr id="20" name="תמונה 19">
            <a:extLst>
              <a:ext uri="{FF2B5EF4-FFF2-40B4-BE49-F238E27FC236}">
                <a16:creationId xmlns:a16="http://schemas.microsoft.com/office/drawing/2014/main" id="{F703D954-9715-CB45-C792-7C6183864784}"/>
              </a:ext>
            </a:extLst>
          </p:cNvPr>
          <p:cNvPicPr>
            <a:picLocks noChangeAspect="1"/>
          </p:cNvPicPr>
          <p:nvPr/>
        </p:nvPicPr>
        <p:blipFill>
          <a:blip r:embed="rId7"/>
          <a:stretch>
            <a:fillRect/>
          </a:stretch>
        </p:blipFill>
        <p:spPr>
          <a:xfrm>
            <a:off x="5719237" y="4479741"/>
            <a:ext cx="923984" cy="530155"/>
          </a:xfrm>
          <a:prstGeom prst="rect">
            <a:avLst/>
          </a:prstGeom>
        </p:spPr>
      </p:pic>
      <p:pic>
        <p:nvPicPr>
          <p:cNvPr id="23" name="תמונה 22">
            <a:extLst>
              <a:ext uri="{FF2B5EF4-FFF2-40B4-BE49-F238E27FC236}">
                <a16:creationId xmlns:a16="http://schemas.microsoft.com/office/drawing/2014/main" id="{FBBAAC73-D15B-4BFA-5031-30A34BF40381}"/>
              </a:ext>
            </a:extLst>
          </p:cNvPr>
          <p:cNvPicPr>
            <a:picLocks noChangeAspect="1"/>
          </p:cNvPicPr>
          <p:nvPr/>
        </p:nvPicPr>
        <p:blipFill>
          <a:blip r:embed="rId8"/>
          <a:stretch>
            <a:fillRect/>
          </a:stretch>
        </p:blipFill>
        <p:spPr>
          <a:xfrm>
            <a:off x="7114238" y="4213869"/>
            <a:ext cx="1270722" cy="855536"/>
          </a:xfrm>
          <a:prstGeom prst="rect">
            <a:avLst/>
          </a:prstGeom>
        </p:spPr>
      </p:pic>
    </p:spTree>
    <p:extLst>
      <p:ext uri="{BB962C8B-B14F-4D97-AF65-F5344CB8AC3E}">
        <p14:creationId xmlns:p14="http://schemas.microsoft.com/office/powerpoint/2010/main" val="26357327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של מספר שקופית 4">
            <a:extLst>
              <a:ext uri="{FF2B5EF4-FFF2-40B4-BE49-F238E27FC236}">
                <a16:creationId xmlns:a16="http://schemas.microsoft.com/office/drawing/2014/main" id="{D3651888-F527-435F-BFB1-08835EDEFC88}"/>
              </a:ext>
            </a:extLst>
          </p:cNvPr>
          <p:cNvSpPr>
            <a:spLocks noGrp="1"/>
          </p:cNvSpPr>
          <p:nvPr>
            <p:ph type="sldNum" sz="quarter" idx="12"/>
          </p:nvPr>
        </p:nvSpPr>
        <p:spPr/>
        <p:txBody>
          <a:bodyPr>
            <a:normAutofit/>
          </a:bodyPr>
          <a:lstStyle/>
          <a:p>
            <a:fld id="{4F1E6CC7-5D87-41AE-A8C6-B06E12F85E9C}" type="slidenum">
              <a:rPr lang="he-IL" smtClean="0"/>
              <a:pPr/>
              <a:t>53</a:t>
            </a:fld>
            <a:endParaRPr lang="he-IL" dirty="0"/>
          </a:p>
        </p:txBody>
      </p:sp>
      <p:sp>
        <p:nvSpPr>
          <p:cNvPr id="9" name="תיבת טקסט 8">
            <a:extLst>
              <a:ext uri="{FF2B5EF4-FFF2-40B4-BE49-F238E27FC236}">
                <a16:creationId xmlns:a16="http://schemas.microsoft.com/office/drawing/2014/main" id="{F650FA66-0F60-0DE5-68B0-13EC589425D3}"/>
              </a:ext>
            </a:extLst>
          </p:cNvPr>
          <p:cNvSpPr txBox="1"/>
          <p:nvPr/>
        </p:nvSpPr>
        <p:spPr>
          <a:xfrm>
            <a:off x="2548726" y="748761"/>
            <a:ext cx="7094549" cy="923330"/>
          </a:xfrm>
          <a:prstGeom prst="rect">
            <a:avLst/>
          </a:prstGeom>
          <a:noFill/>
        </p:spPr>
        <p:txBody>
          <a:bodyPr wrap="square">
            <a:spAutoFit/>
          </a:bodyPr>
          <a:lstStyle/>
          <a:p>
            <a:pPr lvl="0" algn="ctr" rtl="1" eaLnBrk="0" fontAlgn="base" hangingPunct="0">
              <a:spcBef>
                <a:spcPct val="0"/>
              </a:spcBef>
              <a:spcAft>
                <a:spcPct val="0"/>
              </a:spcAft>
            </a:pPr>
            <a:r>
              <a:rPr lang="he-IL" altLang="he-IL" sz="5400" spc="-50" dirty="0">
                <a:solidFill>
                  <a:schemeClr val="tx1">
                    <a:lumMod val="75000"/>
                    <a:lumOff val="25000"/>
                  </a:schemeClr>
                </a:solidFill>
                <a:latin typeface="+mj-lt"/>
                <a:ea typeface="+mj-ea"/>
                <a:cs typeface="+mj-cs"/>
              </a:rPr>
              <a:t>דוגמא- חישוב רווח לכל יחידה</a:t>
            </a:r>
            <a:endParaRPr lang="en-US" altLang="he-IL" sz="5400" spc="-50" dirty="0">
              <a:solidFill>
                <a:schemeClr val="tx1">
                  <a:lumMod val="75000"/>
                  <a:lumOff val="25000"/>
                </a:schemeClr>
              </a:solidFill>
              <a:latin typeface="+mj-lt"/>
              <a:ea typeface="+mj-ea"/>
              <a:cs typeface="+mj-cs"/>
            </a:endParaRPr>
          </a:p>
        </p:txBody>
      </p:sp>
      <p:sp>
        <p:nvSpPr>
          <p:cNvPr id="12" name="מלבן 11">
            <a:extLst>
              <a:ext uri="{FF2B5EF4-FFF2-40B4-BE49-F238E27FC236}">
                <a16:creationId xmlns:a16="http://schemas.microsoft.com/office/drawing/2014/main" id="{05C3BA3D-494D-F088-C0C8-191CFF64340E}"/>
              </a:ext>
            </a:extLst>
          </p:cNvPr>
          <p:cNvSpPr/>
          <p:nvPr/>
        </p:nvSpPr>
        <p:spPr>
          <a:xfrm>
            <a:off x="1330036" y="1945199"/>
            <a:ext cx="9683245" cy="4164040"/>
          </a:xfrm>
          <a:prstGeom prst="rect">
            <a:avLst/>
          </a:prstGeom>
          <a:solidFill>
            <a:srgbClr val="E4F4E3"/>
          </a:solidFill>
          <a:ln>
            <a:solidFill>
              <a:srgbClr val="E4F4E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a:extLst>
              <a:ext uri="{FF2B5EF4-FFF2-40B4-BE49-F238E27FC236}">
                <a16:creationId xmlns:a16="http://schemas.microsoft.com/office/drawing/2014/main" id="{19F95D00-3AFD-1A69-0868-64FA43634F91}"/>
              </a:ext>
            </a:extLst>
          </p:cNvPr>
          <p:cNvPicPr>
            <a:picLocks noChangeAspect="1"/>
          </p:cNvPicPr>
          <p:nvPr/>
        </p:nvPicPr>
        <p:blipFill rotWithShape="1">
          <a:blip r:embed="rId2"/>
          <a:srcRect r="963"/>
          <a:stretch/>
        </p:blipFill>
        <p:spPr>
          <a:xfrm>
            <a:off x="2409837" y="1945199"/>
            <a:ext cx="7433286" cy="3923895"/>
          </a:xfrm>
          <a:prstGeom prst="rect">
            <a:avLst/>
          </a:prstGeom>
        </p:spPr>
      </p:pic>
      <p:sp>
        <p:nvSpPr>
          <p:cNvPr id="8" name="מלבן 7">
            <a:extLst>
              <a:ext uri="{FF2B5EF4-FFF2-40B4-BE49-F238E27FC236}">
                <a16:creationId xmlns:a16="http://schemas.microsoft.com/office/drawing/2014/main" id="{0911E5B3-3310-690A-C71F-0A79C27D50AF}"/>
              </a:ext>
            </a:extLst>
          </p:cNvPr>
          <p:cNvSpPr/>
          <p:nvPr/>
        </p:nvSpPr>
        <p:spPr>
          <a:xfrm>
            <a:off x="9144777" y="4738255"/>
            <a:ext cx="913623" cy="942109"/>
          </a:xfrm>
          <a:prstGeom prst="rect">
            <a:avLst/>
          </a:prstGeom>
          <a:solidFill>
            <a:srgbClr val="E4F4E3"/>
          </a:solidFill>
          <a:ln>
            <a:solidFill>
              <a:srgbClr val="E4F4E3"/>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תמונה 16">
            <a:extLst>
              <a:ext uri="{FF2B5EF4-FFF2-40B4-BE49-F238E27FC236}">
                <a16:creationId xmlns:a16="http://schemas.microsoft.com/office/drawing/2014/main" id="{D484D648-A28E-CC7B-1472-D4CF5D5BB196}"/>
              </a:ext>
            </a:extLst>
          </p:cNvPr>
          <p:cNvPicPr>
            <a:picLocks noChangeAspect="1"/>
          </p:cNvPicPr>
          <p:nvPr/>
        </p:nvPicPr>
        <p:blipFill>
          <a:blip r:embed="rId3"/>
          <a:stretch>
            <a:fillRect/>
          </a:stretch>
        </p:blipFill>
        <p:spPr>
          <a:xfrm>
            <a:off x="2687614" y="3385119"/>
            <a:ext cx="7094549" cy="501245"/>
          </a:xfrm>
          <a:prstGeom prst="rect">
            <a:avLst/>
          </a:prstGeom>
        </p:spPr>
      </p:pic>
    </p:spTree>
    <p:extLst>
      <p:ext uri="{BB962C8B-B14F-4D97-AF65-F5344CB8AC3E}">
        <p14:creationId xmlns:p14="http://schemas.microsoft.com/office/powerpoint/2010/main" val="16198106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3">
            <a:extLst>
              <a:ext uri="{FF2B5EF4-FFF2-40B4-BE49-F238E27FC236}">
                <a16:creationId xmlns:a16="http://schemas.microsoft.com/office/drawing/2014/main" id="{D292B19D-D8D0-9B7C-6332-6F9D200BD866}"/>
              </a:ext>
            </a:extLst>
          </p:cNvPr>
          <p:cNvSpPr txBox="1">
            <a:spLocks noGrp="1"/>
          </p:cNvSpPr>
          <p:nvPr>
            <p:ph type="title"/>
          </p:nvPr>
        </p:nvSpPr>
        <p:spPr>
          <a:xfrm>
            <a:off x="8049491" y="938045"/>
            <a:ext cx="3105871" cy="798680"/>
          </a:xfrm>
          <a:prstGeom prst="rect">
            <a:avLst/>
          </a:prstGeom>
          <a:noFill/>
        </p:spPr>
        <p:txBody>
          <a:bodyPr wrap="square">
            <a:spAutoFit/>
          </a:bodyPr>
          <a:lstStyle/>
          <a:p>
            <a:pPr marL="0" indent="0" algn="ctr">
              <a:buNone/>
            </a:pPr>
            <a:r>
              <a:rPr lang="he-IL" sz="5400" spc="-50" dirty="0">
                <a:latin typeface="+mj-lt"/>
                <a:ea typeface="+mj-ea"/>
                <a:cs typeface="+mj-cs"/>
              </a:rPr>
              <a:t>הרעיון</a:t>
            </a:r>
          </a:p>
        </p:txBody>
      </p:sp>
      <p:sp>
        <p:nvSpPr>
          <p:cNvPr id="9" name="מלבן 8">
            <a:extLst>
              <a:ext uri="{FF2B5EF4-FFF2-40B4-BE49-F238E27FC236}">
                <a16:creationId xmlns:a16="http://schemas.microsoft.com/office/drawing/2014/main" id="{C9C25876-1626-F9E1-5C5A-9FD8407E0D9A}"/>
              </a:ext>
            </a:extLst>
          </p:cNvPr>
          <p:cNvSpPr/>
          <p:nvPr/>
        </p:nvSpPr>
        <p:spPr>
          <a:xfrm>
            <a:off x="199806" y="257057"/>
            <a:ext cx="7677873" cy="5922070"/>
          </a:xfrm>
          <a:prstGeom prst="rect">
            <a:avLst/>
          </a:prstGeom>
          <a:solidFill>
            <a:srgbClr val="CAE1E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a:extLst>
              <a:ext uri="{FF2B5EF4-FFF2-40B4-BE49-F238E27FC236}">
                <a16:creationId xmlns:a16="http://schemas.microsoft.com/office/drawing/2014/main" id="{D85253F6-33F2-9126-338C-38CF4E9F93B0}"/>
              </a:ext>
            </a:extLst>
          </p:cNvPr>
          <p:cNvPicPr>
            <a:picLocks noChangeAspect="1"/>
          </p:cNvPicPr>
          <p:nvPr/>
        </p:nvPicPr>
        <p:blipFill>
          <a:blip r:embed="rId2"/>
          <a:stretch>
            <a:fillRect/>
          </a:stretch>
        </p:blipFill>
        <p:spPr>
          <a:xfrm>
            <a:off x="219218" y="522409"/>
            <a:ext cx="7505700" cy="2000250"/>
          </a:xfrm>
          <a:prstGeom prst="rect">
            <a:avLst/>
          </a:prstGeom>
        </p:spPr>
      </p:pic>
      <p:pic>
        <p:nvPicPr>
          <p:cNvPr id="11" name="תמונה 10">
            <a:extLst>
              <a:ext uri="{FF2B5EF4-FFF2-40B4-BE49-F238E27FC236}">
                <a16:creationId xmlns:a16="http://schemas.microsoft.com/office/drawing/2014/main" id="{F1BAD6FF-D5C9-C63F-932A-8A7924EAFA79}"/>
              </a:ext>
            </a:extLst>
          </p:cNvPr>
          <p:cNvPicPr>
            <a:picLocks noChangeAspect="1"/>
          </p:cNvPicPr>
          <p:nvPr/>
        </p:nvPicPr>
        <p:blipFill>
          <a:blip r:embed="rId3"/>
          <a:stretch>
            <a:fillRect/>
          </a:stretch>
        </p:blipFill>
        <p:spPr>
          <a:xfrm>
            <a:off x="264675" y="2701875"/>
            <a:ext cx="7248525" cy="1333500"/>
          </a:xfrm>
          <a:prstGeom prst="rect">
            <a:avLst/>
          </a:prstGeom>
        </p:spPr>
      </p:pic>
      <p:pic>
        <p:nvPicPr>
          <p:cNvPr id="15" name="תמונה 14">
            <a:extLst>
              <a:ext uri="{FF2B5EF4-FFF2-40B4-BE49-F238E27FC236}">
                <a16:creationId xmlns:a16="http://schemas.microsoft.com/office/drawing/2014/main" id="{7F9B36B1-39C9-22FC-32E9-F4B146C1A535}"/>
              </a:ext>
            </a:extLst>
          </p:cNvPr>
          <p:cNvPicPr>
            <a:picLocks noChangeAspect="1"/>
          </p:cNvPicPr>
          <p:nvPr/>
        </p:nvPicPr>
        <p:blipFill>
          <a:blip r:embed="rId4"/>
          <a:stretch>
            <a:fillRect/>
          </a:stretch>
        </p:blipFill>
        <p:spPr>
          <a:xfrm>
            <a:off x="219218" y="4082556"/>
            <a:ext cx="7229475" cy="1990725"/>
          </a:xfrm>
          <a:prstGeom prst="rect">
            <a:avLst/>
          </a:prstGeom>
        </p:spPr>
      </p:pic>
    </p:spTree>
    <p:extLst>
      <p:ext uri="{BB962C8B-B14F-4D97-AF65-F5344CB8AC3E}">
        <p14:creationId xmlns:p14="http://schemas.microsoft.com/office/powerpoint/2010/main" val="252599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8E3D39A4-CF4A-12E7-8876-81360E03492C}"/>
                  </a:ext>
                </a:extLst>
              </p:cNvPr>
              <p:cNvSpPr>
                <a:spLocks noGrp="1"/>
              </p:cNvSpPr>
              <p:nvPr>
                <p:ph idx="1"/>
              </p:nvPr>
            </p:nvSpPr>
            <p:spPr>
              <a:xfrm>
                <a:off x="967365" y="1740310"/>
                <a:ext cx="10058400" cy="4327140"/>
              </a:xfrm>
            </p:spPr>
            <p:txBody>
              <a:bodyPr>
                <a:noAutofit/>
              </a:bodyPr>
              <a:lstStyle/>
              <a:p>
                <a:pPr algn="just">
                  <a:lnSpc>
                    <a:spcPct val="170000"/>
                  </a:lnSpc>
                  <a:buFont typeface="Arial" panose="020B0604020202020204" pitchFamily="34" charset="0"/>
                  <a:buChar char="•"/>
                </a:pPr>
                <a:r>
                  <a:rPr lang="he-IL" sz="1000" spc="-50" dirty="0">
                    <a:latin typeface="+mj-lt"/>
                    <a:ea typeface="+mj-ea"/>
                    <a:cs typeface="+mj-cs"/>
                  </a:rPr>
                  <a:t> </a:t>
                </a:r>
                <a:r>
                  <a:rPr lang="he-IL" sz="3200" spc="-50" dirty="0">
                    <a:latin typeface="+mj-lt"/>
                    <a:ea typeface="+mj-ea"/>
                    <a:cs typeface="+mj-cs"/>
                  </a:rPr>
                  <a:t>כל עוד התרמיל אינו מלא:</a:t>
                </a:r>
              </a:p>
              <a:p>
                <a:pPr lvl="1" algn="just">
                  <a:lnSpc>
                    <a:spcPct val="100000"/>
                  </a:lnSpc>
                  <a:buFont typeface="Arial" panose="020B0604020202020204" pitchFamily="34" charset="0"/>
                  <a:buChar char="•"/>
                </a:pPr>
                <a:r>
                  <a:rPr lang="he-IL" sz="3200" spc="-50" dirty="0">
                    <a:latin typeface="+mj-lt"/>
                    <a:ea typeface="+mj-ea"/>
                    <a:cs typeface="+mj-cs"/>
                  </a:rPr>
                  <a:t> בחר פריט </a:t>
                </a:r>
                <a14:m>
                  <m:oMath xmlns:m="http://schemas.openxmlformats.org/officeDocument/2006/math">
                    <m:r>
                      <a:rPr lang="en-US" sz="3200" i="1" spc="-50" dirty="0" smtClean="0">
                        <a:latin typeface="Cambria Math" panose="02040503050406030204" pitchFamily="18" charset="0"/>
                        <a:ea typeface="+mj-ea"/>
                        <a:cs typeface="+mj-cs"/>
                      </a:rPr>
                      <m:t>𝑖</m:t>
                    </m:r>
                  </m:oMath>
                </a14:m>
                <a:r>
                  <a:rPr lang="he-IL" sz="3200" spc="-50" dirty="0">
                    <a:latin typeface="+mj-lt"/>
                    <a:ea typeface="+mj-ea"/>
                    <a:cs typeface="+mj-cs"/>
                  </a:rPr>
                  <a:t> עם הערך המקסימלי ל-</a:t>
                </a:r>
                <a14:m>
                  <m:oMath xmlns:m="http://schemas.openxmlformats.org/officeDocument/2006/math">
                    <m:f>
                      <m:fPr>
                        <m:ctrlPr>
                          <a:rPr lang="he-IL" sz="3200" i="1" spc="-50" smtClean="0">
                            <a:solidFill>
                              <a:srgbClr val="836967"/>
                            </a:solidFill>
                            <a:latin typeface="Cambria Math" panose="02040503050406030204" pitchFamily="18" charset="0"/>
                            <a:ea typeface="+mj-ea"/>
                            <a:cs typeface="+mj-cs"/>
                          </a:rPr>
                        </m:ctrlPr>
                      </m:fPr>
                      <m:num>
                        <m:sSub>
                          <m:sSubPr>
                            <m:ctrlPr>
                              <a:rPr lang="he-IL" sz="3200" i="1" spc="-50" smtClean="0">
                                <a:solidFill>
                                  <a:srgbClr val="836967"/>
                                </a:solidFill>
                                <a:latin typeface="Cambria Math" panose="02040503050406030204" pitchFamily="18" charset="0"/>
                                <a:ea typeface="+mj-ea"/>
                                <a:cs typeface="+mj-cs"/>
                              </a:rPr>
                            </m:ctrlPr>
                          </m:sSubPr>
                          <m:e>
                            <m:r>
                              <a:rPr lang="he-IL" sz="3200" i="1" spc="-50" smtClean="0">
                                <a:latin typeface="Cambria Math" panose="02040503050406030204" pitchFamily="18" charset="0"/>
                                <a:ea typeface="+mj-ea"/>
                                <a:cs typeface="+mj-cs"/>
                              </a:rPr>
                              <m:t>𝑣</m:t>
                            </m:r>
                          </m:e>
                          <m:sub>
                            <m:r>
                              <a:rPr lang="he-IL" sz="3200" i="1" spc="-50" smtClean="0">
                                <a:latin typeface="Cambria Math" panose="02040503050406030204" pitchFamily="18" charset="0"/>
                                <a:ea typeface="+mj-ea"/>
                                <a:cs typeface="+mj-cs"/>
                              </a:rPr>
                              <m:t>𝑖</m:t>
                            </m:r>
                          </m:sub>
                        </m:sSub>
                      </m:num>
                      <m:den>
                        <m:sSub>
                          <m:sSubPr>
                            <m:ctrlPr>
                              <a:rPr lang="he-IL" sz="3200" i="1" spc="-50" smtClean="0">
                                <a:solidFill>
                                  <a:srgbClr val="836967"/>
                                </a:solidFill>
                                <a:latin typeface="Cambria Math" panose="02040503050406030204" pitchFamily="18" charset="0"/>
                                <a:ea typeface="+mj-ea"/>
                                <a:cs typeface="+mj-cs"/>
                              </a:rPr>
                            </m:ctrlPr>
                          </m:sSubPr>
                          <m:e>
                            <m:r>
                              <a:rPr lang="he-IL" sz="3200" i="1" spc="-50" smtClean="0">
                                <a:latin typeface="Cambria Math" panose="02040503050406030204" pitchFamily="18" charset="0"/>
                                <a:ea typeface="+mj-ea"/>
                                <a:cs typeface="+mj-cs"/>
                              </a:rPr>
                              <m:t>𝑤</m:t>
                            </m:r>
                          </m:e>
                          <m:sub>
                            <m:r>
                              <a:rPr lang="en-US" sz="3200" b="0" i="1" spc="-50" smtClean="0">
                                <a:latin typeface="Cambria Math" panose="02040503050406030204" pitchFamily="18" charset="0"/>
                                <a:ea typeface="+mj-ea"/>
                                <a:cs typeface="+mj-cs"/>
                              </a:rPr>
                              <m:t>𝑖</m:t>
                            </m:r>
                          </m:sub>
                        </m:sSub>
                      </m:den>
                    </m:f>
                  </m:oMath>
                </a14:m>
                <a:r>
                  <a:rPr lang="he-IL" sz="3200" spc="-50" dirty="0">
                    <a:latin typeface="+mj-lt"/>
                    <a:ea typeface="+mj-ea"/>
                    <a:cs typeface="+mj-cs"/>
                  </a:rPr>
                  <a:t>  כלומר ליחידת משקל.</a:t>
                </a:r>
              </a:p>
              <a:p>
                <a:pPr lvl="1" algn="just">
                  <a:lnSpc>
                    <a:spcPct val="100000"/>
                  </a:lnSpc>
                  <a:buFont typeface="Arial" panose="020B0604020202020204" pitchFamily="34" charset="0"/>
                  <a:buChar char="•"/>
                </a:pPr>
                <a:r>
                  <a:rPr lang="he-IL" sz="3200" spc="-50" dirty="0">
                    <a:latin typeface="+mj-lt"/>
                    <a:ea typeface="+mj-ea"/>
                    <a:cs typeface="+mj-cs"/>
                  </a:rPr>
                  <a:t> אם יש מקום בתרמיל לכל הפריט, קח את כולו.</a:t>
                </a:r>
              </a:p>
              <a:p>
                <a:pPr lvl="1" algn="just">
                  <a:lnSpc>
                    <a:spcPct val="100000"/>
                  </a:lnSpc>
                  <a:buFont typeface="Arial" panose="020B0604020202020204" pitchFamily="34" charset="0"/>
                  <a:buChar char="•"/>
                </a:pPr>
                <a:r>
                  <a:rPr lang="he-IL" sz="3200" spc="-50" dirty="0">
                    <a:latin typeface="+mj-lt"/>
                    <a:ea typeface="+mj-ea"/>
                    <a:cs typeface="+mj-cs"/>
                  </a:rPr>
                  <a:t> אחרת, קח חלק מהפריט למילוי כל התרמיל.</a:t>
                </a:r>
              </a:p>
              <a:p>
                <a:pPr marL="0" algn="just">
                  <a:lnSpc>
                    <a:spcPct val="100000"/>
                  </a:lnSpc>
                  <a:buNone/>
                </a:pPr>
                <a:r>
                  <a:rPr lang="he-IL" sz="3200" spc="-50" dirty="0">
                    <a:latin typeface="+mj-lt"/>
                    <a:ea typeface="+mj-ea"/>
                    <a:cs typeface="+mj-cs"/>
                  </a:rPr>
                  <a:t> החזר את הרווח המקסימלי ואת הכמויות שנלקחו.</a:t>
                </a:r>
                <a:endParaRPr lang="he-IL" sz="1400" spc="-50" dirty="0">
                  <a:latin typeface="+mj-lt"/>
                  <a:ea typeface="+mj-ea"/>
                  <a:cs typeface="+mj-cs"/>
                </a:endParaRPr>
              </a:p>
              <a:p>
                <a:pPr marL="292608" lvl="1" indent="0">
                  <a:lnSpc>
                    <a:spcPct val="100000"/>
                  </a:lnSpc>
                  <a:buNone/>
                </a:pPr>
                <a:r>
                  <a:rPr lang="he-IL" sz="1100" spc="-50" dirty="0">
                    <a:latin typeface="+mj-lt"/>
                    <a:ea typeface="+mj-ea"/>
                    <a:cs typeface="+mj-cs"/>
                  </a:rPr>
                  <a:t> </a:t>
                </a:r>
              </a:p>
              <a:p>
                <a:endParaRPr lang="he-IL" sz="600" dirty="0"/>
              </a:p>
            </p:txBody>
          </p:sp>
        </mc:Choice>
        <mc:Fallback xmlns="">
          <p:sp>
            <p:nvSpPr>
              <p:cNvPr id="3" name="מציין מיקום תוכן 2">
                <a:extLst>
                  <a:ext uri="{FF2B5EF4-FFF2-40B4-BE49-F238E27FC236}">
                    <a16:creationId xmlns:a16="http://schemas.microsoft.com/office/drawing/2014/main" id="{8E3D39A4-CF4A-12E7-8876-81360E03492C}"/>
                  </a:ext>
                </a:extLst>
              </p:cNvPr>
              <p:cNvSpPr>
                <a:spLocks noGrp="1" noRot="1" noChangeAspect="1" noMove="1" noResize="1" noEditPoints="1" noAdjustHandles="1" noChangeArrowheads="1" noChangeShapeType="1" noTextEdit="1"/>
              </p:cNvSpPr>
              <p:nvPr>
                <p:ph idx="1"/>
              </p:nvPr>
            </p:nvSpPr>
            <p:spPr>
              <a:xfrm>
                <a:off x="967365" y="1740310"/>
                <a:ext cx="10058400" cy="4327140"/>
              </a:xfrm>
              <a:blipFill>
                <a:blip r:embed="rId2"/>
                <a:stretch>
                  <a:fillRect r="-2424"/>
                </a:stretch>
              </a:blipFill>
            </p:spPr>
            <p:txBody>
              <a:bodyPr/>
              <a:lstStyle/>
              <a:p>
                <a:r>
                  <a:rPr lang="he-IL">
                    <a:noFill/>
                  </a:rPr>
                  <a:t> </a:t>
                </a:r>
              </a:p>
            </p:txBody>
          </p:sp>
        </mc:Fallback>
      </mc:AlternateContent>
      <p:sp>
        <p:nvSpPr>
          <p:cNvPr id="7" name="תיבת טקסט 6">
            <a:extLst>
              <a:ext uri="{FF2B5EF4-FFF2-40B4-BE49-F238E27FC236}">
                <a16:creationId xmlns:a16="http://schemas.microsoft.com/office/drawing/2014/main" id="{8A21A1CA-7061-C981-1DAF-23261677D380}"/>
              </a:ext>
            </a:extLst>
          </p:cNvPr>
          <p:cNvSpPr txBox="1"/>
          <p:nvPr/>
        </p:nvSpPr>
        <p:spPr>
          <a:xfrm>
            <a:off x="6622026" y="764598"/>
            <a:ext cx="5569974" cy="584775"/>
          </a:xfrm>
          <a:prstGeom prst="rect">
            <a:avLst/>
          </a:prstGeom>
          <a:solidFill>
            <a:schemeClr val="accent1">
              <a:lumMod val="60000"/>
              <a:lumOff val="40000"/>
            </a:schemeClr>
          </a:solidFill>
        </p:spPr>
        <p:txBody>
          <a:bodyPr wrap="square">
            <a:spAutoFit/>
          </a:bodyPr>
          <a:lstStyle/>
          <a:p>
            <a:pPr algn="r" rtl="1"/>
            <a:r>
              <a:rPr lang="he-IL" sz="3200" spc="-50" dirty="0">
                <a:solidFill>
                  <a:schemeClr val="accent1">
                    <a:lumMod val="75000"/>
                  </a:schemeClr>
                </a:solidFill>
                <a:latin typeface="Times New Roman" panose="02020603050405020304" pitchFamily="18" charset="0"/>
                <a:ea typeface="+mj-ea"/>
                <a:cs typeface="Times New Roman" panose="02020603050405020304" pitchFamily="18" charset="0"/>
              </a:rPr>
              <a:t>1. הבחירה החמדנית</a:t>
            </a:r>
          </a:p>
        </p:txBody>
      </p:sp>
    </p:spTree>
    <p:extLst>
      <p:ext uri="{BB962C8B-B14F-4D97-AF65-F5344CB8AC3E}">
        <p14:creationId xmlns:p14="http://schemas.microsoft.com/office/powerpoint/2010/main" val="23174767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DB11AC6E-B21C-A52F-2C0E-DA9F03B106E4}"/>
              </a:ext>
            </a:extLst>
          </p:cNvPr>
          <p:cNvSpPr txBox="1"/>
          <p:nvPr/>
        </p:nvSpPr>
        <p:spPr>
          <a:xfrm>
            <a:off x="6622026" y="764598"/>
            <a:ext cx="5569974" cy="584775"/>
          </a:xfrm>
          <a:prstGeom prst="rect">
            <a:avLst/>
          </a:prstGeom>
          <a:solidFill>
            <a:schemeClr val="accent1">
              <a:lumMod val="60000"/>
              <a:lumOff val="40000"/>
            </a:schemeClr>
          </a:solidFill>
        </p:spPr>
        <p:txBody>
          <a:bodyPr wrap="square">
            <a:spAutoFit/>
          </a:bodyPr>
          <a:lstStyle/>
          <a:p>
            <a:pPr algn="r" rtl="1"/>
            <a:r>
              <a:rPr lang="he-IL" sz="3200" spc="-50" dirty="0">
                <a:solidFill>
                  <a:schemeClr val="accent1">
                    <a:lumMod val="75000"/>
                  </a:schemeClr>
                </a:solidFill>
                <a:latin typeface="Times New Roman" panose="02020603050405020304" pitchFamily="18" charset="0"/>
                <a:ea typeface="+mj-ea"/>
                <a:cs typeface="Times New Roman" panose="02020603050405020304" pitchFamily="18" charset="0"/>
              </a:rPr>
              <a:t>2. הוכחה</a:t>
            </a:r>
          </a:p>
        </p:txBody>
      </p:sp>
      <p:sp>
        <p:nvSpPr>
          <p:cNvPr id="5" name="כותרת 1">
            <a:extLst>
              <a:ext uri="{FF2B5EF4-FFF2-40B4-BE49-F238E27FC236}">
                <a16:creationId xmlns:a16="http://schemas.microsoft.com/office/drawing/2014/main" id="{6FCB1B32-521D-0530-C96B-7FAEC5B42A25}"/>
              </a:ext>
            </a:extLst>
          </p:cNvPr>
          <p:cNvSpPr txBox="1">
            <a:spLocks/>
          </p:cNvSpPr>
          <p:nvPr/>
        </p:nvSpPr>
        <p:spPr>
          <a:xfrm>
            <a:off x="1066800" y="1978243"/>
            <a:ext cx="10058400" cy="1450757"/>
          </a:xfrm>
          <a:prstGeom prst="rect">
            <a:avLst/>
          </a:prstGeom>
        </p:spPr>
        <p:txBody>
          <a:bodyPr/>
          <a:lst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he-IL" dirty="0">
                <a:solidFill>
                  <a:srgbClr val="C00000"/>
                </a:solidFill>
              </a:rPr>
              <a:t>שלב 1:</a:t>
            </a:r>
            <a:r>
              <a:rPr lang="he-IL" dirty="0"/>
              <a:t> הוכחת תקינות</a:t>
            </a:r>
          </a:p>
        </p:txBody>
      </p:sp>
      <p:sp>
        <p:nvSpPr>
          <p:cNvPr id="6" name="מציין מיקום תוכן 2">
            <a:extLst>
              <a:ext uri="{FF2B5EF4-FFF2-40B4-BE49-F238E27FC236}">
                <a16:creationId xmlns:a16="http://schemas.microsoft.com/office/drawing/2014/main" id="{23ED05C5-AB58-4C22-EEB9-FEA5912CFAD4}"/>
              </a:ext>
            </a:extLst>
          </p:cNvPr>
          <p:cNvSpPr>
            <a:spLocks noGrp="1"/>
          </p:cNvSpPr>
          <p:nvPr>
            <p:ph idx="1"/>
          </p:nvPr>
        </p:nvSpPr>
        <p:spPr>
          <a:xfrm>
            <a:off x="1066800" y="2834640"/>
            <a:ext cx="10058400" cy="4023360"/>
          </a:xfrm>
        </p:spPr>
        <p:txBody>
          <a:bodyPr>
            <a:normAutofit/>
          </a:bodyPr>
          <a:lstStyle/>
          <a:p>
            <a:pPr algn="just">
              <a:lnSpc>
                <a:spcPct val="150000"/>
              </a:lnSpc>
            </a:pPr>
            <a:r>
              <a:rPr lang="he-IL" sz="3200" dirty="0">
                <a:cs typeface="+mj-cs"/>
              </a:rPr>
              <a:t>בכל שלב בוחרים ליטול פריט במשקל שאינו עולה על המשקל הקיים מפריט זה וכן על המשקל הפנוי בתרמיל. ולכן, סך משקלי הפריטים שנלקחו אינו עולה על </a:t>
            </a:r>
            <a:r>
              <a:rPr lang="en-US" sz="3200" dirty="0">
                <a:cs typeface="+mj-cs"/>
              </a:rPr>
              <a:t>W</a:t>
            </a:r>
            <a:r>
              <a:rPr lang="he-IL" sz="3200" dirty="0">
                <a:cs typeface="+mj-cs"/>
              </a:rPr>
              <a:t>.</a:t>
            </a:r>
          </a:p>
        </p:txBody>
      </p:sp>
    </p:spTree>
    <p:extLst>
      <p:ext uri="{BB962C8B-B14F-4D97-AF65-F5344CB8AC3E}">
        <p14:creationId xmlns:p14="http://schemas.microsoft.com/office/powerpoint/2010/main" val="8920717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כותרת 1">
            <a:extLst>
              <a:ext uri="{FF2B5EF4-FFF2-40B4-BE49-F238E27FC236}">
                <a16:creationId xmlns:a16="http://schemas.microsoft.com/office/drawing/2014/main" id="{8FC33DAD-4F5E-968E-3BAB-0C9CE48BF363}"/>
              </a:ext>
            </a:extLst>
          </p:cNvPr>
          <p:cNvSpPr txBox="1">
            <a:spLocks/>
          </p:cNvSpPr>
          <p:nvPr/>
        </p:nvSpPr>
        <p:spPr>
          <a:xfrm>
            <a:off x="1376516" y="439994"/>
            <a:ext cx="10058400" cy="1450757"/>
          </a:xfrm>
          <a:prstGeom prst="rect">
            <a:avLst/>
          </a:prstGeom>
        </p:spPr>
        <p:txBody>
          <a:bodyPr/>
          <a:lst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he-IL" dirty="0">
                <a:solidFill>
                  <a:srgbClr val="C00000"/>
                </a:solidFill>
              </a:rPr>
              <a:t>שלב 2:</a:t>
            </a:r>
            <a:r>
              <a:rPr lang="he-IL" dirty="0"/>
              <a:t> הוכחת אופטימליות</a:t>
            </a:r>
          </a:p>
        </p:txBody>
      </p:sp>
      <p:sp>
        <p:nvSpPr>
          <p:cNvPr id="13" name="אליפסה 12">
            <a:extLst>
              <a:ext uri="{FF2B5EF4-FFF2-40B4-BE49-F238E27FC236}">
                <a16:creationId xmlns:a16="http://schemas.microsoft.com/office/drawing/2014/main" id="{34D23341-0D36-68FF-A7A7-5B6375B714DC}"/>
              </a:ext>
            </a:extLst>
          </p:cNvPr>
          <p:cNvSpPr/>
          <p:nvPr/>
        </p:nvSpPr>
        <p:spPr>
          <a:xfrm>
            <a:off x="221226" y="149608"/>
            <a:ext cx="1687319" cy="13273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t>יש הרבה פתרונות אופטימליים- החלפה</a:t>
            </a:r>
          </a:p>
        </p:txBody>
      </p:sp>
      <mc:AlternateContent xmlns:mc="http://schemas.openxmlformats.org/markup-compatibility/2006" xmlns:a14="http://schemas.microsoft.com/office/drawing/2010/main">
        <mc:Choice Requires="a14">
          <p:sp>
            <p:nvSpPr>
              <p:cNvPr id="14" name="Rectangle 10">
                <a:extLst>
                  <a:ext uri="{FF2B5EF4-FFF2-40B4-BE49-F238E27FC236}">
                    <a16:creationId xmlns:a16="http://schemas.microsoft.com/office/drawing/2014/main" id="{E1232BE1-069B-078D-1F18-92CE09EA59CE}"/>
                  </a:ext>
                </a:extLst>
              </p:cNvPr>
              <p:cNvSpPr>
                <a:spLocks noChangeArrowheads="1"/>
              </p:cNvSpPr>
              <p:nvPr/>
            </p:nvSpPr>
            <p:spPr bwMode="auto">
              <a:xfrm>
                <a:off x="221226" y="1334057"/>
                <a:ext cx="11805590" cy="506664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rtl="1" eaLnBrk="0" fontAlgn="base" hangingPunct="0">
                  <a:spcBef>
                    <a:spcPct val="0"/>
                  </a:spcBef>
                  <a:spcAft>
                    <a:spcPct val="0"/>
                  </a:spcAft>
                  <a:buFontTx/>
                  <a:buChar char="•"/>
                </a:pPr>
                <a:r>
                  <a:rPr lang="he-IL" altLang="he-IL" sz="2400" dirty="0">
                    <a:latin typeface="Arial" panose="020B0604020202020204" pitchFamily="34" charset="0"/>
                    <a:cs typeface="+mj-cs"/>
                  </a:rPr>
                  <a:t>נחשב את הערך </a:t>
                </a:r>
                <a14:m>
                  <m:oMath xmlns:m="http://schemas.openxmlformats.org/officeDocument/2006/math">
                    <m:sSub>
                      <m:sSubPr>
                        <m:ctrlPr>
                          <a:rPr lang="en-US" altLang="he-IL" sz="2400" i="1" spc="-50" dirty="0" smtClean="0">
                            <a:solidFill>
                              <a:srgbClr val="836967"/>
                            </a:solidFill>
                            <a:latin typeface="Cambria Math" panose="02040503050406030204" pitchFamily="18" charset="0"/>
                          </a:rPr>
                        </m:ctrlPr>
                      </m:sSubPr>
                      <m:e>
                        <m:r>
                          <m:rPr>
                            <m:sty m:val="p"/>
                          </m:rPr>
                          <a:rPr lang="en-US" altLang="he-IL" sz="2400" spc="-50" dirty="0">
                            <a:solidFill>
                              <a:srgbClr val="836967"/>
                            </a:solidFill>
                            <a:latin typeface="Cambria Math" panose="02040503050406030204" pitchFamily="18" charset="0"/>
                          </a:rPr>
                          <m:t>p</m:t>
                        </m:r>
                      </m:e>
                      <m:sub>
                        <m:r>
                          <m:rPr>
                            <m:sty m:val="p"/>
                          </m:rPr>
                          <a:rPr lang="en-US" altLang="he-IL" sz="2400" spc="-50" dirty="0">
                            <a:solidFill>
                              <a:srgbClr val="836967"/>
                            </a:solidFill>
                            <a:latin typeface="Cambria Math" panose="02040503050406030204" pitchFamily="18" charset="0"/>
                          </a:rPr>
                          <m:t>i</m:t>
                        </m:r>
                      </m:sub>
                    </m:sSub>
                    <m:r>
                      <a:rPr lang="en-US" altLang="he-IL" sz="2400" b="0" i="0" spc="-50" dirty="0" smtClean="0">
                        <a:solidFill>
                          <a:srgbClr val="836967"/>
                        </a:solidFill>
                        <a:latin typeface="Cambria Math" panose="02040503050406030204" pitchFamily="18" charset="0"/>
                      </a:rPr>
                      <m:t>=</m:t>
                    </m:r>
                    <m:f>
                      <m:fPr>
                        <m:ctrlPr>
                          <a:rPr lang="he-IL" sz="2400" i="1" spc="-50">
                            <a:solidFill>
                              <a:srgbClr val="836967"/>
                            </a:solidFill>
                            <a:latin typeface="Cambria Math" panose="02040503050406030204" pitchFamily="18" charset="0"/>
                          </a:rPr>
                        </m:ctrlPr>
                      </m:fPr>
                      <m:num>
                        <m:sSub>
                          <m:sSubPr>
                            <m:ctrlPr>
                              <a:rPr lang="he-IL" sz="2400" i="1" spc="-50">
                                <a:solidFill>
                                  <a:srgbClr val="836967"/>
                                </a:solidFill>
                                <a:latin typeface="Cambria Math" panose="02040503050406030204" pitchFamily="18" charset="0"/>
                              </a:rPr>
                            </m:ctrlPr>
                          </m:sSubPr>
                          <m:e>
                            <m:r>
                              <a:rPr lang="he-IL" sz="2400" i="1" spc="-50">
                                <a:latin typeface="Cambria Math" panose="02040503050406030204" pitchFamily="18" charset="0"/>
                              </a:rPr>
                              <m:t>𝑣</m:t>
                            </m:r>
                          </m:e>
                          <m:sub>
                            <m:r>
                              <a:rPr lang="he-IL" sz="2400" i="1" spc="-50">
                                <a:latin typeface="Cambria Math" panose="02040503050406030204" pitchFamily="18" charset="0"/>
                              </a:rPr>
                              <m:t>𝑖</m:t>
                            </m:r>
                          </m:sub>
                        </m:sSub>
                      </m:num>
                      <m:den>
                        <m:sSub>
                          <m:sSubPr>
                            <m:ctrlPr>
                              <a:rPr lang="he-IL" sz="2400" i="1" spc="-50">
                                <a:solidFill>
                                  <a:srgbClr val="836967"/>
                                </a:solidFill>
                                <a:latin typeface="Cambria Math" panose="02040503050406030204" pitchFamily="18" charset="0"/>
                              </a:rPr>
                            </m:ctrlPr>
                          </m:sSubPr>
                          <m:e>
                            <m:r>
                              <a:rPr lang="he-IL" sz="2400" i="1" spc="-50">
                                <a:latin typeface="Cambria Math" panose="02040503050406030204" pitchFamily="18" charset="0"/>
                              </a:rPr>
                              <m:t>𝑤</m:t>
                            </m:r>
                          </m:e>
                          <m:sub>
                            <m:r>
                              <a:rPr lang="en-US" sz="2400" i="1" spc="-50">
                                <a:latin typeface="Cambria Math" panose="02040503050406030204" pitchFamily="18" charset="0"/>
                              </a:rPr>
                              <m:t>𝑖</m:t>
                            </m:r>
                          </m:sub>
                        </m:sSub>
                      </m:den>
                    </m:f>
                    <m:r>
                      <a:rPr lang="en-US" sz="2400" i="1" spc="-50">
                        <a:latin typeface="Cambria Math" panose="02040503050406030204" pitchFamily="18" charset="0"/>
                      </a:rPr>
                      <m:t> </m:t>
                    </m:r>
                  </m:oMath>
                </a14:m>
                <a:r>
                  <a:rPr lang="he-IL" altLang="he-IL" sz="2400" dirty="0">
                    <a:latin typeface="Arial" panose="020B0604020202020204" pitchFamily="34" charset="0"/>
                    <a:cs typeface="+mj-cs"/>
                  </a:rPr>
                  <a:t> לכל </a:t>
                </a:r>
                <a14:m>
                  <m:oMath xmlns:m="http://schemas.openxmlformats.org/officeDocument/2006/math">
                    <m:r>
                      <a:rPr lang="en-US" altLang="he-IL" sz="2400" b="0" i="1" smtClean="0">
                        <a:latin typeface="Cambria Math" panose="02040503050406030204" pitchFamily="18" charset="0"/>
                        <a:cs typeface="+mj-cs"/>
                      </a:rPr>
                      <m:t>1</m:t>
                    </m:r>
                    <m:r>
                      <a:rPr lang="en-US" altLang="he-IL" sz="2400" b="0" i="1" smtClean="0">
                        <a:latin typeface="Cambria Math" panose="02040503050406030204" pitchFamily="18" charset="0"/>
                        <a:cs typeface="+mj-cs"/>
                      </a:rPr>
                      <m:t>≤</m:t>
                    </m:r>
                    <m:r>
                      <a:rPr lang="en-US" altLang="he-IL" sz="2400" b="0" i="1" smtClean="0">
                        <a:latin typeface="Cambria Math" panose="02040503050406030204" pitchFamily="18" charset="0"/>
                        <a:cs typeface="+mj-cs"/>
                      </a:rPr>
                      <m:t>𝑖</m:t>
                    </m:r>
                    <m:r>
                      <a:rPr lang="en-US" altLang="he-IL" sz="2400" b="0" i="1" smtClean="0">
                        <a:latin typeface="Cambria Math" panose="02040503050406030204" pitchFamily="18" charset="0"/>
                        <a:cs typeface="+mj-cs"/>
                      </a:rPr>
                      <m:t>≤</m:t>
                    </m:r>
                    <m:r>
                      <a:rPr lang="en-US" altLang="he-IL" sz="2400" b="0" i="1" smtClean="0">
                        <a:latin typeface="Cambria Math" panose="02040503050406030204" pitchFamily="18" charset="0"/>
                        <a:cs typeface="+mj-cs"/>
                      </a:rPr>
                      <m:t>𝑛</m:t>
                    </m:r>
                  </m:oMath>
                </a14:m>
                <a:r>
                  <a:rPr lang="he-IL" altLang="he-IL" sz="2400" dirty="0">
                    <a:latin typeface="Arial" panose="020B0604020202020204" pitchFamily="34" charset="0"/>
                    <a:cs typeface="+mj-cs"/>
                  </a:rPr>
                  <a:t> . נמיין את </a:t>
                </a:r>
                <a14:m>
                  <m:oMath xmlns:m="http://schemas.openxmlformats.org/officeDocument/2006/math">
                    <m:r>
                      <a:rPr lang="en-US" altLang="he-IL" sz="2400" i="1" dirty="0" smtClean="0">
                        <a:latin typeface="Cambria Math" panose="02040503050406030204" pitchFamily="18" charset="0"/>
                        <a:cs typeface="+mj-cs"/>
                      </a:rPr>
                      <m:t>𝑝</m:t>
                    </m:r>
                  </m:oMath>
                </a14:m>
                <a:r>
                  <a:rPr lang="he-IL" altLang="he-IL" sz="2400" dirty="0">
                    <a:latin typeface="Arial" panose="020B0604020202020204" pitchFamily="34" charset="0"/>
                    <a:cs typeface="+mj-cs"/>
                  </a:rPr>
                  <a:t> בסדר יורד. כלומר, פריט </a:t>
                </a:r>
                <a14:m>
                  <m:oMath xmlns:m="http://schemas.openxmlformats.org/officeDocument/2006/math">
                    <m:sSub>
                      <m:sSubPr>
                        <m:ctrlPr>
                          <a:rPr lang="en-US" altLang="he-IL" sz="2400" i="1" spc="-50" dirty="0">
                            <a:solidFill>
                              <a:srgbClr val="836967"/>
                            </a:solidFill>
                            <a:latin typeface="Cambria Math" panose="02040503050406030204" pitchFamily="18" charset="0"/>
                          </a:rPr>
                        </m:ctrlPr>
                      </m:sSubPr>
                      <m:e>
                        <m:r>
                          <m:rPr>
                            <m:sty m:val="p"/>
                          </m:rPr>
                          <a:rPr lang="en-US" altLang="he-IL" sz="2400" spc="-50" dirty="0">
                            <a:solidFill>
                              <a:srgbClr val="836967"/>
                            </a:solidFill>
                            <a:latin typeface="Cambria Math" panose="02040503050406030204" pitchFamily="18" charset="0"/>
                          </a:rPr>
                          <m:t>p</m:t>
                        </m:r>
                      </m:e>
                      <m:sub>
                        <m:r>
                          <a:rPr lang="en-US" altLang="he-IL" sz="2400" b="0" i="0" spc="-50" dirty="0" smtClean="0">
                            <a:solidFill>
                              <a:srgbClr val="836967"/>
                            </a:solidFill>
                            <a:latin typeface="Cambria Math" panose="02040503050406030204" pitchFamily="18" charset="0"/>
                          </a:rPr>
                          <m:t>1</m:t>
                        </m:r>
                      </m:sub>
                    </m:sSub>
                  </m:oMath>
                </a14:m>
                <a:r>
                  <a:rPr lang="he-IL" altLang="he-IL" sz="2400" dirty="0">
                    <a:latin typeface="Arial" panose="020B0604020202020204" pitchFamily="34" charset="0"/>
                    <a:cs typeface="+mj-cs"/>
                  </a:rPr>
                  <a:t> הוא הרווחי ביותר ליחידת משקל ופריט </a:t>
                </a:r>
                <a14:m>
                  <m:oMath xmlns:m="http://schemas.openxmlformats.org/officeDocument/2006/math">
                    <m:sSub>
                      <m:sSubPr>
                        <m:ctrlPr>
                          <a:rPr lang="en-US" altLang="he-IL" sz="2400" i="1" spc="-50" dirty="0">
                            <a:solidFill>
                              <a:srgbClr val="836967"/>
                            </a:solidFill>
                            <a:latin typeface="Cambria Math" panose="02040503050406030204" pitchFamily="18" charset="0"/>
                          </a:rPr>
                        </m:ctrlPr>
                      </m:sSubPr>
                      <m:e>
                        <m:r>
                          <m:rPr>
                            <m:sty m:val="p"/>
                          </m:rPr>
                          <a:rPr lang="en-US" altLang="he-IL" sz="2400" spc="-50" dirty="0">
                            <a:solidFill>
                              <a:srgbClr val="836967"/>
                            </a:solidFill>
                            <a:latin typeface="Cambria Math" panose="02040503050406030204" pitchFamily="18" charset="0"/>
                          </a:rPr>
                          <m:t>p</m:t>
                        </m:r>
                      </m:e>
                      <m:sub>
                        <m:r>
                          <m:rPr>
                            <m:sty m:val="p"/>
                          </m:rPr>
                          <a:rPr lang="en-US" altLang="he-IL" sz="2400" b="0" i="0" spc="-50" dirty="0" smtClean="0">
                            <a:solidFill>
                              <a:srgbClr val="836967"/>
                            </a:solidFill>
                            <a:latin typeface="Cambria Math" panose="02040503050406030204" pitchFamily="18" charset="0"/>
                          </a:rPr>
                          <m:t>n</m:t>
                        </m:r>
                      </m:sub>
                    </m:sSub>
                  </m:oMath>
                </a14:m>
                <a:r>
                  <a:rPr lang="he-IL" altLang="he-IL" sz="2400" dirty="0">
                    <a:latin typeface="Arial" panose="020B0604020202020204" pitchFamily="34" charset="0"/>
                    <a:cs typeface="+mj-cs"/>
                  </a:rPr>
                  <a:t> הזול ביותר ליחידת משקל.</a:t>
                </a:r>
              </a:p>
              <a:p>
                <a:pPr lvl="0" algn="just" defTabSz="914400" rtl="1" eaLnBrk="0" fontAlgn="base" hangingPunct="0">
                  <a:spcBef>
                    <a:spcPct val="0"/>
                  </a:spcBef>
                  <a:spcAft>
                    <a:spcPct val="0"/>
                  </a:spcAft>
                  <a:buFontTx/>
                  <a:buChar char="•"/>
                </a:pPr>
                <a:r>
                  <a:rPr kumimoji="0" lang="he-IL" altLang="he-IL" sz="2400" b="0" i="0" u="none" strike="noStrike" cap="none" normalizeH="0" baseline="0" dirty="0">
                    <a:ln>
                      <a:noFill/>
                    </a:ln>
                    <a:solidFill>
                      <a:schemeClr val="tx1"/>
                    </a:solidFill>
                    <a:effectLst/>
                    <a:latin typeface="Arial" panose="020B0604020202020204" pitchFamily="34" charset="0"/>
                    <a:cs typeface="+mj-cs"/>
                  </a:rPr>
                  <a:t>יהי פתרון של האלגוריתם החמדני </a:t>
                </a:r>
                <a14:m>
                  <m:oMath xmlns:m="http://schemas.openxmlformats.org/officeDocument/2006/math">
                    <m:r>
                      <a:rPr lang="en-US" altLang="he-IL" sz="2400" i="1" dirty="0">
                        <a:latin typeface="Cambria Math" panose="02040503050406030204" pitchFamily="18" charset="0"/>
                      </a:rPr>
                      <m:t>𝑋</m:t>
                    </m:r>
                    <m:r>
                      <a:rPr lang="he-IL" altLang="he-IL" sz="2400" b="0" i="1" dirty="0" smtClean="0">
                        <a:latin typeface="Cambria Math" panose="02040503050406030204" pitchFamily="18" charset="0"/>
                      </a:rPr>
                      <m:t>=</m:t>
                    </m:r>
                    <m:d>
                      <m:dPr>
                        <m:begChr m:val="{"/>
                        <m:endChr m:val="}"/>
                        <m:ctrlPr>
                          <a:rPr lang="en-US" altLang="he-IL" sz="2400" i="1" dirty="0">
                            <a:latin typeface="Cambria Math" panose="02040503050406030204" pitchFamily="18" charset="0"/>
                          </a:rPr>
                        </m:ctrlPr>
                      </m:dPr>
                      <m:e>
                        <m:r>
                          <a:rPr lang="en-US" altLang="he-IL" sz="2400" i="1" dirty="0">
                            <a:latin typeface="Cambria Math" panose="02040503050406030204" pitchFamily="18" charset="0"/>
                          </a:rPr>
                          <m:t>𝑥</m:t>
                        </m:r>
                        <m:r>
                          <a:rPr lang="en-US" altLang="he-IL" sz="2400" i="1" baseline="-25000" dirty="0">
                            <a:latin typeface="Cambria Math" panose="02040503050406030204" pitchFamily="18" charset="0"/>
                          </a:rPr>
                          <m:t>1</m:t>
                        </m:r>
                        <m:r>
                          <a:rPr lang="en-US" altLang="he-IL" sz="2400" i="1" dirty="0">
                            <a:latin typeface="Cambria Math" panose="02040503050406030204" pitchFamily="18" charset="0"/>
                          </a:rPr>
                          <m:t>,…,</m:t>
                        </m:r>
                        <m:r>
                          <a:rPr lang="en-US" altLang="he-IL" sz="2400" i="1" dirty="0" err="1">
                            <a:latin typeface="Cambria Math" panose="02040503050406030204" pitchFamily="18" charset="0"/>
                          </a:rPr>
                          <m:t>𝑥</m:t>
                        </m:r>
                        <m:r>
                          <a:rPr lang="en-US" altLang="he-IL" sz="2400" i="1" baseline="-25000" dirty="0" err="1">
                            <a:latin typeface="Cambria Math" panose="02040503050406030204" pitchFamily="18" charset="0"/>
                          </a:rPr>
                          <m:t>𝑛</m:t>
                        </m:r>
                      </m:e>
                    </m:d>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 ויהי פתרון אופטימלי  </a:t>
                </a:r>
                <a14:m>
                  <m:oMath xmlns:m="http://schemas.openxmlformats.org/officeDocument/2006/math">
                    <m:r>
                      <a:rPr lang="en-US" altLang="he-IL" sz="2400" i="1" dirty="0">
                        <a:latin typeface="Cambria Math" panose="02040503050406030204" pitchFamily="18" charset="0"/>
                      </a:rPr>
                      <m:t>𝑌</m:t>
                    </m:r>
                    <m:r>
                      <a:rPr lang="he-IL" altLang="he-IL" sz="2400" b="0" i="1" dirty="0" smtClean="0">
                        <a:latin typeface="Cambria Math" panose="02040503050406030204" pitchFamily="18" charset="0"/>
                      </a:rPr>
                      <m:t>=</m:t>
                    </m:r>
                    <m:r>
                      <a:rPr lang="en-US" altLang="he-IL" sz="2400" i="1" dirty="0">
                        <a:latin typeface="Cambria Math" panose="02040503050406030204" pitchFamily="18" charset="0"/>
                      </a:rPr>
                      <m:t>{</m:t>
                    </m:r>
                    <m:r>
                      <a:rPr lang="en-US" altLang="he-IL" sz="2400" i="1" dirty="0">
                        <a:latin typeface="Cambria Math" panose="02040503050406030204" pitchFamily="18" charset="0"/>
                      </a:rPr>
                      <m:t>𝑦</m:t>
                    </m:r>
                    <m:r>
                      <a:rPr lang="en-US" altLang="he-IL" sz="2400" i="1" baseline="-25000" dirty="0">
                        <a:latin typeface="Cambria Math" panose="02040503050406030204" pitchFamily="18" charset="0"/>
                      </a:rPr>
                      <m:t>1</m:t>
                    </m:r>
                    <m:r>
                      <a:rPr lang="en-US" altLang="he-IL" sz="2400" i="1" dirty="0">
                        <a:latin typeface="Cambria Math" panose="02040503050406030204" pitchFamily="18" charset="0"/>
                      </a:rPr>
                      <m:t>,…,</m:t>
                    </m:r>
                    <m:r>
                      <a:rPr lang="en-US" altLang="he-IL" sz="2400" i="1" dirty="0" err="1">
                        <a:latin typeface="Cambria Math" panose="02040503050406030204" pitchFamily="18" charset="0"/>
                      </a:rPr>
                      <m:t>𝑦</m:t>
                    </m:r>
                    <m:r>
                      <a:rPr lang="en-US" altLang="he-IL" sz="2400" i="1" baseline="-25000" dirty="0" err="1">
                        <a:latin typeface="Cambria Math" panose="02040503050406030204" pitchFamily="18" charset="0"/>
                      </a:rPr>
                      <m:t>𝑛</m:t>
                    </m:r>
                    <m:r>
                      <a:rPr lang="en-US" altLang="he-IL" sz="2400" i="1" dirty="0">
                        <a:latin typeface="Cambria Math" panose="02040503050406030204" pitchFamily="18" charset="0"/>
                      </a:rPr>
                      <m:t>}</m:t>
                    </m:r>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 . הפתרונות מכילים לכל </a:t>
                </a:r>
                <a14:m>
                  <m:oMath xmlns:m="http://schemas.openxmlformats.org/officeDocument/2006/math">
                    <m:r>
                      <a:rPr kumimoji="0" lang="en-US" altLang="he-IL" sz="2400" b="0" i="1" u="none" strike="noStrike" cap="none" normalizeH="0" baseline="0" dirty="0" smtClean="0">
                        <a:ln>
                          <a:noFill/>
                        </a:ln>
                        <a:solidFill>
                          <a:schemeClr val="tx1"/>
                        </a:solidFill>
                        <a:effectLst/>
                        <a:latin typeface="Cambria Math" panose="02040503050406030204" pitchFamily="18" charset="0"/>
                        <a:cs typeface="+mj-cs"/>
                      </a:rPr>
                      <m:t>𝑖</m:t>
                    </m:r>
                  </m:oMath>
                </a14:m>
                <a:r>
                  <a:rPr kumimoji="0" lang="he-IL" altLang="he-IL" sz="2400" b="0" i="0" u="none" strike="noStrike" cap="none" normalizeH="0" dirty="0">
                    <a:ln>
                      <a:noFill/>
                    </a:ln>
                    <a:solidFill>
                      <a:schemeClr val="tx1"/>
                    </a:solidFill>
                    <a:effectLst/>
                    <a:latin typeface="Arial" panose="020B0604020202020204" pitchFamily="34" charset="0"/>
                    <a:cs typeface="+mj-cs"/>
                  </a:rPr>
                  <a:t> את סך המשקל הנלקח מפריט </a:t>
                </a:r>
                <a14:m>
                  <m:oMath xmlns:m="http://schemas.openxmlformats.org/officeDocument/2006/math">
                    <m:r>
                      <a:rPr kumimoji="0" lang="en-US" altLang="he-IL" sz="2400" b="0" i="1" u="none" strike="noStrike" cap="none" normalizeH="0" dirty="0" smtClean="0">
                        <a:ln>
                          <a:noFill/>
                        </a:ln>
                        <a:solidFill>
                          <a:schemeClr val="tx1"/>
                        </a:solidFill>
                        <a:effectLst/>
                        <a:latin typeface="Cambria Math" panose="02040503050406030204" pitchFamily="18" charset="0"/>
                        <a:cs typeface="+mj-cs"/>
                      </a:rPr>
                      <m:t>𝑖</m:t>
                    </m:r>
                  </m:oMath>
                </a14:m>
                <a:r>
                  <a:rPr kumimoji="0" lang="he-IL" altLang="he-IL" sz="2400" b="0" i="0" u="none" strike="noStrike" cap="none" normalizeH="0" dirty="0">
                    <a:ln>
                      <a:noFill/>
                    </a:ln>
                    <a:solidFill>
                      <a:schemeClr val="tx1"/>
                    </a:solidFill>
                    <a:effectLst/>
                    <a:latin typeface="Arial" panose="020B0604020202020204" pitchFamily="34" charset="0"/>
                    <a:cs typeface="+mj-cs"/>
                  </a:rPr>
                  <a:t> בהתאם לסדר הממוין </a:t>
                </a:r>
                <a14:m>
                  <m:oMath xmlns:m="http://schemas.openxmlformats.org/officeDocument/2006/math">
                    <m:r>
                      <a:rPr kumimoji="0" lang="en-US" altLang="he-IL" sz="2400" b="0" i="1" u="none" strike="noStrike" cap="none" normalizeH="0" dirty="0" smtClean="0">
                        <a:ln>
                          <a:noFill/>
                        </a:ln>
                        <a:solidFill>
                          <a:schemeClr val="tx1"/>
                        </a:solidFill>
                        <a:effectLst/>
                        <a:latin typeface="Cambria Math" panose="02040503050406030204" pitchFamily="18" charset="0"/>
                        <a:cs typeface="+mj-cs"/>
                      </a:rPr>
                      <m:t>𝑝</m:t>
                    </m:r>
                  </m:oMath>
                </a14:m>
                <a:r>
                  <a:rPr kumimoji="0" lang="he-IL" altLang="he-IL" sz="2400" b="0" i="0" u="none" strike="noStrike" cap="none" normalizeH="0" dirty="0">
                    <a:ln>
                      <a:noFill/>
                    </a:ln>
                    <a:solidFill>
                      <a:schemeClr val="tx1"/>
                    </a:solidFill>
                    <a:effectLst/>
                    <a:latin typeface="Arial" panose="020B0604020202020204" pitchFamily="34" charset="0"/>
                    <a:cs typeface="+mj-cs"/>
                  </a:rPr>
                  <a:t> . </a:t>
                </a:r>
                <a:endParaRPr lang="he-IL" altLang="he-IL" sz="2400" dirty="0">
                  <a:latin typeface="Arial" panose="020B0604020202020204" pitchFamily="34" charset="0"/>
                  <a:cs typeface="+mj-cs"/>
                </a:endParaRPr>
              </a:p>
              <a:p>
                <a:pPr lvl="0" algn="just" defTabSz="914400" rtl="1" eaLnBrk="0" fontAlgn="base" hangingPunct="0">
                  <a:spcBef>
                    <a:spcPct val="0"/>
                  </a:spcBef>
                  <a:spcAft>
                    <a:spcPct val="0"/>
                  </a:spcAft>
                  <a:buFontTx/>
                  <a:buChar char="•"/>
                </a:pPr>
                <a:r>
                  <a:rPr lang="he-IL" altLang="he-IL" sz="2400" dirty="0">
                    <a:latin typeface="Arial" panose="020B0604020202020204" pitchFamily="34" charset="0"/>
                    <a:cs typeface="+mj-cs"/>
                  </a:rPr>
                  <a:t>אם לכל </a:t>
                </a:r>
                <a:r>
                  <a:rPr lang="en-US" altLang="he-IL" sz="2400" dirty="0" err="1">
                    <a:latin typeface="Arial" panose="020B0604020202020204" pitchFamily="34" charset="0"/>
                    <a:cs typeface="+mj-cs"/>
                  </a:rPr>
                  <a:t>i</a:t>
                </a:r>
                <a:r>
                  <a:rPr lang="he-IL" altLang="he-IL" sz="2400" dirty="0">
                    <a:latin typeface="Arial" panose="020B0604020202020204" pitchFamily="34" charset="0"/>
                    <a:cs typeface="+mj-cs"/>
                  </a:rPr>
                  <a:t> מתקיים </a:t>
                </a:r>
                <a14:m>
                  <m:oMath xmlns:m="http://schemas.openxmlformats.org/officeDocument/2006/math">
                    <m:sSub>
                      <m:sSubPr>
                        <m:ctrlPr>
                          <a:rPr lang="he-IL" altLang="he-IL" sz="2400" i="1">
                            <a:latin typeface="Cambria Math" panose="02040503050406030204" pitchFamily="18" charset="0"/>
                          </a:rPr>
                        </m:ctrlPr>
                      </m:sSubPr>
                      <m:e>
                        <m:r>
                          <a:rPr lang="en-US" altLang="he-IL" sz="2400" i="1">
                            <a:latin typeface="Cambria Math" panose="02040503050406030204" pitchFamily="18" charset="0"/>
                          </a:rPr>
                          <m:t>𝑥</m:t>
                        </m:r>
                      </m:e>
                      <m:sub>
                        <m:r>
                          <a:rPr lang="en-US" altLang="he-IL" sz="2400" i="1">
                            <a:latin typeface="Cambria Math" panose="02040503050406030204" pitchFamily="18" charset="0"/>
                          </a:rPr>
                          <m:t>𝑖</m:t>
                        </m:r>
                      </m:sub>
                    </m:sSub>
                    <m:r>
                      <a:rPr lang="en-US" altLang="he-IL" sz="2400" b="0" i="1" smtClean="0">
                        <a:latin typeface="Cambria Math" panose="02040503050406030204" pitchFamily="18" charset="0"/>
                        <a:ea typeface="Cambria Math" panose="02040503050406030204" pitchFamily="18" charset="0"/>
                      </a:rPr>
                      <m:t>=</m:t>
                    </m:r>
                    <m:sSub>
                      <m:sSubPr>
                        <m:ctrlPr>
                          <a:rPr lang="en-US" altLang="he-IL" sz="2400" i="1">
                            <a:latin typeface="Cambria Math" panose="02040503050406030204" pitchFamily="18" charset="0"/>
                          </a:rPr>
                        </m:ctrlPr>
                      </m:sSubPr>
                      <m:e>
                        <m:r>
                          <a:rPr lang="en-US" altLang="he-IL" sz="2400" i="1">
                            <a:latin typeface="Cambria Math" panose="02040503050406030204" pitchFamily="18" charset="0"/>
                          </a:rPr>
                          <m:t>𝑦</m:t>
                        </m:r>
                      </m:e>
                      <m:sub>
                        <m:r>
                          <a:rPr lang="en-US" altLang="he-IL" sz="2400" i="1">
                            <a:latin typeface="Cambria Math" panose="02040503050406030204" pitchFamily="18" charset="0"/>
                          </a:rPr>
                          <m:t>𝑖</m:t>
                        </m:r>
                      </m:sub>
                    </m:sSub>
                    <m:r>
                      <a:rPr lang="en-US" altLang="he-IL" sz="2400" i="1">
                        <a:latin typeface="Cambria Math" panose="02040503050406030204" pitchFamily="18" charset="0"/>
                      </a:rPr>
                      <m:t> </m:t>
                    </m:r>
                  </m:oMath>
                </a14:m>
                <a:r>
                  <a:rPr lang="he-IL" altLang="he-IL" sz="2400" dirty="0">
                    <a:latin typeface="Arial" panose="020B0604020202020204" pitchFamily="34" charset="0"/>
                    <a:cs typeface="+mj-cs"/>
                  </a:rPr>
                  <a:t> . סיימנו.</a:t>
                </a:r>
              </a:p>
              <a:p>
                <a:pPr lvl="0" algn="just" defTabSz="914400" rtl="1" eaLnBrk="0" fontAlgn="base" hangingPunct="0">
                  <a:spcBef>
                    <a:spcPct val="0"/>
                  </a:spcBef>
                  <a:spcAft>
                    <a:spcPct val="0"/>
                  </a:spcAft>
                  <a:buFontTx/>
                  <a:buChar char="•"/>
                </a:pPr>
                <a:r>
                  <a:rPr lang="he-IL" altLang="he-IL" sz="2400" dirty="0">
                    <a:latin typeface="Arial" panose="020B0604020202020204" pitchFamily="34" charset="0"/>
                    <a:cs typeface="+mj-cs"/>
                  </a:rPr>
                  <a:t>אחרת, </a:t>
                </a:r>
                <a:r>
                  <a:rPr kumimoji="0" lang="he-IL" altLang="he-IL" sz="2400" b="0" i="0" u="none" strike="noStrike" cap="none" normalizeH="0" baseline="0" dirty="0">
                    <a:ln>
                      <a:noFill/>
                    </a:ln>
                    <a:solidFill>
                      <a:schemeClr val="tx1"/>
                    </a:solidFill>
                    <a:effectLst/>
                    <a:latin typeface="Arial" panose="020B0604020202020204" pitchFamily="34" charset="0"/>
                    <a:cs typeface="+mj-cs"/>
                  </a:rPr>
                  <a:t>יהי </a:t>
                </a:r>
                <a14:m>
                  <m:oMath xmlns:m="http://schemas.openxmlformats.org/officeDocument/2006/math">
                    <m:r>
                      <a:rPr kumimoji="0" lang="en-US" altLang="he-IL" sz="2400" b="0" i="1" u="none" strike="noStrike" cap="none" normalizeH="0" baseline="0" dirty="0" smtClean="0">
                        <a:ln>
                          <a:noFill/>
                        </a:ln>
                        <a:solidFill>
                          <a:schemeClr val="tx1"/>
                        </a:solidFill>
                        <a:effectLst/>
                        <a:latin typeface="Cambria Math" panose="02040503050406030204" pitchFamily="18" charset="0"/>
                        <a:cs typeface="+mj-cs"/>
                      </a:rPr>
                      <m:t>𝑖</m:t>
                    </m:r>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 הפריט הראשון שבו </a:t>
                </a:r>
                <a14:m>
                  <m:oMath xmlns:m="http://schemas.openxmlformats.org/officeDocument/2006/math">
                    <m:r>
                      <a:rPr kumimoji="0" lang="en-US" altLang="he-IL" sz="2400" b="0" i="1" u="none" strike="noStrike" cap="none" normalizeH="0" baseline="0" dirty="0" smtClean="0">
                        <a:ln>
                          <a:noFill/>
                        </a:ln>
                        <a:solidFill>
                          <a:schemeClr val="tx1"/>
                        </a:solidFill>
                        <a:effectLst/>
                        <a:latin typeface="Cambria Math" panose="02040503050406030204" pitchFamily="18" charset="0"/>
                        <a:cs typeface="+mj-cs"/>
                      </a:rPr>
                      <m:t>𝑋</m:t>
                    </m:r>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 ו-</a:t>
                </a:r>
                <a14:m>
                  <m:oMath xmlns:m="http://schemas.openxmlformats.org/officeDocument/2006/math">
                    <m:r>
                      <a:rPr kumimoji="0" lang="en-US" altLang="he-IL" sz="2400" b="0" i="1" u="none" strike="noStrike" cap="none" normalizeH="0" baseline="0" dirty="0" smtClean="0">
                        <a:ln>
                          <a:noFill/>
                        </a:ln>
                        <a:solidFill>
                          <a:schemeClr val="tx1"/>
                        </a:solidFill>
                        <a:effectLst/>
                        <a:latin typeface="Cambria Math" panose="02040503050406030204" pitchFamily="18" charset="0"/>
                        <a:cs typeface="+mj-cs"/>
                      </a:rPr>
                      <m:t>𝑌</m:t>
                    </m:r>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 נבדלים</a:t>
                </a:r>
                <a:r>
                  <a:rPr lang="he-IL" altLang="he-IL" sz="2400" dirty="0">
                    <a:latin typeface="Arial" panose="020B0604020202020204" pitchFamily="34" charset="0"/>
                    <a:cs typeface="+mj-cs"/>
                  </a:rPr>
                  <a:t> ו</a:t>
                </a:r>
                <a:r>
                  <a:rPr kumimoji="0" lang="he-IL" altLang="he-IL" sz="2400" b="0" i="0" u="none" strike="noStrike" cap="none" normalizeH="0" baseline="0" dirty="0">
                    <a:ln>
                      <a:noFill/>
                    </a:ln>
                    <a:solidFill>
                      <a:schemeClr val="tx1"/>
                    </a:solidFill>
                    <a:effectLst/>
                    <a:latin typeface="Arial" panose="020B0604020202020204" pitchFamily="34" charset="0"/>
                    <a:cs typeface="+mj-cs"/>
                  </a:rPr>
                  <a:t>מתקיים </a:t>
                </a:r>
                <a14:m>
                  <m:oMath xmlns:m="http://schemas.openxmlformats.org/officeDocument/2006/math">
                    <m:sSub>
                      <m:sSubPr>
                        <m:ctrlPr>
                          <a:rPr lang="he-IL" altLang="he-IL" sz="2400" i="1">
                            <a:latin typeface="Cambria Math" panose="02040503050406030204" pitchFamily="18" charset="0"/>
                          </a:rPr>
                        </m:ctrlPr>
                      </m:sSubPr>
                      <m:e>
                        <m:r>
                          <a:rPr lang="en-US" altLang="he-IL" sz="2400" i="1">
                            <a:latin typeface="Cambria Math" panose="02040503050406030204" pitchFamily="18" charset="0"/>
                          </a:rPr>
                          <m:t>𝑥</m:t>
                        </m:r>
                      </m:e>
                      <m:sub>
                        <m:r>
                          <a:rPr lang="en-US" altLang="he-IL" sz="2400" i="1">
                            <a:latin typeface="Cambria Math" panose="02040503050406030204" pitchFamily="18" charset="0"/>
                          </a:rPr>
                          <m:t>𝑖</m:t>
                        </m:r>
                      </m:sub>
                    </m:sSub>
                    <m:r>
                      <a:rPr lang="en-US" altLang="he-IL" sz="2400" i="1" smtClean="0">
                        <a:latin typeface="Cambria Math" panose="02040503050406030204" pitchFamily="18" charset="0"/>
                        <a:ea typeface="Cambria Math" panose="02040503050406030204" pitchFamily="18" charset="0"/>
                      </a:rPr>
                      <m:t>≠</m:t>
                    </m:r>
                    <m:sSub>
                      <m:sSubPr>
                        <m:ctrlPr>
                          <a:rPr lang="en-US" altLang="he-IL" sz="2400" i="1">
                            <a:latin typeface="Cambria Math" panose="02040503050406030204" pitchFamily="18" charset="0"/>
                          </a:rPr>
                        </m:ctrlPr>
                      </m:sSubPr>
                      <m:e>
                        <m:r>
                          <a:rPr lang="en-US" altLang="he-IL" sz="2400" i="1">
                            <a:latin typeface="Cambria Math" panose="02040503050406030204" pitchFamily="18" charset="0"/>
                          </a:rPr>
                          <m:t>𝑦</m:t>
                        </m:r>
                      </m:e>
                      <m:sub>
                        <m:r>
                          <a:rPr lang="en-US" altLang="he-IL" sz="2400" i="1">
                            <a:latin typeface="Cambria Math" panose="02040503050406030204" pitchFamily="18" charset="0"/>
                          </a:rPr>
                          <m:t>𝑖</m:t>
                        </m:r>
                      </m:sub>
                    </m:sSub>
                    <m:r>
                      <a:rPr lang="en-US" altLang="he-IL" sz="2400" i="1">
                        <a:latin typeface="Cambria Math" panose="02040503050406030204" pitchFamily="18" charset="0"/>
                      </a:rPr>
                      <m:t> </m:t>
                    </m:r>
                  </m:oMath>
                </a14:m>
                <a:r>
                  <a:rPr lang="he-IL" altLang="he-IL" sz="2400" i="0" dirty="0">
                    <a:latin typeface="Arial" panose="020B0604020202020204" pitchFamily="34" charset="0"/>
                  </a:rPr>
                  <a:t> : </a:t>
                </a:r>
              </a:p>
              <a:p>
                <a:pPr lvl="1" algn="just" defTabSz="914400" rtl="1" eaLnBrk="0" fontAlgn="base" hangingPunct="0">
                  <a:spcBef>
                    <a:spcPct val="0"/>
                  </a:spcBef>
                  <a:spcAft>
                    <a:spcPct val="0"/>
                  </a:spcAft>
                  <a:buFontTx/>
                  <a:buChar char="•"/>
                </a:pPr>
                <a:r>
                  <a:rPr lang="he-IL" altLang="he-IL" sz="2400" dirty="0">
                    <a:latin typeface="Arial" panose="020B0604020202020204" pitchFamily="34" charset="0"/>
                    <a:cs typeface="+mj-cs"/>
                  </a:rPr>
                  <a:t>על פי הגדרת האלגוריתם החמדן בהכרח מתקיים </a:t>
                </a:r>
                <a14:m>
                  <m:oMath xmlns:m="http://schemas.openxmlformats.org/officeDocument/2006/math">
                    <m:sSub>
                      <m:sSubPr>
                        <m:ctrlPr>
                          <a:rPr lang="he-IL" altLang="he-IL" sz="2400" i="1" smtClean="0">
                            <a:latin typeface="Cambria Math" panose="02040503050406030204" pitchFamily="18" charset="0"/>
                            <a:cs typeface="+mj-cs"/>
                          </a:rPr>
                        </m:ctrlPr>
                      </m:sSubPr>
                      <m:e>
                        <m:r>
                          <a:rPr lang="en-US" altLang="he-IL" sz="2400" b="0" i="1" smtClean="0">
                            <a:latin typeface="Cambria Math" panose="02040503050406030204" pitchFamily="18" charset="0"/>
                            <a:cs typeface="+mj-cs"/>
                          </a:rPr>
                          <m:t>𝑥</m:t>
                        </m:r>
                      </m:e>
                      <m:sub>
                        <m:r>
                          <a:rPr lang="en-US" altLang="he-IL" sz="2400" b="0" i="1" smtClean="0">
                            <a:latin typeface="Cambria Math" panose="02040503050406030204" pitchFamily="18" charset="0"/>
                            <a:cs typeface="+mj-cs"/>
                          </a:rPr>
                          <m:t>𝑖</m:t>
                        </m:r>
                      </m:sub>
                    </m:sSub>
                    <m:r>
                      <a:rPr lang="en-US" altLang="he-IL" sz="2400" b="0" i="1" smtClean="0">
                        <a:latin typeface="Cambria Math" panose="02040503050406030204" pitchFamily="18" charset="0"/>
                        <a:cs typeface="+mj-cs"/>
                      </a:rPr>
                      <m:t>≥</m:t>
                    </m:r>
                    <m:sSub>
                      <m:sSubPr>
                        <m:ctrlPr>
                          <a:rPr lang="en-US" altLang="he-IL" sz="2400" b="0" i="1" smtClean="0">
                            <a:latin typeface="Cambria Math" panose="02040503050406030204" pitchFamily="18" charset="0"/>
                            <a:cs typeface="+mj-cs"/>
                          </a:rPr>
                        </m:ctrlPr>
                      </m:sSubPr>
                      <m:e>
                        <m:r>
                          <a:rPr lang="en-US" altLang="he-IL" sz="2400" b="0" i="1" smtClean="0">
                            <a:latin typeface="Cambria Math" panose="02040503050406030204" pitchFamily="18" charset="0"/>
                            <a:cs typeface="+mj-cs"/>
                          </a:rPr>
                          <m:t>𝑦</m:t>
                        </m:r>
                      </m:e>
                      <m:sub>
                        <m:r>
                          <a:rPr lang="en-US" altLang="he-IL" sz="2400" b="0" i="1" smtClean="0">
                            <a:latin typeface="Cambria Math" panose="02040503050406030204" pitchFamily="18" charset="0"/>
                            <a:cs typeface="+mj-cs"/>
                          </a:rPr>
                          <m:t>𝑖</m:t>
                        </m:r>
                      </m:sub>
                    </m:sSub>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a:t>
                </a:r>
              </a:p>
              <a:p>
                <a:pPr lvl="1" algn="just" defTabSz="914400" rtl="1" eaLnBrk="0" fontAlgn="base" hangingPunct="0">
                  <a:spcBef>
                    <a:spcPct val="0"/>
                  </a:spcBef>
                  <a:spcAft>
                    <a:spcPct val="0"/>
                  </a:spcAft>
                  <a:buFontTx/>
                  <a:buChar char="•"/>
                </a:pPr>
                <a:r>
                  <a:rPr kumimoji="0" lang="he-IL" altLang="he-IL" sz="2400" b="0" i="0" u="none" strike="noStrike" cap="none" normalizeH="0" baseline="0" dirty="0">
                    <a:ln>
                      <a:noFill/>
                    </a:ln>
                    <a:solidFill>
                      <a:schemeClr val="tx1"/>
                    </a:solidFill>
                    <a:effectLst/>
                    <a:latin typeface="Arial" panose="020B0604020202020204" pitchFamily="34" charset="0"/>
                    <a:cs typeface="+mj-cs"/>
                  </a:rPr>
                  <a:t>ניתן </a:t>
                </a:r>
                <a:r>
                  <a:rPr kumimoji="0" lang="he-IL" altLang="he-IL" sz="2400" b="1" i="0" u="none" strike="noStrike" cap="none" normalizeH="0" baseline="0" dirty="0">
                    <a:ln>
                      <a:noFill/>
                    </a:ln>
                    <a:solidFill>
                      <a:schemeClr val="tx1"/>
                    </a:solidFill>
                    <a:effectLst/>
                    <a:latin typeface="Arial" panose="020B0604020202020204" pitchFamily="34" charset="0"/>
                    <a:cs typeface="+mj-cs"/>
                  </a:rPr>
                  <a:t>לשפר את </a:t>
                </a:r>
                <a14:m>
                  <m:oMath xmlns:m="http://schemas.openxmlformats.org/officeDocument/2006/math">
                    <m:r>
                      <a:rPr kumimoji="0" lang="en-US" altLang="he-IL" sz="2400" b="1" i="1" u="none" strike="noStrike" cap="none" normalizeH="0" baseline="0" dirty="0" smtClean="0">
                        <a:ln>
                          <a:noFill/>
                        </a:ln>
                        <a:solidFill>
                          <a:schemeClr val="tx1"/>
                        </a:solidFill>
                        <a:effectLst/>
                        <a:latin typeface="Cambria Math" panose="02040503050406030204" pitchFamily="18" charset="0"/>
                        <a:cs typeface="+mj-cs"/>
                      </a:rPr>
                      <m:t>𝒀</m:t>
                    </m:r>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 על ידי החלפת </a:t>
                </a:r>
                <a14:m>
                  <m:oMath xmlns:m="http://schemas.openxmlformats.org/officeDocument/2006/math">
                    <m:sSub>
                      <m:sSubPr>
                        <m:ctrlPr>
                          <a:rPr lang="en-US" altLang="he-IL" sz="2400" i="1">
                            <a:latin typeface="Cambria Math" panose="02040503050406030204" pitchFamily="18" charset="0"/>
                          </a:rPr>
                        </m:ctrlPr>
                      </m:sSubPr>
                      <m:e>
                        <m:r>
                          <a:rPr lang="en-US" altLang="he-IL" sz="2400" i="1">
                            <a:latin typeface="Cambria Math" panose="02040503050406030204" pitchFamily="18" charset="0"/>
                          </a:rPr>
                          <m:t>𝑦</m:t>
                        </m:r>
                      </m:e>
                      <m:sub>
                        <m:r>
                          <a:rPr lang="en-US" altLang="he-IL" sz="2400" i="1">
                            <a:latin typeface="Cambria Math" panose="02040503050406030204" pitchFamily="18" charset="0"/>
                          </a:rPr>
                          <m:t>𝑖</m:t>
                        </m:r>
                      </m:sub>
                    </m:sSub>
                    <m:r>
                      <a:rPr lang="en-US" altLang="he-IL" sz="2400" i="1">
                        <a:latin typeface="Cambria Math" panose="02040503050406030204" pitchFamily="18" charset="0"/>
                      </a:rPr>
                      <m:t> </m:t>
                    </m:r>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 ב- </a:t>
                </a:r>
                <a14:m>
                  <m:oMath xmlns:m="http://schemas.openxmlformats.org/officeDocument/2006/math">
                    <m:sSub>
                      <m:sSubPr>
                        <m:ctrlPr>
                          <a:rPr lang="he-IL" altLang="he-IL" sz="2400" i="1">
                            <a:latin typeface="Cambria Math" panose="02040503050406030204" pitchFamily="18" charset="0"/>
                          </a:rPr>
                        </m:ctrlPr>
                      </m:sSubPr>
                      <m:e>
                        <m:r>
                          <a:rPr lang="en-US" altLang="he-IL" sz="2400" i="1">
                            <a:latin typeface="Cambria Math" panose="02040503050406030204" pitchFamily="18" charset="0"/>
                          </a:rPr>
                          <m:t>𝑥</m:t>
                        </m:r>
                      </m:e>
                      <m:sub>
                        <m:r>
                          <a:rPr lang="en-US" altLang="he-IL" sz="2400" i="1">
                            <a:latin typeface="Cambria Math" panose="02040503050406030204" pitchFamily="18" charset="0"/>
                          </a:rPr>
                          <m:t>𝑖</m:t>
                        </m:r>
                      </m:sub>
                    </m:sSub>
                    <m:r>
                      <a:rPr lang="en-US" altLang="he-IL" sz="2400" i="1">
                        <a:latin typeface="Cambria Math" panose="02040503050406030204" pitchFamily="18" charset="0"/>
                      </a:rPr>
                      <m:t> </m:t>
                    </m:r>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 ועל מנת לשמור</a:t>
                </a:r>
                <a:r>
                  <a:rPr kumimoji="0" lang="he-IL" altLang="he-IL" sz="2400" b="0" i="0" u="none" strike="noStrike" cap="none" normalizeH="0" dirty="0">
                    <a:ln>
                      <a:noFill/>
                    </a:ln>
                    <a:solidFill>
                      <a:schemeClr val="tx1"/>
                    </a:solidFill>
                    <a:effectLst/>
                    <a:latin typeface="Arial" panose="020B0604020202020204" pitchFamily="34" charset="0"/>
                    <a:cs typeface="+mj-cs"/>
                  </a:rPr>
                  <a:t> על תקינות המשקל הכולל להפחית סך של </a:t>
                </a:r>
                <a14:m>
                  <m:oMath xmlns:m="http://schemas.openxmlformats.org/officeDocument/2006/math">
                    <m:sSub>
                      <m:sSubPr>
                        <m:ctrlPr>
                          <a:rPr lang="he-IL" altLang="he-IL" sz="2400" i="1">
                            <a:latin typeface="Cambria Math" panose="02040503050406030204" pitchFamily="18" charset="0"/>
                          </a:rPr>
                        </m:ctrlPr>
                      </m:sSubPr>
                      <m:e>
                        <m:r>
                          <a:rPr lang="en-US" altLang="he-IL" sz="2400" i="1">
                            <a:latin typeface="Cambria Math" panose="02040503050406030204" pitchFamily="18" charset="0"/>
                          </a:rPr>
                          <m:t>𝑥</m:t>
                        </m:r>
                      </m:e>
                      <m:sub>
                        <m:r>
                          <a:rPr lang="en-US" altLang="he-IL" sz="2400" i="1">
                            <a:latin typeface="Cambria Math" panose="02040503050406030204" pitchFamily="18" charset="0"/>
                          </a:rPr>
                          <m:t>𝑖</m:t>
                        </m:r>
                      </m:sub>
                    </m:sSub>
                    <m:r>
                      <a:rPr lang="en-US" altLang="he-IL" sz="2400" i="1">
                        <a:latin typeface="Cambria Math" panose="02040503050406030204" pitchFamily="18" charset="0"/>
                      </a:rPr>
                      <m:t> </m:t>
                    </m:r>
                    <m:r>
                      <a:rPr lang="he-IL" altLang="he-IL" sz="2400" b="0" i="1" smtClean="0">
                        <a:latin typeface="Cambria Math" panose="02040503050406030204" pitchFamily="18" charset="0"/>
                      </a:rPr>
                      <m:t>−</m:t>
                    </m:r>
                    <m:sSub>
                      <m:sSubPr>
                        <m:ctrlPr>
                          <a:rPr lang="he-IL" altLang="he-IL" sz="2400" i="1">
                            <a:latin typeface="Cambria Math" panose="02040503050406030204" pitchFamily="18" charset="0"/>
                          </a:rPr>
                        </m:ctrlPr>
                      </m:sSubPr>
                      <m:e>
                        <m:r>
                          <a:rPr lang="en-US" altLang="he-IL" sz="2400" b="0" i="1" smtClean="0">
                            <a:latin typeface="Cambria Math" panose="02040503050406030204" pitchFamily="18" charset="0"/>
                          </a:rPr>
                          <m:t>𝑦</m:t>
                        </m:r>
                      </m:e>
                      <m:sub>
                        <m:r>
                          <a:rPr lang="en-US" altLang="he-IL" sz="2400" i="1">
                            <a:latin typeface="Cambria Math" panose="02040503050406030204" pitchFamily="18" charset="0"/>
                          </a:rPr>
                          <m:t>𝑖</m:t>
                        </m:r>
                      </m:sub>
                    </m:sSub>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 מפריטים אחרים  הנמצאים אחריו ברשימה. כל הפריטים בהמשך הערך שלהם ליחידת משקל קטן/שווה לערך של </a:t>
                </a:r>
                <a:r>
                  <a:rPr kumimoji="0" lang="en-US" altLang="he-IL" sz="2400" b="0" i="0" u="none" strike="noStrike" cap="none" normalizeH="0" baseline="0" dirty="0" err="1">
                    <a:ln>
                      <a:noFill/>
                    </a:ln>
                    <a:solidFill>
                      <a:schemeClr val="tx1"/>
                    </a:solidFill>
                    <a:effectLst/>
                    <a:latin typeface="Arial" panose="020B0604020202020204" pitchFamily="34" charset="0"/>
                    <a:cs typeface="+mj-cs"/>
                  </a:rPr>
                  <a:t>i</a:t>
                </a:r>
                <a:r>
                  <a:rPr kumimoji="0" lang="he-IL" altLang="he-IL" sz="2400" b="0" i="0" u="none" strike="noStrike" cap="none" normalizeH="0" baseline="0" dirty="0">
                    <a:ln>
                      <a:noFill/>
                    </a:ln>
                    <a:solidFill>
                      <a:schemeClr val="tx1"/>
                    </a:solidFill>
                    <a:effectLst/>
                    <a:latin typeface="Arial" panose="020B0604020202020204" pitchFamily="34" charset="0"/>
                    <a:cs typeface="+mj-cs"/>
                  </a:rPr>
                  <a:t>. וכך הגדלנו/שמרנו על הערך הכולל.</a:t>
                </a:r>
              </a:p>
              <a:p>
                <a:pPr lvl="0" algn="just" defTabSz="914400" rtl="1" eaLnBrk="0" fontAlgn="base" hangingPunct="0">
                  <a:spcBef>
                    <a:spcPct val="0"/>
                  </a:spcBef>
                  <a:spcAft>
                    <a:spcPct val="0"/>
                  </a:spcAft>
                  <a:buFontTx/>
                  <a:buChar char="•"/>
                </a:pPr>
                <a:r>
                  <a:rPr kumimoji="0" lang="he-IL" altLang="he-IL" sz="2400" b="0" i="0" u="none" strike="noStrike" cap="none" normalizeH="0" baseline="0" dirty="0">
                    <a:ln>
                      <a:noFill/>
                    </a:ln>
                    <a:solidFill>
                      <a:schemeClr val="tx1"/>
                    </a:solidFill>
                    <a:effectLst/>
                    <a:latin typeface="Arial" panose="020B0604020202020204" pitchFamily="34" charset="0"/>
                    <a:cs typeface="+mj-cs"/>
                  </a:rPr>
                  <a:t>נמשיך בתהליך זה עבור כל פריט שבו הפתרונות שונים – כל שינוי כזה מגדיל או שומר על הערך הכולל של </a:t>
                </a:r>
                <a14:m>
                  <m:oMath xmlns:m="http://schemas.openxmlformats.org/officeDocument/2006/math">
                    <m:r>
                      <a:rPr lang="en-US" altLang="he-IL" sz="2400" i="1" dirty="0">
                        <a:latin typeface="Cambria Math" panose="02040503050406030204" pitchFamily="18" charset="0"/>
                      </a:rPr>
                      <m:t>𝑌</m:t>
                    </m:r>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a:t>
                </a:r>
              </a:p>
              <a:p>
                <a:pPr lvl="0" algn="just" defTabSz="914400" rtl="1" eaLnBrk="0" fontAlgn="base" hangingPunct="0">
                  <a:spcBef>
                    <a:spcPct val="0"/>
                  </a:spcBef>
                  <a:spcAft>
                    <a:spcPct val="0"/>
                  </a:spcAft>
                  <a:buFontTx/>
                  <a:buChar char="•"/>
                </a:pPr>
                <a:r>
                  <a:rPr kumimoji="0" lang="he-IL" altLang="he-IL" sz="2400" b="0" i="0" u="none" strike="noStrike" cap="none" normalizeH="0" baseline="0" dirty="0">
                    <a:ln>
                      <a:noFill/>
                    </a:ln>
                    <a:solidFill>
                      <a:schemeClr val="tx1"/>
                    </a:solidFill>
                    <a:effectLst/>
                    <a:latin typeface="Arial" panose="020B0604020202020204" pitchFamily="34" charset="0"/>
                    <a:cs typeface="+mj-cs"/>
                  </a:rPr>
                  <a:t>בסוף נקבל פתרון שמכיל את אותם הפריטים באותו סדר כמו הפתרון החמדני, כלומר הפתרון </a:t>
                </a:r>
                <a14:m>
                  <m:oMath xmlns:m="http://schemas.openxmlformats.org/officeDocument/2006/math">
                    <m:r>
                      <a:rPr lang="en-US" altLang="he-IL" sz="2400" i="1" dirty="0">
                        <a:latin typeface="Cambria Math" panose="02040503050406030204" pitchFamily="18" charset="0"/>
                      </a:rPr>
                      <m:t>𝑌</m:t>
                    </m:r>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 לא יכול להיות טוב יותר מ-</a:t>
                </a:r>
                <a:r>
                  <a:rPr lang="en-US" altLang="he-IL" sz="2400" dirty="0"/>
                  <a:t> </a:t>
                </a:r>
                <a14:m>
                  <m:oMath xmlns:m="http://schemas.openxmlformats.org/officeDocument/2006/math">
                    <m:r>
                      <a:rPr lang="en-US" altLang="he-IL" sz="2400" i="1" dirty="0">
                        <a:latin typeface="Cambria Math" panose="02040503050406030204" pitchFamily="18" charset="0"/>
                      </a:rPr>
                      <m:t>𝑋</m:t>
                    </m:r>
                  </m:oMath>
                </a14:m>
                <a:r>
                  <a:rPr kumimoji="0" lang="he-IL" altLang="he-IL" sz="2400" b="0" i="0" u="none" strike="noStrike" cap="none" normalizeH="0" baseline="0" dirty="0">
                    <a:ln>
                      <a:noFill/>
                    </a:ln>
                    <a:solidFill>
                      <a:schemeClr val="tx1"/>
                    </a:solidFill>
                    <a:effectLst/>
                    <a:latin typeface="Arial" panose="020B0604020202020204" pitchFamily="34" charset="0"/>
                    <a:cs typeface="+mj-cs"/>
                  </a:rPr>
                  <a:t>.</a:t>
                </a:r>
              </a:p>
            </p:txBody>
          </p:sp>
        </mc:Choice>
        <mc:Fallback xmlns="">
          <p:sp>
            <p:nvSpPr>
              <p:cNvPr id="14" name="Rectangle 10">
                <a:extLst>
                  <a:ext uri="{FF2B5EF4-FFF2-40B4-BE49-F238E27FC236}">
                    <a16:creationId xmlns:a16="http://schemas.microsoft.com/office/drawing/2014/main" id="{E1232BE1-069B-078D-1F18-92CE09EA59CE}"/>
                  </a:ext>
                </a:extLst>
              </p:cNvPr>
              <p:cNvSpPr>
                <a:spLocks noRot="1" noChangeAspect="1" noMove="1" noResize="1" noEditPoints="1" noAdjustHandles="1" noChangeArrowheads="1" noChangeShapeType="1" noTextEdit="1"/>
              </p:cNvSpPr>
              <p:nvPr/>
            </p:nvSpPr>
            <p:spPr bwMode="auto">
              <a:xfrm>
                <a:off x="221226" y="1334057"/>
                <a:ext cx="11805590" cy="5066643"/>
              </a:xfrm>
              <a:prstGeom prst="rect">
                <a:avLst/>
              </a:prstGeom>
              <a:blipFill>
                <a:blip r:embed="rId2"/>
                <a:stretch>
                  <a:fillRect l="-1497" r="-774" b="-216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he-IL">
                    <a:noFill/>
                  </a:rPr>
                  <a:t> </a:t>
                </a:r>
              </a:p>
            </p:txBody>
          </p:sp>
        </mc:Fallback>
      </mc:AlternateContent>
    </p:spTree>
    <p:extLst>
      <p:ext uri="{BB962C8B-B14F-4D97-AF65-F5344CB8AC3E}">
        <p14:creationId xmlns:p14="http://schemas.microsoft.com/office/powerpoint/2010/main" val="1310387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7705DC5-7C01-B50E-92CB-54305616337A}"/>
              </a:ext>
            </a:extLst>
          </p:cNvPr>
          <p:cNvSpPr>
            <a:spLocks noGrp="1"/>
          </p:cNvSpPr>
          <p:nvPr>
            <p:ph type="title"/>
          </p:nvPr>
        </p:nvSpPr>
        <p:spPr>
          <a:xfrm>
            <a:off x="4343742" y="238112"/>
            <a:ext cx="10058400" cy="1450757"/>
          </a:xfrm>
        </p:spPr>
        <p:txBody>
          <a:bodyPr/>
          <a:lstStyle/>
          <a:p>
            <a:pPr algn="ctr"/>
            <a:r>
              <a:rPr lang="he-IL" dirty="0"/>
              <a:t>בעיית התרמיל- מימוש</a:t>
            </a:r>
          </a:p>
        </p:txBody>
      </p:sp>
      <p:pic>
        <p:nvPicPr>
          <p:cNvPr id="7" name="תמונה 6">
            <a:extLst>
              <a:ext uri="{FF2B5EF4-FFF2-40B4-BE49-F238E27FC236}">
                <a16:creationId xmlns:a16="http://schemas.microsoft.com/office/drawing/2014/main" id="{80F76A84-4634-F580-DDD4-7DB7C3C5F14A}"/>
              </a:ext>
            </a:extLst>
          </p:cNvPr>
          <p:cNvPicPr>
            <a:picLocks noChangeAspect="1"/>
          </p:cNvPicPr>
          <p:nvPr/>
        </p:nvPicPr>
        <p:blipFill>
          <a:blip r:embed="rId2"/>
          <a:stretch>
            <a:fillRect/>
          </a:stretch>
        </p:blipFill>
        <p:spPr>
          <a:xfrm>
            <a:off x="6645341" y="1785851"/>
            <a:ext cx="5455201" cy="4378123"/>
          </a:xfrm>
          <a:prstGeom prst="rect">
            <a:avLst/>
          </a:prstGeom>
        </p:spPr>
      </p:pic>
      <p:pic>
        <p:nvPicPr>
          <p:cNvPr id="9" name="תמונה 8">
            <a:extLst>
              <a:ext uri="{FF2B5EF4-FFF2-40B4-BE49-F238E27FC236}">
                <a16:creationId xmlns:a16="http://schemas.microsoft.com/office/drawing/2014/main" id="{535969FD-8DCD-8D99-3E05-B672687E9BF7}"/>
              </a:ext>
            </a:extLst>
          </p:cNvPr>
          <p:cNvPicPr>
            <a:picLocks noChangeAspect="1"/>
          </p:cNvPicPr>
          <p:nvPr/>
        </p:nvPicPr>
        <p:blipFill>
          <a:blip r:embed="rId3"/>
          <a:stretch>
            <a:fillRect/>
          </a:stretch>
        </p:blipFill>
        <p:spPr>
          <a:xfrm>
            <a:off x="0" y="694026"/>
            <a:ext cx="6645341" cy="5566930"/>
          </a:xfrm>
          <a:prstGeom prst="rect">
            <a:avLst/>
          </a:prstGeom>
        </p:spPr>
      </p:pic>
    </p:spTree>
    <p:extLst>
      <p:ext uri="{BB962C8B-B14F-4D97-AF65-F5344CB8AC3E}">
        <p14:creationId xmlns:p14="http://schemas.microsoft.com/office/powerpoint/2010/main" val="1366387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64CE3E6-E24B-BB16-5553-FA519EF78600}"/>
              </a:ext>
            </a:extLst>
          </p:cNvPr>
          <p:cNvSpPr>
            <a:spLocks noGrp="1"/>
          </p:cNvSpPr>
          <p:nvPr>
            <p:ph type="title"/>
          </p:nvPr>
        </p:nvSpPr>
        <p:spPr/>
        <p:txBody>
          <a:bodyPr/>
          <a:lstStyle/>
          <a:p>
            <a:pPr algn="ctr"/>
            <a:r>
              <a:rPr lang="he-IL" dirty="0"/>
              <a:t>בעיית התרמיל- זמן ריצה</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3A3A3B82-7FA5-9D7E-184A-6C67873B32E8}"/>
                  </a:ext>
                </a:extLst>
              </p:cNvPr>
              <p:cNvSpPr>
                <a:spLocks noGrp="1"/>
              </p:cNvSpPr>
              <p:nvPr>
                <p:ph idx="1"/>
              </p:nvPr>
            </p:nvSpPr>
            <p:spPr>
              <a:xfrm>
                <a:off x="980025" y="1892387"/>
                <a:ext cx="10663335" cy="4377784"/>
              </a:xfrm>
            </p:spPr>
            <p:txBody>
              <a:bodyPr>
                <a:normAutofit fontScale="77500" lnSpcReduction="20000"/>
              </a:bodyPr>
              <a:lstStyle/>
              <a:p>
                <a:r>
                  <a:rPr lang="he-IL" sz="5100" u="sng" spc="-50" dirty="0">
                    <a:latin typeface="Times New Roman" panose="02020603050405020304" pitchFamily="18" charset="0"/>
                    <a:ea typeface="+mj-ea"/>
                    <a:cs typeface="Times New Roman" panose="02020603050405020304" pitchFamily="18" charset="0"/>
                  </a:rPr>
                  <a:t>טענה:</a:t>
                </a:r>
              </a:p>
              <a:p>
                <a:pPr>
                  <a:lnSpc>
                    <a:spcPct val="120000"/>
                  </a:lnSpc>
                </a:pPr>
                <a:r>
                  <a:rPr lang="he-IL" sz="4700" spc="-50" dirty="0">
                    <a:latin typeface="Times New Roman" panose="02020603050405020304" pitchFamily="18" charset="0"/>
                    <a:ea typeface="+mj-ea"/>
                    <a:cs typeface="Times New Roman" panose="02020603050405020304" pitchFamily="18" charset="0"/>
                  </a:rPr>
                  <a:t>זמן הריצה של האלגוריתם </a:t>
                </a:r>
                <a14:m>
                  <m:oMath xmlns:m="http://schemas.openxmlformats.org/officeDocument/2006/math">
                    <m:r>
                      <a:rPr lang="en-US" sz="4200" b="0" i="1" spc="-50" dirty="0" smtClean="0">
                        <a:latin typeface="Cambria Math" panose="02040503050406030204" pitchFamily="18" charset="0"/>
                        <a:ea typeface="+mj-ea"/>
                        <a:cs typeface="Times New Roman" panose="02020603050405020304" pitchFamily="18" charset="0"/>
                      </a:rPr>
                      <m:t>𝐾𝑛𝑎𝑝𝑠𝑎𝑐𝑘</m:t>
                    </m:r>
                  </m:oMath>
                </a14:m>
                <a:r>
                  <a:rPr lang="he-IL" sz="4700" spc="-50" dirty="0">
                    <a:solidFill>
                      <a:schemeClr val="tx1"/>
                    </a:solidFill>
                    <a:latin typeface="Times New Roman" panose="02020603050405020304" pitchFamily="18" charset="0"/>
                    <a:ea typeface="+mj-ea"/>
                    <a:cs typeface="Times New Roman" panose="02020603050405020304" pitchFamily="18" charset="0"/>
                  </a:rPr>
                  <a:t> הינו</a:t>
                </a:r>
                <a:r>
                  <a:rPr lang="he-IL" sz="4700" spc="-50" dirty="0">
                    <a:solidFill>
                      <a:schemeClr val="accent2">
                        <a:lumMod val="75000"/>
                      </a:schemeClr>
                    </a:solidFill>
                    <a:latin typeface="Times New Roman" panose="02020603050405020304" pitchFamily="18" charset="0"/>
                    <a:ea typeface="+mj-ea"/>
                    <a:cs typeface="Times New Roman" panose="02020603050405020304" pitchFamily="18" charset="0"/>
                  </a:rPr>
                  <a:t> </a:t>
                </a:r>
                <a14:m>
                  <m:oMath xmlns:m="http://schemas.openxmlformats.org/officeDocument/2006/math">
                    <m: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t>𝑂</m:t>
                    </m:r>
                    <m: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sSup>
                      <m:sSupPr>
                        <m:ctrlP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ctrlPr>
                      </m:sSupPr>
                      <m:e>
                        <m:r>
                          <a:rPr lang="en-US" sz="4700" i="1" spc="-50">
                            <a:solidFill>
                              <a:schemeClr val="accent2">
                                <a:lumMod val="75000"/>
                              </a:schemeClr>
                            </a:solidFill>
                            <a:latin typeface="Cambria Math" panose="02040503050406030204" pitchFamily="18" charset="0"/>
                            <a:ea typeface="+mj-ea"/>
                            <a:cs typeface="Times New Roman" panose="02020603050405020304" pitchFamily="18" charset="0"/>
                          </a:rPr>
                          <m:t>𝑛</m:t>
                        </m:r>
                      </m:e>
                      <m:sup>
                        <m: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t>2</m:t>
                        </m:r>
                      </m:sup>
                    </m:sSup>
                    <m:r>
                      <a:rPr lang="en-US" sz="4700" b="0" i="1" spc="-50" smtClean="0">
                        <a:solidFill>
                          <a:schemeClr val="accent2">
                            <a:lumMod val="75000"/>
                          </a:schemeClr>
                        </a:solidFill>
                        <a:latin typeface="Cambria Math" panose="02040503050406030204" pitchFamily="18" charset="0"/>
                        <a:ea typeface="+mj-ea"/>
                        <a:cs typeface="Times New Roman" panose="02020603050405020304" pitchFamily="18" charset="0"/>
                      </a:rPr>
                      <m:t>)</m:t>
                    </m:r>
                  </m:oMath>
                </a14:m>
                <a:r>
                  <a:rPr lang="he-IL" sz="4700" spc="-50" dirty="0">
                    <a:latin typeface="Times New Roman" panose="02020603050405020304" pitchFamily="18" charset="0"/>
                    <a:ea typeface="+mj-ea"/>
                    <a:cs typeface="Times New Roman" panose="02020603050405020304" pitchFamily="18" charset="0"/>
                  </a:rPr>
                  <a:t>.</a:t>
                </a:r>
              </a:p>
              <a:p>
                <a:endParaRPr lang="he-IL" sz="3200" spc="-50" dirty="0">
                  <a:latin typeface="Times New Roman" panose="02020603050405020304" pitchFamily="18" charset="0"/>
                  <a:ea typeface="+mj-ea"/>
                  <a:cs typeface="Times New Roman" panose="02020603050405020304" pitchFamily="18" charset="0"/>
                </a:endParaRPr>
              </a:p>
              <a:p>
                <a:r>
                  <a:rPr lang="he-IL" sz="4100" u="sng" spc="-50" dirty="0">
                    <a:latin typeface="Times New Roman" panose="02020603050405020304" pitchFamily="18" charset="0"/>
                    <a:ea typeface="+mj-ea"/>
                    <a:cs typeface="Times New Roman" panose="02020603050405020304" pitchFamily="18" charset="0"/>
                  </a:rPr>
                  <a:t>הוכחה:</a:t>
                </a:r>
              </a:p>
              <a:p>
                <a:pPr>
                  <a:buFont typeface="Arial" panose="020B0604020202020204" pitchFamily="34" charset="0"/>
                  <a:buChar char="•"/>
                </a:pPr>
                <a:r>
                  <a:rPr lang="he-IL" sz="4100" b="0" spc="-50" dirty="0">
                    <a:ea typeface="+mj-ea"/>
                    <a:cs typeface="Times New Roman" panose="02020603050405020304" pitchFamily="18" charset="0"/>
                  </a:rPr>
                  <a:t> </a:t>
                </a:r>
                <a14:m>
                  <m:oMath xmlns:m="http://schemas.openxmlformats.org/officeDocument/2006/math">
                    <m:r>
                      <a:rPr lang="en-US" sz="4100" b="0" i="1" spc="-50" dirty="0" smtClean="0">
                        <a:latin typeface="Cambria Math" panose="02040503050406030204" pitchFamily="18" charset="0"/>
                        <a:ea typeface="+mj-ea"/>
                        <a:cs typeface="Times New Roman" panose="02020603050405020304" pitchFamily="18" charset="0"/>
                      </a:rPr>
                      <m:t>𝐵𝑒𝑠𝑡𝐼𝑡𝑒𝑚</m:t>
                    </m:r>
                  </m:oMath>
                </a14:m>
                <a:r>
                  <a:rPr lang="he-IL" sz="4100" spc="-50" dirty="0">
                    <a:latin typeface="Times New Roman" panose="02020603050405020304" pitchFamily="18" charset="0"/>
                    <a:ea typeface="+mj-ea"/>
                    <a:cs typeface="Times New Roman" panose="02020603050405020304" pitchFamily="18" charset="0"/>
                  </a:rPr>
                  <a:t> כוללת לולאת בת </a:t>
                </a:r>
                <a14:m>
                  <m:oMath xmlns:m="http://schemas.openxmlformats.org/officeDocument/2006/math">
                    <m:r>
                      <a:rPr lang="en-US" sz="4100" i="1" spc="-50" dirty="0" smtClean="0">
                        <a:latin typeface="Cambria Math" panose="02040503050406030204" pitchFamily="18" charset="0"/>
                        <a:ea typeface="+mj-ea"/>
                        <a:cs typeface="Times New Roman" panose="02020603050405020304" pitchFamily="18" charset="0"/>
                      </a:rPr>
                      <m:t>𝑛</m:t>
                    </m:r>
                  </m:oMath>
                </a14:m>
                <a:r>
                  <a:rPr lang="he-IL" sz="4100" spc="-50" dirty="0">
                    <a:latin typeface="Times New Roman" panose="02020603050405020304" pitchFamily="18" charset="0"/>
                    <a:ea typeface="+mj-ea"/>
                    <a:cs typeface="Times New Roman" panose="02020603050405020304" pitchFamily="18" charset="0"/>
                  </a:rPr>
                  <a:t> איטרציות </a:t>
                </a:r>
                <a14:m>
                  <m:oMath xmlns:m="http://schemas.openxmlformats.org/officeDocument/2006/math">
                    <m:r>
                      <a:rPr lang="en-US" sz="4100" i="1" spc="-50">
                        <a:solidFill>
                          <a:schemeClr val="accent2">
                            <a:lumMod val="75000"/>
                          </a:schemeClr>
                        </a:solidFill>
                        <a:latin typeface="Cambria Math" panose="02040503050406030204" pitchFamily="18" charset="0"/>
                        <a:cs typeface="Times New Roman" panose="02020603050405020304" pitchFamily="18" charset="0"/>
                      </a:rPr>
                      <m:t>𝑂</m:t>
                    </m:r>
                    <m:r>
                      <a:rPr lang="en-US" sz="4100" i="1" spc="-50">
                        <a:solidFill>
                          <a:schemeClr val="accent2">
                            <a:lumMod val="75000"/>
                          </a:schemeClr>
                        </a:solidFill>
                        <a:latin typeface="Cambria Math" panose="02040503050406030204" pitchFamily="18" charset="0"/>
                        <a:cs typeface="Times New Roman" panose="02020603050405020304" pitchFamily="18" charset="0"/>
                      </a:rPr>
                      <m:t>(</m:t>
                    </m:r>
                    <m:r>
                      <a:rPr lang="en-US" sz="4100" i="1" spc="-50">
                        <a:solidFill>
                          <a:schemeClr val="accent2">
                            <a:lumMod val="75000"/>
                          </a:schemeClr>
                        </a:solidFill>
                        <a:latin typeface="Cambria Math" panose="02040503050406030204" pitchFamily="18" charset="0"/>
                        <a:cs typeface="Times New Roman" panose="02020603050405020304" pitchFamily="18" charset="0"/>
                      </a:rPr>
                      <m:t>𝑛</m:t>
                    </m:r>
                    <m:r>
                      <a:rPr lang="en-US" sz="4100" i="1" spc="-50">
                        <a:solidFill>
                          <a:schemeClr val="accent2">
                            <a:lumMod val="75000"/>
                          </a:schemeClr>
                        </a:solidFill>
                        <a:latin typeface="Cambria Math" panose="02040503050406030204" pitchFamily="18" charset="0"/>
                        <a:cs typeface="Times New Roman" panose="02020603050405020304" pitchFamily="18" charset="0"/>
                      </a:rPr>
                      <m:t>)</m:t>
                    </m:r>
                  </m:oMath>
                </a14:m>
                <a:r>
                  <a:rPr lang="he-IL" sz="4100" spc="-50" dirty="0">
                    <a:latin typeface="Times New Roman" panose="02020603050405020304" pitchFamily="18" charset="0"/>
                    <a:ea typeface="+mj-ea"/>
                    <a:cs typeface="Times New Roman" panose="02020603050405020304" pitchFamily="18" charset="0"/>
                  </a:rPr>
                  <a:t>.</a:t>
                </a:r>
              </a:p>
              <a:p>
                <a:pPr>
                  <a:buFont typeface="Arial" panose="020B0604020202020204" pitchFamily="34" charset="0"/>
                  <a:buChar char="•"/>
                </a:pPr>
                <a:r>
                  <a:rPr lang="he-IL" sz="4100" spc="-50" dirty="0">
                    <a:latin typeface="Times New Roman" panose="02020603050405020304" pitchFamily="18" charset="0"/>
                    <a:ea typeface="+mj-ea"/>
                    <a:cs typeface="Times New Roman" panose="02020603050405020304" pitchFamily="18" charset="0"/>
                  </a:rPr>
                  <a:t> הלולאה הראשית כוללת גם </a:t>
                </a:r>
                <a14:m>
                  <m:oMath xmlns:m="http://schemas.openxmlformats.org/officeDocument/2006/math">
                    <m:r>
                      <a:rPr lang="en-US" sz="4100" i="1" spc="-50" dirty="0" smtClean="0">
                        <a:latin typeface="Cambria Math" panose="02040503050406030204" pitchFamily="18" charset="0"/>
                        <a:ea typeface="+mj-ea"/>
                        <a:cs typeface="Times New Roman" panose="02020603050405020304" pitchFamily="18" charset="0"/>
                      </a:rPr>
                      <m:t>𝑛</m:t>
                    </m:r>
                  </m:oMath>
                </a14:m>
                <a:r>
                  <a:rPr lang="he-IL" sz="4100" spc="-50" dirty="0">
                    <a:latin typeface="Times New Roman" panose="02020603050405020304" pitchFamily="18" charset="0"/>
                    <a:ea typeface="+mj-ea"/>
                    <a:cs typeface="Times New Roman" panose="02020603050405020304" pitchFamily="18" charset="0"/>
                  </a:rPr>
                  <a:t> </a:t>
                </a:r>
                <a:r>
                  <a:rPr lang="he-IL" sz="4100" spc="-50" dirty="0" err="1">
                    <a:latin typeface="Times New Roman" panose="02020603050405020304" pitchFamily="18" charset="0"/>
                    <a:ea typeface="+mj-ea"/>
                    <a:cs typeface="Times New Roman" panose="02020603050405020304" pitchFamily="18" charset="0"/>
                  </a:rPr>
                  <a:t>איטרציות</a:t>
                </a:r>
                <a:r>
                  <a:rPr lang="he-IL" sz="4100" spc="-50" dirty="0">
                    <a:latin typeface="Times New Roman" panose="02020603050405020304" pitchFamily="18" charset="0"/>
                    <a:ea typeface="+mj-ea"/>
                    <a:cs typeface="Times New Roman" panose="02020603050405020304" pitchFamily="18" charset="0"/>
                  </a:rPr>
                  <a:t> שבכל אחת מהן נקראת </a:t>
                </a:r>
                <a14:m>
                  <m:oMath xmlns:m="http://schemas.openxmlformats.org/officeDocument/2006/math">
                    <m:r>
                      <a:rPr lang="en-US" sz="4100" i="1" spc="-50" dirty="0">
                        <a:latin typeface="Cambria Math" panose="02040503050406030204" pitchFamily="18" charset="0"/>
                        <a:cs typeface="Times New Roman" panose="02020603050405020304" pitchFamily="18" charset="0"/>
                      </a:rPr>
                      <m:t>𝐵𝑒𝑠𝑡𝐼𝑡𝑒𝑚</m:t>
                    </m:r>
                  </m:oMath>
                </a14:m>
                <a:r>
                  <a:rPr lang="he-IL" sz="4100" spc="-50" dirty="0">
                    <a:latin typeface="Times New Roman" panose="02020603050405020304" pitchFamily="18" charset="0"/>
                    <a:ea typeface="+mj-ea"/>
                    <a:cs typeface="Times New Roman" panose="02020603050405020304" pitchFamily="18" charset="0"/>
                  </a:rPr>
                  <a:t>.</a:t>
                </a:r>
              </a:p>
              <a:p>
                <a:pPr>
                  <a:buFont typeface="Arial" panose="020B0604020202020204" pitchFamily="34" charset="0"/>
                  <a:buChar char="•"/>
                </a:pPr>
                <a:r>
                  <a:rPr lang="he-IL" sz="4100" spc="-50" dirty="0">
                    <a:latin typeface="Times New Roman" panose="02020603050405020304" pitchFamily="18" charset="0"/>
                    <a:ea typeface="+mj-ea"/>
                    <a:cs typeface="Times New Roman" panose="02020603050405020304" pitchFamily="18" charset="0"/>
                  </a:rPr>
                  <a:t>סה"כ</a:t>
                </a:r>
                <a14:m>
                  <m:oMath xmlns:m="http://schemas.openxmlformats.org/officeDocument/2006/math">
                    <m:r>
                      <a:rPr lang="en-US" sz="4400" i="1" spc="-50">
                        <a:solidFill>
                          <a:schemeClr val="accent2">
                            <a:lumMod val="75000"/>
                          </a:schemeClr>
                        </a:solidFill>
                        <a:latin typeface="Cambria Math" panose="02040503050406030204" pitchFamily="18" charset="0"/>
                        <a:cs typeface="Times New Roman" panose="02020603050405020304" pitchFamily="18" charset="0"/>
                      </a:rPr>
                      <m:t>𝑂</m:t>
                    </m:r>
                    <m:r>
                      <a:rPr lang="en-US" sz="4400" i="1" spc="-50">
                        <a:solidFill>
                          <a:schemeClr val="accent2">
                            <a:lumMod val="75000"/>
                          </a:schemeClr>
                        </a:solidFill>
                        <a:latin typeface="Cambria Math" panose="02040503050406030204" pitchFamily="18" charset="0"/>
                        <a:cs typeface="Times New Roman" panose="02020603050405020304" pitchFamily="18" charset="0"/>
                      </a:rPr>
                      <m:t>(</m:t>
                    </m:r>
                    <m:sSup>
                      <m:sSupPr>
                        <m:ctrlPr>
                          <a:rPr lang="en-US" sz="4400" i="1" spc="-50">
                            <a:solidFill>
                              <a:schemeClr val="accent2">
                                <a:lumMod val="75000"/>
                              </a:schemeClr>
                            </a:solidFill>
                            <a:latin typeface="Cambria Math" panose="02040503050406030204" pitchFamily="18" charset="0"/>
                            <a:cs typeface="Times New Roman" panose="02020603050405020304" pitchFamily="18" charset="0"/>
                          </a:rPr>
                        </m:ctrlPr>
                      </m:sSupPr>
                      <m:e>
                        <m:r>
                          <a:rPr lang="en-US" sz="4400" i="1" spc="-50">
                            <a:solidFill>
                              <a:schemeClr val="accent2">
                                <a:lumMod val="75000"/>
                              </a:schemeClr>
                            </a:solidFill>
                            <a:latin typeface="Cambria Math" panose="02040503050406030204" pitchFamily="18" charset="0"/>
                            <a:cs typeface="Times New Roman" panose="02020603050405020304" pitchFamily="18" charset="0"/>
                          </a:rPr>
                          <m:t>𝑛</m:t>
                        </m:r>
                      </m:e>
                      <m:sup>
                        <m:r>
                          <a:rPr lang="en-US" sz="4400" i="1" spc="-50">
                            <a:solidFill>
                              <a:schemeClr val="accent2">
                                <a:lumMod val="75000"/>
                              </a:schemeClr>
                            </a:solidFill>
                            <a:latin typeface="Cambria Math" panose="02040503050406030204" pitchFamily="18" charset="0"/>
                            <a:cs typeface="Times New Roman" panose="02020603050405020304" pitchFamily="18" charset="0"/>
                          </a:rPr>
                          <m:t>2</m:t>
                        </m:r>
                      </m:sup>
                    </m:sSup>
                    <m:r>
                      <a:rPr lang="en-US" sz="4400" i="1" spc="-50">
                        <a:solidFill>
                          <a:schemeClr val="accent2">
                            <a:lumMod val="75000"/>
                          </a:schemeClr>
                        </a:solidFill>
                        <a:latin typeface="Cambria Math" panose="02040503050406030204" pitchFamily="18" charset="0"/>
                        <a:cs typeface="Times New Roman" panose="02020603050405020304" pitchFamily="18" charset="0"/>
                      </a:rPr>
                      <m:t>)</m:t>
                    </m:r>
                  </m:oMath>
                </a14:m>
                <a:r>
                  <a:rPr lang="he-IL" sz="4100" spc="-50" dirty="0">
                    <a:latin typeface="Times New Roman" panose="02020603050405020304" pitchFamily="18" charset="0"/>
                    <a:ea typeface="+mj-ea"/>
                    <a:cs typeface="Times New Roman" panose="02020603050405020304" pitchFamily="18" charset="0"/>
                  </a:rPr>
                  <a:t>.</a:t>
                </a:r>
              </a:p>
              <a:p>
                <a:endParaRPr lang="he-IL" sz="3200" spc="-50" dirty="0">
                  <a:latin typeface="Times New Roman" panose="02020603050405020304" pitchFamily="18" charset="0"/>
                  <a:ea typeface="+mj-ea"/>
                  <a:cs typeface="Times New Roman" panose="02020603050405020304" pitchFamily="18" charset="0"/>
                </a:endParaRPr>
              </a:p>
            </p:txBody>
          </p:sp>
        </mc:Choice>
        <mc:Fallback xmlns="">
          <p:sp>
            <p:nvSpPr>
              <p:cNvPr id="3" name="מציין מיקום תוכן 2">
                <a:extLst>
                  <a:ext uri="{FF2B5EF4-FFF2-40B4-BE49-F238E27FC236}">
                    <a16:creationId xmlns:a16="http://schemas.microsoft.com/office/drawing/2014/main" id="{3A3A3B82-7FA5-9D7E-184A-6C67873B32E8}"/>
                  </a:ext>
                </a:extLst>
              </p:cNvPr>
              <p:cNvSpPr>
                <a:spLocks noGrp="1" noRot="1" noChangeAspect="1" noMove="1" noResize="1" noEditPoints="1" noAdjustHandles="1" noChangeArrowheads="1" noChangeShapeType="1" noTextEdit="1"/>
              </p:cNvSpPr>
              <p:nvPr>
                <p:ph idx="1"/>
              </p:nvPr>
            </p:nvSpPr>
            <p:spPr>
              <a:xfrm>
                <a:off x="980025" y="1892387"/>
                <a:ext cx="10663335" cy="4377784"/>
              </a:xfrm>
              <a:blipFill>
                <a:blip r:embed="rId2"/>
                <a:stretch>
                  <a:fillRect t="-6259" r="-2916"/>
                </a:stretch>
              </a:blipFill>
            </p:spPr>
            <p:txBody>
              <a:bodyPr/>
              <a:lstStyle/>
              <a:p>
                <a:r>
                  <a:rPr lang="he-IL">
                    <a:noFill/>
                  </a:rPr>
                  <a:t> </a:t>
                </a:r>
              </a:p>
            </p:txBody>
          </p:sp>
        </mc:Fallback>
      </mc:AlternateContent>
    </p:spTree>
    <p:extLst>
      <p:ext uri="{BB962C8B-B14F-4D97-AF65-F5344CB8AC3E}">
        <p14:creationId xmlns:p14="http://schemas.microsoft.com/office/powerpoint/2010/main" val="25023061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64CE3E6-E24B-BB16-5553-FA519EF78600}"/>
              </a:ext>
            </a:extLst>
          </p:cNvPr>
          <p:cNvSpPr>
            <a:spLocks noGrp="1"/>
          </p:cNvSpPr>
          <p:nvPr>
            <p:ph type="title"/>
          </p:nvPr>
        </p:nvSpPr>
        <p:spPr/>
        <p:txBody>
          <a:bodyPr/>
          <a:lstStyle/>
          <a:p>
            <a:pPr algn="ctr"/>
            <a:r>
              <a:rPr lang="he-IL" dirty="0"/>
              <a:t>בעיית התרמיל- אלגוריתם משופר</a:t>
            </a: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3A3A3B82-7FA5-9D7E-184A-6C67873B32E8}"/>
                  </a:ext>
                </a:extLst>
              </p:cNvPr>
              <p:cNvSpPr>
                <a:spLocks noGrp="1"/>
              </p:cNvSpPr>
              <p:nvPr>
                <p:ph idx="1"/>
              </p:nvPr>
            </p:nvSpPr>
            <p:spPr>
              <a:xfrm>
                <a:off x="707924" y="1737360"/>
                <a:ext cx="10991732" cy="4638458"/>
              </a:xfrm>
            </p:spPr>
            <p:txBody>
              <a:bodyPr>
                <a:normAutofit/>
              </a:bodyPr>
              <a:lstStyle/>
              <a:p>
                <a:pPr>
                  <a:lnSpc>
                    <a:spcPct val="120000"/>
                  </a:lnSpc>
                </a:pPr>
                <a:r>
                  <a:rPr lang="he-IL" sz="2800" spc="-50" dirty="0">
                    <a:latin typeface="Times New Roman" panose="02020603050405020304" pitchFamily="18" charset="0"/>
                    <a:ea typeface="+mj-ea"/>
                    <a:cs typeface="Times New Roman" panose="02020603050405020304" pitchFamily="18" charset="0"/>
                  </a:rPr>
                  <a:t>1. נמיין את הפריטים בסדר יורד על פי</a:t>
                </a:r>
              </a:p>
              <a:p>
                <a:pPr>
                  <a:lnSpc>
                    <a:spcPct val="120000"/>
                  </a:lnSpc>
                </a:pPr>
                <a:r>
                  <a:rPr lang="he-IL" sz="2800" spc="-50" dirty="0">
                    <a:latin typeface="Times New Roman" panose="02020603050405020304" pitchFamily="18" charset="0"/>
                    <a:ea typeface="+mj-ea"/>
                    <a:cs typeface="Times New Roman" panose="02020603050405020304" pitchFamily="18" charset="0"/>
                  </a:rPr>
                  <a:t>2. בלולאה מ-1 עד </a:t>
                </a:r>
                <a14:m>
                  <m:oMath xmlns:m="http://schemas.openxmlformats.org/officeDocument/2006/math">
                    <m:r>
                      <a:rPr lang="en-US" sz="2800" i="1" spc="-50" dirty="0" smtClean="0">
                        <a:latin typeface="Cambria Math" panose="02040503050406030204" pitchFamily="18" charset="0"/>
                        <a:ea typeface="+mj-ea"/>
                        <a:cs typeface="Times New Roman" panose="02020603050405020304" pitchFamily="18" charset="0"/>
                      </a:rPr>
                      <m:t>𝑛</m:t>
                    </m:r>
                  </m:oMath>
                </a14:m>
                <a:r>
                  <a:rPr lang="he-IL" sz="2800" spc="-50" dirty="0">
                    <a:latin typeface="Times New Roman" panose="02020603050405020304" pitchFamily="18" charset="0"/>
                    <a:ea typeface="+mj-ea"/>
                    <a:cs typeface="Times New Roman" panose="02020603050405020304" pitchFamily="18" charset="0"/>
                  </a:rPr>
                  <a:t>:</a:t>
                </a:r>
              </a:p>
              <a:p>
                <a:pPr>
                  <a:lnSpc>
                    <a:spcPct val="120000"/>
                  </a:lnSpc>
                </a:pPr>
                <a:r>
                  <a:rPr lang="he-IL" sz="2800" spc="-50" dirty="0">
                    <a:latin typeface="Times New Roman" panose="02020603050405020304" pitchFamily="18" charset="0"/>
                    <a:ea typeface="+mj-ea"/>
                    <a:cs typeface="Times New Roman" panose="02020603050405020304" pitchFamily="18" charset="0"/>
                  </a:rPr>
                  <a:t> אם </a:t>
                </a:r>
                <a14:m>
                  <m:oMath xmlns:m="http://schemas.openxmlformats.org/officeDocument/2006/math">
                    <m:r>
                      <a:rPr lang="en-US" sz="2800" i="1" spc="-50" dirty="0" smtClean="0">
                        <a:latin typeface="Cambria Math" panose="02040503050406030204" pitchFamily="18" charset="0"/>
                        <a:ea typeface="+mj-ea"/>
                        <a:cs typeface="Times New Roman" panose="02020603050405020304" pitchFamily="18" charset="0"/>
                      </a:rPr>
                      <m:t>𝑊</m:t>
                    </m:r>
                    <m:r>
                      <a:rPr lang="en-US" sz="2800" i="1" spc="-50" dirty="0" smtClean="0">
                        <a:latin typeface="Cambria Math" panose="02040503050406030204" pitchFamily="18" charset="0"/>
                        <a:ea typeface="+mj-ea"/>
                        <a:cs typeface="Times New Roman" panose="02020603050405020304" pitchFamily="18" charset="0"/>
                      </a:rPr>
                      <m:t>&gt;</m:t>
                    </m:r>
                    <m:r>
                      <a:rPr lang="en-US" sz="2800" i="1" spc="-50" dirty="0" smtClean="0">
                        <a:latin typeface="Cambria Math" panose="02040503050406030204" pitchFamily="18" charset="0"/>
                        <a:ea typeface="+mj-ea"/>
                        <a:cs typeface="Times New Roman" panose="02020603050405020304" pitchFamily="18" charset="0"/>
                      </a:rPr>
                      <m:t>0</m:t>
                    </m:r>
                  </m:oMath>
                </a14:m>
                <a:r>
                  <a:rPr lang="he-IL" sz="2800" spc="-50" dirty="0">
                    <a:latin typeface="Times New Roman" panose="02020603050405020304" pitchFamily="18" charset="0"/>
                    <a:ea typeface="+mj-ea"/>
                    <a:cs typeface="Times New Roman" panose="02020603050405020304" pitchFamily="18" charset="0"/>
                  </a:rPr>
                  <a:t>:</a:t>
                </a:r>
              </a:p>
              <a:p>
                <a:pPr lvl="1">
                  <a:lnSpc>
                    <a:spcPct val="120000"/>
                  </a:lnSpc>
                </a:pPr>
                <a:r>
                  <a:rPr lang="he-IL" sz="2800" spc="-50" dirty="0">
                    <a:latin typeface="Times New Roman" panose="02020603050405020304" pitchFamily="18" charset="0"/>
                    <a:ea typeface="+mj-ea"/>
                    <a:cs typeface="Times New Roman" panose="02020603050405020304" pitchFamily="18" charset="0"/>
                  </a:rPr>
                  <a:t> ניקח מהפריט ה</a:t>
                </a:r>
                <a14:m>
                  <m:oMath xmlns:m="http://schemas.openxmlformats.org/officeDocument/2006/math">
                    <m:r>
                      <a:rPr lang="en-US" sz="2800" i="1" spc="-50" dirty="0" smtClean="0">
                        <a:latin typeface="Cambria Math" panose="02040503050406030204" pitchFamily="18" charset="0"/>
                        <a:ea typeface="+mj-ea"/>
                        <a:cs typeface="Times New Roman" panose="02020603050405020304" pitchFamily="18" charset="0"/>
                      </a:rPr>
                      <m:t>𝑖</m:t>
                    </m:r>
                  </m:oMath>
                </a14:m>
                <a:r>
                  <a:rPr lang="en-US" sz="2800" spc="-50" dirty="0">
                    <a:latin typeface="Times New Roman" panose="02020603050405020304" pitchFamily="18" charset="0"/>
                    <a:ea typeface="+mj-ea"/>
                    <a:cs typeface="Times New Roman" panose="02020603050405020304" pitchFamily="18" charset="0"/>
                  </a:rPr>
                  <a:t>-</a:t>
                </a:r>
                <a:r>
                  <a:rPr lang="he-IL" sz="2800" spc="-50" dirty="0">
                    <a:latin typeface="Times New Roman" panose="02020603050405020304" pitchFamily="18" charset="0"/>
                    <a:ea typeface="+mj-ea"/>
                    <a:cs typeface="Times New Roman" panose="02020603050405020304" pitchFamily="18" charset="0"/>
                  </a:rPr>
                  <a:t> את המינימום מבין </a:t>
                </a:r>
                <a:r>
                  <a:rPr lang="en-US" sz="2800" spc="-50" dirty="0">
                    <a:latin typeface="Times New Roman" panose="02020603050405020304" pitchFamily="18" charset="0"/>
                    <a:ea typeface="+mj-ea"/>
                    <a:cs typeface="Times New Roman" panose="02020603050405020304" pitchFamily="18" charset="0"/>
                  </a:rPr>
                  <a:t>W</a:t>
                </a:r>
                <a:r>
                  <a:rPr lang="he-IL" sz="2800" spc="-50" dirty="0">
                    <a:latin typeface="Times New Roman" panose="02020603050405020304" pitchFamily="18" charset="0"/>
                    <a:ea typeface="+mj-ea"/>
                    <a:cs typeface="Times New Roman" panose="02020603050405020304" pitchFamily="18" charset="0"/>
                  </a:rPr>
                  <a:t> לבין </a:t>
                </a:r>
                <a14:m>
                  <m:oMath xmlns:m="http://schemas.openxmlformats.org/officeDocument/2006/math">
                    <m:sSub>
                      <m:sSubPr>
                        <m:ctrlPr>
                          <a:rPr lang="en-US" sz="2800" i="1" spc="-50" dirty="0" smtClean="0">
                            <a:latin typeface="Cambria Math" panose="02040503050406030204" pitchFamily="18" charset="0"/>
                            <a:ea typeface="+mj-ea"/>
                            <a:cs typeface="Times New Roman" panose="02020603050405020304" pitchFamily="18" charset="0"/>
                          </a:rPr>
                        </m:ctrlPr>
                      </m:sSubPr>
                      <m:e>
                        <m:r>
                          <a:rPr lang="en-US" sz="2800" i="1" spc="-50" dirty="0">
                            <a:latin typeface="Cambria Math" panose="02040503050406030204" pitchFamily="18" charset="0"/>
                            <a:ea typeface="+mj-ea"/>
                            <a:cs typeface="Times New Roman" panose="02020603050405020304" pitchFamily="18" charset="0"/>
                          </a:rPr>
                          <m:t>𝑤</m:t>
                        </m:r>
                      </m:e>
                      <m:sub>
                        <m:r>
                          <a:rPr lang="en-US" sz="2800" i="1" spc="-50" dirty="0">
                            <a:latin typeface="Cambria Math" panose="02040503050406030204" pitchFamily="18" charset="0"/>
                            <a:ea typeface="+mj-ea"/>
                            <a:cs typeface="Times New Roman" panose="02020603050405020304" pitchFamily="18" charset="0"/>
                          </a:rPr>
                          <m:t>𝑖</m:t>
                        </m:r>
                      </m:sub>
                    </m:sSub>
                  </m:oMath>
                </a14:m>
                <a:r>
                  <a:rPr lang="he-IL" sz="2800" spc="-50" dirty="0">
                    <a:latin typeface="Times New Roman" panose="02020603050405020304" pitchFamily="18" charset="0"/>
                    <a:ea typeface="+mj-ea"/>
                    <a:cs typeface="Times New Roman" panose="02020603050405020304" pitchFamily="18" charset="0"/>
                  </a:rPr>
                  <a:t> </a:t>
                </a:r>
              </a:p>
              <a:p>
                <a:pPr lvl="1">
                  <a:lnSpc>
                    <a:spcPct val="120000"/>
                  </a:lnSpc>
                </a:pPr>
                <a:r>
                  <a:rPr lang="he-IL" sz="2800" spc="-50" dirty="0">
                    <a:latin typeface="Times New Roman" panose="02020603050405020304" pitchFamily="18" charset="0"/>
                    <a:ea typeface="+mj-ea"/>
                    <a:cs typeface="Times New Roman" panose="02020603050405020304" pitchFamily="18" charset="0"/>
                  </a:rPr>
                  <a:t> נפחית את הכמות שנלקחה מ-</a:t>
                </a:r>
                <a:r>
                  <a:rPr lang="en-US" sz="2800" spc="-50" dirty="0">
                    <a:cs typeface="Times New Roman" panose="02020603050405020304" pitchFamily="18" charset="0"/>
                  </a:rPr>
                  <a:t> </a:t>
                </a:r>
                <a14:m>
                  <m:oMath xmlns:m="http://schemas.openxmlformats.org/officeDocument/2006/math">
                    <m:r>
                      <a:rPr lang="en-US" sz="2800" i="1" spc="-50" dirty="0">
                        <a:latin typeface="Cambria Math" panose="02040503050406030204" pitchFamily="18" charset="0"/>
                        <a:cs typeface="Times New Roman" panose="02020603050405020304" pitchFamily="18" charset="0"/>
                      </a:rPr>
                      <m:t>𝑊</m:t>
                    </m:r>
                  </m:oMath>
                </a14:m>
                <a:r>
                  <a:rPr lang="he-IL" sz="2800" b="0" spc="-50" dirty="0">
                    <a:cs typeface="Times New Roman" panose="02020603050405020304" pitchFamily="18" charset="0"/>
                  </a:rPr>
                  <a:t>. </a:t>
                </a:r>
              </a:p>
              <a:p>
                <a:pPr lvl="1">
                  <a:lnSpc>
                    <a:spcPct val="120000"/>
                  </a:lnSpc>
                </a:pPr>
                <a:r>
                  <a:rPr lang="he-IL" sz="2800" b="0" spc="-50" dirty="0">
                    <a:cs typeface="Times New Roman" panose="02020603050405020304" pitchFamily="18" charset="0"/>
                  </a:rPr>
                  <a:t> נחשב את הרווח שהתקבל בשל לקיחת פריט זה לסך הרווח הכולל.</a:t>
                </a:r>
              </a:p>
              <a:p>
                <a:pPr>
                  <a:lnSpc>
                    <a:spcPct val="120000"/>
                  </a:lnSpc>
                </a:pPr>
                <a:r>
                  <a:rPr lang="he-IL" sz="2800" spc="-50" dirty="0">
                    <a:latin typeface="Times New Roman" panose="02020603050405020304" pitchFamily="18" charset="0"/>
                    <a:ea typeface="+mj-ea"/>
                    <a:cs typeface="Times New Roman" panose="02020603050405020304" pitchFamily="18" charset="0"/>
                  </a:rPr>
                  <a:t>אחרת, נסיים ונחזיר את סך המשקלים שנלקחו ואת סך הרווח שהתקבל.</a:t>
                </a:r>
              </a:p>
              <a:p>
                <a:endParaRPr lang="he-IL" sz="1600" spc="-50" dirty="0">
                  <a:latin typeface="Times New Roman" panose="02020603050405020304" pitchFamily="18" charset="0"/>
                  <a:ea typeface="+mj-ea"/>
                  <a:cs typeface="Times New Roman" panose="02020603050405020304" pitchFamily="18" charset="0"/>
                </a:endParaRPr>
              </a:p>
              <a:p>
                <a:endParaRPr lang="he-IL" sz="1600" spc="-50" dirty="0">
                  <a:latin typeface="Times New Roman" panose="02020603050405020304" pitchFamily="18" charset="0"/>
                  <a:ea typeface="+mj-ea"/>
                  <a:cs typeface="Times New Roman" panose="02020603050405020304" pitchFamily="18" charset="0"/>
                </a:endParaRPr>
              </a:p>
            </p:txBody>
          </p:sp>
        </mc:Choice>
        <mc:Fallback xmlns="">
          <p:sp>
            <p:nvSpPr>
              <p:cNvPr id="3" name="מציין מיקום תוכן 2">
                <a:extLst>
                  <a:ext uri="{FF2B5EF4-FFF2-40B4-BE49-F238E27FC236}">
                    <a16:creationId xmlns:a16="http://schemas.microsoft.com/office/drawing/2014/main" id="{3A3A3B82-7FA5-9D7E-184A-6C67873B32E8}"/>
                  </a:ext>
                </a:extLst>
              </p:cNvPr>
              <p:cNvSpPr>
                <a:spLocks noGrp="1" noRot="1" noChangeAspect="1" noMove="1" noResize="1" noEditPoints="1" noAdjustHandles="1" noChangeArrowheads="1" noChangeShapeType="1" noTextEdit="1"/>
              </p:cNvSpPr>
              <p:nvPr>
                <p:ph idx="1"/>
              </p:nvPr>
            </p:nvSpPr>
            <p:spPr>
              <a:xfrm>
                <a:off x="707924" y="1737360"/>
                <a:ext cx="10991732" cy="4638458"/>
              </a:xfrm>
              <a:blipFill>
                <a:blip r:embed="rId2"/>
                <a:stretch>
                  <a:fillRect t="-394" r="-2052"/>
                </a:stretch>
              </a:blipFill>
            </p:spPr>
            <p:txBody>
              <a:bodyPr/>
              <a:lstStyle/>
              <a:p>
                <a:r>
                  <a:rPr lang="he-IL">
                    <a:noFill/>
                  </a:rPr>
                  <a:t> </a:t>
                </a:r>
              </a:p>
            </p:txBody>
          </p:sp>
        </mc:Fallback>
      </mc:AlternateContent>
      <p:pic>
        <p:nvPicPr>
          <p:cNvPr id="5" name="תמונה 4">
            <a:extLst>
              <a:ext uri="{FF2B5EF4-FFF2-40B4-BE49-F238E27FC236}">
                <a16:creationId xmlns:a16="http://schemas.microsoft.com/office/drawing/2014/main" id="{00C7B72E-A974-39FA-9882-1F9C842044FC}"/>
              </a:ext>
            </a:extLst>
          </p:cNvPr>
          <p:cNvPicPr>
            <a:picLocks noChangeAspect="1"/>
          </p:cNvPicPr>
          <p:nvPr/>
        </p:nvPicPr>
        <p:blipFill>
          <a:blip r:embed="rId3"/>
          <a:srcRect l="-7513" t="12262"/>
          <a:stretch>
            <a:fillRect/>
          </a:stretch>
        </p:blipFill>
        <p:spPr>
          <a:xfrm>
            <a:off x="6622026" y="1843548"/>
            <a:ext cx="633112" cy="759794"/>
          </a:xfrm>
          <a:prstGeom prst="rect">
            <a:avLst/>
          </a:prstGeom>
        </p:spPr>
      </p:pic>
      <p:sp>
        <p:nvSpPr>
          <p:cNvPr id="6" name="תיבת טקסט 5">
            <a:extLst>
              <a:ext uri="{FF2B5EF4-FFF2-40B4-BE49-F238E27FC236}">
                <a16:creationId xmlns:a16="http://schemas.microsoft.com/office/drawing/2014/main" id="{88C3A80E-F09D-8038-1024-798D479B6B1C}"/>
              </a:ext>
            </a:extLst>
          </p:cNvPr>
          <p:cNvSpPr txBox="1"/>
          <p:nvPr/>
        </p:nvSpPr>
        <p:spPr>
          <a:xfrm>
            <a:off x="6622026" y="286603"/>
            <a:ext cx="5569974" cy="584775"/>
          </a:xfrm>
          <a:prstGeom prst="rect">
            <a:avLst/>
          </a:prstGeom>
          <a:solidFill>
            <a:schemeClr val="accent1">
              <a:lumMod val="60000"/>
              <a:lumOff val="40000"/>
            </a:schemeClr>
          </a:solidFill>
        </p:spPr>
        <p:txBody>
          <a:bodyPr wrap="square">
            <a:spAutoFit/>
          </a:bodyPr>
          <a:lstStyle/>
          <a:p>
            <a:pPr algn="r" rtl="1"/>
            <a:r>
              <a:rPr lang="he-IL" sz="3200" spc="-50" dirty="0">
                <a:solidFill>
                  <a:schemeClr val="accent1">
                    <a:lumMod val="75000"/>
                  </a:schemeClr>
                </a:solidFill>
                <a:latin typeface="Times New Roman" panose="02020603050405020304" pitchFamily="18" charset="0"/>
                <a:ea typeface="+mj-ea"/>
                <a:cs typeface="Times New Roman" panose="02020603050405020304" pitchFamily="18" charset="0"/>
              </a:rPr>
              <a:t>3. אלגוריתם</a:t>
            </a:r>
          </a:p>
        </p:txBody>
      </p:sp>
    </p:spTree>
    <p:extLst>
      <p:ext uri="{BB962C8B-B14F-4D97-AF65-F5344CB8AC3E}">
        <p14:creationId xmlns:p14="http://schemas.microsoft.com/office/powerpoint/2010/main" val="941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6EE0584-F2DF-DF2E-22DB-99CA75C027E5}"/>
              </a:ext>
            </a:extLst>
          </p:cNvPr>
          <p:cNvSpPr>
            <a:spLocks noGrp="1"/>
          </p:cNvSpPr>
          <p:nvPr>
            <p:ph type="title"/>
          </p:nvPr>
        </p:nvSpPr>
        <p:spPr/>
        <p:txBody>
          <a:bodyPr/>
          <a:lstStyle/>
          <a:p>
            <a:pPr algn="ctr"/>
            <a:r>
              <a:rPr lang="he-IL" dirty="0"/>
              <a:t>כללים נפוצים</a:t>
            </a:r>
          </a:p>
        </p:txBody>
      </p:sp>
      <p:pic>
        <p:nvPicPr>
          <p:cNvPr id="8" name="תמונה 7">
            <a:extLst>
              <a:ext uri="{FF2B5EF4-FFF2-40B4-BE49-F238E27FC236}">
                <a16:creationId xmlns:a16="http://schemas.microsoft.com/office/drawing/2014/main" id="{75E025B0-4585-0265-E065-E8E56D331233}"/>
              </a:ext>
            </a:extLst>
          </p:cNvPr>
          <p:cNvPicPr>
            <a:picLocks noChangeAspect="1"/>
          </p:cNvPicPr>
          <p:nvPr/>
        </p:nvPicPr>
        <p:blipFill>
          <a:blip r:embed="rId2"/>
          <a:stretch>
            <a:fillRect/>
          </a:stretch>
        </p:blipFill>
        <p:spPr>
          <a:xfrm>
            <a:off x="484911" y="541228"/>
            <a:ext cx="7908693" cy="5540917"/>
          </a:xfrm>
          <a:prstGeom prst="rect">
            <a:avLst/>
          </a:prstGeom>
        </p:spPr>
      </p:pic>
      <p:sp>
        <p:nvSpPr>
          <p:cNvPr id="10" name="מלבן 9">
            <a:extLst>
              <a:ext uri="{FF2B5EF4-FFF2-40B4-BE49-F238E27FC236}">
                <a16:creationId xmlns:a16="http://schemas.microsoft.com/office/drawing/2014/main" id="{9943A1C2-E0E3-6AA0-1728-9FF58D264AF9}"/>
              </a:ext>
            </a:extLst>
          </p:cNvPr>
          <p:cNvSpPr/>
          <p:nvPr/>
        </p:nvSpPr>
        <p:spPr>
          <a:xfrm>
            <a:off x="5832765" y="1482437"/>
            <a:ext cx="2563093" cy="4599709"/>
          </a:xfrm>
          <a:prstGeom prst="rect">
            <a:avLst/>
          </a:prstGeom>
          <a:solidFill>
            <a:srgbClr val="FCE2E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a:extLst>
              <a:ext uri="{FF2B5EF4-FFF2-40B4-BE49-F238E27FC236}">
                <a16:creationId xmlns:a16="http://schemas.microsoft.com/office/drawing/2014/main" id="{36C0E3C7-FD41-4304-8198-ACE8621E7735}"/>
              </a:ext>
            </a:extLst>
          </p:cNvPr>
          <p:cNvSpPr/>
          <p:nvPr/>
        </p:nvSpPr>
        <p:spPr>
          <a:xfrm>
            <a:off x="8298875" y="700254"/>
            <a:ext cx="95856" cy="782182"/>
          </a:xfrm>
          <a:prstGeom prst="rect">
            <a:avLst/>
          </a:prstGeom>
          <a:solidFill>
            <a:srgbClr val="F4C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מלבן 13">
            <a:extLst>
              <a:ext uri="{FF2B5EF4-FFF2-40B4-BE49-F238E27FC236}">
                <a16:creationId xmlns:a16="http://schemas.microsoft.com/office/drawing/2014/main" id="{73B93B41-CED0-26FD-E7AF-E33A126FE240}"/>
              </a:ext>
            </a:extLst>
          </p:cNvPr>
          <p:cNvSpPr/>
          <p:nvPr/>
        </p:nvSpPr>
        <p:spPr>
          <a:xfrm>
            <a:off x="5112329" y="5375563"/>
            <a:ext cx="2826329" cy="706582"/>
          </a:xfrm>
          <a:prstGeom prst="rect">
            <a:avLst/>
          </a:prstGeom>
          <a:solidFill>
            <a:srgbClr val="FCE2E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כותרת 1">
            <a:extLst>
              <a:ext uri="{FF2B5EF4-FFF2-40B4-BE49-F238E27FC236}">
                <a16:creationId xmlns:a16="http://schemas.microsoft.com/office/drawing/2014/main" id="{41D416B3-081C-8B08-C0AB-1560E47804A2}"/>
              </a:ext>
            </a:extLst>
          </p:cNvPr>
          <p:cNvSpPr txBox="1">
            <a:spLocks/>
          </p:cNvSpPr>
          <p:nvPr/>
        </p:nvSpPr>
        <p:spPr>
          <a:xfrm>
            <a:off x="5112329" y="972888"/>
            <a:ext cx="10058400" cy="1450757"/>
          </a:xfrm>
          <a:prstGeom prst="rect">
            <a:avLst/>
          </a:prstGeom>
        </p:spPr>
        <p:txBody>
          <a:bodyPr vert="horz" lIns="91440" tIns="45720" rIns="91440" bIns="45720" rtlCol="0" anchor="b">
            <a:normAutofit/>
          </a:bodyPr>
          <a:lstStyle>
            <a:lvl1pPr marL="0"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he-IL" dirty="0"/>
              <a:t>בעיית התרמיל- </a:t>
            </a:r>
          </a:p>
          <a:p>
            <a:pPr algn="ctr"/>
            <a:r>
              <a:rPr lang="he-IL" dirty="0"/>
              <a:t>מימוש יעיל</a:t>
            </a:r>
          </a:p>
        </p:txBody>
      </p:sp>
      <mc:AlternateContent xmlns:mc="http://schemas.openxmlformats.org/markup-compatibility/2006" xmlns:a14="http://schemas.microsoft.com/office/drawing/2010/main">
        <mc:Choice Requires="a14">
          <p:sp>
            <p:nvSpPr>
              <p:cNvPr id="5" name="תיבת טקסט 4">
                <a:extLst>
                  <a:ext uri="{FF2B5EF4-FFF2-40B4-BE49-F238E27FC236}">
                    <a16:creationId xmlns:a16="http://schemas.microsoft.com/office/drawing/2014/main" id="{9DE3B12E-9CE7-E527-EA96-2653C93849C1}"/>
                  </a:ext>
                </a:extLst>
              </p:cNvPr>
              <p:cNvSpPr txBox="1"/>
              <p:nvPr/>
            </p:nvSpPr>
            <p:spPr>
              <a:xfrm>
                <a:off x="8189382" y="4842628"/>
                <a:ext cx="4253342" cy="10658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i="1" spc="-50" smtClean="0">
                          <a:solidFill>
                            <a:schemeClr val="accent2">
                              <a:lumMod val="75000"/>
                            </a:schemeClr>
                          </a:solidFill>
                          <a:latin typeface="Cambria Math" panose="02040503050406030204" pitchFamily="18" charset="0"/>
                          <a:cs typeface="Times New Roman" panose="02020603050405020304" pitchFamily="18" charset="0"/>
                        </a:rPr>
                        <m:t>𝑂</m:t>
                      </m:r>
                      <m:d>
                        <m:dPr>
                          <m:ctrlPr>
                            <a:rPr lang="en-US" sz="3200" i="1" spc="-50" smtClean="0">
                              <a:solidFill>
                                <a:schemeClr val="accent2">
                                  <a:lumMod val="75000"/>
                                </a:schemeClr>
                              </a:solidFill>
                              <a:latin typeface="Cambria Math" panose="02040503050406030204" pitchFamily="18" charset="0"/>
                              <a:cs typeface="Times New Roman" panose="02020603050405020304" pitchFamily="18" charset="0"/>
                            </a:rPr>
                          </m:ctrlPr>
                        </m:dPr>
                        <m:e>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𝑛𝑙𝑜𝑔𝑛</m:t>
                          </m:r>
                        </m:e>
                      </m:d>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m:t>
                      </m:r>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𝑂</m:t>
                      </m:r>
                      <m:d>
                        <m:dPr>
                          <m:ctrlPr>
                            <a:rPr lang="en-US" sz="3200" b="0" i="1" spc="-50" smtClean="0">
                              <a:solidFill>
                                <a:schemeClr val="accent2">
                                  <a:lumMod val="75000"/>
                                </a:schemeClr>
                              </a:solidFill>
                              <a:latin typeface="Cambria Math" panose="02040503050406030204" pitchFamily="18" charset="0"/>
                              <a:cs typeface="Times New Roman" panose="02020603050405020304" pitchFamily="18" charset="0"/>
                            </a:rPr>
                          </m:ctrlPr>
                        </m:dPr>
                        <m:e>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𝑛</m:t>
                          </m:r>
                        </m:e>
                      </m:d>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m:t>
                      </m:r>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𝑂</m:t>
                      </m:r>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m:t>
                      </m:r>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𝑛𝑙𝑜𝑔</m:t>
                      </m:r>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 </m:t>
                      </m:r>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𝑛</m:t>
                      </m:r>
                      <m:r>
                        <a:rPr lang="en-US" sz="3200" b="0" i="1" spc="-50" smtClean="0">
                          <a:solidFill>
                            <a:schemeClr val="accent2">
                              <a:lumMod val="75000"/>
                            </a:schemeClr>
                          </a:solidFill>
                          <a:latin typeface="Cambria Math" panose="02040503050406030204" pitchFamily="18" charset="0"/>
                          <a:cs typeface="Times New Roman" panose="02020603050405020304" pitchFamily="18" charset="0"/>
                        </a:rPr>
                        <m:t>)</m:t>
                      </m:r>
                    </m:oMath>
                  </m:oMathPara>
                </a14:m>
                <a:endParaRPr lang="he-IL" sz="3200" dirty="0"/>
              </a:p>
            </p:txBody>
          </p:sp>
        </mc:Choice>
        <mc:Fallback xmlns="">
          <p:sp>
            <p:nvSpPr>
              <p:cNvPr id="5" name="תיבת טקסט 4">
                <a:extLst>
                  <a:ext uri="{FF2B5EF4-FFF2-40B4-BE49-F238E27FC236}">
                    <a16:creationId xmlns:a16="http://schemas.microsoft.com/office/drawing/2014/main" id="{9DE3B12E-9CE7-E527-EA96-2653C93849C1}"/>
                  </a:ext>
                </a:extLst>
              </p:cNvPr>
              <p:cNvSpPr txBox="1">
                <a:spLocks noRot="1" noChangeAspect="1" noMove="1" noResize="1" noEditPoints="1" noAdjustHandles="1" noChangeArrowheads="1" noChangeShapeType="1" noTextEdit="1"/>
              </p:cNvSpPr>
              <p:nvPr/>
            </p:nvSpPr>
            <p:spPr>
              <a:xfrm>
                <a:off x="8189382" y="4842628"/>
                <a:ext cx="4253342" cy="1065869"/>
              </a:xfrm>
              <a:prstGeom prst="rect">
                <a:avLst/>
              </a:prstGeom>
              <a:blipFill>
                <a:blip r:embed="rId3"/>
                <a:stretch>
                  <a:fillRect/>
                </a:stretch>
              </a:blipFill>
            </p:spPr>
            <p:txBody>
              <a:bodyPr/>
              <a:lstStyle/>
              <a:p>
                <a:r>
                  <a:rPr lang="he-IL">
                    <a:noFill/>
                  </a:rPr>
                  <a:t> </a:t>
                </a:r>
              </a:p>
            </p:txBody>
          </p:sp>
        </mc:Fallback>
      </mc:AlternateContent>
      <p:sp>
        <p:nvSpPr>
          <p:cNvPr id="6" name="תיבת טקסט 5">
            <a:extLst>
              <a:ext uri="{FF2B5EF4-FFF2-40B4-BE49-F238E27FC236}">
                <a16:creationId xmlns:a16="http://schemas.microsoft.com/office/drawing/2014/main" id="{542EAD1E-D725-C9DC-D7A2-47FB6DC9B1B4}"/>
              </a:ext>
            </a:extLst>
          </p:cNvPr>
          <p:cNvSpPr txBox="1"/>
          <p:nvPr/>
        </p:nvSpPr>
        <p:spPr>
          <a:xfrm>
            <a:off x="8686800" y="286603"/>
            <a:ext cx="3505200" cy="584775"/>
          </a:xfrm>
          <a:prstGeom prst="rect">
            <a:avLst/>
          </a:prstGeom>
          <a:solidFill>
            <a:schemeClr val="accent1">
              <a:lumMod val="60000"/>
              <a:lumOff val="40000"/>
            </a:schemeClr>
          </a:solidFill>
        </p:spPr>
        <p:txBody>
          <a:bodyPr wrap="square">
            <a:spAutoFit/>
          </a:bodyPr>
          <a:lstStyle>
            <a:defPPr>
              <a:defRPr lang="en-US"/>
            </a:defPPr>
            <a:lvl1pPr algn="r" rtl="1">
              <a:defRPr sz="3200" spc="-50">
                <a:solidFill>
                  <a:schemeClr val="accent1">
                    <a:lumMod val="75000"/>
                  </a:schemeClr>
                </a:solidFill>
                <a:latin typeface="Times New Roman" panose="02020603050405020304" pitchFamily="18" charset="0"/>
                <a:ea typeface="+mj-ea"/>
                <a:cs typeface="Times New Roman" panose="02020603050405020304" pitchFamily="18" charset="0"/>
              </a:defRPr>
            </a:lvl1pPr>
          </a:lstStyle>
          <a:p>
            <a:r>
              <a:rPr lang="he-IL" dirty="0"/>
              <a:t>4. </a:t>
            </a:r>
            <a:r>
              <a:rPr lang="he-IL" dirty="0" err="1"/>
              <a:t>פסאודו</a:t>
            </a:r>
            <a:r>
              <a:rPr lang="he-IL" dirty="0"/>
              <a:t> קוד</a:t>
            </a:r>
          </a:p>
        </p:txBody>
      </p:sp>
      <p:sp>
        <p:nvSpPr>
          <p:cNvPr id="7" name="תיבת טקסט 6">
            <a:extLst>
              <a:ext uri="{FF2B5EF4-FFF2-40B4-BE49-F238E27FC236}">
                <a16:creationId xmlns:a16="http://schemas.microsoft.com/office/drawing/2014/main" id="{285A0063-5799-4818-2A7F-9726B59C74EA}"/>
              </a:ext>
            </a:extLst>
          </p:cNvPr>
          <p:cNvSpPr txBox="1"/>
          <p:nvPr/>
        </p:nvSpPr>
        <p:spPr>
          <a:xfrm>
            <a:off x="8686800" y="4141968"/>
            <a:ext cx="3505200" cy="584775"/>
          </a:xfrm>
          <a:prstGeom prst="rect">
            <a:avLst/>
          </a:prstGeom>
          <a:solidFill>
            <a:schemeClr val="accent1">
              <a:lumMod val="60000"/>
              <a:lumOff val="40000"/>
            </a:schemeClr>
          </a:solidFill>
        </p:spPr>
        <p:txBody>
          <a:bodyPr wrap="square">
            <a:spAutoFit/>
          </a:bodyPr>
          <a:lstStyle/>
          <a:p>
            <a:pPr algn="r" rtl="1"/>
            <a:r>
              <a:rPr lang="he-IL" sz="3200" spc="-50" dirty="0">
                <a:solidFill>
                  <a:schemeClr val="accent1">
                    <a:lumMod val="75000"/>
                  </a:schemeClr>
                </a:solidFill>
                <a:latin typeface="Times New Roman" panose="02020603050405020304" pitchFamily="18" charset="0"/>
                <a:ea typeface="+mj-ea"/>
                <a:cs typeface="Times New Roman" panose="02020603050405020304" pitchFamily="18" charset="0"/>
              </a:rPr>
              <a:t>5. זמן ריצה</a:t>
            </a:r>
          </a:p>
        </p:txBody>
      </p:sp>
    </p:spTree>
    <p:extLst>
      <p:ext uri="{BB962C8B-B14F-4D97-AF65-F5344CB8AC3E}">
        <p14:creationId xmlns:p14="http://schemas.microsoft.com/office/powerpoint/2010/main" val="112191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מבט לאחור">
  <a:themeElements>
    <a:clrScheme name="מבט לאחור">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מבט לאחור">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מבט לאחור">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11823</TotalTime>
  <Words>2554</Words>
  <Application>Microsoft Office PowerPoint</Application>
  <PresentationFormat>מסך רחב</PresentationFormat>
  <Paragraphs>350</Paragraphs>
  <Slides>61</Slides>
  <Notes>0</Notes>
  <HiddenSlides>0</HiddenSlides>
  <MMClips>0</MMClips>
  <ScaleCrop>false</ScaleCrop>
  <HeadingPairs>
    <vt:vector size="6" baseType="variant">
      <vt:variant>
        <vt:lpstr>גופנים בשימוש</vt:lpstr>
      </vt:variant>
      <vt:variant>
        <vt:i4>9</vt:i4>
      </vt:variant>
      <vt:variant>
        <vt:lpstr>ערכת נושא</vt:lpstr>
      </vt:variant>
      <vt:variant>
        <vt:i4>1</vt:i4>
      </vt:variant>
      <vt:variant>
        <vt:lpstr>כותרות שקופיות</vt:lpstr>
      </vt:variant>
      <vt:variant>
        <vt:i4>61</vt:i4>
      </vt:variant>
    </vt:vector>
  </HeadingPairs>
  <TitlesOfParts>
    <vt:vector size="71" baseType="lpstr">
      <vt:lpstr>Arial</vt:lpstr>
      <vt:lpstr>Calibri</vt:lpstr>
      <vt:lpstr>Calibri Light</vt:lpstr>
      <vt:lpstr>Cambria Math</vt:lpstr>
      <vt:lpstr>Courier New</vt:lpstr>
      <vt:lpstr>David</vt:lpstr>
      <vt:lpstr>Source Sans Pro</vt:lpstr>
      <vt:lpstr>Times New Roman</vt:lpstr>
      <vt:lpstr>Wingdings</vt:lpstr>
      <vt:lpstr>מבט לאחור</vt:lpstr>
      <vt:lpstr>אלגוריתמים חמדניים Greedy Algorithms</vt:lpstr>
      <vt:lpstr>אלגוריתמים חמדניים</vt:lpstr>
      <vt:lpstr>אלגוריתם חמדני- הגדרה</vt:lpstr>
      <vt:lpstr>מה נראה היום?</vt:lpstr>
      <vt:lpstr>מה נראה היום?</vt:lpstr>
      <vt:lpstr>דוגמא 1- שכר מקסימלי</vt:lpstr>
      <vt:lpstr>דוגמא 1- אסטרטגיה חמדנית</vt:lpstr>
      <vt:lpstr>מה נראה היום?</vt:lpstr>
      <vt:lpstr>דוגמא 2- ניהול תור</vt:lpstr>
      <vt:lpstr>דוגמא 2- ניהול תור</vt:lpstr>
      <vt:lpstr>דוגמא 2- אסטרטגיה חמדנית</vt:lpstr>
      <vt:lpstr>תת בעיה- subproblem</vt:lpstr>
      <vt:lpstr>בחירה בטוחה- safe choice</vt:lpstr>
      <vt:lpstr>פתרון חמדני- ניהול תור</vt:lpstr>
      <vt:lpstr>פתרון חמדני- ניהול תור</vt:lpstr>
      <vt:lpstr>פתרון חמדני- ניהול תור</vt:lpstr>
      <vt:lpstr>פתרון חמדני- ניהול תור</vt:lpstr>
      <vt:lpstr>ניהול תור-  המימוש</vt:lpstr>
      <vt:lpstr>ניתוח זמן ריצה</vt:lpstr>
      <vt:lpstr>שיפור האלגוריתם</vt:lpstr>
      <vt:lpstr>מה נראה היום?</vt:lpstr>
      <vt:lpstr>אלגוריתם חמדן – מרכיבים עיקריים</vt:lpstr>
      <vt:lpstr>בחירה בטוחה</vt:lpstr>
      <vt:lpstr>הוכחת נכונות- בחירה בטוחה</vt:lpstr>
      <vt:lpstr>הוכחת נכונות- בחירה בטוחה</vt:lpstr>
      <vt:lpstr>סיכום הוכחה</vt:lpstr>
      <vt:lpstr>אופטימיזציה</vt:lpstr>
      <vt:lpstr>אסטרטגיה כללית</vt:lpstr>
      <vt:lpstr>מה נראה היום?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שלב 1: הוכחת תקינות</vt:lpstr>
      <vt:lpstr>מצגת של PowerPoint‏</vt:lpstr>
      <vt:lpstr>מצגת של PowerPoint‏</vt:lpstr>
      <vt:lpstr>מצגת של PowerPoint‏</vt:lpstr>
      <vt:lpstr>מצגת של PowerPoint‏</vt:lpstr>
      <vt:lpstr>כיסוי נקודות בקטעים- ניתוח זמן ריצה</vt:lpstr>
      <vt:lpstr>מה נראה היום?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הרעיון</vt:lpstr>
      <vt:lpstr>מצגת של PowerPoint‏</vt:lpstr>
      <vt:lpstr>מצגת של PowerPoint‏</vt:lpstr>
      <vt:lpstr>מצגת של PowerPoint‏</vt:lpstr>
      <vt:lpstr>בעיית התרמיל- מימוש</vt:lpstr>
      <vt:lpstr>בעיית התרמיל- זמן ריצה</vt:lpstr>
      <vt:lpstr>בעיית התרמיל- אלגוריתם משופר</vt:lpstr>
      <vt:lpstr>כללים נפוצים</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הקדמה והצגת מושג האלגוריתם</dc:title>
  <dc:creator>רבקה וינגרטן</dc:creator>
  <cp:lastModifiedBy>רבקה וינגרטן</cp:lastModifiedBy>
  <cp:revision>60</cp:revision>
  <cp:lastPrinted>2023-03-20T07:11:16Z</cp:lastPrinted>
  <dcterms:created xsi:type="dcterms:W3CDTF">2023-01-28T23:08:55Z</dcterms:created>
  <dcterms:modified xsi:type="dcterms:W3CDTF">2025-11-03T19:51:08Z</dcterms:modified>
</cp:coreProperties>
</file>